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194f1dba944b41" /><Relationship Type="http://schemas.openxmlformats.org/officeDocument/2006/relationships/extended-properties" Target="/docProps/app.xml" Id="R4fa8f596dd224dab" /><Relationship Type="http://schemas.openxmlformats.org/officeDocument/2006/relationships/officeDocument" Target="/ppt/presentation.xml" Id="Ra1576ebffdc9462a" /></Relationships>
</file>

<file path=ppt/presentation.xml><?xml version="1.0" encoding="utf-8"?>
<p:presentation xmlns:p="http://schemas.openxmlformats.org/presentationml/2006/main">
  <p:sldMasterIdLst>
    <p:sldMasterId xmlns:r="http://schemas.openxmlformats.org/officeDocument/2006/relationships" id="2147483648" r:id="R8d2a49719267464b"/>
  </p:sldMasterIdLst>
  <p:notesMasterIdLst>
    <p:notesMasterId xmlns:r="http://schemas.openxmlformats.org/officeDocument/2006/relationships" r:id="R574b09fa78744a56"/>
  </p:notesMasterIdLst>
  <p:sldIdLst>
    <p:sldId xmlns:r="http://schemas.openxmlformats.org/officeDocument/2006/relationships" id="256" r:id="Ra95bf61863094821"/>
    <p:sldId xmlns:r="http://schemas.openxmlformats.org/officeDocument/2006/relationships" id="257" r:id="R4738fd90726747b6"/>
    <p:sldId xmlns:r="http://schemas.openxmlformats.org/officeDocument/2006/relationships" id="258" r:id="R4fbdb74ff06a4a7f"/>
    <p:sldId xmlns:r="http://schemas.openxmlformats.org/officeDocument/2006/relationships" id="259" r:id="R3b9389f996af4eeb"/>
    <p:sldId xmlns:r="http://schemas.openxmlformats.org/officeDocument/2006/relationships" id="260" r:id="Ra5f2fa8d73614ba2"/>
    <p:sldId xmlns:r="http://schemas.openxmlformats.org/officeDocument/2006/relationships" id="261" r:id="Rfd4b8924f5a34a16"/>
    <p:sldId xmlns:r="http://schemas.openxmlformats.org/officeDocument/2006/relationships" id="262" r:id="R2c947eac0b324458"/>
    <p:sldId xmlns:r="http://schemas.openxmlformats.org/officeDocument/2006/relationships" id="263" r:id="Rcb78378b6ee246f5"/>
    <p:sldId xmlns:r="http://schemas.openxmlformats.org/officeDocument/2006/relationships" id="264" r:id="R67f4d382065c4858"/>
    <p:sldId xmlns:r="http://schemas.openxmlformats.org/officeDocument/2006/relationships" id="265" r:id="R86a633a97c244432"/>
    <p:sldId xmlns:r="http://schemas.openxmlformats.org/officeDocument/2006/relationships" id="266" r:id="R71721f1fab3a4d18"/>
    <p:sldId xmlns:r="http://schemas.openxmlformats.org/officeDocument/2006/relationships" id="267" r:id="Rae6bd74772e54226"/>
    <p:sldId xmlns:r="http://schemas.openxmlformats.org/officeDocument/2006/relationships" id="268" r:id="R3745b6f44473411e"/>
    <p:sldId xmlns:r="http://schemas.openxmlformats.org/officeDocument/2006/relationships" id="269" r:id="Rc2af732b35a6469e"/>
    <p:sldId xmlns:r="http://schemas.openxmlformats.org/officeDocument/2006/relationships" id="270" r:id="Reeea7156bfc94c1f"/>
    <p:sldId xmlns:r="http://schemas.openxmlformats.org/officeDocument/2006/relationships" id="271" r:id="Rd5ba827fadf741f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56c5f535174e4a" /><Relationship Type="http://schemas.openxmlformats.org/officeDocument/2006/relationships/slideMaster" Target="/ppt/slideMasters/slideMaster1.xml" Id="R8d2a49719267464b" /><Relationship Type="http://schemas.openxmlformats.org/officeDocument/2006/relationships/notesMaster" Target="/ppt/notesMasters/notesMaster1.xml" Id="R574b09fa78744a56" /><Relationship Type="http://schemas.openxmlformats.org/officeDocument/2006/relationships/presProps" Target="/ppt/presProps.xml" Id="Rbe559d6565904f1f" /><Relationship Type="http://schemas.openxmlformats.org/officeDocument/2006/relationships/tableStyles" Target="/ppt/tableStyles.xml" Id="R55fd498e5805491d" /><Relationship Type="http://schemas.openxmlformats.org/officeDocument/2006/relationships/slide" Target="/ppt/slides/slide1.xml" Id="Ra95bf61863094821" /><Relationship Type="http://schemas.openxmlformats.org/officeDocument/2006/relationships/slide" Target="/ppt/slides/slide2.xml" Id="R4738fd90726747b6" /><Relationship Type="http://schemas.openxmlformats.org/officeDocument/2006/relationships/slide" Target="/ppt/slides/slide3.xml" Id="R4fbdb74ff06a4a7f" /><Relationship Type="http://schemas.openxmlformats.org/officeDocument/2006/relationships/slide" Target="/ppt/slides/slide4.xml" Id="R3b9389f996af4eeb" /><Relationship Type="http://schemas.openxmlformats.org/officeDocument/2006/relationships/slide" Target="/ppt/slides/slide5.xml" Id="Ra5f2fa8d73614ba2" /><Relationship Type="http://schemas.openxmlformats.org/officeDocument/2006/relationships/slide" Target="/ppt/slides/slide6.xml" Id="Rfd4b8924f5a34a16" /><Relationship Type="http://schemas.openxmlformats.org/officeDocument/2006/relationships/slide" Target="/ppt/slides/slide7.xml" Id="R2c947eac0b324458" /><Relationship Type="http://schemas.openxmlformats.org/officeDocument/2006/relationships/slide" Target="/ppt/slides/slide8.xml" Id="Rcb78378b6ee246f5" /><Relationship Type="http://schemas.openxmlformats.org/officeDocument/2006/relationships/slide" Target="/ppt/slides/slide9.xml" Id="R67f4d382065c4858" /><Relationship Type="http://schemas.openxmlformats.org/officeDocument/2006/relationships/slide" Target="/ppt/slides/slide10.xml" Id="R86a633a97c244432" /><Relationship Type="http://schemas.openxmlformats.org/officeDocument/2006/relationships/slide" Target="/ppt/slides/slide11.xml" Id="R71721f1fab3a4d18" /><Relationship Type="http://schemas.openxmlformats.org/officeDocument/2006/relationships/slide" Target="/ppt/slides/slide12.xml" Id="Rae6bd74772e54226" /><Relationship Type="http://schemas.openxmlformats.org/officeDocument/2006/relationships/slide" Target="/ppt/slides/slide13.xml" Id="R3745b6f44473411e" /><Relationship Type="http://schemas.openxmlformats.org/officeDocument/2006/relationships/slide" Target="/ppt/slides/slide14.xml" Id="Rc2af732b35a6469e" /><Relationship Type="http://schemas.openxmlformats.org/officeDocument/2006/relationships/slide" Target="/ppt/slides/slide15.xml" Id="Reeea7156bfc94c1f" /><Relationship Type="http://schemas.openxmlformats.org/officeDocument/2006/relationships/slide" Target="/ppt/slides/slide16.xml" Id="Rd5ba827fadf741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7691f6607434f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bbc95f004743ac" /><Relationship Type="http://schemas.openxmlformats.org/officeDocument/2006/relationships/notesMaster" Target="/ppt/notesMasters/notesMaster1.xml" Id="R97282f0542d44c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6b873f41e346c8" /><Relationship Type="http://schemas.openxmlformats.org/officeDocument/2006/relationships/notesMaster" Target="/ppt/notesMasters/notesMaster1.xml" Id="Rbff2f7e6a19b499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4b85a0c5a44703" /><Relationship Type="http://schemas.openxmlformats.org/officeDocument/2006/relationships/notesMaster" Target="/ppt/notesMasters/notesMaster1.xml" Id="R87dec473d1a345f1"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17ec940f074757" /><Relationship Type="http://schemas.openxmlformats.org/officeDocument/2006/relationships/notesMaster" Target="/ppt/notesMasters/notesMaster1.xml" Id="Rf6d74a9a59914868" /></Relationships>
</file>

<file path=ppt/notesSlides/_rels/notesSlide5.xml.rels>&#65279;<?xml version="1.0" encoding="utf-8"?><Relationships xmlns="http://schemas.openxmlformats.org/package/2006/relationships"><Relationship Type="http://schemas.openxmlformats.org/officeDocument/2006/relationships/slide" Target="/ppt/slides/slide5.xml" Id="Rb4f3a9d379004747" /><Relationship Type="http://schemas.openxmlformats.org/officeDocument/2006/relationships/notesMaster" Target="/ppt/notesMasters/notesMaster1.xml" Id="R466d7cd978814a6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003570089dd4fa7" /><Relationship Type="http://schemas.openxmlformats.org/officeDocument/2006/relationships/notesMaster" Target="/ppt/notesMasters/notesMaster1.xml" Id="R9f416b84cc3d48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390c104e3954b87" /><Relationship Type="http://schemas.openxmlformats.org/officeDocument/2006/relationships/notesMaster" Target="/ppt/notesMasters/notesMaster1.xml" Id="Rf6c5fa9b7b0b419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a8669e3e11d47ee" /><Relationship Type="http://schemas.openxmlformats.org/officeDocument/2006/relationships/notesMaster" Target="/ppt/notesMasters/notesMaster1.xml" Id="R08dc842569264d80" /></Relationships>
</file>

<file path=ppt/notesSlides/_rels/notesSlide9.xml.rels>&#65279;<?xml version="1.0" encoding="utf-8"?><Relationships xmlns="http://schemas.openxmlformats.org/package/2006/relationships"><Relationship Type="http://schemas.openxmlformats.org/officeDocument/2006/relationships/slide" Target="/ppt/slides/slide9.xml" Id="R5b5652599a81451e" /><Relationship Type="http://schemas.openxmlformats.org/officeDocument/2006/relationships/notesMaster" Target="/ppt/notesMasters/notesMaster1.xml" Id="R5849c77d249d48a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e46a148d3ee439d" /><Relationship Type="http://schemas.openxmlformats.org/officeDocument/2006/relationships/notesMaster" Target="/ppt/notesMasters/notesMaster1.xml" Id="R7737e7ba35c24bb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1d5697ab8b54d9c" /><Relationship Type="http://schemas.openxmlformats.org/officeDocument/2006/relationships/notesMaster" Target="/ppt/notesMasters/notesMaster1.xml" Id="Rc16f1b246fbc4a7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824b14fb5a141fb" /><Relationship Type="http://schemas.openxmlformats.org/officeDocument/2006/relationships/notesMaster" Target="/ppt/notesMasters/notesMaster1.xml" Id="Raec8dd2ed47e4fc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db931a552cc410a" /><Relationship Type="http://schemas.openxmlformats.org/officeDocument/2006/relationships/notesMaster" Target="/ppt/notesMasters/notesMaster1.xml" Id="R6b9ab52caeed4b4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5b6adb569d142cb" /><Relationship Type="http://schemas.openxmlformats.org/officeDocument/2006/relationships/notesMaster" Target="/ppt/notesMasters/notesMaster1.xml" Id="Rb63976994bf4406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4d9ca58b1654a3b" /><Relationship Type="http://schemas.openxmlformats.org/officeDocument/2006/relationships/notesMaster" Target="/ppt/notesMasters/notesMaster1.xml" Id="R8f4375943db142d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f169b7025c4408c" /><Relationship Type="http://schemas.openxmlformats.org/officeDocument/2006/relationships/notesMaster" Target="/ppt/notesMasters/notesMaster1.xml" Id="R3956df86fb284f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G045 김용찬입니다. 반도체 검사 데이터에 맞는 모델을 비교하고, 승인받아 학습하는 Agent를 만들었습니다.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반도체 교육에서 배운 내용입니다. 검사 이미지, 장비 로그, 시간에 따라 쌓이는 데이터는 형태가 달라 쓰는 모델도 다릅니다. 이 프로젝트에서는 범위를 줄여 검사 이미지와 숫자 센서의 정상·불량 분류를 구현했습니다. 자연어 로그와 시계열 예측까지 모두 구현한 것은 아닙니다.</a:t>
            </a:r>
          </a:p>
          <a:p xmlns:a="http://schemas.openxmlformats.org/drawingml/2006/main">
            <a:r>
              <a:t/>
            </a:r>
          </a:p>
          <a:p xmlns:a="http://schemas.openxmlformats.org/drawingml/2006/main">
            <a:r>
              <a:t>출처</a:t>
            </a:r>
          </a:p>
          <a:p xmlns:a="http://schemas.openxmlformats.org/drawingml/2006/main">
            <a:r>
              <a:t>사용자 제공 반도체 교육 사진2 / 20261017_135247.jpg. 분류 화면의 내용을 사용자 요청에 따라 편집 가능한 표로 재구성.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엔지니어가 전처리와 여러 모델을 직접 반복 비교하는 상황을 생각했습니다. 데이터를 선택하면 Agent가 계획을 제안하고, 엔지니어가 승인하면 학습합니다. 결과에서는 기본 모델보다 무엇이 달라졌고 추가 실험이 필요한지 보여 줍니다.</a:t>
            </a:r>
          </a:p>
          <a:p xmlns:a="http://schemas.openxmlformats.org/drawingml/2006/main">
            <a:r>
              <a:t/>
            </a:r>
          </a:p>
          <a:p xmlns:a="http://schemas.openxmlformats.org/drawingml/2006/main">
            <a:r>
              <a:t>출처</a:t>
            </a:r>
          </a:p>
          <a:p xmlns:a="http://schemas.openxmlformats.org/drawingml/2006/main">
            <a:r>
              <a:t>https://news.skhynix.com/en/the-past-present-and-future-of-data-science-organization-at-sk-hynix/</a:t>
            </a:r>
          </a:p>
          <a:p xmlns:a="http://schemas.openxmlformats.org/drawingml/2006/main">
            <a:r>
              <a:t>app/workbench.py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사례로 끝까지 보겠습니다. 제품 A부터D의 합성 센서1,280건을 선택하고 비교 계획을 요청합니다. 불량 정답은201건이며 제품 이름은 가상입니다. 기존 완료 결과를 보는 버튼은 이전 실험을 불러오는 기능입니다.</a:t>
            </a:r>
          </a:p>
          <a:p xmlns:a="http://schemas.openxmlformats.org/drawingml/2006/main">
            <a:r>
              <a:t/>
            </a:r>
          </a:p>
          <a:p xmlns:a="http://schemas.openxmlformats.org/drawingml/2006/main">
            <a:r>
              <a:t>출처</a:t>
            </a:r>
          </a:p>
          <a:p xmlns:a="http://schemas.openxmlformats.org/drawingml/2006/main">
            <a:r>
              <a:t>https://archive.ics.uci.edu/dataset/179/secom</a:t>
            </a:r>
          </a:p>
          <a:p xmlns:a="http://schemas.openxmlformats.org/drawingml/2006/main">
            <a:r>
              <a:t>app/data.py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Agent가 결측과 불량 비율을 점검하고 전처리·모델 계획을 제안합니다. 필요한 모델에는 Scaling을 적용합니다. 학습, 검증, 마지막 확인 데이터는 수업 기준6대2대2로 고정했습니다. 생산 묶음인 lot이 학습과 평가에 섞이지 않게 나눕니다. 이 승인 버튼을 눌러야 실제 학습합니다.</a:t>
            </a:r>
          </a:p>
          <a:p xmlns:a="http://schemas.openxmlformats.org/drawingml/2006/main">
            <a:r>
              <a:t/>
            </a:r>
          </a:p>
          <a:p xmlns:a="http://schemas.openxmlformats.org/drawingml/2006/main">
            <a:r>
              <a:t>출처</a:t>
            </a:r>
          </a:p>
          <a:p xmlns:a="http://schemas.openxmlformats.org/drawingml/2006/main">
            <a:r>
              <a:t>app/data.py</a:t>
            </a:r>
          </a:p>
          <a:p xmlns:a="http://schemas.openxmlformats.org/drawingml/2006/main">
            <a:r>
              <a:t>app/catalog.py</a:t>
            </a:r>
          </a:p>
          <a:p xmlns:a="http://schemas.openxmlformats.org/drawingml/2006/main">
            <a:r>
              <a:t>docs/CURRICULUM_MODELS.md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결과입니다. 기본 비교 모델은 Logistic Regression이고, 이번 실험에서 고른 후보는 A B C로 학습한 CatBoost입니다. 같은 Test에서 불량32개 중20개를 찾던 것이27개로 늘었지만 정상 오판도1개에서14개로 늘었습니다. 후보 Recall84.4퍼센트는 시연 목표에 못 미쳐 추가 실험이 필요합니다. 현장 적용 모델로 확정한 것은 아닙니다.</a:t>
            </a:r>
          </a:p>
          <a:p xmlns:a="http://schemas.openxmlformats.org/drawingml/2006/main">
            <a:r>
              <a:t/>
            </a:r>
          </a:p>
          <a:p xmlns:a="http://schemas.openxmlformats.org/drawingml/2006/main">
            <a:r>
              <a:t>출처</a:t>
            </a:r>
          </a:p>
          <a:p xmlns:a="http://schemas.openxmlformats.org/drawingml/2006/main">
            <a:r>
              <a:t>docs/evaluation/synthetic_process.json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다른 데이터도 같은 앱에서 확인할 수 있습니다. 합성 센서는 불량을 더 찾았지만 정상 오판이 늘었습니다. UCI SECOM은 실제 공개 반도체 센서와 합격·불합격 기록인데, 이번 조건에서는 목표를 만족한 모델이 없었습니다. 합성 이미지는 Autoencoder가 정상 오판을 줄였지만 불량 하나를 놓쳤고, 평가 불량이15개로 작았습니다. 데이터마다 Test가 다르므로 이 표를 모델의 종합 순위로 해석하지 않습니다.</a:t>
            </a:r>
          </a:p>
          <a:p xmlns:a="http://schemas.openxmlformats.org/drawingml/2006/main">
            <a:r>
              <a:t/>
            </a:r>
          </a:p>
          <a:p xmlns:a="http://schemas.openxmlformats.org/drawingml/2006/main">
            <a:r>
              <a:t>출처</a:t>
            </a:r>
          </a:p>
          <a:p xmlns:a="http://schemas.openxmlformats.org/drawingml/2006/main">
            <a:r>
              <a:t>https://archive.ics.uci.edu/dataset/179/secom</a:t>
            </a:r>
          </a:p>
          <a:p xmlns:a="http://schemas.openxmlformats.org/drawingml/2006/main">
            <a:r>
              <a:t>https://doi.org/10.24432/C54305</a:t>
            </a:r>
          </a:p>
          <a:p xmlns:a="http://schemas.openxmlformats.org/drawingml/2006/main">
            <a:r>
              <a:t>docs/evaluation/synthetic_process.json</a:t>
            </a:r>
          </a:p>
          <a:p xmlns:a="http://schemas.openxmlformats.org/drawingml/2006/main">
            <a:r>
              <a:t>docs/evaluation/secom.json</a:t>
            </a:r>
          </a:p>
          <a:p xmlns:a="http://schemas.openxmlformats.org/drawingml/2006/main">
            <a:r>
              <a:t>docs/evaluation/images.json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불량 유출을 막는 검사에서는 Recall을 우선하되, 전부 불량이라고 판정하는 모델을 고르면 안 됩니다. 그래서 정상 오판 목표도 함께 확인합니다. Precision은 불량이라고 본 것 중 진짜 불량의 비율이고, F1은 Precision과 Recall을 함께 보는 지표입니다. 어떤 지표가 무조건 최고라는 회사 공통 수치 대신, 담당자가 검사 목적에 맞는 목표를 정하도록 했습니다.</a:t>
            </a:r>
          </a:p>
          <a:p xmlns:a="http://schemas.openxmlformats.org/drawingml/2006/main">
            <a:r>
              <a:t/>
            </a:r>
          </a:p>
          <a:p xmlns:a="http://schemas.openxmlformats.org/drawingml/2006/main">
            <a:r>
              <a:t>출처</a:t>
            </a:r>
          </a:p>
          <a:p xmlns:a="http://schemas.openxmlformats.org/drawingml/2006/main">
            <a:r>
              <a:t>https://ir.kla.com/news-events/press-releases/detail/121/kla-tencor-introduces-comprehensive-wafer-inspection-and</a:t>
            </a:r>
          </a:p>
          <a:p xmlns:a="http://schemas.openxmlformats.org/drawingml/2006/main">
            <a:r>
              <a:t>https://scikit-learn.org/stable/modules/generated/sklearn.metrics.f1_score.html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엔지니어가 기존 모델을 알고 있다는 점을 고려해 새 모델 탐색도 추가했습니다. 공식 모델 목록과 문서를 가져오고 RAG로 근거를 검색해 ExtraTrees와 Gaussian Naive Bayes를 제안합니다. 엔지니어가 계획을 승인하면 기존 후보와 같은 조건으로 실제 학습하고 모델 목록에 결과를 남깁니다. 현재는 두 개의 검토된 센서 모델 연결을 지원합니다. 웹에서 임의 코드를 받아 실행하는 기능은 아닙니다. 기존 Test를 다시 쓴 탐색 결과이므로 현장 적용에는 독립 기간 검증이 필요합니다.</a:t>
            </a:r>
          </a:p>
          <a:p xmlns:a="http://schemas.openxmlformats.org/drawingml/2006/main">
            <a:r>
              <a:t/>
            </a:r>
          </a:p>
          <a:p xmlns:a="http://schemas.openxmlformats.org/drawingml/2006/main">
            <a:r>
              <a:t>출처</a:t>
            </a:r>
          </a:p>
          <a:p xmlns:a="http://schemas.openxmlformats.org/drawingml/2006/main">
            <a:r>
              <a:t>app/discovery.py</a:t>
            </a:r>
          </a:p>
          <a:p xmlns:a="http://schemas.openxmlformats.org/drawingml/2006/main">
            <a:r>
              <a:t>docs/evaluation/model_discovery.json</a:t>
            </a:r>
          </a:p>
          <a:p xmlns:a="http://schemas.openxmlformats.org/drawingml/2006/main">
            <a:r>
              <a:t>https://scikit-learn.org/stable/api/index.html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핵심은 가장 좋아 보이는 모델 이름만 알려 주는 것이 아니라, 실제 실험을 수행하고 불량 발견과 정상 오판으로 다음 판단을 돕는 것입니다. 새 모델 탐색, 기존 모델 재학습, 제품별 학습 비교를 연결했습니다. 합성과 공개 자료로 확인한 교육용 결과이며 현장 검증이 필요합니다. 감사합니다.</a:t>
            </a:r>
          </a:p>
          <a:p xmlns:a="http://schemas.openxmlformats.org/drawingml/2006/main">
            <a:r>
              <a:t/>
            </a:r>
          </a:p>
          <a:p xmlns:a="http://schemas.openxmlformats.org/drawingml/2006/main">
            <a:r>
              <a:t>출처</a:t>
            </a:r>
          </a:p>
          <a:p xmlns:a="http://schemas.openxmlformats.org/drawingml/2006/main">
            <a:r>
              <a:t>docs/evaluation/tests.txt</a:t>
            </a:r>
          </a:p>
          <a:p xmlns:a="http://schemas.openxmlformats.org/drawingml/2006/main">
            <a:r>
              <a:t>https://news.skhynix.com/en/the-past-present-and-future-of-data-science-organization-at-sk-hynix/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상황입니다. 기존 모델이 있으면 같은 제품의 새 정답 데이터로 점검하고 재학습을 제안합니다. 승인 후 같은 CatBoost를 다시 학습한 합성 시연입니다. 새 배치의 같은 Test에서 불량 발견은43개에서153개, 정상 오판은96개에서79개가 됐습니다. Recall91.6%, 정상 오판률13.1%입니다. 운영 모델은 자동 교체하지 않습니다.</a:t>
            </a:r>
          </a:p>
          <a:p xmlns:a="http://schemas.openxmlformats.org/drawingml/2006/main">
            <a:r>
              <a:t/>
            </a:r>
          </a:p>
          <a:p xmlns:a="http://schemas.openxmlformats.org/drawingml/2006/main">
            <a:r>
              <a:t>출처</a:t>
            </a:r>
          </a:p>
          <a:p xmlns:a="http://schemas.openxmlformats.org/drawingml/2006/main">
            <a:r>
              <a:t>docs/evaluation/model_management.json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제품 데이터를 합칠지 따로 학습할지도 비교합니다. C의 같은 Validation에서는 C만 학습한 후보를 골랐습니다. 별도 Test의 Recall은79.1%여서 추가 데이터로 재확인 필요입니다. 제품별 학습이 항상 좋다는 결론은 아닙니다.</a:t>
            </a:r>
          </a:p>
          <a:p xmlns:a="http://schemas.openxmlformats.org/drawingml/2006/main">
            <a:r>
              <a:t/>
            </a:r>
          </a:p>
          <a:p xmlns:a="http://schemas.openxmlformats.org/drawingml/2006/main">
            <a:r>
              <a:t>출처</a:t>
            </a:r>
          </a:p>
          <a:p xmlns:a="http://schemas.openxmlformats.org/drawingml/2006/main">
            <a:r>
              <a:t>docs/evaluation/model_management.json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수업 기준에 맞춰6대2대2를 사전에 고정했습니다. 합성 센서 전체 학습 풀은768개이고 선택 후보는 그중A+B+C의544개를 학습했습니다. SECOM은 날짜 블록60/20/20을 나눠 실제 행 수는[820, 367, 380]개입니다. 원자료의 제조사명은 제공되지 않습니다. 반복 Validation 비교와 단일 seed의 한계가 있어 독립 기간 평가가 필요합니다. Recall=TP/(TP+FN), Precision=TP/(TP+FP), F1=2TP/(2TP+FP+FN), 정상 오판률=FP/(FP+TN)입니다.</a:t>
            </a:r>
          </a:p>
          <a:p xmlns:a="http://schemas.openxmlformats.org/drawingml/2006/main">
            <a:r>
              <a:t/>
            </a:r>
          </a:p>
          <a:p xmlns:a="http://schemas.openxmlformats.org/drawingml/2006/main">
            <a:r>
              <a:t>출처</a:t>
            </a:r>
          </a:p>
          <a:p xmlns:a="http://schemas.openxmlformats.org/drawingml/2006/main">
            <a:r>
              <a:t>app/data.py</a:t>
            </a:r>
          </a:p>
          <a:p xmlns:a="http://schemas.openxmlformats.org/drawingml/2006/main">
            <a:r>
              <a:t>docs/evaluation/summary.json</a:t>
            </a:r>
          </a:p>
          <a:p xmlns:a="http://schemas.openxmlformats.org/drawingml/2006/main">
            <a:r>
              <a:t>https://scikit-learn.org/stable/modules/cross_validation.html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데이터 출처는 UCI Machine Learning Repository의 SECOM입니다. McCann과 Johnston이2008년에 공개했고 DOI와 원본 링크를 적었습니다. 제조사명은 원자료에 없습니다. 실제 공개 자료에서는 Test 불량23개 중5개를 찾았습니다. 합성 시연의 개선을 실제 공장 효과로 일반화하지 않습니다.</a:t>
            </a:r>
          </a:p>
          <a:p xmlns:a="http://schemas.openxmlformats.org/drawingml/2006/main">
            <a:r>
              <a:t/>
            </a:r>
          </a:p>
          <a:p xmlns:a="http://schemas.openxmlformats.org/drawingml/2006/main">
            <a:r>
              <a:t>출처</a:t>
            </a:r>
          </a:p>
          <a:p xmlns:a="http://schemas.openxmlformats.org/drawingml/2006/main">
            <a:r>
              <a:t>https://archive.ics.uci.edu/dataset/179/secom</a:t>
            </a:r>
          </a:p>
          <a:p xmlns:a="http://schemas.openxmlformats.org/drawingml/2006/main">
            <a:r>
              <a:t>https://doi.org/10.24432/C54305</a:t>
            </a:r>
          </a:p>
          <a:p xmlns:a="http://schemas.openxmlformats.org/drawingml/2006/main">
            <a:r>
              <a:t>data/public/secom/secom.names</a:t>
            </a:r>
          </a:p>
          <a:p xmlns:a="http://schemas.openxmlformats.org/drawingml/2006/main">
            <a:r>
              <a:t>docs/evaluation/secom.json</a:t>
            </a:r>
          </a:p>
          <a:p xmlns:a="http://schemas.openxmlformats.org/drawingml/2006/main">
            <a:r>
              <a:t>docs/evaluation/images.json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가중치를 비교하는 확장 설계입니다. 현재 RF·부스팅 알고리즘은 실제 사용하지만 서로 다른 모델의 예측 확률을 섞는 비율 탐색은 미구현입니다. 사전 정의한 비율과 판정값을 Validation에서 고르고 고정된 Test에서 확인합니다. 모든 문제에 통용되는 전역 최적 비율이라는 주장을 하지 않습니다.  외부 모델 탐색은 공식 scikit-learn 목록과 두 개의 검토된 adapter 범위에서 실제 구현했습니다. 임의 웹 모델 자동 코드 생성은 지원하지 않습니다.</a:t>
            </a:r>
          </a:p>
          <a:p xmlns:a="http://schemas.openxmlformats.org/drawingml/2006/main">
            <a:r>
              <a:t/>
            </a:r>
          </a:p>
          <a:p xmlns:a="http://schemas.openxmlformats.org/drawingml/2006/main">
            <a:r>
              <a:t>출처</a:t>
            </a:r>
          </a:p>
          <a:p xmlns:a="http://schemas.openxmlformats.org/drawingml/2006/main">
            <a:r>
              <a:t>docs/MODEL_DISCOVERY_DESIGN.md</a:t>
            </a:r>
          </a:p>
          <a:p xmlns:a="http://schemas.openxmlformats.org/drawingml/2006/main">
            <a:r>
              <a:t>https://scikit-learn.org/stable/modules/ensemble.html#voting-classifier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기술 요소와 구현 위치를 연결한 표입니다. 점수는 적지 않습니다. 본문1~10장, 질문용 부록11~16장입니다.</a:t>
            </a:r>
          </a:p>
          <a:p xmlns:a="http://schemas.openxmlformats.org/drawingml/2006/main">
            <a:r>
              <a:t/>
            </a:r>
          </a:p>
          <a:p xmlns:a="http://schemas.openxmlformats.org/drawingml/2006/main">
            <a:r>
              <a:t>출처</a:t>
            </a:r>
          </a:p>
          <a:p xmlns:a="http://schemas.openxmlformats.org/drawingml/2006/main">
            <a:r>
              <a:t>docs/ASSIGNMENT_CHECKLIST.md</a:t>
            </a:r>
          </a:p>
          <a:p xmlns:a="http://schemas.openxmlformats.org/drawingml/2006/main">
            <a:r>
              <a:t>docs/evaluation/tests.txt</a:t>
            </a:r>
          </a:p>
          <a:p xmlns:a="http://schemas.openxmlformats.org/drawingml/2006/main">
            <a:r>
              <a:t>docs/evaluation/mcp_check.json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6ef2e2ba37845e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e36cf948586469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d8376d1b67c4c0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8cf3e3ec925472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24c113a5eb44e1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12a8d71b0cc471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79F7A96-A66B-45F6-BF79-B4C8C58C164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FFC312B-3B05-4AE6-9DF0-F813A8E714F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BF15201-772D-4035-80ED-C733FD3C1CC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F522C3-976B-4BBE-84D8-D7C68D6742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C4D2506-D098-4772-969C-3D7D61B80CA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530F01A-621F-4FBB-B51F-B11F8C5AB8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C3318F0-B023-407E-853D-C620A1652D0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9908271-9EF3-4FA9-9390-53AA05B1B4B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403B21-7EAE-4FEE-B514-CD6ABD79ED6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4A38B4B-8686-4107-8FF0-3102B356B27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a2231dc78884a0d" /><Relationship Type="http://schemas.openxmlformats.org/officeDocument/2006/relationships/slideLayout" Target="/ppt/slideLayouts/slideLayout1.xml" Id="Rf3c1326587f7443c" /><Relationship Type="http://schemas.openxmlformats.org/officeDocument/2006/relationships/slideLayout" Target="/ppt/slideLayouts/slideLayout2.xml" Id="R629581a9779841a1" /><Relationship Type="http://schemas.openxmlformats.org/officeDocument/2006/relationships/slideLayout" Target="/ppt/slideLayouts/slideLayout3.xml" Id="Rcb0ca39d35324536" /><Relationship Type="http://schemas.openxmlformats.org/officeDocument/2006/relationships/slideLayout" Target="/ppt/slideLayouts/slideLayout4.xml" Id="R9a0afb41af454d7c" /><Relationship Type="http://schemas.openxmlformats.org/officeDocument/2006/relationships/slideLayout" Target="/ppt/slideLayouts/slideLayout5.xml" Id="R06c882ca21094f20" /><Relationship Type="http://schemas.openxmlformats.org/officeDocument/2006/relationships/slideLayout" Target="/ppt/slideLayouts/slideLayout6.xml" Id="R271bbe2f2384417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3c1326587f7443c"/>
    <p:sldLayoutId xmlns:r="http://schemas.openxmlformats.org/officeDocument/2006/relationships" id="2147483650" r:id="R629581a9779841a1"/>
    <p:sldLayoutId xmlns:r="http://schemas.openxmlformats.org/officeDocument/2006/relationships" id="2147483651" r:id="Rcb0ca39d35324536"/>
    <p:sldLayoutId xmlns:r="http://schemas.openxmlformats.org/officeDocument/2006/relationships" id="2147483652" r:id="R9a0afb41af454d7c"/>
    <p:sldLayoutId xmlns:r="http://schemas.openxmlformats.org/officeDocument/2006/relationships" id="2147483653" r:id="R06c882ca21094f20"/>
    <p:sldLayoutId xmlns:r="http://schemas.openxmlformats.org/officeDocument/2006/relationships" id="2147483654" r:id="R271bbe2f2384417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fd812f1ef604938" /><Relationship Type="http://schemas.openxmlformats.org/officeDocument/2006/relationships/notesSlide" Target="/ppt/notesSlides/notesSlide1.xml" Id="R241c46dadf5545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9994cf5a1ec49ef" /><Relationship Type="http://schemas.openxmlformats.org/officeDocument/2006/relationships/notesSlide" Target="/ppt/notesSlides/notesSlide2.xml" Id="R7e21939f22744dc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de2ef851b504655" /><Relationship Type="http://schemas.openxmlformats.org/officeDocument/2006/relationships/notesSlide" Target="/ppt/notesSlides/notesSlide3.xml" Id="R6e5cb84436324cb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66cb030390e4782" /><Relationship Type="http://schemas.openxmlformats.org/officeDocument/2006/relationships/image" Target="/ppt/media/image.jpeg" Id="Rab6192b55a304fb1" /><Relationship Type="http://schemas.openxmlformats.org/officeDocument/2006/relationships/notesSlide" Target="/ppt/notesSlides/notesSlide4.xml" Id="R2754396599ca4e3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04045ab5d4741aa" /><Relationship Type="http://schemas.openxmlformats.org/officeDocument/2006/relationships/image" Target="/ppt/media/image2.jpeg" Id="R3fe191fdbdcf4a97" /><Relationship Type="http://schemas.openxmlformats.org/officeDocument/2006/relationships/image" Target="/ppt/media/image3.jpeg" Id="R24bb6639d7454089" /><Relationship Type="http://schemas.openxmlformats.org/officeDocument/2006/relationships/notesSlide" Target="/ppt/notesSlides/notesSlide5.xml" Id="R09b270f73f684d7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e8eb7a4e75640f5" /><Relationship Type="http://schemas.openxmlformats.org/officeDocument/2006/relationships/image" Target="/ppt/media/image4.jpeg" Id="R8831537ca9d449ae" /><Relationship Type="http://schemas.openxmlformats.org/officeDocument/2006/relationships/notesSlide" Target="/ppt/notesSlides/notesSlide6.xml" Id="Rbe61519ff2d441d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0fc2a79c8864111" /><Relationship Type="http://schemas.openxmlformats.org/officeDocument/2006/relationships/notesSlide" Target="/ppt/notesSlides/notesSlide7.xml" Id="R5bb0c1c3f54e4cf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6a5f487edf44f11" /><Relationship Type="http://schemas.openxmlformats.org/officeDocument/2006/relationships/notesSlide" Target="/ppt/notesSlides/notesSlide8.xml" Id="Re106dc4ae7f64c5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6c313d9f9f3459d" /><Relationship Type="http://schemas.openxmlformats.org/officeDocument/2006/relationships/image" Target="/ppt/media/image5.jpeg" Id="R4d0f69cf32e84b7f" /><Relationship Type="http://schemas.openxmlformats.org/officeDocument/2006/relationships/notesSlide" Target="/ppt/notesSlides/notesSlide9.xml" Id="Rc54a2d0cf831499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b269c55b74b4773" /><Relationship Type="http://schemas.openxmlformats.org/officeDocument/2006/relationships/notesSlide" Target="/ppt/notesSlides/notesSlide10.xml" Id="Rf9d6f7f17f1943a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02a4a9ca8bc412a" /><Relationship Type="http://schemas.openxmlformats.org/officeDocument/2006/relationships/image" Target="/ppt/media/image6.jpeg" Id="R45b8583be39345e6" /><Relationship Type="http://schemas.openxmlformats.org/officeDocument/2006/relationships/notesSlide" Target="/ppt/notesSlides/notesSlide11.xml" Id="Rce391ebb1737428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ab57ccf36ac40d1" /><Relationship Type="http://schemas.openxmlformats.org/officeDocument/2006/relationships/image" Target="/ppt/media/image7.jpeg" Id="Rfd2bb36712d6465d" /><Relationship Type="http://schemas.openxmlformats.org/officeDocument/2006/relationships/notesSlide" Target="/ppt/notesSlides/notesSlide12.xml" Id="R36ae87828b5b42e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ba11a54a6524ebe" /><Relationship Type="http://schemas.openxmlformats.org/officeDocument/2006/relationships/notesSlide" Target="/ppt/notesSlides/notesSlide13.xml" Id="Ra0f4d895360941b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ad1d01339fa46e9" /><Relationship Type="http://schemas.openxmlformats.org/officeDocument/2006/relationships/notesSlide" Target="/ppt/notesSlides/notesSlide14.xml" Id="R54a2fc994268426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cc602fed1ab422d" /><Relationship Type="http://schemas.openxmlformats.org/officeDocument/2006/relationships/notesSlide" Target="/ppt/notesSlides/notesSlide15.xml" Id="Re9f69cf51b1747f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96ce6e3a25a4106" /><Relationship Type="http://schemas.openxmlformats.org/officeDocument/2006/relationships/notesSlide" Target="/ppt/notesSlides/notesSlide16.xml" Id="R0d7cd74f6c5145fd" /></Relationships>
</file>

<file path=ppt/slides/slide1.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6A0883-5701-482E-9D65-76071347BF93}"/>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프로젝트 소개</a:t>
            </a:r>
          </a:p>
        </p:txBody>
      </p:sp>
      <p:sp>
        <p:nvSpPr>
          <p:cNvPr id="2" name="">
            <a:extLst xmlns:a="http://schemas.openxmlformats.org/drawingml/2006/main">
              <a:ext uri="{FF2B5EF4-FFF2-40B4-BE49-F238E27FC236}">
                <a16:creationId xmlns:a16="http://schemas.microsoft.com/office/drawing/2014/main" id="{BED77B85-D3BE-43B1-9440-BB3E88FBB629}"/>
              </a:ext>
            </a:extLst>
          </p:cNvPr>
          <p:cNvSpPr>
            <a:spLocks xmlns:a="http://schemas.openxmlformats.org/drawingml/2006/main" noGrp="1"/>
          </p:cNvSpPr>
          <p:nvPr/>
        </p:nvSpPr>
        <p:spPr>
          <a:xfrm xmlns:a="http://schemas.openxmlformats.org/drawingml/2006/main">
            <a:off x="609600" y="1714500"/>
            <a:ext cx="109728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4950" b="1">
                <a:solidFill>
                  <a:srgbClr val="173643"/>
                </a:solidFill>
                <a:latin typeface="Apple SD Gothic Neo"/>
                <a:ea typeface="Apple SD Gothic Neo"/>
                <a:cs typeface="Apple SD Gothic Neo"/>
              </a:defRPr>
            </a:defPPr>
            <a:lvl1pPr>
              <a:defRPr sz="4950" b="1">
                <a:solidFill>
                  <a:srgbClr val="173643"/>
                </a:solidFill>
                <a:latin typeface="Apple SD Gothic Neo"/>
                <a:ea typeface="Apple SD Gothic Neo"/>
                <a:cs typeface="Apple SD Gothic Neo"/>
              </a:defRPr>
            </a:lvl1pPr>
            <a:lvl2pPr>
              <a:defRPr sz="4950" b="1">
                <a:solidFill>
                  <a:srgbClr val="173643"/>
                </a:solidFill>
                <a:latin typeface="Apple SD Gothic Neo"/>
                <a:ea typeface="Apple SD Gothic Neo"/>
                <a:cs typeface="Apple SD Gothic Neo"/>
              </a:defRPr>
            </a:lvl2pPr>
            <a:lvl3pPr>
              <a:defRPr sz="4950" b="1">
                <a:solidFill>
                  <a:srgbClr val="173643"/>
                </a:solidFill>
                <a:latin typeface="Apple SD Gothic Neo"/>
                <a:ea typeface="Apple SD Gothic Neo"/>
                <a:cs typeface="Apple SD Gothic Neo"/>
              </a:defRPr>
            </a:lvl3pPr>
            <a:lvl4pPr>
              <a:defRPr sz="4950" b="1">
                <a:solidFill>
                  <a:srgbClr val="173643"/>
                </a:solidFill>
                <a:latin typeface="Apple SD Gothic Neo"/>
                <a:ea typeface="Apple SD Gothic Neo"/>
                <a:cs typeface="Apple SD Gothic Neo"/>
              </a:defRPr>
            </a:lvl4pPr>
            <a:lvl5pPr>
              <a:defRPr sz="4950" b="1">
                <a:solidFill>
                  <a:srgbClr val="173643"/>
                </a:solidFill>
                <a:latin typeface="Apple SD Gothic Neo"/>
                <a:ea typeface="Apple SD Gothic Neo"/>
                <a:cs typeface="Apple SD Gothic Neo"/>
              </a:defRPr>
            </a:lvl5pPr>
            <a:lvl6pPr>
              <a:defRPr sz="4950" b="1">
                <a:solidFill>
                  <a:srgbClr val="173643"/>
                </a:solidFill>
                <a:latin typeface="Apple SD Gothic Neo"/>
                <a:ea typeface="Apple SD Gothic Neo"/>
                <a:cs typeface="Apple SD Gothic Neo"/>
              </a:defRPr>
            </a:lvl6pPr>
            <a:lvl7pPr>
              <a:defRPr sz="4950" b="1">
                <a:solidFill>
                  <a:srgbClr val="173643"/>
                </a:solidFill>
                <a:latin typeface="Apple SD Gothic Neo"/>
                <a:ea typeface="Apple SD Gothic Neo"/>
                <a:cs typeface="Apple SD Gothic Neo"/>
              </a:defRPr>
            </a:lvl7pPr>
            <a:lvl8pPr>
              <a:defRPr sz="4950" b="1">
                <a:solidFill>
                  <a:srgbClr val="173643"/>
                </a:solidFill>
                <a:latin typeface="Apple SD Gothic Neo"/>
                <a:ea typeface="Apple SD Gothic Neo"/>
                <a:cs typeface="Apple SD Gothic Neo"/>
              </a:defRPr>
            </a:lvl8pPr>
            <a:lvl9pPr>
              <a:defRPr sz="4950" b="1">
                <a:solidFill>
                  <a:srgbClr val="173643"/>
                </a:solidFill>
                <a:latin typeface="Apple SD Gothic Neo"/>
                <a:ea typeface="Apple SD Gothic Neo"/>
                <a:cs typeface="Apple SD Gothic Neo"/>
              </a:defRPr>
            </a:lvl9pPr>
          </a:lstStyle>
          <a:p xmlns:a="http://schemas.openxmlformats.org/drawingml/2006/main">
            <a:pPr>
              <a:defRPr sz="4950" b="1">
                <a:solidFill>
                  <a:srgbClr val="173643"/>
                </a:solidFill>
                <a:latin typeface="Apple SD Gothic Neo"/>
                <a:ea typeface="Apple SD Gothic Neo"/>
                <a:cs typeface="Apple SD Gothic Neo"/>
              </a:defRPr>
            </a:pPr>
            <a:r>
              <a:rPr sz="4950" b="1">
                <a:solidFill>
                  <a:srgbClr val="173643"/>
                </a:solidFill>
                <a:latin typeface="Apple SD Gothic Neo"/>
                <a:ea typeface="Apple SD Gothic Neo"/>
                <a:cs typeface="Apple SD Gothic Neo"/>
              </a:rPr>
              <a:t>반도체 검사 모델</a:t>
            </a:r>
          </a:p>
          <a:p xmlns:a="http://schemas.openxmlformats.org/drawingml/2006/main">
            <a:pPr>
              <a:defRPr sz="4950" b="1">
                <a:solidFill>
                  <a:srgbClr val="173643"/>
                </a:solidFill>
                <a:latin typeface="Apple SD Gothic Neo"/>
                <a:ea typeface="Apple SD Gothic Neo"/>
                <a:cs typeface="Apple SD Gothic Neo"/>
              </a:defRPr>
            </a:pPr>
            <a:r>
              <a:rPr sz="4950" b="1">
                <a:solidFill>
                  <a:srgbClr val="173643"/>
                </a:solidFill>
                <a:latin typeface="Apple SD Gothic Neo"/>
                <a:ea typeface="Apple SD Gothic Neo"/>
                <a:cs typeface="Apple SD Gothic Neo"/>
              </a:rPr>
              <a:t>실험 도우미</a:t>
            </a:r>
          </a:p>
        </p:txBody>
      </p:sp>
      <p:sp>
        <p:nvSpPr>
          <p:cNvPr id="3" name="">
            <a:extLst xmlns:a="http://schemas.openxmlformats.org/drawingml/2006/main">
              <a:ext uri="{FF2B5EF4-FFF2-40B4-BE49-F238E27FC236}">
                <a16:creationId xmlns:a16="http://schemas.microsoft.com/office/drawing/2014/main" id="{EC89BFE0-858A-4B8F-AFA6-98C004C43599}"/>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D3F9EE01-BD74-44CA-9047-73017F711109}"/>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 / 16</a:t>
            </a:r>
          </a:p>
        </p:txBody>
      </p:sp>
      <p:sp>
        <p:nvSpPr>
          <p:cNvPr id="5" name="">
            <a:extLst xmlns:a="http://schemas.openxmlformats.org/drawingml/2006/main">
              <a:ext uri="{FF2B5EF4-FFF2-40B4-BE49-F238E27FC236}">
                <a16:creationId xmlns:a16="http://schemas.microsoft.com/office/drawing/2014/main" id="{B2F08F1E-BF8C-41D3-A8AC-99CF768B0B7F}"/>
              </a:ext>
            </a:extLst>
          </p:cNvPr>
          <p:cNvSpPr>
            <a:spLocks xmlns:a="http://schemas.openxmlformats.org/drawingml/2006/main" noGrp="1"/>
          </p:cNvSpPr>
          <p:nvPr/>
        </p:nvSpPr>
        <p:spPr>
          <a:xfrm xmlns:a="http://schemas.openxmlformats.org/drawingml/2006/main">
            <a:off x="609600" y="4143375"/>
            <a:ext cx="109728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325" b="0">
                <a:solidFill>
                  <a:srgbClr val="173643"/>
                </a:solidFill>
                <a:latin typeface="Apple SD Gothic Neo"/>
                <a:ea typeface="Apple SD Gothic Neo"/>
                <a:cs typeface="Apple SD Gothic Neo"/>
              </a:defRPr>
            </a:defPPr>
            <a:lvl1pPr>
              <a:defRPr sz="2325" b="0">
                <a:solidFill>
                  <a:srgbClr val="173643"/>
                </a:solidFill>
                <a:latin typeface="Apple SD Gothic Neo"/>
                <a:ea typeface="Apple SD Gothic Neo"/>
                <a:cs typeface="Apple SD Gothic Neo"/>
              </a:defRPr>
            </a:lvl1pPr>
            <a:lvl2pPr>
              <a:defRPr sz="2325" b="0">
                <a:solidFill>
                  <a:srgbClr val="173643"/>
                </a:solidFill>
                <a:latin typeface="Apple SD Gothic Neo"/>
                <a:ea typeface="Apple SD Gothic Neo"/>
                <a:cs typeface="Apple SD Gothic Neo"/>
              </a:defRPr>
            </a:lvl2pPr>
            <a:lvl3pPr>
              <a:defRPr sz="2325" b="0">
                <a:solidFill>
                  <a:srgbClr val="173643"/>
                </a:solidFill>
                <a:latin typeface="Apple SD Gothic Neo"/>
                <a:ea typeface="Apple SD Gothic Neo"/>
                <a:cs typeface="Apple SD Gothic Neo"/>
              </a:defRPr>
            </a:lvl3pPr>
            <a:lvl4pPr>
              <a:defRPr sz="2325" b="0">
                <a:solidFill>
                  <a:srgbClr val="173643"/>
                </a:solidFill>
                <a:latin typeface="Apple SD Gothic Neo"/>
                <a:ea typeface="Apple SD Gothic Neo"/>
                <a:cs typeface="Apple SD Gothic Neo"/>
              </a:defRPr>
            </a:lvl4pPr>
            <a:lvl5pPr>
              <a:defRPr sz="2325" b="0">
                <a:solidFill>
                  <a:srgbClr val="173643"/>
                </a:solidFill>
                <a:latin typeface="Apple SD Gothic Neo"/>
                <a:ea typeface="Apple SD Gothic Neo"/>
                <a:cs typeface="Apple SD Gothic Neo"/>
              </a:defRPr>
            </a:lvl5pPr>
            <a:lvl6pPr>
              <a:defRPr sz="2325" b="0">
                <a:solidFill>
                  <a:srgbClr val="173643"/>
                </a:solidFill>
                <a:latin typeface="Apple SD Gothic Neo"/>
                <a:ea typeface="Apple SD Gothic Neo"/>
                <a:cs typeface="Apple SD Gothic Neo"/>
              </a:defRPr>
            </a:lvl6pPr>
            <a:lvl7pPr>
              <a:defRPr sz="2325" b="0">
                <a:solidFill>
                  <a:srgbClr val="173643"/>
                </a:solidFill>
                <a:latin typeface="Apple SD Gothic Neo"/>
                <a:ea typeface="Apple SD Gothic Neo"/>
                <a:cs typeface="Apple SD Gothic Neo"/>
              </a:defRPr>
            </a:lvl7pPr>
            <a:lvl8pPr>
              <a:defRPr sz="2325" b="0">
                <a:solidFill>
                  <a:srgbClr val="173643"/>
                </a:solidFill>
                <a:latin typeface="Apple SD Gothic Neo"/>
                <a:ea typeface="Apple SD Gothic Neo"/>
                <a:cs typeface="Apple SD Gothic Neo"/>
              </a:defRPr>
            </a:lvl8pPr>
            <a:lvl9pPr>
              <a:defRPr sz="2325" b="0">
                <a:solidFill>
                  <a:srgbClr val="173643"/>
                </a:solidFill>
                <a:latin typeface="Apple SD Gothic Neo"/>
                <a:ea typeface="Apple SD Gothic Neo"/>
                <a:cs typeface="Apple SD Gothic Neo"/>
              </a:defRPr>
            </a:lvl9pPr>
          </a:lstStyle>
          <a:p xmlns:a="http://schemas.openxmlformats.org/drawingml/2006/main">
            <a:pPr>
              <a:defRPr sz="2325" b="0">
                <a:solidFill>
                  <a:srgbClr val="173643"/>
                </a:solidFill>
                <a:latin typeface="Apple SD Gothic Neo"/>
                <a:ea typeface="Apple SD Gothic Neo"/>
                <a:cs typeface="Apple SD Gothic Neo"/>
              </a:defRPr>
            </a:pPr>
            <a:r>
              <a:rPr sz="2325" b="0">
                <a:solidFill>
                  <a:srgbClr val="173643"/>
                </a:solidFill>
                <a:latin typeface="Apple SD Gothic Neo"/>
                <a:ea typeface="Apple SD Gothic Neo"/>
                <a:cs typeface="Apple SD Gothic Neo"/>
              </a:rPr>
              <a:t>데이터에 맞는 모델을 비교하고, 승인받아 학습하는 Agent</a:t>
            </a:r>
          </a:p>
        </p:txBody>
      </p:sp>
      <p:sp>
        <p:nvSpPr>
          <p:cNvPr id="6" name="">
            <a:extLst xmlns:a="http://schemas.openxmlformats.org/drawingml/2006/main">
              <a:ext uri="{FF2B5EF4-FFF2-40B4-BE49-F238E27FC236}">
                <a16:creationId xmlns:a16="http://schemas.microsoft.com/office/drawing/2014/main" id="{0224A55C-BE83-4BAE-B04C-B4F2C967474D}"/>
              </a:ext>
            </a:extLst>
          </p:cNvPr>
          <p:cNvSpPr>
            <a:spLocks xmlns:a="http://schemas.openxmlformats.org/drawingml/2006/main" noGrp="1"/>
          </p:cNvSpPr>
          <p:nvPr/>
        </p:nvSpPr>
        <p:spPr>
          <a:xfrm xmlns:a="http://schemas.openxmlformats.org/drawingml/2006/main">
            <a:off x="609600" y="4848225"/>
            <a:ext cx="109728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325" b="0">
                <a:solidFill>
                  <a:srgbClr val="173643"/>
                </a:solidFill>
                <a:latin typeface="Apple SD Gothic Neo"/>
                <a:ea typeface="Apple SD Gothic Neo"/>
                <a:cs typeface="Apple SD Gothic Neo"/>
              </a:defRPr>
            </a:defPPr>
            <a:lvl1pPr>
              <a:defRPr sz="2325" b="0">
                <a:solidFill>
                  <a:srgbClr val="173643"/>
                </a:solidFill>
                <a:latin typeface="Apple SD Gothic Neo"/>
                <a:ea typeface="Apple SD Gothic Neo"/>
                <a:cs typeface="Apple SD Gothic Neo"/>
              </a:defRPr>
            </a:lvl1pPr>
            <a:lvl2pPr>
              <a:defRPr sz="2325" b="0">
                <a:solidFill>
                  <a:srgbClr val="173643"/>
                </a:solidFill>
                <a:latin typeface="Apple SD Gothic Neo"/>
                <a:ea typeface="Apple SD Gothic Neo"/>
                <a:cs typeface="Apple SD Gothic Neo"/>
              </a:defRPr>
            </a:lvl2pPr>
            <a:lvl3pPr>
              <a:defRPr sz="2325" b="0">
                <a:solidFill>
                  <a:srgbClr val="173643"/>
                </a:solidFill>
                <a:latin typeface="Apple SD Gothic Neo"/>
                <a:ea typeface="Apple SD Gothic Neo"/>
                <a:cs typeface="Apple SD Gothic Neo"/>
              </a:defRPr>
            </a:lvl3pPr>
            <a:lvl4pPr>
              <a:defRPr sz="2325" b="0">
                <a:solidFill>
                  <a:srgbClr val="173643"/>
                </a:solidFill>
                <a:latin typeface="Apple SD Gothic Neo"/>
                <a:ea typeface="Apple SD Gothic Neo"/>
                <a:cs typeface="Apple SD Gothic Neo"/>
              </a:defRPr>
            </a:lvl4pPr>
            <a:lvl5pPr>
              <a:defRPr sz="2325" b="0">
                <a:solidFill>
                  <a:srgbClr val="173643"/>
                </a:solidFill>
                <a:latin typeface="Apple SD Gothic Neo"/>
                <a:ea typeface="Apple SD Gothic Neo"/>
                <a:cs typeface="Apple SD Gothic Neo"/>
              </a:defRPr>
            </a:lvl5pPr>
            <a:lvl6pPr>
              <a:defRPr sz="2325" b="0">
                <a:solidFill>
                  <a:srgbClr val="173643"/>
                </a:solidFill>
                <a:latin typeface="Apple SD Gothic Neo"/>
                <a:ea typeface="Apple SD Gothic Neo"/>
                <a:cs typeface="Apple SD Gothic Neo"/>
              </a:defRPr>
            </a:lvl6pPr>
            <a:lvl7pPr>
              <a:defRPr sz="2325" b="0">
                <a:solidFill>
                  <a:srgbClr val="173643"/>
                </a:solidFill>
                <a:latin typeface="Apple SD Gothic Neo"/>
                <a:ea typeface="Apple SD Gothic Neo"/>
                <a:cs typeface="Apple SD Gothic Neo"/>
              </a:defRPr>
            </a:lvl7pPr>
            <a:lvl8pPr>
              <a:defRPr sz="2325" b="0">
                <a:solidFill>
                  <a:srgbClr val="173643"/>
                </a:solidFill>
                <a:latin typeface="Apple SD Gothic Neo"/>
                <a:ea typeface="Apple SD Gothic Neo"/>
                <a:cs typeface="Apple SD Gothic Neo"/>
              </a:defRPr>
            </a:lvl8pPr>
            <a:lvl9pPr>
              <a:defRPr sz="2325" b="0">
                <a:solidFill>
                  <a:srgbClr val="173643"/>
                </a:solidFill>
                <a:latin typeface="Apple SD Gothic Neo"/>
                <a:ea typeface="Apple SD Gothic Neo"/>
                <a:cs typeface="Apple SD Gothic Neo"/>
              </a:defRPr>
            </a:lvl9pPr>
          </a:lstStyle>
          <a:p xmlns:a="http://schemas.openxmlformats.org/drawingml/2006/main">
            <a:pPr>
              <a:defRPr sz="2325" b="0">
                <a:solidFill>
                  <a:srgbClr val="173643"/>
                </a:solidFill>
                <a:latin typeface="Apple SD Gothic Neo"/>
                <a:ea typeface="Apple SD Gothic Neo"/>
                <a:cs typeface="Apple SD Gothic Neo"/>
              </a:defRPr>
            </a:pPr>
            <a:r>
              <a:rPr sz="2325" b="0">
                <a:solidFill>
                  <a:srgbClr val="173643"/>
                </a:solidFill>
                <a:latin typeface="Apple SD Gothic Neo"/>
                <a:ea typeface="Apple SD Gothic Neo"/>
                <a:cs typeface="Apple SD Gothic Neo"/>
              </a:rPr>
              <a:t>G045 김용찬 · SK AI Leader Academy · 과제 2</a:t>
            </a:r>
          </a:p>
        </p:txBody>
      </p:sp>
    </p:spTree>
    <p:extLst>
      <p:ext uri="{BB962C8B-B14F-4D97-AF65-F5344CB8AC3E}">
        <p14:creationId xmlns:p14="http://schemas.microsoft.com/office/powerpoint/2010/main" val="1532851372"/>
      </p:ext>
    </p:extLst>
  </p:cSld>
</p:sld>
</file>

<file path=ppt/slides/slide2.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3A68B8B-BD04-411D-ACCF-A2DEF259D22D}"/>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출발점 · 반도체 교육에서 배운 데이터와 모델</a:t>
            </a:r>
          </a:p>
        </p:txBody>
      </p:sp>
      <p:sp>
        <p:nvSpPr>
          <p:cNvPr id="2" name="">
            <a:extLst xmlns:a="http://schemas.openxmlformats.org/drawingml/2006/main">
              <a:ext uri="{FF2B5EF4-FFF2-40B4-BE49-F238E27FC236}">
                <a16:creationId xmlns:a16="http://schemas.microsoft.com/office/drawing/2014/main" id="{E326EE0F-A43D-45D6-ACE7-AEB91A90E798}"/>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데이터 종류에 따라 쓰는 모델이 다릅니다</a:t>
            </a:r>
          </a:p>
        </p:txBody>
      </p:sp>
      <p:sp>
        <p:nvSpPr>
          <p:cNvPr id="3" name="">
            <a:extLst xmlns:a="http://schemas.openxmlformats.org/drawingml/2006/main">
              <a:ext uri="{FF2B5EF4-FFF2-40B4-BE49-F238E27FC236}">
                <a16:creationId xmlns:a16="http://schemas.microsoft.com/office/drawing/2014/main" id="{24DEFEB3-B2B6-48A4-9305-40D2E8D18671}"/>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BAB5FEA8-4ED9-443D-8081-488785B2FE32}"/>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2 / 16</a:t>
            </a:r>
          </a:p>
        </p:txBody>
      </p:sp>
      <p:graphicFrame>
        <p:nvGraphicFramePr>
          <p:cNvPr id="5" name="">
            <a:extLst xmlns:a="http://schemas.openxmlformats.org/drawingml/2006/main">
              <a:ext uri="{FF2B5EF4-FFF2-40B4-BE49-F238E27FC236}">
                <a16:creationId xmlns:a16="http://schemas.microsoft.com/office/drawing/2014/main" id="{03C2AC5A-C510-4A48-AC64-95145FF0FF77}"/>
              </a:ext>
            </a:extLst>
          </p:cNvPr>
          <p:cNvGraphicFramePr/>
          <p:nvPr/>
        </p:nvGraphicFramePr>
        <p:xfrm>
          <a:off xmlns:a="http://schemas.openxmlformats.org/drawingml/2006/main" x="609600" y="1762125"/>
          <a:ext xmlns:a="http://schemas.openxmlformats.org/drawingml/2006/main" cx="10972800" cy="3238500"/>
        </p:xfrm>
        <a:graphic xmlns:a="http://schemas.openxmlformats.org/drawingml/2006/main">
          <a:graphicData uri="http://schemas.openxmlformats.org/drawingml/2006/table">
            <a:tbl>
              <a:tblPr/>
              <a:tblGrid>
                <a:gridCol w="2000250"/>
                <a:gridCol w="4095750"/>
                <a:gridCol w="4876800"/>
              </a:tblGrid>
              <a:tr h="809625">
                <a:tc>
                  <a:txBody>
                    <a:bodyPr/>
                    <a:lstStyle/>
                    <a:p>
                      <a:r>
                        <a:rPr sz="2100" b="1">
                          <a:solidFill>
                            <a:srgbClr val="13747A"/>
                          </a:solidFill>
                          <a:latin typeface="Apple SD Gothic Neo"/>
                          <a:ea typeface="Apple SD Gothic Neo"/>
                          <a:cs typeface="Apple SD Gothic Neo"/>
                        </a:rPr>
                        <a:t>데이터 종류</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00" b="1">
                          <a:solidFill>
                            <a:srgbClr val="13747A"/>
                          </a:solidFill>
                          <a:latin typeface="Apple SD Gothic Neo"/>
                          <a:ea typeface="Apple SD Gothic Neo"/>
                          <a:cs typeface="Apple SD Gothic Neo"/>
                        </a:rPr>
                        <a:t>반도체 업무 활용 예시</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00" b="1">
                          <a:solidFill>
                            <a:srgbClr val="13747A"/>
                          </a:solidFill>
                          <a:latin typeface="Apple SD Gothic Neo"/>
                          <a:ea typeface="Apple SD Gothic Neo"/>
                          <a:cs typeface="Apple SD Gothic Neo"/>
                        </a:rPr>
                        <a:t>교육자료의 모델 예시</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809625">
                <a:tc>
                  <a:txBody>
                    <a:bodyPr/>
                    <a:lstStyle/>
                    <a:p>
                      <a:r>
                        <a:rPr sz="2100" b="0">
                          <a:solidFill>
                            <a:srgbClr val="173643"/>
                          </a:solidFill>
                          <a:latin typeface="Apple SD Gothic Neo"/>
                          <a:ea typeface="Apple SD Gothic Neo"/>
                          <a:cs typeface="Apple SD Gothic Neo"/>
                        </a:rPr>
                        <a:t>검사 이미지</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불량 이미지 분류</a:t>
                      </a:r>
                    </a:p>
                    <a:p>
                      <a:r>
                        <a:rPr sz="2100" b="0">
                          <a:solidFill>
                            <a:srgbClr val="173643"/>
                          </a:solidFill>
                          <a:latin typeface="Apple SD Gothic Neo"/>
                          <a:ea typeface="Apple SD Gothic Neo"/>
                          <a:cs typeface="Apple SD Gothic Neo"/>
                        </a:rPr>
                        <a:t>단면 길이 분석</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ResNet · VGGNet</a:t>
                      </a:r>
                    </a:p>
                    <a:p>
                      <a:r>
                        <a:rPr sz="2100" b="0">
                          <a:solidFill>
                            <a:srgbClr val="173643"/>
                          </a:solidFill>
                          <a:latin typeface="Apple SD Gothic Neo"/>
                          <a:ea typeface="Apple SD Gothic Neo"/>
                          <a:cs typeface="Apple SD Gothic Neo"/>
                        </a:rPr>
                        <a:t>GAN · Autoencoder</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809625">
                <a:tc>
                  <a:txBody>
                    <a:bodyPr/>
                    <a:lstStyle/>
                    <a:p>
                      <a:r>
                        <a:rPr sz="2100" b="0">
                          <a:solidFill>
                            <a:srgbClr val="173643"/>
                          </a:solidFill>
                          <a:latin typeface="Apple SD Gothic Neo"/>
                          <a:ea typeface="Apple SD Gothic Neo"/>
                          <a:cs typeface="Apple SD Gothic Neo"/>
                        </a:rPr>
                        <a:t>자연어·로그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100" b="0">
                          <a:solidFill>
                            <a:srgbClr val="173643"/>
                          </a:solidFill>
                          <a:latin typeface="Apple SD Gothic Neo"/>
                          <a:ea typeface="Apple SD Gothic Neo"/>
                          <a:cs typeface="Apple SD Gothic Neo"/>
                        </a:rPr>
                        <a:t>장비 불량 유형 분류</a:t>
                      </a:r>
                    </a:p>
                    <a:p>
                      <a:r>
                        <a:rPr sz="2100" b="0">
                          <a:solidFill>
                            <a:srgbClr val="173643"/>
                          </a:solidFill>
                          <a:latin typeface="Apple SD Gothic Neo"/>
                          <a:ea typeface="Apple SD Gothic Neo"/>
                          <a:cs typeface="Apple SD Gothic Neo"/>
                        </a:rPr>
                        <a:t>공정 로그 분석</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100" b="0">
                          <a:solidFill>
                            <a:srgbClr val="173643"/>
                          </a:solidFill>
                          <a:latin typeface="Apple SD Gothic Neo"/>
                          <a:ea typeface="Apple SD Gothic Neo"/>
                          <a:cs typeface="Apple SD Gothic Neo"/>
                        </a:rPr>
                        <a:t>LSTM · GPT · BERT</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809625">
                <a:tc>
                  <a:txBody>
                    <a:bodyPr/>
                    <a:lstStyle/>
                    <a:p>
                      <a:r>
                        <a:rPr sz="2100" b="0">
                          <a:solidFill>
                            <a:srgbClr val="173643"/>
                          </a:solidFill>
                          <a:latin typeface="Apple SD Gothic Neo"/>
                          <a:ea typeface="Apple SD Gothic Neo"/>
                          <a:cs typeface="Apple SD Gothic Neo"/>
                        </a:rPr>
                        <a:t>시계열</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수율 분석</a:t>
                      </a:r>
                    </a:p>
                    <a:p>
                      <a:r>
                        <a:rPr sz="2100" b="0">
                          <a:solidFill>
                            <a:srgbClr val="173643"/>
                          </a:solidFill>
                          <a:latin typeface="Apple SD Gothic Neo"/>
                          <a:ea typeface="Apple SD Gothic Neo"/>
                          <a:cs typeface="Apple SD Gothic Neo"/>
                        </a:rPr>
                        <a:t>산포 분석</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LSTM · ARIMA</a:t>
                      </a:r>
                    </a:p>
                    <a:p>
                      <a:r>
                        <a:rPr sz="2100" b="0">
                          <a:solidFill>
                            <a:srgbClr val="173643"/>
                          </a:solidFill>
                          <a:latin typeface="Apple SD Gothic Neo"/>
                          <a:ea typeface="Apple SD Gothic Neo"/>
                          <a:cs typeface="Apple SD Gothic Neo"/>
                        </a:rPr>
                        <a:t>Autoencoder</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6686E98-AFA5-4614-8323-BF759C526BF6}"/>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이번 구현: 검사 이미지와 숫자 센서의 정상·불량 분류</a:t>
            </a:r>
          </a:p>
        </p:txBody>
      </p:sp>
      <p:sp>
        <p:nvSpPr>
          <p:cNvPr id="7" name="">
            <a:extLst xmlns:a="http://schemas.openxmlformats.org/drawingml/2006/main">
              <a:ext uri="{FF2B5EF4-FFF2-40B4-BE49-F238E27FC236}">
                <a16:creationId xmlns:a16="http://schemas.microsoft.com/office/drawing/2014/main" id="{82876ED0-44AF-4530-A1CE-735DD5D580B2}"/>
              </a:ext>
            </a:extLst>
          </p:cNvPr>
          <p:cNvSpPr>
            <a:spLocks xmlns:a="http://schemas.openxmlformats.org/drawingml/2006/main" noGrp="1"/>
          </p:cNvSpPr>
          <p:nvPr/>
        </p:nvSpPr>
        <p:spPr>
          <a:xfrm xmlns:a="http://schemas.openxmlformats.org/drawingml/2006/main">
            <a:off x="609600" y="5695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자연어 로그 분석·시계열 예측은 향후 확장 범위</a:t>
            </a:r>
          </a:p>
        </p:txBody>
      </p:sp>
    </p:spTree>
    <p:extLst>
      <p:ext uri="{BB962C8B-B14F-4D97-AF65-F5344CB8AC3E}">
        <p14:creationId xmlns:p14="http://schemas.microsoft.com/office/powerpoint/2010/main" val="1622206887"/>
      </p:ext>
    </p:extLst>
  </p:cSld>
</p:sld>
</file>

<file path=ppt/slides/slide3.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DADFAC-D523-48A4-B91A-BCD1C8FCA146}"/>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사용자 · 검사 모델을 만드는 공정·장비 엔지니어</a:t>
            </a:r>
          </a:p>
        </p:txBody>
      </p:sp>
      <p:sp>
        <p:nvSpPr>
          <p:cNvPr id="2" name="">
            <a:extLst xmlns:a="http://schemas.openxmlformats.org/drawingml/2006/main">
              <a:ext uri="{FF2B5EF4-FFF2-40B4-BE49-F238E27FC236}">
                <a16:creationId xmlns:a16="http://schemas.microsoft.com/office/drawing/2014/main" id="{C92F4289-AEF7-4490-91A0-02C76F6FFEF3}"/>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반복할 모델 실험을 Agent에게 맡깁니다</a:t>
            </a:r>
          </a:p>
        </p:txBody>
      </p:sp>
      <p:sp>
        <p:nvSpPr>
          <p:cNvPr id="3" name="">
            <a:extLst xmlns:a="http://schemas.openxmlformats.org/drawingml/2006/main">
              <a:ext uri="{FF2B5EF4-FFF2-40B4-BE49-F238E27FC236}">
                <a16:creationId xmlns:a16="http://schemas.microsoft.com/office/drawing/2014/main" id="{7EA52B28-8FEE-4B55-9C07-E3904C509AC4}"/>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C4A1CD54-CE13-4E7C-94FD-9E6AD69FBB60}"/>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3 / 16</a:t>
            </a:r>
          </a:p>
        </p:txBody>
      </p:sp>
      <p:sp>
        <p:nvSpPr>
          <p:cNvPr id="5" name="">
            <a:extLst xmlns:a="http://schemas.openxmlformats.org/drawingml/2006/main">
              <a:ext uri="{FF2B5EF4-FFF2-40B4-BE49-F238E27FC236}">
                <a16:creationId xmlns:a16="http://schemas.microsoft.com/office/drawing/2014/main" id="{C6B1AA25-2D1E-48E5-951B-ACADDD232123}"/>
              </a:ext>
            </a:extLst>
          </p:cNvPr>
          <p:cNvSpPr>
            <a:spLocks xmlns:a="http://schemas.openxmlformats.org/drawingml/2006/main" noGrp="1"/>
          </p:cNvSpPr>
          <p:nvPr/>
        </p:nvSpPr>
        <p:spPr>
          <a:xfrm xmlns:a="http://schemas.openxmlformats.org/drawingml/2006/main">
            <a:off x="609600" y="17811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사용 상황: 새 검사 데이터에 어떤 모델을 쓸지 비교합니다.</a:t>
            </a:r>
          </a:p>
        </p:txBody>
      </p:sp>
      <p:sp>
        <p:nvSpPr>
          <p:cNvPr id="6" name="">
            <a:extLst xmlns:a="http://schemas.openxmlformats.org/drawingml/2006/main">
              <a:ext uri="{FF2B5EF4-FFF2-40B4-BE49-F238E27FC236}">
                <a16:creationId xmlns:a16="http://schemas.microsoft.com/office/drawing/2014/main" id="{9592648C-449F-435E-AAB2-BEBE03C210C9}"/>
              </a:ext>
            </a:extLst>
          </p:cNvPr>
          <p:cNvSpPr>
            <a:spLocks xmlns:a="http://schemas.openxmlformats.org/drawingml/2006/main" noGrp="1"/>
          </p:cNvSpPr>
          <p:nvPr/>
        </p:nvSpPr>
        <p:spPr>
          <a:xfrm xmlns:a="http://schemas.openxmlformats.org/drawingml/2006/main">
            <a:off x="609600" y="230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엔지니어는 계획을 검토하고, Agent는 승인받은 실험을 실행합니다.</a:t>
            </a:r>
          </a:p>
        </p:txBody>
      </p:sp>
      <p:graphicFrame>
        <p:nvGraphicFramePr>
          <p:cNvPr id="7" name="">
            <a:extLst xmlns:a="http://schemas.openxmlformats.org/drawingml/2006/main">
              <a:ext uri="{FF2B5EF4-FFF2-40B4-BE49-F238E27FC236}">
                <a16:creationId xmlns:a16="http://schemas.microsoft.com/office/drawing/2014/main" id="{CB211A8F-F86B-4C96-ABBA-D1B3063F10E0}"/>
              </a:ext>
            </a:extLst>
          </p:cNvPr>
          <p:cNvGraphicFramePr/>
          <p:nvPr/>
        </p:nvGraphicFramePr>
        <p:xfrm>
          <a:off xmlns:a="http://schemas.openxmlformats.org/drawingml/2006/main" x="609600" y="3000375"/>
          <a:ext xmlns:a="http://schemas.openxmlformats.org/drawingml/2006/main" cx="10972800" cy="3048000"/>
        </p:xfrm>
        <a:graphic xmlns:a="http://schemas.openxmlformats.org/drawingml/2006/main">
          <a:graphicData uri="http://schemas.openxmlformats.org/drawingml/2006/table">
            <a:tbl>
              <a:tblPr/>
              <a:tblGrid>
                <a:gridCol w="2238375"/>
                <a:gridCol w="4048125"/>
                <a:gridCol w="4686300"/>
              </a:tblGrid>
              <a:tr h="762000">
                <a:tc>
                  <a:txBody>
                    <a:bodyPr/>
                    <a:lstStyle/>
                    <a:p>
                      <a:r>
                        <a:rPr sz="1875" b="1">
                          <a:solidFill>
                            <a:srgbClr val="13747A"/>
                          </a:solidFill>
                          <a:latin typeface="Apple SD Gothic Neo"/>
                          <a:ea typeface="Apple SD Gothic Neo"/>
                          <a:cs typeface="Apple SD Gothic Neo"/>
                        </a:rPr>
                        <a:t>순서</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75" b="1">
                          <a:solidFill>
                            <a:srgbClr val="13747A"/>
                          </a:solidFill>
                          <a:latin typeface="Apple SD Gothic Neo"/>
                          <a:ea typeface="Apple SD Gothic Neo"/>
                          <a:cs typeface="Apple SD Gothic Neo"/>
                        </a:rPr>
                        <a:t>엔지니어의 행동</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75" b="1">
                          <a:solidFill>
                            <a:srgbClr val="13747A"/>
                          </a:solidFill>
                          <a:latin typeface="Apple SD Gothic Neo"/>
                          <a:ea typeface="Apple SD Gothic Neo"/>
                          <a:cs typeface="Apple SD Gothic Neo"/>
                        </a:rPr>
                        <a:t>Agent가 보여 주는 내용</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762000">
                <a:tc>
                  <a:txBody>
                    <a:bodyPr/>
                    <a:lstStyle/>
                    <a:p>
                      <a:r>
                        <a:rPr sz="1875" b="0">
                          <a:solidFill>
                            <a:srgbClr val="173643"/>
                          </a:solidFill>
                          <a:latin typeface="Apple SD Gothic Neo"/>
                          <a:ea typeface="Apple SD Gothic Neo"/>
                          <a:cs typeface="Apple SD Gothic Neo"/>
                        </a:rPr>
                        <a:t>1. 입력</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검사 데이터 선택</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데이터 상태와 비교 계획</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762000">
                <a:tc>
                  <a:txBody>
                    <a:bodyPr/>
                    <a:lstStyle/>
                    <a:p>
                      <a:r>
                        <a:rPr sz="1875" b="0">
                          <a:solidFill>
                            <a:srgbClr val="173643"/>
                          </a:solidFill>
                          <a:latin typeface="Apple SD Gothic Neo"/>
                          <a:ea typeface="Apple SD Gothic Neo"/>
                          <a:cs typeface="Apple SD Gothic Neo"/>
                        </a:rPr>
                        <a:t>2. 승인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모델·전처리 계획 확인 후 승인</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실제 학습과 Validation 비교</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762000">
                <a:tc>
                  <a:txBody>
                    <a:bodyPr/>
                    <a:lstStyle/>
                    <a:p>
                      <a:r>
                        <a:rPr sz="1875" b="0">
                          <a:solidFill>
                            <a:srgbClr val="173643"/>
                          </a:solidFill>
                          <a:latin typeface="Apple SD Gothic Neo"/>
                          <a:ea typeface="Apple SD Gothic Neo"/>
                          <a:cs typeface="Apple SD Gothic Neo"/>
                        </a:rPr>
                        <a:t>3. 결론</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기본 모델과 후보 결과 확인</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불량 발견·정상 오판·추가 실험 판단</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Tree>
    <p:extLst>
      <p:ext uri="{BB962C8B-B14F-4D97-AF65-F5344CB8AC3E}">
        <p14:creationId xmlns:p14="http://schemas.microsoft.com/office/powerpoint/2010/main" val="168237942"/>
      </p:ext>
    </p:extLst>
  </p:cSld>
</p:sld>
</file>

<file path=ppt/slides/slide4.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3CEEB12-9750-40B0-8920-4EA4C48A5A1E}"/>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본 실험 1/3 · 정상/불량 정답이 있는 합성 센서</a:t>
            </a:r>
          </a:p>
        </p:txBody>
      </p:sp>
      <p:sp>
        <p:nvSpPr>
          <p:cNvPr id="2" name="">
            <a:extLst xmlns:a="http://schemas.openxmlformats.org/drawingml/2006/main">
              <a:ext uri="{FF2B5EF4-FFF2-40B4-BE49-F238E27FC236}">
                <a16:creationId xmlns:a16="http://schemas.microsoft.com/office/drawing/2014/main" id="{8EC1B299-5E97-4E71-8527-03017FCAAC14}"/>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데이터 선택 후 비교 계획을 요청합니다</a:t>
            </a:r>
          </a:p>
        </p:txBody>
      </p:sp>
      <p:sp>
        <p:nvSpPr>
          <p:cNvPr id="3" name="">
            <a:extLst xmlns:a="http://schemas.openxmlformats.org/drawingml/2006/main">
              <a:ext uri="{FF2B5EF4-FFF2-40B4-BE49-F238E27FC236}">
                <a16:creationId xmlns:a16="http://schemas.microsoft.com/office/drawing/2014/main" id="{C845CA9D-4BA2-46F0-B9E0-5B051C36B5CA}"/>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59C0F8EE-6187-4B70-8DAD-A272CC49CC4A}"/>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4 / 16</a:t>
            </a:r>
          </a:p>
        </p:txBody>
      </p:sp>
      <p:pic>
        <p:nvPicPr>
          <p:cNvPr id="5" name="">
            <a:extLst xmlns:a="http://schemas.openxmlformats.org/drawingml/2006/main">
              <a:ext uri="{FF2B5EF4-FFF2-40B4-BE49-F238E27FC236}">
                <a16:creationId xmlns:a16="http://schemas.microsoft.com/office/drawing/2014/main" id="{92F20DFD-F732-47CF-943F-CAEAA3B7FCF0}"/>
              </a:ext>
            </a:extLst>
          </p:cNvPr>
          <p:cNvPicPr>
            <a:picLocks xmlns:a="http://schemas.openxmlformats.org/drawingml/2006/main" noChangeAspect="1"/>
          </p:cNvPicPr>
          <p:nvPr/>
        </p:nvPicPr>
        <p:blipFill>
          <a:blip xmlns:r="http://schemas.openxmlformats.org/officeDocument/2006/relationships" xmlns:a="http://schemas.openxmlformats.org/drawingml/2006/main" r:embed="Rab6192b55a304fb1"/>
          <a:srcRect xmlns:a="http://schemas.openxmlformats.org/drawingml/2006/main" l="0" t="0" r="4000" b="35000"/>
          <a:stretch xmlns:a="http://schemas.openxmlformats.org/drawingml/2006/main"/>
        </p:blipFill>
        <p:spPr>
          <a:xfrm xmlns:a="http://schemas.openxmlformats.org/drawingml/2006/main">
            <a:off x="609600" y="1695450"/>
            <a:ext cx="10972800"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60FE8C7-70AA-4318-AEAD-90DC4E561DB3}"/>
              </a:ext>
            </a:extLst>
          </p:cNvPr>
          <p:cNvSpPr>
            <a:spLocks xmlns:a="http://schemas.openxmlformats.org/drawingml/2006/main" noGrp="1"/>
          </p:cNvSpPr>
          <p:nvPr/>
        </p:nvSpPr>
        <p:spPr>
          <a:xfrm xmlns:a="http://schemas.openxmlformats.org/drawingml/2006/main">
            <a:off x="609600" y="5514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선택: 제품 A–D 합성 센서 1,280건, 불량201건</a:t>
            </a:r>
          </a:p>
        </p:txBody>
      </p:sp>
      <p:sp>
        <p:nvSpPr>
          <p:cNvPr id="7" name="">
            <a:extLst xmlns:a="http://schemas.openxmlformats.org/drawingml/2006/main">
              <a:ext uri="{FF2B5EF4-FFF2-40B4-BE49-F238E27FC236}">
                <a16:creationId xmlns:a16="http://schemas.microsoft.com/office/drawing/2014/main" id="{4922EBCA-76ED-4878-BBE5-6E4FDC3C5011}"/>
              </a:ext>
            </a:extLst>
          </p:cNvPr>
          <p:cNvSpPr>
            <a:spLocks xmlns:a="http://schemas.openxmlformats.org/drawingml/2006/main" noGrp="1"/>
          </p:cNvSpPr>
          <p:nvPr/>
        </p:nvSpPr>
        <p:spPr>
          <a:xfrm xmlns:a="http://schemas.openxmlformats.org/drawingml/2006/main">
            <a:off x="609600" y="58769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엔지니어 행동: 비교 목표를 정하고 “비교 계획 제안받기” 클릭</a:t>
            </a:r>
          </a:p>
        </p:txBody>
      </p:sp>
    </p:spTree>
    <p:extLst>
      <p:ext uri="{BB962C8B-B14F-4D97-AF65-F5344CB8AC3E}">
        <p14:creationId xmlns:p14="http://schemas.microsoft.com/office/powerpoint/2010/main" val="1787958140"/>
      </p:ext>
    </p:extLst>
  </p:cSld>
</p:sld>
</file>

<file path=ppt/slides/slide5.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B1E068-CF65-4E1D-9205-F0CF47EFCCEC}"/>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본 실험 2/3 · 앞에서 선택한 같은 센서 데이터</a:t>
            </a:r>
          </a:p>
        </p:txBody>
      </p:sp>
      <p:sp>
        <p:nvSpPr>
          <p:cNvPr id="2" name="">
            <a:extLst xmlns:a="http://schemas.openxmlformats.org/drawingml/2006/main">
              <a:ext uri="{FF2B5EF4-FFF2-40B4-BE49-F238E27FC236}">
                <a16:creationId xmlns:a16="http://schemas.microsoft.com/office/drawing/2014/main" id="{FF220148-EDC1-460B-9F91-07D896A23D29}"/>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계획의 이유를 확인하고 학습을 승인합니다</a:t>
            </a:r>
          </a:p>
        </p:txBody>
      </p:sp>
      <p:sp>
        <p:nvSpPr>
          <p:cNvPr id="3" name="">
            <a:extLst xmlns:a="http://schemas.openxmlformats.org/drawingml/2006/main">
              <a:ext uri="{FF2B5EF4-FFF2-40B4-BE49-F238E27FC236}">
                <a16:creationId xmlns:a16="http://schemas.microsoft.com/office/drawing/2014/main" id="{96A343D8-CFC5-4E91-ABCF-5BECAEC225C9}"/>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9BFA5DF0-BB9C-4AE4-88BC-ECF55538F848}"/>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5 / 16</a:t>
            </a:r>
          </a:p>
        </p:txBody>
      </p:sp>
      <p:pic>
        <p:nvPicPr>
          <p:cNvPr id="5" name="">
            <a:extLst xmlns:a="http://schemas.openxmlformats.org/drawingml/2006/main">
              <a:ext uri="{FF2B5EF4-FFF2-40B4-BE49-F238E27FC236}">
                <a16:creationId xmlns:a16="http://schemas.microsoft.com/office/drawing/2014/main" id="{5E465A1B-B884-41D5-8C80-F15564ED1EBE}"/>
              </a:ext>
            </a:extLst>
          </p:cNvPr>
          <p:cNvPicPr>
            <a:picLocks xmlns:a="http://schemas.openxmlformats.org/drawingml/2006/main" noChangeAspect="1"/>
          </p:cNvPicPr>
          <p:nvPr/>
        </p:nvPicPr>
        <p:blipFill>
          <a:blip xmlns:r="http://schemas.openxmlformats.org/officeDocument/2006/relationships" xmlns:a="http://schemas.openxmlformats.org/drawingml/2006/main" r:embed="R3fe191fdbdcf4a97"/>
          <a:srcRect xmlns:a="http://schemas.openxmlformats.org/drawingml/2006/main" l="0" t="0" r="4000" b="47000"/>
          <a:stretch xmlns:a="http://schemas.openxmlformats.org/drawingml/2006/main"/>
        </p:blipFill>
        <p:spPr>
          <a:xfrm xmlns:a="http://schemas.openxmlformats.org/drawingml/2006/main">
            <a:off x="609600" y="1666875"/>
            <a:ext cx="10972800" cy="31623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0500D3CE-0437-4BE9-BE9E-12C383E5D785}"/>
              </a:ext>
            </a:extLst>
          </p:cNvPr>
          <p:cNvPicPr>
            <a:picLocks xmlns:a="http://schemas.openxmlformats.org/drawingml/2006/main" noChangeAspect="1"/>
          </p:cNvPicPr>
          <p:nvPr/>
        </p:nvPicPr>
        <p:blipFill>
          <a:blip xmlns:r="http://schemas.openxmlformats.org/officeDocument/2006/relationships" xmlns:a="http://schemas.openxmlformats.org/drawingml/2006/main" r:embed="R24bb6639d7454089"/>
          <a:srcRect xmlns:a="http://schemas.openxmlformats.org/drawingml/2006/main" l="11000" t="42000" r="12000" b="45000"/>
          <a:stretch xmlns:a="http://schemas.openxmlformats.org/drawingml/2006/main"/>
        </p:blipFill>
        <p:spPr>
          <a:xfrm xmlns:a="http://schemas.openxmlformats.org/drawingml/2006/main">
            <a:off x="609600" y="4895850"/>
            <a:ext cx="10972800" cy="8191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5A65E7D-C96E-4080-B84D-8F208106472C}"/>
              </a:ext>
            </a:extLst>
          </p:cNvPr>
          <p:cNvSpPr>
            <a:spLocks xmlns:a="http://schemas.openxmlformats.org/drawingml/2006/main" noGrp="1"/>
          </p:cNvSpPr>
          <p:nvPr/>
        </p:nvSpPr>
        <p:spPr>
          <a:xfrm xmlns:a="http://schemas.openxmlformats.org/drawingml/2006/main">
            <a:off x="609600" y="57816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학습60% · 검증20% · 마지막 확인20%로 고정</a:t>
            </a:r>
          </a:p>
        </p:txBody>
      </p:sp>
      <p:sp>
        <p:nvSpPr>
          <p:cNvPr id="8" name="">
            <a:extLst xmlns:a="http://schemas.openxmlformats.org/drawingml/2006/main">
              <a:ext uri="{FF2B5EF4-FFF2-40B4-BE49-F238E27FC236}">
                <a16:creationId xmlns:a16="http://schemas.microsoft.com/office/drawing/2014/main" id="{D495AB9F-CC66-45C7-A6A8-77866DBF2295}"/>
              </a:ext>
            </a:extLst>
          </p:cNvPr>
          <p:cNvSpPr>
            <a:spLocks xmlns:a="http://schemas.openxmlformats.org/drawingml/2006/main" noGrp="1"/>
          </p:cNvSpPr>
          <p:nvPr/>
        </p:nvSpPr>
        <p:spPr>
          <a:xfrm xmlns:a="http://schemas.openxmlformats.org/drawingml/2006/main">
            <a:off x="609600" y="60579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생산 묶음(lot)이 학습·평가에 섞이지 않도록 분리합니다.</a:t>
            </a:r>
          </a:p>
        </p:txBody>
      </p:sp>
    </p:spTree>
    <p:extLst>
      <p:ext uri="{BB962C8B-B14F-4D97-AF65-F5344CB8AC3E}">
        <p14:creationId xmlns:p14="http://schemas.microsoft.com/office/powerpoint/2010/main" val="443272817"/>
      </p:ext>
    </p:extLst>
  </p:cSld>
</p:sld>
</file>

<file path=ppt/slides/slide6.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4EAA4F-3D84-4C18-9EDA-5D4775684CAD}"/>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본 실험 3/3 · 승인한 비교 실험의 결과</a:t>
            </a:r>
          </a:p>
        </p:txBody>
      </p:sp>
      <p:sp>
        <p:nvSpPr>
          <p:cNvPr id="2" name="">
            <a:extLst xmlns:a="http://schemas.openxmlformats.org/drawingml/2006/main">
              <a:ext uri="{FF2B5EF4-FFF2-40B4-BE49-F238E27FC236}">
                <a16:creationId xmlns:a16="http://schemas.microsoft.com/office/drawing/2014/main" id="{7229AC39-AF9A-4145-BBB7-8056E05FB3AF}"/>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후보는 골랐지만, 추가 실험이 필요합니다</a:t>
            </a:r>
          </a:p>
        </p:txBody>
      </p:sp>
      <p:sp>
        <p:nvSpPr>
          <p:cNvPr id="3" name="">
            <a:extLst xmlns:a="http://schemas.openxmlformats.org/drawingml/2006/main">
              <a:ext uri="{FF2B5EF4-FFF2-40B4-BE49-F238E27FC236}">
                <a16:creationId xmlns:a16="http://schemas.microsoft.com/office/drawing/2014/main" id="{176E122D-0E35-46F0-B232-DA2D42A62F50}"/>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4F712B69-341F-49D7-9E89-751247B5402A}"/>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6 / 16</a:t>
            </a:r>
          </a:p>
        </p:txBody>
      </p:sp>
      <p:pic>
        <p:nvPicPr>
          <p:cNvPr id="5" name="">
            <a:extLst xmlns:a="http://schemas.openxmlformats.org/drawingml/2006/main">
              <a:ext uri="{FF2B5EF4-FFF2-40B4-BE49-F238E27FC236}">
                <a16:creationId xmlns:a16="http://schemas.microsoft.com/office/drawing/2014/main" id="{E696C33E-B014-4025-81FF-47DB62140B43}"/>
              </a:ext>
            </a:extLst>
          </p:cNvPr>
          <p:cNvPicPr>
            <a:picLocks xmlns:a="http://schemas.openxmlformats.org/drawingml/2006/main" noChangeAspect="1"/>
          </p:cNvPicPr>
          <p:nvPr/>
        </p:nvPicPr>
        <p:blipFill>
          <a:blip xmlns:r="http://schemas.openxmlformats.org/officeDocument/2006/relationships" xmlns:a="http://schemas.openxmlformats.org/drawingml/2006/main" r:embed="R8831537ca9d449ae"/>
          <a:srcRect xmlns:a="http://schemas.openxmlformats.org/drawingml/2006/main" l="0" t="0" r="4000" b="0"/>
          <a:stretch xmlns:a="http://schemas.openxmlformats.org/drawingml/2006/main"/>
        </p:blipFill>
        <p:spPr>
          <a:xfrm xmlns:a="http://schemas.openxmlformats.org/drawingml/2006/main">
            <a:off x="609600" y="1666875"/>
            <a:ext cx="6572250" cy="45243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532B150-44D5-45D0-8F14-6B6F56060A51}"/>
              </a:ext>
            </a:extLst>
          </p:cNvPr>
          <p:cNvSpPr>
            <a:spLocks xmlns:a="http://schemas.openxmlformats.org/drawingml/2006/main" noGrp="1"/>
          </p:cNvSpPr>
          <p:nvPr/>
        </p:nvSpPr>
        <p:spPr>
          <a:xfrm xmlns:a="http://schemas.openxmlformats.org/drawingml/2006/main">
            <a:off x="7562850" y="2305050"/>
            <a:ext cx="4000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기본: Logistic Regression / 선택 후보: CatBoost · A+B+C 학습</a:t>
            </a:r>
          </a:p>
        </p:txBody>
      </p:sp>
      <p:sp>
        <p:nvSpPr>
          <p:cNvPr id="7" name="">
            <a:extLst xmlns:a="http://schemas.openxmlformats.org/drawingml/2006/main">
              <a:ext uri="{FF2B5EF4-FFF2-40B4-BE49-F238E27FC236}">
                <a16:creationId xmlns:a16="http://schemas.microsoft.com/office/drawing/2014/main" id="{8E21D1B2-46C2-4978-B49A-8BDFF5DE22B9}"/>
              </a:ext>
            </a:extLst>
          </p:cNvPr>
          <p:cNvSpPr>
            <a:spLocks xmlns:a="http://schemas.openxmlformats.org/drawingml/2006/main" noGrp="1"/>
          </p:cNvSpPr>
          <p:nvPr/>
        </p:nvSpPr>
        <p:spPr>
          <a:xfrm xmlns:a="http://schemas.openxmlformats.org/drawingml/2006/main">
            <a:off x="7562850" y="3686175"/>
            <a:ext cx="4000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Test 불량27/32개 발견. 목표 미달로 추가 실험 필요</a:t>
            </a:r>
          </a:p>
        </p:txBody>
      </p:sp>
    </p:spTree>
    <p:extLst>
      <p:ext uri="{BB962C8B-B14F-4D97-AF65-F5344CB8AC3E}">
        <p14:creationId xmlns:p14="http://schemas.microsoft.com/office/powerpoint/2010/main" val="428649492"/>
      </p:ext>
    </p:extLst>
  </p:cSld>
</p:sld>
</file>

<file path=ppt/slides/slide7.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3DBA4FD-F148-4FC6-8FC0-56933693FA59}"/>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같은 앱의 세 가지 데이터 · 각 데이터 안에서 같은 Test로 비교</a:t>
            </a:r>
          </a:p>
        </p:txBody>
      </p:sp>
      <p:sp>
        <p:nvSpPr>
          <p:cNvPr id="2" name="">
            <a:extLst xmlns:a="http://schemas.openxmlformats.org/drawingml/2006/main">
              <a:ext uri="{FF2B5EF4-FFF2-40B4-BE49-F238E27FC236}">
                <a16:creationId xmlns:a16="http://schemas.microsoft.com/office/drawing/2014/main" id="{BC214127-C7CF-4EE7-B096-82A193465842}"/>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데이터를 바꾸면 모델과 결론도 달라집니다</a:t>
            </a:r>
          </a:p>
        </p:txBody>
      </p:sp>
      <p:sp>
        <p:nvSpPr>
          <p:cNvPr id="3" name="">
            <a:extLst xmlns:a="http://schemas.openxmlformats.org/drawingml/2006/main">
              <a:ext uri="{FF2B5EF4-FFF2-40B4-BE49-F238E27FC236}">
                <a16:creationId xmlns:a16="http://schemas.microsoft.com/office/drawing/2014/main" id="{6D3F6339-1972-423A-9C74-8082F509FA6C}"/>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E751C28C-A022-45F4-A781-198F835E395E}"/>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7 / 16</a:t>
            </a:r>
          </a:p>
        </p:txBody>
      </p:sp>
      <p:graphicFrame>
        <p:nvGraphicFramePr>
          <p:cNvPr id="5" name="">
            <a:extLst xmlns:a="http://schemas.openxmlformats.org/drawingml/2006/main">
              <a:ext uri="{FF2B5EF4-FFF2-40B4-BE49-F238E27FC236}">
                <a16:creationId xmlns:a16="http://schemas.microsoft.com/office/drawing/2014/main" id="{841ECA41-9881-4047-A905-2773F8808F23}"/>
              </a:ext>
            </a:extLst>
          </p:cNvPr>
          <p:cNvGraphicFramePr/>
          <p:nvPr/>
        </p:nvGraphicFramePr>
        <p:xfrm>
          <a:off xmlns:a="http://schemas.openxmlformats.org/drawingml/2006/main" x="609600" y="1762125"/>
          <a:ext xmlns:a="http://schemas.openxmlformats.org/drawingml/2006/main" cx="10972800" cy="3476625"/>
        </p:xfrm>
        <a:graphic xmlns:a="http://schemas.openxmlformats.org/drawingml/2006/main">
          <a:graphicData uri="http://schemas.openxmlformats.org/drawingml/2006/table">
            <a:tbl>
              <a:tblPr/>
              <a:tblGrid>
                <a:gridCol w="1524000"/>
                <a:gridCol w="2952750"/>
                <a:gridCol w="1905000"/>
                <a:gridCol w="1905000"/>
                <a:gridCol w="2686050"/>
              </a:tblGrid>
              <a:tr h="869156">
                <a:tc>
                  <a:txBody>
                    <a:bodyPr/>
                    <a:lstStyle/>
                    <a:p>
                      <a:r>
                        <a:rPr sz="1725" b="1">
                          <a:solidFill>
                            <a:srgbClr val="13747A"/>
                          </a:solidFill>
                          <a:latin typeface="Apple SD Gothic Neo"/>
                          <a:ea typeface="Apple SD Gothic Neo"/>
                          <a:cs typeface="Apple SD Gothic Neo"/>
                        </a:rPr>
                        <a:t>데이터</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725" b="1">
                          <a:solidFill>
                            <a:srgbClr val="13747A"/>
                          </a:solidFill>
                          <a:latin typeface="Apple SD Gothic Neo"/>
                          <a:ea typeface="Apple SD Gothic Neo"/>
                          <a:cs typeface="Apple SD Gothic Neo"/>
                        </a:rPr>
                        <a:t>기본 모델 / 선택 후보</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725" b="1">
                          <a:solidFill>
                            <a:srgbClr val="13747A"/>
                          </a:solidFill>
                          <a:latin typeface="Apple SD Gothic Neo"/>
                          <a:ea typeface="Apple SD Gothic Neo"/>
                          <a:cs typeface="Apple SD Gothic Neo"/>
                        </a:rPr>
                        <a:t>불량 발견</a:t>
                      </a:r>
                    </a:p>
                    <a:p>
                      <a:r>
                        <a:rPr sz="1725" b="1">
                          <a:solidFill>
                            <a:srgbClr val="13747A"/>
                          </a:solidFill>
                          <a:latin typeface="Apple SD Gothic Neo"/>
                          <a:ea typeface="Apple SD Gothic Neo"/>
                          <a:cs typeface="Apple SD Gothic Neo"/>
                        </a:rPr>
                        <a:t>기본 / 후보</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725" b="1">
                          <a:solidFill>
                            <a:srgbClr val="13747A"/>
                          </a:solidFill>
                          <a:latin typeface="Apple SD Gothic Neo"/>
                          <a:ea typeface="Apple SD Gothic Neo"/>
                          <a:cs typeface="Apple SD Gothic Neo"/>
                        </a:rPr>
                        <a:t>정상 오판</a:t>
                      </a:r>
                    </a:p>
                    <a:p>
                      <a:r>
                        <a:rPr sz="1725" b="1">
                          <a:solidFill>
                            <a:srgbClr val="13747A"/>
                          </a:solidFill>
                          <a:latin typeface="Apple SD Gothic Neo"/>
                          <a:ea typeface="Apple SD Gothic Neo"/>
                          <a:cs typeface="Apple SD Gothic Neo"/>
                        </a:rPr>
                        <a:t>기본 / 후보</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725" b="1">
                          <a:solidFill>
                            <a:srgbClr val="13747A"/>
                          </a:solidFill>
                          <a:latin typeface="Apple SD Gothic Neo"/>
                          <a:ea typeface="Apple SD Gothic Neo"/>
                          <a:cs typeface="Apple SD Gothic Neo"/>
                        </a:rPr>
                        <a:t>Agent의 결론</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869156">
                <a:tc>
                  <a:txBody>
                    <a:bodyPr/>
                    <a:lstStyle/>
                    <a:p>
                      <a:r>
                        <a:rPr sz="1725" b="0">
                          <a:solidFill>
                            <a:srgbClr val="173643"/>
                          </a:solidFill>
                          <a:latin typeface="Apple SD Gothic Neo"/>
                          <a:ea typeface="Apple SD Gothic Neo"/>
                          <a:cs typeface="Apple SD Gothic Neo"/>
                        </a:rPr>
                        <a:t>합성 센서</a:t>
                      </a:r>
                    </a:p>
                    <a:p>
                      <a:r>
                        <a:rPr sz="1725" b="0">
                          <a:solidFill>
                            <a:srgbClr val="173643"/>
                          </a:solidFill>
                          <a:latin typeface="Apple SD Gothic Neo"/>
                          <a:ea typeface="Apple SD Gothic Neo"/>
                          <a:cs typeface="Apple SD Gothic Neo"/>
                        </a:rPr>
                        <a:t>제품 A–D</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725" b="0">
                          <a:solidFill>
                            <a:srgbClr val="173643"/>
                          </a:solidFill>
                          <a:latin typeface="Apple SD Gothic Neo"/>
                          <a:ea typeface="Apple SD Gothic Neo"/>
                          <a:cs typeface="Apple SD Gothic Neo"/>
                        </a:rPr>
                        <a:t>Logistic / CatBoost</a:t>
                      </a:r>
                    </a:p>
                    <a:p>
                      <a:r>
                        <a:rPr sz="1725" b="0">
                          <a:solidFill>
                            <a:srgbClr val="173643"/>
                          </a:solidFill>
                          <a:latin typeface="Apple SD Gothic Neo"/>
                          <a:ea typeface="Apple SD Gothic Neo"/>
                          <a:cs typeface="Apple SD Gothic Neo"/>
                        </a:rPr>
                        <a:t>후보 학습: A+B+C</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725" b="0">
                          <a:solidFill>
                            <a:srgbClr val="173643"/>
                          </a:solidFill>
                          <a:latin typeface="Apple SD Gothic Neo"/>
                          <a:ea typeface="Apple SD Gothic Neo"/>
                          <a:cs typeface="Apple SD Gothic Neo"/>
                        </a:rPr>
                        <a:t>20 / 27</a:t>
                      </a:r>
                    </a:p>
                    <a:p>
                      <a:r>
                        <a:rPr sz="1725" b="0">
                          <a:solidFill>
                            <a:srgbClr val="173643"/>
                          </a:solidFill>
                          <a:latin typeface="Apple SD Gothic Neo"/>
                          <a:ea typeface="Apple SD Gothic Neo"/>
                          <a:cs typeface="Apple SD Gothic Neo"/>
                        </a:rPr>
                        <a:t>(불량32개)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725" b="0">
                          <a:solidFill>
                            <a:srgbClr val="173643"/>
                          </a:solidFill>
                          <a:latin typeface="Apple SD Gothic Neo"/>
                          <a:ea typeface="Apple SD Gothic Neo"/>
                          <a:cs typeface="Apple SD Gothic Neo"/>
                        </a:rPr>
                        <a:t>1 / 14</a:t>
                      </a:r>
                    </a:p>
                    <a:p>
                      <a:r>
                        <a:rPr sz="1725" b="0">
                          <a:solidFill>
                            <a:srgbClr val="173643"/>
                          </a:solidFill>
                          <a:latin typeface="Apple SD Gothic Neo"/>
                          <a:ea typeface="Apple SD Gothic Neo"/>
                          <a:cs typeface="Apple SD Gothic Neo"/>
                        </a:rPr>
                        <a:t>(정상224개)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725" b="0">
                          <a:solidFill>
                            <a:srgbClr val="173643"/>
                          </a:solidFill>
                          <a:latin typeface="Apple SD Gothic Neo"/>
                          <a:ea typeface="Apple SD Gothic Neo"/>
                          <a:cs typeface="Apple SD Gothic Neo"/>
                        </a:rPr>
                        <a:t>Recall84.4%</a:t>
                      </a:r>
                    </a:p>
                    <a:p>
                      <a:r>
                        <a:rPr sz="1725" b="0">
                          <a:solidFill>
                            <a:srgbClr val="173643"/>
                          </a:solidFill>
                          <a:latin typeface="Apple SD Gothic Neo"/>
                          <a:ea typeface="Apple SD Gothic Neo"/>
                          <a:cs typeface="Apple SD Gothic Neo"/>
                        </a:rPr>
                        <a:t>추가 실험 필요</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869156">
                <a:tc>
                  <a:txBody>
                    <a:bodyPr/>
                    <a:lstStyle/>
                    <a:p>
                      <a:r>
                        <a:rPr sz="1725" b="0">
                          <a:solidFill>
                            <a:srgbClr val="173643"/>
                          </a:solidFill>
                          <a:latin typeface="Apple SD Gothic Neo"/>
                          <a:ea typeface="Apple SD Gothic Neo"/>
                          <a:cs typeface="Apple SD Gothic Neo"/>
                        </a:rPr>
                        <a:t>UCI SECOM</a:t>
                      </a:r>
                    </a:p>
                    <a:p>
                      <a:r>
                        <a:rPr sz="1725" b="0">
                          <a:solidFill>
                            <a:srgbClr val="173643"/>
                          </a:solidFill>
                          <a:latin typeface="Apple SD Gothic Neo"/>
                          <a:ea typeface="Apple SD Gothic Neo"/>
                          <a:cs typeface="Apple SD Gothic Neo"/>
                        </a:rPr>
                        <a:t>공개 센서</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725" b="0">
                          <a:solidFill>
                            <a:srgbClr val="173643"/>
                          </a:solidFill>
                          <a:latin typeface="Apple SD Gothic Neo"/>
                          <a:ea typeface="Apple SD Gothic Neo"/>
                          <a:cs typeface="Apple SD Gothic Neo"/>
                        </a:rPr>
                        <a:t>Logistic / XGBoost</a:t>
                      </a:r>
                    </a:p>
                    <a:p>
                      <a:r>
                        <a:rPr sz="1725" b="0">
                          <a:solidFill>
                            <a:srgbClr val="173643"/>
                          </a:solidFill>
                          <a:latin typeface="Apple SD Gothic Neo"/>
                          <a:ea typeface="Apple SD Gothic Neo"/>
                          <a:cs typeface="Apple SD Gothic Neo"/>
                        </a:rPr>
                        <a:t>XGBoost는 참고 결과</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725" b="0">
                          <a:solidFill>
                            <a:srgbClr val="173643"/>
                          </a:solidFill>
                          <a:latin typeface="Apple SD Gothic Neo"/>
                          <a:ea typeface="Apple SD Gothic Neo"/>
                          <a:cs typeface="Apple SD Gothic Neo"/>
                        </a:rPr>
                        <a:t>0 / 5</a:t>
                      </a:r>
                    </a:p>
                    <a:p>
                      <a:r>
                        <a:rPr sz="1725" b="0">
                          <a:solidFill>
                            <a:srgbClr val="173643"/>
                          </a:solidFill>
                          <a:latin typeface="Apple SD Gothic Neo"/>
                          <a:ea typeface="Apple SD Gothic Neo"/>
                          <a:cs typeface="Apple SD Gothic Neo"/>
                        </a:rPr>
                        <a:t>(불량23개)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725" b="0">
                          <a:solidFill>
                            <a:srgbClr val="173643"/>
                          </a:solidFill>
                          <a:latin typeface="Apple SD Gothic Neo"/>
                          <a:ea typeface="Apple SD Gothic Neo"/>
                          <a:cs typeface="Apple SD Gothic Neo"/>
                        </a:rPr>
                        <a:t>17 / 87</a:t>
                      </a:r>
                    </a:p>
                    <a:p>
                      <a:r>
                        <a:rPr sz="1725" b="0">
                          <a:solidFill>
                            <a:srgbClr val="173643"/>
                          </a:solidFill>
                          <a:latin typeface="Apple SD Gothic Neo"/>
                          <a:ea typeface="Apple SD Gothic Neo"/>
                          <a:cs typeface="Apple SD Gothic Neo"/>
                        </a:rPr>
                        <a:t>(정상357개)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725" b="0">
                          <a:solidFill>
                            <a:srgbClr val="173643"/>
                          </a:solidFill>
                          <a:latin typeface="Apple SD Gothic Neo"/>
                          <a:ea typeface="Apple SD Gothic Neo"/>
                          <a:cs typeface="Apple SD Gothic Neo"/>
                        </a:rPr>
                        <a:t>목표 충족 후보 없음</a:t>
                      </a:r>
                    </a:p>
                    <a:p>
                      <a:r>
                        <a:rPr sz="1725" b="0">
                          <a:solidFill>
                            <a:srgbClr val="173643"/>
                          </a:solidFill>
                          <a:latin typeface="Apple SD Gothic Neo"/>
                          <a:ea typeface="Apple SD Gothic Neo"/>
                          <a:cs typeface="Apple SD Gothic Neo"/>
                        </a:rPr>
                        <a:t>데이터·계획 재검토</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869156">
                <a:tc>
                  <a:txBody>
                    <a:bodyPr/>
                    <a:lstStyle/>
                    <a:p>
                      <a:r>
                        <a:rPr sz="1725" b="0">
                          <a:solidFill>
                            <a:srgbClr val="173643"/>
                          </a:solidFill>
                          <a:latin typeface="Apple SD Gothic Neo"/>
                          <a:ea typeface="Apple SD Gothic Neo"/>
                          <a:cs typeface="Apple SD Gothic Neo"/>
                        </a:rPr>
                        <a:t>합성 이미지</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725" b="0">
                          <a:solidFill>
                            <a:srgbClr val="173643"/>
                          </a:solidFill>
                          <a:latin typeface="Apple SD Gothic Neo"/>
                          <a:ea typeface="Apple SD Gothic Neo"/>
                          <a:cs typeface="Apple SD Gothic Neo"/>
                        </a:rPr>
                        <a:t>축소 ResNet /</a:t>
                      </a:r>
                    </a:p>
                    <a:p>
                      <a:r>
                        <a:rPr sz="1725" b="0">
                          <a:solidFill>
                            <a:srgbClr val="173643"/>
                          </a:solidFill>
                          <a:latin typeface="Apple SD Gothic Neo"/>
                          <a:ea typeface="Apple SD Gothic Neo"/>
                          <a:cs typeface="Apple SD Gothic Neo"/>
                        </a:rPr>
                        <a:t>Autoencoder</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725" b="0">
                          <a:solidFill>
                            <a:srgbClr val="173643"/>
                          </a:solidFill>
                          <a:latin typeface="Apple SD Gothic Neo"/>
                          <a:ea typeface="Apple SD Gothic Neo"/>
                          <a:cs typeface="Apple SD Gothic Neo"/>
                        </a:rPr>
                        <a:t>15 / 14</a:t>
                      </a:r>
                    </a:p>
                    <a:p>
                      <a:r>
                        <a:rPr sz="1725" b="0">
                          <a:solidFill>
                            <a:srgbClr val="173643"/>
                          </a:solidFill>
                          <a:latin typeface="Apple SD Gothic Neo"/>
                          <a:ea typeface="Apple SD Gothic Neo"/>
                          <a:cs typeface="Apple SD Gothic Neo"/>
                        </a:rPr>
                        <a:t>(불량15개)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725" b="0">
                          <a:solidFill>
                            <a:srgbClr val="173643"/>
                          </a:solidFill>
                          <a:latin typeface="Apple SD Gothic Neo"/>
                          <a:ea typeface="Apple SD Gothic Neo"/>
                          <a:cs typeface="Apple SD Gothic Neo"/>
                        </a:rPr>
                        <a:t>32 / 0</a:t>
                      </a:r>
                    </a:p>
                    <a:p>
                      <a:r>
                        <a:rPr sz="1725" b="0">
                          <a:solidFill>
                            <a:srgbClr val="173643"/>
                          </a:solidFill>
                          <a:latin typeface="Apple SD Gothic Neo"/>
                          <a:ea typeface="Apple SD Gothic Neo"/>
                          <a:cs typeface="Apple SD Gothic Neo"/>
                        </a:rPr>
                        <a:t>(정상105개)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725" b="0">
                          <a:solidFill>
                            <a:srgbClr val="173643"/>
                          </a:solidFill>
                          <a:latin typeface="Apple SD Gothic Neo"/>
                          <a:ea typeface="Apple SD Gothic Neo"/>
                          <a:cs typeface="Apple SD Gothic Neo"/>
                        </a:rPr>
                        <a:t>Recall93.3%</a:t>
                      </a:r>
                    </a:p>
                    <a:p>
                      <a:r>
                        <a:rPr sz="1725" b="0">
                          <a:solidFill>
                            <a:srgbClr val="173643"/>
                          </a:solidFill>
                          <a:latin typeface="Apple SD Gothic Neo"/>
                          <a:ea typeface="Apple SD Gothic Neo"/>
                          <a:cs typeface="Apple SD Gothic Neo"/>
                        </a:rPr>
                        <a:t>불량 표본 보강 필요</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64FDE0B-CDFB-4B0C-8D47-D2A6D5D7E8A9}"/>
              </a:ext>
            </a:extLst>
          </p:cNvPr>
          <p:cNvSpPr>
            <a:spLocks xmlns:a="http://schemas.openxmlformats.org/drawingml/2006/main" noGrp="1"/>
          </p:cNvSpPr>
          <p:nvPr/>
        </p:nvSpPr>
        <p:spPr>
          <a:xfrm xmlns:a="http://schemas.openxmlformats.org/drawingml/2006/main">
            <a:off x="609600" y="54102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기본 / 후보 순으로 표시했습니다. 각 행의 Test는 서로 다릅니다.</a:t>
            </a:r>
          </a:p>
        </p:txBody>
      </p:sp>
      <p:sp>
        <p:nvSpPr>
          <p:cNvPr id="7" name="">
            <a:extLst xmlns:a="http://schemas.openxmlformats.org/drawingml/2006/main">
              <a:ext uri="{FF2B5EF4-FFF2-40B4-BE49-F238E27FC236}">
                <a16:creationId xmlns:a16="http://schemas.microsoft.com/office/drawing/2014/main" id="{1D473CC4-5F58-4159-9FE2-07686D64E9C6}"/>
              </a:ext>
            </a:extLst>
          </p:cNvPr>
          <p:cNvSpPr>
            <a:spLocks xmlns:a="http://schemas.openxmlformats.org/drawingml/2006/main" noGrp="1"/>
          </p:cNvSpPr>
          <p:nvPr/>
        </p:nvSpPr>
        <p:spPr>
          <a:xfrm xmlns:a="http://schemas.openxmlformats.org/drawingml/2006/main">
            <a:off x="609600" y="57816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UCI SECOM: 공개 반도체 센서·합격/불합격 기록, McCann &amp; Johnston(2008)</a:t>
            </a:r>
          </a:p>
        </p:txBody>
      </p:sp>
    </p:spTree>
    <p:extLst>
      <p:ext uri="{BB962C8B-B14F-4D97-AF65-F5344CB8AC3E}">
        <p14:creationId xmlns:p14="http://schemas.microsoft.com/office/powerpoint/2010/main" val="2086914810"/>
      </p:ext>
    </p:extLst>
  </p:cSld>
</p:sld>
</file>

<file path=ppt/slides/slide8.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55D0936-3604-4DD1-81C7-B7F7E2CC4DC7}"/>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판단 기준 · 불량을 Positive로 둡니다</a:t>
            </a:r>
          </a:p>
        </p:txBody>
      </p:sp>
      <p:sp>
        <p:nvSpPr>
          <p:cNvPr id="2" name="">
            <a:extLst xmlns:a="http://schemas.openxmlformats.org/drawingml/2006/main">
              <a:ext uri="{FF2B5EF4-FFF2-40B4-BE49-F238E27FC236}">
                <a16:creationId xmlns:a16="http://schemas.microsoft.com/office/drawing/2014/main" id="{5CB9A4AC-2641-4435-BE2B-FC14D35D68D0}"/>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Recall을 우선하되 정상 오판도 함께 봅니다</a:t>
            </a:r>
          </a:p>
        </p:txBody>
      </p:sp>
      <p:sp>
        <p:nvSpPr>
          <p:cNvPr id="3" name="">
            <a:extLst xmlns:a="http://schemas.openxmlformats.org/drawingml/2006/main">
              <a:ext uri="{FF2B5EF4-FFF2-40B4-BE49-F238E27FC236}">
                <a16:creationId xmlns:a16="http://schemas.microsoft.com/office/drawing/2014/main" id="{4D3F83B0-C8E2-4B14-A8A0-48D27C8DE7F5}"/>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4273AC18-2A37-41E9-B168-1AD84ECFF126}"/>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8 / 16</a:t>
            </a:r>
          </a:p>
        </p:txBody>
      </p:sp>
      <p:graphicFrame>
        <p:nvGraphicFramePr>
          <p:cNvPr id="5" name="">
            <a:extLst xmlns:a="http://schemas.openxmlformats.org/drawingml/2006/main">
              <a:ext uri="{FF2B5EF4-FFF2-40B4-BE49-F238E27FC236}">
                <a16:creationId xmlns:a16="http://schemas.microsoft.com/office/drawing/2014/main" id="{A1C19D29-1602-4D1F-97BC-10F36B184B49}"/>
              </a:ext>
            </a:extLst>
          </p:cNvPr>
          <p:cNvGraphicFramePr/>
          <p:nvPr/>
        </p:nvGraphicFramePr>
        <p:xfrm>
          <a:off xmlns:a="http://schemas.openxmlformats.org/drawingml/2006/main" x="609600" y="1762125"/>
          <a:ext xmlns:a="http://schemas.openxmlformats.org/drawingml/2006/main" cx="10972800" cy="2857500"/>
        </p:xfrm>
        <a:graphic xmlns:a="http://schemas.openxmlformats.org/drawingml/2006/main">
          <a:graphicData uri="http://schemas.openxmlformats.org/drawingml/2006/table">
            <a:tbl>
              <a:tblPr/>
              <a:tblGrid>
                <a:gridCol w="1905000"/>
                <a:gridCol w="4286250"/>
                <a:gridCol w="4781550"/>
              </a:tblGrid>
              <a:tr h="714375">
                <a:tc>
                  <a:txBody>
                    <a:bodyPr/>
                    <a:lstStyle/>
                    <a:p>
                      <a:r>
                        <a:rPr sz="2025" b="1">
                          <a:solidFill>
                            <a:srgbClr val="13747A"/>
                          </a:solidFill>
                          <a:latin typeface="Apple SD Gothic Neo"/>
                          <a:ea typeface="Apple SD Gothic Neo"/>
                          <a:cs typeface="Apple SD Gothic Neo"/>
                        </a:rPr>
                        <a:t>지표</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쉽게 말하면</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025" b="1">
                          <a:solidFill>
                            <a:srgbClr val="13747A"/>
                          </a:solidFill>
                          <a:latin typeface="Apple SD Gothic Neo"/>
                          <a:ea typeface="Apple SD Gothic Neo"/>
                          <a:cs typeface="Apple SD Gothic Neo"/>
                        </a:rPr>
                        <a:t>이번 프로젝트에서의 역할</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714375">
                <a:tc>
                  <a:txBody>
                    <a:bodyPr/>
                    <a:lstStyle/>
                    <a:p>
                      <a:r>
                        <a:rPr sz="2025" b="0">
                          <a:solidFill>
                            <a:srgbClr val="173643"/>
                          </a:solidFill>
                          <a:latin typeface="Apple SD Gothic Neo"/>
                          <a:ea typeface="Apple SD Gothic Neo"/>
                          <a:cs typeface="Apple SD Gothic Neo"/>
                        </a:rPr>
                        <a:t>Recall</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실제 불량 중 몇 개를 찾았나?</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불량을 놓치지 않는 목표를 우선 확인</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714375">
                <a:tc>
                  <a:txBody>
                    <a:bodyPr/>
                    <a:lstStyle/>
                    <a:p>
                      <a:r>
                        <a:rPr sz="2025" b="0">
                          <a:solidFill>
                            <a:srgbClr val="173643"/>
                          </a:solidFill>
                          <a:latin typeface="Apple SD Gothic Neo"/>
                          <a:ea typeface="Apple SD Gothic Neo"/>
                          <a:cs typeface="Apple SD Gothic Neo"/>
                        </a:rPr>
                        <a:t>정상 오판률</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실제 정상 중 몇 개를 불량으로 잘못 봤나?</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025" b="0">
                          <a:solidFill>
                            <a:srgbClr val="173643"/>
                          </a:solidFill>
                          <a:latin typeface="Apple SD Gothic Neo"/>
                          <a:ea typeface="Apple SD Gothic Neo"/>
                          <a:cs typeface="Apple SD Gothic Neo"/>
                        </a:rPr>
                        <a:t>Recall만 높이는 후보를 걸러내는 목표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714375">
                <a:tc>
                  <a:txBody>
                    <a:bodyPr/>
                    <a:lstStyle/>
                    <a:p>
                      <a:r>
                        <a:rPr sz="2025" b="0">
                          <a:solidFill>
                            <a:srgbClr val="173643"/>
                          </a:solidFill>
                          <a:latin typeface="Apple SD Gothic Neo"/>
                          <a:ea typeface="Apple SD Gothic Neo"/>
                          <a:cs typeface="Apple SD Gothic Neo"/>
                        </a:rPr>
                        <a:t>Precision · F1</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불량 판정의 정확성과 Recall의 균형</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025" b="0">
                          <a:solidFill>
                            <a:srgbClr val="173643"/>
                          </a:solidFill>
                          <a:latin typeface="Apple SD Gothic Neo"/>
                          <a:ea typeface="Apple SD Gothic Neo"/>
                          <a:cs typeface="Apple SD Gothic Neo"/>
                        </a:rPr>
                        <a:t>후보의 장단점을 함께 보는 보조 지표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FA4920C-80A4-4432-AF57-7D03D5025526}"/>
              </a:ext>
            </a:extLst>
          </p:cNvPr>
          <p:cNvSpPr>
            <a:spLocks xmlns:a="http://schemas.openxmlformats.org/drawingml/2006/main" noGrp="1"/>
          </p:cNvSpPr>
          <p:nvPr/>
        </p:nvSpPr>
        <p:spPr>
          <a:xfrm xmlns:a="http://schemas.openxmlformats.org/drawingml/2006/main">
            <a:off x="609600" y="48958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먼저 중요한 불량의 검출 목표와 정상 오판 허용 목표를 정합니다.</a:t>
            </a:r>
          </a:p>
        </p:txBody>
      </p:sp>
      <p:sp>
        <p:nvSpPr>
          <p:cNvPr id="7" name="">
            <a:extLst xmlns:a="http://schemas.openxmlformats.org/drawingml/2006/main">
              <a:ext uri="{FF2B5EF4-FFF2-40B4-BE49-F238E27FC236}">
                <a16:creationId xmlns:a16="http://schemas.microsoft.com/office/drawing/2014/main" id="{01483511-8BAC-488F-A695-A8C21382C03F}"/>
              </a:ext>
            </a:extLst>
          </p:cNvPr>
          <p:cNvSpPr>
            <a:spLocks xmlns:a="http://schemas.openxmlformats.org/drawingml/2006/main" noGrp="1"/>
          </p:cNvSpPr>
          <p:nvPr/>
        </p:nvSpPr>
        <p:spPr>
          <a:xfrm xmlns:a="http://schemas.openxmlformats.org/drawingml/2006/main">
            <a:off x="609600" y="54292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950" b="0">
                <a:solidFill>
                  <a:srgbClr val="173643"/>
                </a:solidFill>
                <a:latin typeface="Apple SD Gothic Neo"/>
                <a:ea typeface="Apple SD Gothic Neo"/>
                <a:cs typeface="Apple SD Gothic Neo"/>
              </a:defRPr>
            </a:defPPr>
            <a:lvl1pPr>
              <a:defRPr sz="1950" b="0">
                <a:solidFill>
                  <a:srgbClr val="173643"/>
                </a:solidFill>
                <a:latin typeface="Apple SD Gothic Neo"/>
                <a:ea typeface="Apple SD Gothic Neo"/>
                <a:cs typeface="Apple SD Gothic Neo"/>
              </a:defRPr>
            </a:lvl1pPr>
            <a:lvl2pPr>
              <a:defRPr sz="1950" b="0">
                <a:solidFill>
                  <a:srgbClr val="173643"/>
                </a:solidFill>
                <a:latin typeface="Apple SD Gothic Neo"/>
                <a:ea typeface="Apple SD Gothic Neo"/>
                <a:cs typeface="Apple SD Gothic Neo"/>
              </a:defRPr>
            </a:lvl2pPr>
            <a:lvl3pPr>
              <a:defRPr sz="1950" b="0">
                <a:solidFill>
                  <a:srgbClr val="173643"/>
                </a:solidFill>
                <a:latin typeface="Apple SD Gothic Neo"/>
                <a:ea typeface="Apple SD Gothic Neo"/>
                <a:cs typeface="Apple SD Gothic Neo"/>
              </a:defRPr>
            </a:lvl3pPr>
            <a:lvl4pPr>
              <a:defRPr sz="1950" b="0">
                <a:solidFill>
                  <a:srgbClr val="173643"/>
                </a:solidFill>
                <a:latin typeface="Apple SD Gothic Neo"/>
                <a:ea typeface="Apple SD Gothic Neo"/>
                <a:cs typeface="Apple SD Gothic Neo"/>
              </a:defRPr>
            </a:lvl4pPr>
            <a:lvl5pPr>
              <a:defRPr sz="1950" b="0">
                <a:solidFill>
                  <a:srgbClr val="173643"/>
                </a:solidFill>
                <a:latin typeface="Apple SD Gothic Neo"/>
                <a:ea typeface="Apple SD Gothic Neo"/>
                <a:cs typeface="Apple SD Gothic Neo"/>
              </a:defRPr>
            </a:lvl5pPr>
            <a:lvl6pPr>
              <a:defRPr sz="1950" b="0">
                <a:solidFill>
                  <a:srgbClr val="173643"/>
                </a:solidFill>
                <a:latin typeface="Apple SD Gothic Neo"/>
                <a:ea typeface="Apple SD Gothic Neo"/>
                <a:cs typeface="Apple SD Gothic Neo"/>
              </a:defRPr>
            </a:lvl6pPr>
            <a:lvl7pPr>
              <a:defRPr sz="1950" b="0">
                <a:solidFill>
                  <a:srgbClr val="173643"/>
                </a:solidFill>
                <a:latin typeface="Apple SD Gothic Neo"/>
                <a:ea typeface="Apple SD Gothic Neo"/>
                <a:cs typeface="Apple SD Gothic Neo"/>
              </a:defRPr>
            </a:lvl7pPr>
            <a:lvl8pPr>
              <a:defRPr sz="1950" b="0">
                <a:solidFill>
                  <a:srgbClr val="173643"/>
                </a:solidFill>
                <a:latin typeface="Apple SD Gothic Neo"/>
                <a:ea typeface="Apple SD Gothic Neo"/>
                <a:cs typeface="Apple SD Gothic Neo"/>
              </a:defRPr>
            </a:lvl8pPr>
            <a:lvl9pPr>
              <a:defRPr sz="1950" b="0">
                <a:solidFill>
                  <a:srgbClr val="173643"/>
                </a:solidFill>
                <a:latin typeface="Apple SD Gothic Neo"/>
                <a:ea typeface="Apple SD Gothic Neo"/>
                <a:cs typeface="Apple SD Gothic Neo"/>
              </a:defRPr>
            </a:lvl9pPr>
          </a:lstStyle>
          <a:p xmlns:a="http://schemas.openxmlformats.org/drawingml/2006/main">
            <a:pPr>
              <a:defRPr sz="1950" b="0">
                <a:solidFill>
                  <a:srgbClr val="173643"/>
                </a:solidFill>
                <a:latin typeface="Apple SD Gothic Neo"/>
                <a:ea typeface="Apple SD Gothic Neo"/>
                <a:cs typeface="Apple SD Gothic Neo"/>
              </a:defRPr>
            </a:pPr>
            <a:r>
              <a:rPr sz="1950" b="0">
                <a:solidFill>
                  <a:srgbClr val="173643"/>
                </a:solidFill>
                <a:latin typeface="Apple SD Gothic Neo"/>
                <a:ea typeface="Apple SD Gothic Neo"/>
                <a:cs typeface="Apple SD Gothic Neo"/>
              </a:rPr>
              <a:t>현재90%·15%는 교육용 시연 목표입니다. 회사별 기준은 별도 합의합니다.</a:t>
            </a:r>
          </a:p>
        </p:txBody>
      </p:sp>
    </p:spTree>
    <p:extLst>
      <p:ext uri="{BB962C8B-B14F-4D97-AF65-F5344CB8AC3E}">
        <p14:creationId xmlns:p14="http://schemas.microsoft.com/office/powerpoint/2010/main" val="1113612610"/>
      </p:ext>
    </p:extLst>
  </p:cSld>
</p:sld>
</file>

<file path=ppt/slides/slide9.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E2924A-8CEB-422B-ACD9-729F842071C7}"/>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추가 기능 · 엔지니어가 아직 비교하지 않은 모델 찾기</a:t>
            </a:r>
          </a:p>
        </p:txBody>
      </p:sp>
      <p:sp>
        <p:nvSpPr>
          <p:cNvPr id="2" name="">
            <a:extLst xmlns:a="http://schemas.openxmlformats.org/drawingml/2006/main">
              <a:ext uri="{FF2B5EF4-FFF2-40B4-BE49-F238E27FC236}">
                <a16:creationId xmlns:a16="http://schemas.microsoft.com/office/drawing/2014/main" id="{FA6616B3-682D-43A2-A9D1-C4B9E66BC77B}"/>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공식 문서에서 새 후보를 찾아 실험합니다</a:t>
            </a:r>
          </a:p>
        </p:txBody>
      </p:sp>
      <p:sp>
        <p:nvSpPr>
          <p:cNvPr id="3" name="">
            <a:extLst xmlns:a="http://schemas.openxmlformats.org/drawingml/2006/main">
              <a:ext uri="{FF2B5EF4-FFF2-40B4-BE49-F238E27FC236}">
                <a16:creationId xmlns:a16="http://schemas.microsoft.com/office/drawing/2014/main" id="{02472967-7EBC-4A00-B200-83C86251F2A7}"/>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1D37319F-7095-461E-9E87-0C0B8A6F2107}"/>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9 / 16</a:t>
            </a:r>
          </a:p>
        </p:txBody>
      </p:sp>
      <p:pic>
        <p:nvPicPr>
          <p:cNvPr id="5" name="">
            <a:extLst xmlns:a="http://schemas.openxmlformats.org/drawingml/2006/main">
              <a:ext uri="{FF2B5EF4-FFF2-40B4-BE49-F238E27FC236}">
                <a16:creationId xmlns:a16="http://schemas.microsoft.com/office/drawing/2014/main" id="{4A6F1817-5B33-40A6-8E85-D01111847A26}"/>
              </a:ext>
            </a:extLst>
          </p:cNvPr>
          <p:cNvPicPr>
            <a:picLocks xmlns:a="http://schemas.openxmlformats.org/drawingml/2006/main" noChangeAspect="1"/>
          </p:cNvPicPr>
          <p:nvPr/>
        </p:nvPicPr>
        <p:blipFill>
          <a:blip xmlns:r="http://schemas.openxmlformats.org/officeDocument/2006/relationships" xmlns:a="http://schemas.openxmlformats.org/drawingml/2006/main" r:embed="R4d0f69cf32e84b7f"/>
          <a:srcRect xmlns:a="http://schemas.openxmlformats.org/drawingml/2006/main" l="0" t="36000" r="4000" b="10000"/>
          <a:stretch xmlns:a="http://schemas.openxmlformats.org/drawingml/2006/main"/>
        </p:blipFill>
        <p:spPr>
          <a:xfrm xmlns:a="http://schemas.openxmlformats.org/drawingml/2006/main">
            <a:off x="609600" y="1666875"/>
            <a:ext cx="10972800"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FF7CDC7-8AA8-4C73-8AE6-B8F5CFE5A8B1}"/>
              </a:ext>
            </a:extLst>
          </p:cNvPr>
          <p:cNvSpPr>
            <a:spLocks xmlns:a="http://schemas.openxmlformats.org/drawingml/2006/main" noGrp="1"/>
          </p:cNvSpPr>
          <p:nvPr/>
        </p:nvSpPr>
        <p:spPr>
          <a:xfrm xmlns:a="http://schemas.openxmlformats.org/drawingml/2006/main">
            <a:off x="609600" y="5534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공식 모델 목록 검색 · RAG 근거 확인 · 계획 승인 · 실제 학습</a:t>
            </a:r>
          </a:p>
        </p:txBody>
      </p:sp>
      <p:sp>
        <p:nvSpPr>
          <p:cNvPr id="7" name="">
            <a:extLst xmlns:a="http://schemas.openxmlformats.org/drawingml/2006/main">
              <a:ext uri="{FF2B5EF4-FFF2-40B4-BE49-F238E27FC236}">
                <a16:creationId xmlns:a16="http://schemas.microsoft.com/office/drawing/2014/main" id="{B51110DD-9030-4BE0-97BC-05B6154F6253}"/>
              </a:ext>
            </a:extLst>
          </p:cNvPr>
          <p:cNvSpPr>
            <a:spLocks xmlns:a="http://schemas.openxmlformats.org/drawingml/2006/main" noGrp="1"/>
          </p:cNvSpPr>
          <p:nvPr/>
        </p:nvSpPr>
        <p:spPr>
          <a:xfrm xmlns:a="http://schemas.openxmlformats.org/drawingml/2006/main">
            <a:off x="609600" y="5895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센서 ExtraTrees·GaussianNB 실험 후 CatBoost 유지. 새 후보 이력을 저장했습니다.</a:t>
            </a:r>
          </a:p>
        </p:txBody>
      </p:sp>
    </p:spTree>
    <p:extLst>
      <p:ext uri="{BB962C8B-B14F-4D97-AF65-F5344CB8AC3E}">
        <p14:creationId xmlns:p14="http://schemas.microsoft.com/office/powerpoint/2010/main" val="1250283512"/>
      </p:ext>
    </p:extLst>
  </p:cSld>
</p:sld>
</file>

<file path=ppt/slides/slide10.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031892-0068-486E-8DFE-2ABAD71BD23A}"/>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결론 · 지금 사용할 수 있는 기능과 남은 검증</a:t>
            </a:r>
          </a:p>
        </p:txBody>
      </p:sp>
      <p:sp>
        <p:nvSpPr>
          <p:cNvPr id="2" name="">
            <a:extLst xmlns:a="http://schemas.openxmlformats.org/drawingml/2006/main">
              <a:ext uri="{FF2B5EF4-FFF2-40B4-BE49-F238E27FC236}">
                <a16:creationId xmlns:a16="http://schemas.microsoft.com/office/drawing/2014/main" id="{FEACB766-AF1D-4F5E-8146-B64CE227A348}"/>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검사 모델을 비교하고 다음 실험을 판단합니다</a:t>
            </a:r>
          </a:p>
        </p:txBody>
      </p:sp>
      <p:sp>
        <p:nvSpPr>
          <p:cNvPr id="3" name="">
            <a:extLst xmlns:a="http://schemas.openxmlformats.org/drawingml/2006/main">
              <a:ext uri="{FF2B5EF4-FFF2-40B4-BE49-F238E27FC236}">
                <a16:creationId xmlns:a16="http://schemas.microsoft.com/office/drawing/2014/main" id="{879D78B9-8DFB-4903-9A40-6ECB4F41415A}"/>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758B9790-0777-4A41-B88B-FC895A0D197C}"/>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10 / 16</a:t>
            </a:r>
          </a:p>
        </p:txBody>
      </p:sp>
      <p:sp>
        <p:nvSpPr>
          <p:cNvPr id="5" name="">
            <a:extLst xmlns:a="http://schemas.openxmlformats.org/drawingml/2006/main">
              <a:ext uri="{FF2B5EF4-FFF2-40B4-BE49-F238E27FC236}">
                <a16:creationId xmlns:a16="http://schemas.microsoft.com/office/drawing/2014/main" id="{7987635F-903C-4423-B66F-3E1D9FB1EE39}"/>
              </a:ext>
            </a:extLst>
          </p:cNvPr>
          <p:cNvSpPr>
            <a:spLocks xmlns:a="http://schemas.openxmlformats.org/drawingml/2006/main" noGrp="1"/>
          </p:cNvSpPr>
          <p:nvPr/>
        </p:nvSpPr>
        <p:spPr>
          <a:xfrm xmlns:a="http://schemas.openxmlformats.org/drawingml/2006/main">
            <a:off x="609600" y="19050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사용: 데이터 선택, 계획 승인, 기본 모델과 후보 비교</a:t>
            </a:r>
          </a:p>
        </p:txBody>
      </p:sp>
      <p:sp>
        <p:nvSpPr>
          <p:cNvPr id="6" name="">
            <a:extLst xmlns:a="http://schemas.openxmlformats.org/drawingml/2006/main">
              <a:ext uri="{FF2B5EF4-FFF2-40B4-BE49-F238E27FC236}">
                <a16:creationId xmlns:a16="http://schemas.microsoft.com/office/drawing/2014/main" id="{C1AD2377-2498-40F6-92DA-830CE2875C42}"/>
              </a:ext>
            </a:extLst>
          </p:cNvPr>
          <p:cNvSpPr>
            <a:spLocks xmlns:a="http://schemas.openxmlformats.org/drawingml/2006/main" noGrp="1"/>
          </p:cNvSpPr>
          <p:nvPr/>
        </p:nvSpPr>
        <p:spPr>
          <a:xfrm xmlns:a="http://schemas.openxmlformats.org/drawingml/2006/main">
            <a:off x="609600" y="2962275"/>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추가: 새 모델 탐색 RAG, 재학습, 합친 학습·제품별 학습 비교</a:t>
            </a:r>
          </a:p>
        </p:txBody>
      </p:sp>
      <p:sp>
        <p:nvSpPr>
          <p:cNvPr id="7" name="">
            <a:extLst xmlns:a="http://schemas.openxmlformats.org/drawingml/2006/main">
              <a:ext uri="{FF2B5EF4-FFF2-40B4-BE49-F238E27FC236}">
                <a16:creationId xmlns:a16="http://schemas.microsoft.com/office/drawing/2014/main" id="{DB1EF612-DEA9-4A08-A505-92FCEE63F4D5}"/>
              </a:ext>
            </a:extLst>
          </p:cNvPr>
          <p:cNvSpPr>
            <a:spLocks xmlns:a="http://schemas.openxmlformats.org/drawingml/2006/main" noGrp="1"/>
          </p:cNvSpPr>
          <p:nvPr/>
        </p:nvSpPr>
        <p:spPr>
          <a:xfrm xmlns:a="http://schemas.openxmlformats.org/drawingml/2006/main">
            <a:off x="609600" y="40195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한계: 합성 데이터·작은 불량 표본·Test 재사용 탐색 비교</a:t>
            </a:r>
          </a:p>
        </p:txBody>
      </p:sp>
      <p:sp>
        <p:nvSpPr>
          <p:cNvPr id="8" name="">
            <a:extLst xmlns:a="http://schemas.openxmlformats.org/drawingml/2006/main">
              <a:ext uri="{FF2B5EF4-FFF2-40B4-BE49-F238E27FC236}">
                <a16:creationId xmlns:a16="http://schemas.microsoft.com/office/drawing/2014/main" id="{9EC22064-132B-46D6-9AAC-BEFA73130471}"/>
              </a:ext>
            </a:extLst>
          </p:cNvPr>
          <p:cNvSpPr>
            <a:spLocks xmlns:a="http://schemas.openxmlformats.org/drawingml/2006/main" noGrp="1"/>
          </p:cNvSpPr>
          <p:nvPr/>
        </p:nvSpPr>
        <p:spPr>
          <a:xfrm xmlns:a="http://schemas.openxmlformats.org/drawingml/2006/main">
            <a:off x="609600" y="5076825"/>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다음: 현장 데이터와 담당자 기준으로 독립 기간 검증</a:t>
            </a:r>
          </a:p>
        </p:txBody>
      </p:sp>
    </p:spTree>
    <p:extLst>
      <p:ext uri="{BB962C8B-B14F-4D97-AF65-F5344CB8AC3E}">
        <p14:creationId xmlns:p14="http://schemas.microsoft.com/office/powerpoint/2010/main" val="589997233"/>
      </p:ext>
    </p:extLst>
  </p:cSld>
</p:sld>
</file>

<file path=ppt/slides/slide11.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3F8E30-F245-43F5-B9B0-DFB9684DEC04}"/>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추가 상황 · 같은 제품에 새 정답 데이터가 들어왔습니다</a:t>
            </a:r>
          </a:p>
        </p:txBody>
      </p:sp>
      <p:sp>
        <p:nvSpPr>
          <p:cNvPr id="2" name="">
            <a:extLst xmlns:a="http://schemas.openxmlformats.org/drawingml/2006/main">
              <a:ext uri="{FF2B5EF4-FFF2-40B4-BE49-F238E27FC236}">
                <a16:creationId xmlns:a16="http://schemas.microsoft.com/office/drawing/2014/main" id="{CD66C028-A568-4011-9BAD-552E4719AC87}"/>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점검 후, 승인받아 같은 알고리즘을 재학습합니다</a:t>
            </a:r>
          </a:p>
        </p:txBody>
      </p:sp>
      <p:sp>
        <p:nvSpPr>
          <p:cNvPr id="3" name="">
            <a:extLst xmlns:a="http://schemas.openxmlformats.org/drawingml/2006/main">
              <a:ext uri="{FF2B5EF4-FFF2-40B4-BE49-F238E27FC236}">
                <a16:creationId xmlns:a16="http://schemas.microsoft.com/office/drawing/2014/main" id="{DDB3186F-DE2C-473A-8FBF-2AFC28A3EF67}"/>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EBC17E88-D6A1-4606-BFD4-8E702DB380F9}"/>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11 / 16</a:t>
            </a:r>
          </a:p>
        </p:txBody>
      </p:sp>
      <p:pic>
        <p:nvPicPr>
          <p:cNvPr id="5" name="">
            <a:extLst xmlns:a="http://schemas.openxmlformats.org/drawingml/2006/main">
              <a:ext uri="{FF2B5EF4-FFF2-40B4-BE49-F238E27FC236}">
                <a16:creationId xmlns:a16="http://schemas.microsoft.com/office/drawing/2014/main" id="{A9A65EDC-A9EA-4E74-B827-7F0DD5516FFA}"/>
              </a:ext>
            </a:extLst>
          </p:cNvPr>
          <p:cNvPicPr>
            <a:picLocks xmlns:a="http://schemas.openxmlformats.org/drawingml/2006/main" noChangeAspect="1"/>
          </p:cNvPicPr>
          <p:nvPr/>
        </p:nvPicPr>
        <p:blipFill>
          <a:blip xmlns:r="http://schemas.openxmlformats.org/officeDocument/2006/relationships" xmlns:a="http://schemas.openxmlformats.org/drawingml/2006/main" r:embed="R45b8583be39345e6"/>
          <a:srcRect xmlns:a="http://schemas.openxmlformats.org/drawingml/2006/main" l="11000" t="3500" r="12000" b="36000"/>
          <a:stretch xmlns:a="http://schemas.openxmlformats.org/drawingml/2006/main"/>
        </p:blipFill>
        <p:spPr>
          <a:xfrm xmlns:a="http://schemas.openxmlformats.org/drawingml/2006/main">
            <a:off x="609600" y="1695450"/>
            <a:ext cx="10972800"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A994644-8E75-4D13-9437-0E26E61E47D8}"/>
              </a:ext>
            </a:extLst>
          </p:cNvPr>
          <p:cNvSpPr>
            <a:spLocks xmlns:a="http://schemas.openxmlformats.org/drawingml/2006/main" noGrp="1"/>
          </p:cNvSpPr>
          <p:nvPr/>
        </p:nvSpPr>
        <p:spPr>
          <a:xfrm xmlns:a="http://schemas.openxmlformats.org/drawingml/2006/main">
            <a:off x="609600" y="5514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새 합성 배치의 같은 Test: 불량 발견 43/167개에서 153/167개</a:t>
            </a:r>
          </a:p>
        </p:txBody>
      </p:sp>
      <p:sp>
        <p:nvSpPr>
          <p:cNvPr id="7" name="">
            <a:extLst xmlns:a="http://schemas.openxmlformats.org/drawingml/2006/main">
              <a:ext uri="{FF2B5EF4-FFF2-40B4-BE49-F238E27FC236}">
                <a16:creationId xmlns:a16="http://schemas.microsoft.com/office/drawing/2014/main" id="{72E9210B-BEE9-43E1-8EAA-AE7C4154B07A}"/>
              </a:ext>
            </a:extLst>
          </p:cNvPr>
          <p:cNvSpPr>
            <a:spLocks xmlns:a="http://schemas.openxmlformats.org/drawingml/2006/main" noGrp="1"/>
          </p:cNvSpPr>
          <p:nvPr/>
        </p:nvSpPr>
        <p:spPr>
          <a:xfrm xmlns:a="http://schemas.openxmlformats.org/drawingml/2006/main">
            <a:off x="609600" y="58769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정상 오판 96개에서 79개. Recall·정상 오판 시연 목표 충족. 회사 적용은 별도 검증</a:t>
            </a:r>
          </a:p>
        </p:txBody>
      </p:sp>
    </p:spTree>
    <p:extLst>
      <p:ext uri="{BB962C8B-B14F-4D97-AF65-F5344CB8AC3E}">
        <p14:creationId xmlns:p14="http://schemas.microsoft.com/office/powerpoint/2010/main" val="447021699"/>
      </p:ext>
    </p:extLst>
  </p:cSld>
</p:sld>
</file>

<file path=ppt/slides/slide12.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0EC64BC-B8CF-48EA-8903-878C2DA0A1E2}"/>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추가 기능 · 제품 데이터를 합칠지 나눌지 비교합니다</a:t>
            </a:r>
          </a:p>
        </p:txBody>
      </p:sp>
      <p:sp>
        <p:nvSpPr>
          <p:cNvPr id="2" name="">
            <a:extLst xmlns:a="http://schemas.openxmlformats.org/drawingml/2006/main">
              <a:ext uri="{FF2B5EF4-FFF2-40B4-BE49-F238E27FC236}">
                <a16:creationId xmlns:a16="http://schemas.microsoft.com/office/drawing/2014/main" id="{7C8F0957-3464-4FC9-B6E5-2808437C4FDE}"/>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제품별로 합친 학습과 개별 학습을 비교합니다</a:t>
            </a:r>
          </a:p>
        </p:txBody>
      </p:sp>
      <p:sp>
        <p:nvSpPr>
          <p:cNvPr id="3" name="">
            <a:extLst xmlns:a="http://schemas.openxmlformats.org/drawingml/2006/main">
              <a:ext uri="{FF2B5EF4-FFF2-40B4-BE49-F238E27FC236}">
                <a16:creationId xmlns:a16="http://schemas.microsoft.com/office/drawing/2014/main" id="{92EF17FE-829E-4091-A914-0669B147248B}"/>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B072BDE4-57EA-40CA-8E41-1E3EDD1B162B}"/>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12 / 16</a:t>
            </a:r>
          </a:p>
        </p:txBody>
      </p:sp>
      <p:pic>
        <p:nvPicPr>
          <p:cNvPr id="5" name="">
            <a:extLst xmlns:a="http://schemas.openxmlformats.org/drawingml/2006/main">
              <a:ext uri="{FF2B5EF4-FFF2-40B4-BE49-F238E27FC236}">
                <a16:creationId xmlns:a16="http://schemas.microsoft.com/office/drawing/2014/main" id="{8945F84E-4A74-4C4F-B73B-10DDBA78FDA4}"/>
              </a:ext>
            </a:extLst>
          </p:cNvPr>
          <p:cNvPicPr>
            <a:picLocks xmlns:a="http://schemas.openxmlformats.org/drawingml/2006/main" noChangeAspect="1"/>
          </p:cNvPicPr>
          <p:nvPr/>
        </p:nvPicPr>
        <p:blipFill>
          <a:blip xmlns:r="http://schemas.openxmlformats.org/officeDocument/2006/relationships" xmlns:a="http://schemas.openxmlformats.org/drawingml/2006/main" r:embed="Rfd2bb36712d6465d"/>
          <a:srcRect xmlns:a="http://schemas.openxmlformats.org/drawingml/2006/main" l="11000" t="3000" r="12000" b="23000"/>
          <a:stretch xmlns:a="http://schemas.openxmlformats.org/drawingml/2006/main"/>
        </p:blipFill>
        <p:spPr>
          <a:xfrm xmlns:a="http://schemas.openxmlformats.org/drawingml/2006/main">
            <a:off x="609600" y="1695450"/>
            <a:ext cx="10972800"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BF6006D-7082-4D66-9A3D-1C698B4FF5EA}"/>
              </a:ext>
            </a:extLst>
          </p:cNvPr>
          <p:cNvSpPr>
            <a:spLocks xmlns:a="http://schemas.openxmlformats.org/drawingml/2006/main" noGrp="1"/>
          </p:cNvSpPr>
          <p:nvPr/>
        </p:nvSpPr>
        <p:spPr>
          <a:xfrm xmlns:a="http://schemas.openxmlformats.org/drawingml/2006/main">
            <a:off x="609600" y="5514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C 제품: 같은 Validation에서 “C만 학습” 후보 선택</a:t>
            </a:r>
          </a:p>
        </p:txBody>
      </p:sp>
      <p:sp>
        <p:nvSpPr>
          <p:cNvPr id="7" name="">
            <a:extLst xmlns:a="http://schemas.openxmlformats.org/drawingml/2006/main">
              <a:ext uri="{FF2B5EF4-FFF2-40B4-BE49-F238E27FC236}">
                <a16:creationId xmlns:a16="http://schemas.microsoft.com/office/drawing/2014/main" id="{E987DFB4-840E-4384-8B53-913E05B2BE85}"/>
              </a:ext>
            </a:extLst>
          </p:cNvPr>
          <p:cNvSpPr>
            <a:spLocks xmlns:a="http://schemas.openxmlformats.org/drawingml/2006/main" noGrp="1"/>
          </p:cNvSpPr>
          <p:nvPr/>
        </p:nvSpPr>
        <p:spPr>
          <a:xfrm xmlns:a="http://schemas.openxmlformats.org/drawingml/2006/main">
            <a:off x="609600" y="58769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C의 별도 Test Recall79.1%. 추가 데이터로 재확인 필요</a:t>
            </a:r>
          </a:p>
        </p:txBody>
      </p:sp>
    </p:spTree>
    <p:extLst>
      <p:ext uri="{BB962C8B-B14F-4D97-AF65-F5344CB8AC3E}">
        <p14:creationId xmlns:p14="http://schemas.microsoft.com/office/powerpoint/2010/main" val="1599285983"/>
      </p:ext>
    </p:extLst>
  </p:cSld>
</p:sld>
</file>

<file path=ppt/slides/slide13.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63D55BC-B420-4352-ACB3-C6728480ECB3}"/>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부록 · 상세 지표와 검증 방식</a:t>
            </a:r>
          </a:p>
        </p:txBody>
      </p:sp>
      <p:sp>
        <p:nvSpPr>
          <p:cNvPr id="2" name="">
            <a:extLst xmlns:a="http://schemas.openxmlformats.org/drawingml/2006/main">
              <a:ext uri="{FF2B5EF4-FFF2-40B4-BE49-F238E27FC236}">
                <a16:creationId xmlns:a16="http://schemas.microsoft.com/office/drawing/2014/main" id="{CA304421-0971-4D80-9A51-3D92C9248BFF}"/>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Validation으로 고르고, Test로 마지막 확인합니다</a:t>
            </a:r>
          </a:p>
        </p:txBody>
      </p:sp>
      <p:sp>
        <p:nvSpPr>
          <p:cNvPr id="3" name="">
            <a:extLst xmlns:a="http://schemas.openxmlformats.org/drawingml/2006/main">
              <a:ext uri="{FF2B5EF4-FFF2-40B4-BE49-F238E27FC236}">
                <a16:creationId xmlns:a16="http://schemas.microsoft.com/office/drawing/2014/main" id="{8BC7B650-C2DF-4420-889A-A9A085E9D0AE}"/>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CDB5F8E4-D69E-4B35-81F6-72A234A7AFEC}"/>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13 / 16</a:t>
            </a:r>
          </a:p>
        </p:txBody>
      </p:sp>
      <p:graphicFrame>
        <p:nvGraphicFramePr>
          <p:cNvPr id="5" name="">
            <a:extLst xmlns:a="http://schemas.openxmlformats.org/drawingml/2006/main">
              <a:ext uri="{FF2B5EF4-FFF2-40B4-BE49-F238E27FC236}">
                <a16:creationId xmlns:a16="http://schemas.microsoft.com/office/drawing/2014/main" id="{DEE34435-AA03-4C01-B117-49D74137B892}"/>
              </a:ext>
            </a:extLst>
          </p:cNvPr>
          <p:cNvGraphicFramePr/>
          <p:nvPr/>
        </p:nvGraphicFramePr>
        <p:xfrm>
          <a:off xmlns:a="http://schemas.openxmlformats.org/drawingml/2006/main" x="609600" y="1790700"/>
          <a:ext xmlns:a="http://schemas.openxmlformats.org/drawingml/2006/main" cx="10972800" cy="2428875"/>
        </p:xfrm>
        <a:graphic xmlns:a="http://schemas.openxmlformats.org/drawingml/2006/main">
          <a:graphicData uri="http://schemas.openxmlformats.org/drawingml/2006/table">
            <a:tbl>
              <a:tblPr/>
              <a:tblGrid>
                <a:gridCol w="4095750"/>
                <a:gridCol w="1714500"/>
                <a:gridCol w="1714500"/>
                <a:gridCol w="1714500"/>
                <a:gridCol w="1733550"/>
              </a:tblGrid>
              <a:tr h="607219">
                <a:tc>
                  <a:txBody>
                    <a:bodyPr/>
                    <a:lstStyle/>
                    <a:p>
                      <a:r>
                        <a:rPr sz="1950" b="1">
                          <a:solidFill>
                            <a:srgbClr val="13747A"/>
                          </a:solidFill>
                          <a:latin typeface="Apple SD Gothic Neo"/>
                          <a:ea typeface="Apple SD Gothic Neo"/>
                          <a:cs typeface="Apple SD Gothic Neo"/>
                        </a:rPr>
                        <a:t>선택 후보의 Test 결과</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Recall</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Precision</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F1</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정상 오판률</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07219">
                <a:tc>
                  <a:txBody>
                    <a:bodyPr/>
                    <a:lstStyle/>
                    <a:p>
                      <a:r>
                        <a:rPr sz="1950" b="0">
                          <a:solidFill>
                            <a:srgbClr val="173643"/>
                          </a:solidFill>
                          <a:latin typeface="Apple SD Gothic Neo"/>
                          <a:ea typeface="Apple SD Gothic Neo"/>
                          <a:cs typeface="Apple SD Gothic Neo"/>
                        </a:rPr>
                        <a:t>합성 센서</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84.4%</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65.9%</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74.0%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6.3%</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07219">
                <a:tc>
                  <a:txBody>
                    <a:bodyPr/>
                    <a:lstStyle/>
                    <a:p>
                      <a:r>
                        <a:rPr sz="1950" b="0">
                          <a:solidFill>
                            <a:srgbClr val="173643"/>
                          </a:solidFill>
                          <a:latin typeface="Apple SD Gothic Neo"/>
                          <a:ea typeface="Apple SD Gothic Neo"/>
                          <a:cs typeface="Apple SD Gothic Neo"/>
                        </a:rPr>
                        <a:t>UCI 공개 센서 SECOM</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21.7%</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5.4%</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8.7%</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24.4%</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07219">
                <a:tc>
                  <a:txBody>
                    <a:bodyPr/>
                    <a:lstStyle/>
                    <a:p>
                      <a:r>
                        <a:rPr sz="1950" b="0">
                          <a:solidFill>
                            <a:srgbClr val="173643"/>
                          </a:solidFill>
                          <a:latin typeface="Apple SD Gothic Neo"/>
                          <a:ea typeface="Apple SD Gothic Neo"/>
                          <a:cs typeface="Apple SD Gothic Neo"/>
                        </a:rPr>
                        <a:t>합성 이미지</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93.3%</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100.0%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96.6%</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0.0%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E96E2792-3B48-4D84-BF84-E0E37DC1A022}"/>
              </a:ext>
            </a:extLst>
          </p:cNvPr>
          <p:cNvSpPr>
            <a:spLocks xmlns:a="http://schemas.openxmlformats.org/drawingml/2006/main" noGrp="1"/>
          </p:cNvSpPr>
          <p:nvPr/>
        </p:nvSpPr>
        <p:spPr>
          <a:xfrm xmlns:a="http://schemas.openxmlformats.org/drawingml/2006/main">
            <a:off x="609600" y="4448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Train은 학습, Validation은 후보·판정값 비교, Test는 마지막 확인</a:t>
            </a:r>
          </a:p>
        </p:txBody>
      </p:sp>
      <p:sp>
        <p:nvSpPr>
          <p:cNvPr id="7" name="">
            <a:extLst xmlns:a="http://schemas.openxmlformats.org/drawingml/2006/main">
              <a:ext uri="{FF2B5EF4-FFF2-40B4-BE49-F238E27FC236}">
                <a16:creationId xmlns:a16="http://schemas.microsoft.com/office/drawing/2014/main" id="{132899AC-2A92-4186-AFF5-C3E624D9911B}"/>
              </a:ext>
            </a:extLst>
          </p:cNvPr>
          <p:cNvSpPr>
            <a:spLocks xmlns:a="http://schemas.openxmlformats.org/drawingml/2006/main" noGrp="1"/>
          </p:cNvSpPr>
          <p:nvPr/>
        </p:nvSpPr>
        <p:spPr>
          <a:xfrm xmlns:a="http://schemas.openxmlformats.org/drawingml/2006/main">
            <a:off x="609600" y="48482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합성 센서 Train60%(768개) / Validation20%(256개) / Test20%(256개)</a:t>
            </a:r>
          </a:p>
        </p:txBody>
      </p:sp>
      <p:sp>
        <p:nvSpPr>
          <p:cNvPr id="8" name="">
            <a:extLst xmlns:a="http://schemas.openxmlformats.org/drawingml/2006/main">
              <a:ext uri="{FF2B5EF4-FFF2-40B4-BE49-F238E27FC236}">
                <a16:creationId xmlns:a16="http://schemas.microsoft.com/office/drawing/2014/main" id="{975B9965-5017-402E-BC49-7C5D0AEE9FCA}"/>
              </a:ext>
            </a:extLst>
          </p:cNvPr>
          <p:cNvSpPr>
            <a:spLocks xmlns:a="http://schemas.openxmlformats.org/drawingml/2006/main" noGrp="1"/>
          </p:cNvSpPr>
          <p:nvPr/>
        </p:nvSpPr>
        <p:spPr>
          <a:xfrm xmlns:a="http://schemas.openxmlformats.org/drawingml/2006/main">
            <a:off x="609600" y="52482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같은 생산 묶음(lot)·날짜 경계를 보존합니다. 후보의 제품 범위에 따라 Train 실사용 수는 다릅니다.</a:t>
            </a:r>
          </a:p>
        </p:txBody>
      </p:sp>
      <p:sp>
        <p:nvSpPr>
          <p:cNvPr id="9" name="">
            <a:extLst xmlns:a="http://schemas.openxmlformats.org/drawingml/2006/main">
              <a:ext uri="{FF2B5EF4-FFF2-40B4-BE49-F238E27FC236}">
                <a16:creationId xmlns:a16="http://schemas.microsoft.com/office/drawing/2014/main" id="{8CF267B1-3FE2-45A5-A6E9-27E3F32D2309}"/>
              </a:ext>
            </a:extLst>
          </p:cNvPr>
          <p:cNvSpPr>
            <a:spLocks xmlns:a="http://schemas.openxmlformats.org/drawingml/2006/main" noGrp="1"/>
          </p:cNvSpPr>
          <p:nvPr/>
        </p:nvSpPr>
        <p:spPr>
          <a:xfrm xmlns:a="http://schemas.openxmlformats.org/drawingml/2006/main">
            <a:off x="609600" y="56483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F1은 보조 지표입니다. Test 점수를 보며 분할·후보를 조정하지 않습니다.</a:t>
            </a:r>
          </a:p>
        </p:txBody>
      </p:sp>
    </p:spTree>
    <p:extLst>
      <p:ext uri="{BB962C8B-B14F-4D97-AF65-F5344CB8AC3E}">
        <p14:creationId xmlns:p14="http://schemas.microsoft.com/office/powerpoint/2010/main" val="2017254824"/>
      </p:ext>
    </p:extLst>
  </p:cSld>
</p:sld>
</file>

<file path=ppt/slides/slide14.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1E34B6-40D3-4182-9C4E-F82DE25783AC}"/>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데이터 출처 · 실측 결과와 합성 시연을 구분합니다</a:t>
            </a:r>
          </a:p>
        </p:txBody>
      </p:sp>
      <p:sp>
        <p:nvSpPr>
          <p:cNvPr id="2" name="">
            <a:extLst xmlns:a="http://schemas.openxmlformats.org/drawingml/2006/main">
              <a:ext uri="{FF2B5EF4-FFF2-40B4-BE49-F238E27FC236}">
                <a16:creationId xmlns:a16="http://schemas.microsoft.com/office/drawing/2014/main" id="{555E06D8-33EF-4809-95F9-012862E9AFB7}"/>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공개 반도체 공정 데이터: UCI SECOM</a:t>
            </a:r>
          </a:p>
        </p:txBody>
      </p:sp>
      <p:sp>
        <p:nvSpPr>
          <p:cNvPr id="3" name="">
            <a:extLst xmlns:a="http://schemas.openxmlformats.org/drawingml/2006/main">
              <a:ext uri="{FF2B5EF4-FFF2-40B4-BE49-F238E27FC236}">
                <a16:creationId xmlns:a16="http://schemas.microsoft.com/office/drawing/2014/main" id="{D3DC5433-3C45-481A-8FE0-67C653C84170}"/>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5F7AEE2E-7B43-458D-9866-31530DE8261E}"/>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14 / 16</a:t>
            </a:r>
          </a:p>
        </p:txBody>
      </p:sp>
      <p:sp>
        <p:nvSpPr>
          <p:cNvPr id="5" name="">
            <a:extLst xmlns:a="http://schemas.openxmlformats.org/drawingml/2006/main">
              <a:ext uri="{FF2B5EF4-FFF2-40B4-BE49-F238E27FC236}">
                <a16:creationId xmlns:a16="http://schemas.microsoft.com/office/drawing/2014/main" id="{7D66DA9B-0312-4E1B-AE28-5E15E495208E}"/>
              </a:ext>
            </a:extLst>
          </p:cNvPr>
          <p:cNvSpPr>
            <a:spLocks xmlns:a="http://schemas.openxmlformats.org/drawingml/2006/main" noGrp="1"/>
          </p:cNvSpPr>
          <p:nvPr/>
        </p:nvSpPr>
        <p:spPr>
          <a:xfrm xmlns:a="http://schemas.openxmlformats.org/drawingml/2006/main">
            <a:off x="609600" y="17621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McCann, M. &amp; Johnston, A. (2008). SECOM [Dataset].</a:t>
            </a:r>
          </a:p>
        </p:txBody>
      </p:sp>
      <p:sp>
        <p:nvSpPr>
          <p:cNvPr id="6" name="">
            <a:extLst xmlns:a="http://schemas.openxmlformats.org/drawingml/2006/main">
              <a:ext uri="{FF2B5EF4-FFF2-40B4-BE49-F238E27FC236}">
                <a16:creationId xmlns:a16="http://schemas.microsoft.com/office/drawing/2014/main" id="{48759568-E072-4F9B-A094-9D694EBDF45F}"/>
              </a:ext>
            </a:extLst>
          </p:cNvPr>
          <p:cNvSpPr>
            <a:spLocks xmlns:a="http://schemas.openxmlformats.org/drawingml/2006/main" noGrp="1"/>
          </p:cNvSpPr>
          <p:nvPr/>
        </p:nvSpPr>
        <p:spPr>
          <a:xfrm xmlns:a="http://schemas.openxmlformats.org/drawingml/2006/main">
            <a:off x="609600" y="2162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UCI Machine Learning Repository · DOI: 10.24432/C54305 · CC BY4.0</a:t>
            </a:r>
          </a:p>
        </p:txBody>
      </p:sp>
      <p:sp>
        <p:nvSpPr>
          <p:cNvPr id="7" name="">
            <a:extLst xmlns:a="http://schemas.openxmlformats.org/drawingml/2006/main">
              <a:ext uri="{FF2B5EF4-FFF2-40B4-BE49-F238E27FC236}">
                <a16:creationId xmlns:a16="http://schemas.microsoft.com/office/drawing/2014/main" id="{32BB0E13-D4C0-4842-9520-8F2BD9D5B112}"/>
              </a:ext>
            </a:extLst>
          </p:cNvPr>
          <p:cNvSpPr>
            <a:spLocks xmlns:a="http://schemas.openxmlformats.org/drawingml/2006/main" noGrp="1"/>
          </p:cNvSpPr>
          <p:nvPr/>
        </p:nvSpPr>
        <p:spPr>
          <a:xfrm xmlns:a="http://schemas.openxmlformats.org/drawingml/2006/main">
            <a:off x="609600" y="25622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archive.ics.uci.edu/dataset/179/secom</a:t>
            </a:r>
          </a:p>
        </p:txBody>
      </p:sp>
      <p:graphicFrame>
        <p:nvGraphicFramePr>
          <p:cNvPr id="8" name="">
            <a:extLst xmlns:a="http://schemas.openxmlformats.org/drawingml/2006/main">
              <a:ext uri="{FF2B5EF4-FFF2-40B4-BE49-F238E27FC236}">
                <a16:creationId xmlns:a16="http://schemas.microsoft.com/office/drawing/2014/main" id="{52920DB3-8619-43F8-A40B-662825C9A949}"/>
              </a:ext>
            </a:extLst>
          </p:cNvPr>
          <p:cNvGraphicFramePr/>
          <p:nvPr/>
        </p:nvGraphicFramePr>
        <p:xfrm>
          <a:off xmlns:a="http://schemas.openxmlformats.org/drawingml/2006/main" x="609600" y="3286125"/>
          <a:ext xmlns:a="http://schemas.openxmlformats.org/drawingml/2006/main" cx="10972800" cy="2724150"/>
        </p:xfrm>
        <a:graphic xmlns:a="http://schemas.openxmlformats.org/drawingml/2006/main">
          <a:graphicData uri="http://schemas.openxmlformats.org/drawingml/2006/table">
            <a:tbl>
              <a:tblPr/>
              <a:tblGrid>
                <a:gridCol w="2428875"/>
                <a:gridCol w="3667125"/>
                <a:gridCol w="4876800"/>
              </a:tblGrid>
              <a:tr h="908050">
                <a:tc>
                  <a:txBody>
                    <a:bodyPr/>
                    <a:lstStyle/>
                    <a:p>
                      <a:r>
                        <a:rPr sz="1800" b="1">
                          <a:solidFill>
                            <a:srgbClr val="13747A"/>
                          </a:solidFill>
                          <a:latin typeface="Apple SD Gothic Neo"/>
                          <a:ea typeface="Apple SD Gothic Neo"/>
                          <a:cs typeface="Apple SD Gothic Neo"/>
                        </a:rPr>
                        <a:t>자료</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입력과 정답</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한계·최종 Test 결과</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908050">
                <a:tc>
                  <a:txBody>
                    <a:bodyPr/>
                    <a:lstStyle/>
                    <a:p>
                      <a:r>
                        <a:rPr sz="1800" b="0">
                          <a:solidFill>
                            <a:srgbClr val="173643"/>
                          </a:solidFill>
                          <a:latin typeface="Apple SD Gothic Neo"/>
                          <a:ea typeface="Apple SD Gothic Neo"/>
                          <a:cs typeface="Apple SD Gothic Neo"/>
                        </a:rPr>
                        <a:t>UCI SECOM 공개 원본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1,567건·센서590열</a:t>
                      </a:r>
                    </a:p>
                    <a:p>
                      <a:r>
                        <a:rPr sz="1800" b="0">
                          <a:solidFill>
                            <a:srgbClr val="173643"/>
                          </a:solidFill>
                          <a:latin typeface="Apple SD Gothic Neo"/>
                          <a:ea typeface="Apple SD Gothic Neo"/>
                          <a:cs typeface="Apple SD Gothic Neo"/>
                        </a:rPr>
                        <a:t>합격/불합격 기록·불합격104건</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제조사명·제품ID 제공 없음</a:t>
                      </a:r>
                    </a:p>
                    <a:p>
                      <a:r>
                        <a:rPr sz="1800" b="0">
                          <a:solidFill>
                            <a:srgbClr val="173643"/>
                          </a:solidFill>
                          <a:latin typeface="Apple SD Gothic Neo"/>
                          <a:ea typeface="Apple SD Gothic Neo"/>
                          <a:cs typeface="Apple SD Gothic Neo"/>
                        </a:rPr>
                        <a:t>불량5/23개 발견·정상87/357개 오판</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908050">
                <a:tc>
                  <a:txBody>
                    <a:bodyPr/>
                    <a:lstStyle/>
                    <a:p>
                      <a:r>
                        <a:rPr sz="1800" b="0">
                          <a:solidFill>
                            <a:srgbClr val="173643"/>
                          </a:solidFill>
                          <a:latin typeface="Apple SD Gothic Neo"/>
                          <a:ea typeface="Apple SD Gothic Neo"/>
                          <a:cs typeface="Apple SD Gothic Neo"/>
                        </a:rPr>
                        <a:t>합성 센서 / 합성 이미지</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가상 제품 A–D / 연습용 패턴</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실제 생산 데이터·SEM 이미지 아님</a:t>
                      </a:r>
                    </a:p>
                    <a:p>
                      <a:r>
                        <a:rPr sz="1800" b="0">
                          <a:solidFill>
                            <a:srgbClr val="173643"/>
                          </a:solidFill>
                          <a:latin typeface="Apple SD Gothic Neo"/>
                          <a:ea typeface="Apple SD Gothic Neo"/>
                          <a:cs typeface="Apple SD Gothic Neo"/>
                        </a:rPr>
                        <a:t>이미지 불량14/15개 발견</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Tree>
    <p:extLst>
      <p:ext uri="{BB962C8B-B14F-4D97-AF65-F5344CB8AC3E}">
        <p14:creationId xmlns:p14="http://schemas.microsoft.com/office/powerpoint/2010/main" val="792493492"/>
      </p:ext>
    </p:extLst>
  </p:cSld>
</p:sld>
</file>

<file path=ppt/slides/slide15.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B47D09-FB64-464E-B418-062FE0F5C608}"/>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부록 · 앙상블 혼합 비율은 확장 설계이며 미구현</a:t>
            </a:r>
          </a:p>
        </p:txBody>
      </p:sp>
      <p:sp>
        <p:nvSpPr>
          <p:cNvPr id="2" name="">
            <a:extLst xmlns:a="http://schemas.openxmlformats.org/drawingml/2006/main">
              <a:ext uri="{FF2B5EF4-FFF2-40B4-BE49-F238E27FC236}">
                <a16:creationId xmlns:a16="http://schemas.microsoft.com/office/drawing/2014/main" id="{CA37F831-9510-4FFB-8D5C-476D87DD9142}"/>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앙상블 비율도 Validation에서 비교하는 확장</a:t>
            </a:r>
          </a:p>
        </p:txBody>
      </p:sp>
      <p:sp>
        <p:nvSpPr>
          <p:cNvPr id="3" name="">
            <a:extLst xmlns:a="http://schemas.openxmlformats.org/drawingml/2006/main">
              <a:ext uri="{FF2B5EF4-FFF2-40B4-BE49-F238E27FC236}">
                <a16:creationId xmlns:a16="http://schemas.microsoft.com/office/drawing/2014/main" id="{B6E921E6-D87A-4D1F-BCF6-D2B2A432B62F}"/>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2D052046-C464-4383-A56B-169FE360FFBD}"/>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15 / 16</a:t>
            </a:r>
          </a:p>
        </p:txBody>
      </p:sp>
      <p:graphicFrame>
        <p:nvGraphicFramePr>
          <p:cNvPr id="5" name="">
            <a:extLst xmlns:a="http://schemas.openxmlformats.org/drawingml/2006/main">
              <a:ext uri="{FF2B5EF4-FFF2-40B4-BE49-F238E27FC236}">
                <a16:creationId xmlns:a16="http://schemas.microsoft.com/office/drawing/2014/main" id="{F794FE32-AD02-4F19-B02E-7C6C4BC52050}"/>
              </a:ext>
            </a:extLst>
          </p:cNvPr>
          <p:cNvGraphicFramePr/>
          <p:nvPr/>
        </p:nvGraphicFramePr>
        <p:xfrm>
          <a:off xmlns:a="http://schemas.openxmlformats.org/drawingml/2006/main" x="609600" y="1762125"/>
          <a:ext xmlns:a="http://schemas.openxmlformats.org/drawingml/2006/main" cx="10972800" cy="3333750"/>
        </p:xfrm>
        <a:graphic xmlns:a="http://schemas.openxmlformats.org/drawingml/2006/main">
          <a:graphicData uri="http://schemas.openxmlformats.org/drawingml/2006/table">
            <a:tbl>
              <a:tblPr/>
              <a:tblGrid>
                <a:gridCol w="2857500"/>
                <a:gridCol w="8115300"/>
              </a:tblGrid>
              <a:tr h="666750">
                <a:tc>
                  <a:txBody>
                    <a:bodyPr/>
                    <a:lstStyle/>
                    <a:p>
                      <a:r>
                        <a:rPr sz="1875" b="1">
                          <a:solidFill>
                            <a:srgbClr val="13747A"/>
                          </a:solidFill>
                          <a:latin typeface="Apple SD Gothic Neo"/>
                          <a:ea typeface="Apple SD Gothic Neo"/>
                          <a:cs typeface="Apple SD Gothic Neo"/>
                        </a:rPr>
                        <a:t>확장 단계</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75" b="1">
                          <a:solidFill>
                            <a:srgbClr val="13747A"/>
                          </a:solidFill>
                          <a:latin typeface="Apple SD Gothic Neo"/>
                          <a:ea typeface="Apple SD Gothic Neo"/>
                          <a:cs typeface="Apple SD Gothic Neo"/>
                        </a:rPr>
                        <a:t>Agent가 설명할 내용</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66750">
                <a:tc>
                  <a:txBody>
                    <a:bodyPr/>
                    <a:lstStyle/>
                    <a:p>
                      <a:r>
                        <a:rPr sz="1875" b="0">
                          <a:solidFill>
                            <a:srgbClr val="173643"/>
                          </a:solidFill>
                          <a:latin typeface="Apple SD Gothic Neo"/>
                          <a:ea typeface="Apple SD Gothic Neo"/>
                          <a:cs typeface="Apple SD Gothic Neo"/>
                        </a:rPr>
                        <a:t>1. 같은 입력·고정 분할</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동일 입력·라벨의 모델1·모델2를 Train으로 학습</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66750">
                <a:tc>
                  <a:txBody>
                    <a:bodyPr/>
                    <a:lstStyle/>
                    <a:p>
                      <a:r>
                        <a:rPr sz="1875" b="0">
                          <a:solidFill>
                            <a:srgbClr val="173643"/>
                          </a:solidFill>
                          <a:latin typeface="Apple SD Gothic Neo"/>
                          <a:ea typeface="Apple SD Gothic Neo"/>
                          <a:cs typeface="Apple SD Gothic Neo"/>
                        </a:rPr>
                        <a:t>2. 승인받아 비율 비교</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0:100,25:75,50:50,75:25,100:0 등 예시 실험안</a:t>
                      </a:r>
                    </a:p>
                    <a:p>
                      <a:r>
                        <a:rPr sz="1875" b="0">
                          <a:solidFill>
                            <a:srgbClr val="173643"/>
                          </a:solidFill>
                          <a:latin typeface="Apple SD Gothic Neo"/>
                          <a:ea typeface="Apple SD Gothic Neo"/>
                          <a:cs typeface="Apple SD Gothic Neo"/>
                        </a:rPr>
                        <a:t>측정한 최적값 아님</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66750">
                <a:tc>
                  <a:txBody>
                    <a:bodyPr/>
                    <a:lstStyle/>
                    <a:p>
                      <a:r>
                        <a:rPr sz="1875" b="0">
                          <a:solidFill>
                            <a:srgbClr val="173643"/>
                          </a:solidFill>
                          <a:latin typeface="Apple SD Gothic Neo"/>
                          <a:ea typeface="Apple SD Gothic Neo"/>
                          <a:cs typeface="Apple SD Gothic Neo"/>
                        </a:rPr>
                        <a:t>3. Validation에서 선택</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Recall 우선·정상 오판 함께 확인. 목표 미달이면 추가 실험</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66750">
                <a:tc>
                  <a:txBody>
                    <a:bodyPr/>
                    <a:lstStyle/>
                    <a:p>
                      <a:r>
                        <a:rPr sz="1875" b="0">
                          <a:solidFill>
                            <a:srgbClr val="173643"/>
                          </a:solidFill>
                          <a:latin typeface="Apple SD Gothic Neo"/>
                          <a:ea typeface="Apple SD Gothic Neo"/>
                          <a:cs typeface="Apple SD Gothic Neo"/>
                        </a:rPr>
                        <a:t>4. 고정된 Test로 확인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선택 비율을 고정해 단일 모델과 비교. 두 모델 운영 부담 확인</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
        <p:nvSpPr>
          <p:cNvPr id="6" name="">
            <a:extLst xmlns:a="http://schemas.openxmlformats.org/drawingml/2006/main">
              <a:ext uri="{FF2B5EF4-FFF2-40B4-BE49-F238E27FC236}">
                <a16:creationId xmlns:a16="http://schemas.microsoft.com/office/drawing/2014/main" id="{9508F498-AD29-45EA-AA4D-83C9A7476132}"/>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현재: RF·부스팅 사용. 서로 다른 모델의 혼합 비율 탐색은 미구현</a:t>
            </a:r>
          </a:p>
        </p:txBody>
      </p:sp>
      <p:sp>
        <p:nvSpPr>
          <p:cNvPr id="7" name="">
            <a:extLst xmlns:a="http://schemas.openxmlformats.org/drawingml/2006/main">
              <a:ext uri="{FF2B5EF4-FFF2-40B4-BE49-F238E27FC236}">
                <a16:creationId xmlns:a16="http://schemas.microsoft.com/office/drawing/2014/main" id="{E34B213A-FED0-474D-AE4E-E4490641672A}"/>
              </a:ext>
            </a:extLst>
          </p:cNvPr>
          <p:cNvSpPr>
            <a:spLocks xmlns:a="http://schemas.openxmlformats.org/drawingml/2006/main" noGrp="1"/>
          </p:cNvSpPr>
          <p:nvPr/>
        </p:nvSpPr>
        <p:spPr>
          <a:xfrm xmlns:a="http://schemas.openxmlformats.org/drawingml/2006/main">
            <a:off x="609600" y="57245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6:2:2 분할을 비교 전에 고정하고 “실험한 비율 중 가장 좋은 후보”로 설명</a:t>
            </a:r>
          </a:p>
        </p:txBody>
      </p:sp>
    </p:spTree>
    <p:extLst>
      <p:ext uri="{BB962C8B-B14F-4D97-AF65-F5344CB8AC3E}">
        <p14:creationId xmlns:p14="http://schemas.microsoft.com/office/powerpoint/2010/main" val="1199923870"/>
      </p:ext>
    </p:extLst>
  </p:cSld>
</p:sld>
</file>

<file path=ppt/slides/slide16.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1152BB-CD56-44A1-ACF8-4FF93C5E9B6F}"/>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부록 · 기술 요소와 구현 위치</a:t>
            </a:r>
          </a:p>
        </p:txBody>
      </p:sp>
      <p:sp>
        <p:nvSpPr>
          <p:cNvPr id="2" name="">
            <a:extLst xmlns:a="http://schemas.openxmlformats.org/drawingml/2006/main">
              <a:ext uri="{FF2B5EF4-FFF2-40B4-BE49-F238E27FC236}">
                <a16:creationId xmlns:a16="http://schemas.microsoft.com/office/drawing/2014/main" id="{465C153F-5848-4A89-8FC9-4AB2329CEF42}"/>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기술 요소가 반영된 위치</a:t>
            </a:r>
          </a:p>
        </p:txBody>
      </p:sp>
      <p:sp>
        <p:nvSpPr>
          <p:cNvPr id="3" name="">
            <a:extLst xmlns:a="http://schemas.openxmlformats.org/drawingml/2006/main">
              <a:ext uri="{FF2B5EF4-FFF2-40B4-BE49-F238E27FC236}">
                <a16:creationId xmlns:a16="http://schemas.microsoft.com/office/drawing/2014/main" id="{DFF38C07-A0B5-465A-842C-7E3119B3DA77}"/>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804EB9CE-EA68-456E-B59B-78FDAB2CB93E}"/>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16 / 16</a:t>
            </a:r>
          </a:p>
        </p:txBody>
      </p:sp>
      <p:graphicFrame>
        <p:nvGraphicFramePr>
          <p:cNvPr id="5" name="">
            <a:extLst xmlns:a="http://schemas.openxmlformats.org/drawingml/2006/main">
              <a:ext uri="{FF2B5EF4-FFF2-40B4-BE49-F238E27FC236}">
                <a16:creationId xmlns:a16="http://schemas.microsoft.com/office/drawing/2014/main" id="{DE85C4FF-BAAF-41A8-B08C-F638460675E1}"/>
              </a:ext>
            </a:extLst>
          </p:cNvPr>
          <p:cNvGraphicFramePr/>
          <p:nvPr/>
        </p:nvGraphicFramePr>
        <p:xfrm>
          <a:off xmlns:a="http://schemas.openxmlformats.org/drawingml/2006/main" x="609600" y="1771650"/>
          <a:ext xmlns:a="http://schemas.openxmlformats.org/drawingml/2006/main" cx="10972800" cy="4000500"/>
        </p:xfrm>
        <a:graphic xmlns:a="http://schemas.openxmlformats.org/drawingml/2006/main">
          <a:graphicData uri="http://schemas.openxmlformats.org/drawingml/2006/table">
            <a:tbl>
              <a:tblPr/>
              <a:tblGrid>
                <a:gridCol w="2381250"/>
                <a:gridCol w="4000500"/>
                <a:gridCol w="4591050"/>
              </a:tblGrid>
              <a:tr h="571500">
                <a:tc>
                  <a:txBody>
                    <a:bodyPr/>
                    <a:lstStyle/>
                    <a:p>
                      <a:r>
                        <a:rPr sz="1800" b="1">
                          <a:solidFill>
                            <a:srgbClr val="13747A"/>
                          </a:solidFill>
                          <a:latin typeface="Apple SD Gothic Neo"/>
                          <a:ea typeface="Apple SD Gothic Neo"/>
                          <a:cs typeface="Apple SD Gothic Neo"/>
                        </a:rPr>
                        <a:t>기술 요소</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구현 위치</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확인 상태</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571500">
                <a:tc>
                  <a:txBody>
                    <a:bodyPr/>
                    <a:lstStyle/>
                    <a:p>
                      <a:r>
                        <a:rPr sz="1800" b="0">
                          <a:solidFill>
                            <a:srgbClr val="173643"/>
                          </a:solidFill>
                          <a:latin typeface="Apple SD Gothic Neo"/>
                          <a:ea typeface="Apple SD Gothic Neo"/>
                          <a:cs typeface="Apple SD Gothic Neo"/>
                        </a:rPr>
                        <a:t>Multi-Agent</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planner.py · advisors.py</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데이터 점검·계획·결과 검토 역할</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71500">
                <a:tc>
                  <a:txBody>
                    <a:bodyPr/>
                    <a:lstStyle/>
                    <a:p>
                      <a:r>
                        <a:rPr sz="1800" b="0">
                          <a:solidFill>
                            <a:srgbClr val="173643"/>
                          </a:solidFill>
                          <a:latin typeface="Apple SD Gothic Neo"/>
                          <a:ea typeface="Apple SD Gothic Neo"/>
                          <a:cs typeface="Apple SD Gothic Neo"/>
                        </a:rPr>
                        <a:t>RAG</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discovery.py · Knowledge</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공식 외부 문서 검색·후보 제안·승인 후 학습</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571500">
                <a:tc>
                  <a:txBody>
                    <a:bodyPr/>
                    <a:lstStyle/>
                    <a:p>
                      <a:r>
                        <a:rPr sz="1800" b="0">
                          <a:solidFill>
                            <a:srgbClr val="173643"/>
                          </a:solidFill>
                          <a:latin typeface="Apple SD Gothic Neo"/>
                          <a:ea typeface="Apple SD Gothic Neo"/>
                          <a:cs typeface="Apple SD Gothic Neo"/>
                        </a:rPr>
                        <a:t>MCP</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mcp_server.py</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4도구·지식 resource 실제 연결</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71500">
                <a:tc>
                  <a:txBody>
                    <a:bodyPr/>
                    <a:lstStyle/>
                    <a:p>
                      <a:r>
                        <a:rPr sz="1800" b="0">
                          <a:solidFill>
                            <a:srgbClr val="173643"/>
                          </a:solidFill>
                          <a:latin typeface="Apple SD Gothic Neo"/>
                          <a:ea typeface="Apple SD Gothic Neo"/>
                          <a:cs typeface="Apple SD Gothic Neo"/>
                        </a:rPr>
                        <a:t>의존성 주입</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Dependencies · Workbench</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Store·Knowledge·Advisor 주입</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571500">
                <a:tc>
                  <a:txBody>
                    <a:bodyPr/>
                    <a:lstStyle/>
                    <a:p>
                      <a:r>
                        <a:rPr sz="1800" b="0">
                          <a:solidFill>
                            <a:srgbClr val="173643"/>
                          </a:solidFill>
                          <a:latin typeface="Apple SD Gothic Neo"/>
                          <a:ea typeface="Apple SD Gothic Neo"/>
                          <a:cs typeface="Apple SD Gothic Neo"/>
                        </a:rPr>
                        <a:t>모듈화</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app/ 데이터·학습·관리 모듈</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API·MCP가 공통 엔진 재사용</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71500">
                <a:tc>
                  <a:txBody>
                    <a:bodyPr/>
                    <a:lstStyle/>
                    <a:p>
                      <a:r>
                        <a:rPr sz="1800" b="0">
                          <a:solidFill>
                            <a:srgbClr val="173643"/>
                          </a:solidFill>
                          <a:latin typeface="Apple SD Gothic Neo"/>
                          <a:ea typeface="Apple SD Gothic Neo"/>
                          <a:cs typeface="Apple SD Gothic Neo"/>
                        </a:rPr>
                        <a:t>단위/API 테스트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tests/</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30개 테스트 통과</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
        <p:nvSpPr>
          <p:cNvPr id="6" name="">
            <a:extLst xmlns:a="http://schemas.openxmlformats.org/drawingml/2006/main">
              <a:ext uri="{FF2B5EF4-FFF2-40B4-BE49-F238E27FC236}">
                <a16:creationId xmlns:a16="http://schemas.microsoft.com/office/drawing/2014/main" id="{F21A4193-0E54-4377-8D1E-814F0F7ED989}"/>
              </a:ext>
            </a:extLst>
          </p:cNvPr>
          <p:cNvSpPr>
            <a:spLocks xmlns:a="http://schemas.openxmlformats.org/drawingml/2006/main" noGrp="1"/>
          </p:cNvSpPr>
          <p:nvPr/>
        </p:nvSpPr>
        <p:spPr>
          <a:xfrm xmlns:a="http://schemas.openxmlformats.org/drawingml/2006/main">
            <a:off x="609600" y="59340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상세 대응표: docs/ASSIGNMENT_CHECKLIST.md</a:t>
            </a:r>
          </a:p>
        </p:txBody>
      </p:sp>
    </p:spTree>
    <p:extLst>
      <p:ext uri="{BB962C8B-B14F-4D97-AF65-F5344CB8AC3E}">
        <p14:creationId xmlns:p14="http://schemas.microsoft.com/office/powerpoint/2010/main" val="2667642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2026-10-21T06:35:11.2360000Z</dcterms:created>
  <dcterms:modified xsi:type="dcterms:W3CDTF">2026-10-21T06:35:11.2370000Z</dcterms:modified>
</coreProperties>
</file>