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김용찬입니다. 검사 데이터를 넣으면 학습할 제품 묶음과 모델 예측의 혼합 비율을 비교하고, 선택 근거와 검증 결과를 보여 주는 Agent를 만들었습니다.</a:t>
            </a:r>
          </a:p>
          <a:p/>
          <a:p>
            <a:r>
              <a:t>출처: </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프로젝트에서 설정한 문제는 엔지니어가 학습할 제품 묶음과 모델, 혼합 비율을 직접 비교하고 근거를 정리해야 한다는 점입니다. 이를 계획부터 승인, 실행, 기록까지 연결했습니다. 스칼라에서 배운 모델도 후보에 넣었고 센서 사례로 설명하겠습니다.</a:t>
            </a:r>
          </a:p>
          <a:p/>
          <a:p>
            <a:r>
              <a:t>출처: </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불량을 놓치지 않는 것이 목적이라 검출률을 우선합니다. 다만 전부 불량으로 찍는 것을 막기 위해 정상 오판률을 십오 퍼센트 이하로 제한합니다. 그 안에서 검출률이 높고, 같으면 F1이 높은 비율을 고릅니다. F1은 불량 검출과 불량 판정의 정확성을 함께 보는 보조 지표입니다.</a:t>
            </a:r>
          </a:p>
          <a:p/>
          <a:p>
            <a:r>
              <a:t>출처: app/ensemble.py; https://scikit-learn.org/stable/modules/model_evaluation.html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앱 화면입니다. 제품 A부터 D의 합성 센서 천이백팔십 건을 선택합니다. 불량 정답은 이백한 건입니다. 직접 만든 예제로, 실제 공장 데이터는 아닙니다. 내 센서 CSV나 검사 이미지 ZIP을 등록하는 기능도 있습니다.</a:t>
            </a:r>
          </a:p>
          <a:p/>
          <a:p>
            <a:r>
              <a:t>출처: app/data.py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개별 모델을 비교한 뒤 제품 묶음과 혼합 비율을 각각 검토합니다. 화면은 CatBoost 설정을 고정하고 열다섯 그룹 구성을 비교하는 계획입니다. 학습과 평가 데이터를 분리하고, 엔지니어가 비교 범위를 승인한 뒤에만 실행합니다.</a:t>
            </a:r>
          </a:p>
          <a:p/>
          <a:p>
            <a:r>
              <a:t>출처: app/experiments.py; app/ensemble.py; docs/evaluation/weighted_ensemble.json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실험은 학습 제품 묶음입니다. CatBoost 설정을 고정하고 제품을 나누는 열다섯 구성을 비교했습니다. Validation에서는 ABC 공통 모델과 D 전용 모델이 선택됐습니다. 하지만 Test 검출률은 칠십팔 점 일 퍼센트로 목표에 못 미쳐 적용을 보류합니다. Validation에서 좋다고 마지막 검증까지 좋지는 않았습니다.</a:t>
            </a:r>
          </a:p>
          <a:p/>
          <a:p>
            <a:r>
              <a:t>출처: app/grouping.py; docs/evaluation/product_partitions.json; docs/evaluation/grouping_browser.json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학습 제품ABCD로 고정한 별도 비율 실험입니다. 다섯 퍼센트 간격과 균등 비율을 포함한 이백서른두 조합 중 CatBoost 구십, LightGBM 십 퍼센트가 선택됐습니다. 단일 모델과 검출률 백 퍼센트는 같지만 정상 오판이 스무 건에서 열아홉 건으로 줄고 F1도 개선됐습니다. 이 탐색 범위 안의 최선이라는 뜻입니다.</a:t>
            </a:r>
          </a:p>
          <a:p/>
          <a:p>
            <a:r>
              <a:t>출처: docs/evaluation/weighted_ensemble.json; docs/evaluation/ensemble_browser.json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비율을 고른 뒤 같은 Test에서 확인했습니다. 단일 CatBoost와 선택 조합은 둘 다 불량 서른두 개 중 서른 개를 찾았습니다. 정상 오판은 스물한 개에서 열아홉 개로 줄고 F1도 영 점 칠이삼에서 칠사일로 높아졌습니다. 이번 시연 목표는 충족했지만, 기존 Test를 다시 확인한 추가 탐색이므로 새로운 독립 데이터 검증이 필요합니다.</a:t>
            </a:r>
          </a:p>
          <a:p/>
          <a:p>
            <a:r>
              <a:t>출처: docs/evaluation/weighted_ensemble.json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LangGraph로 점검, 검색, 계획 역할을 연결하고 로컬 Qwen이 설명을 돕습니다. 수업에서 배운 BGE-M3로 문서를 벡터로 바꾸고 FAISS에서 관련 근거를 찾아 전달하는 RAG와 MCP 도구를 적용했습니다. 실험 엔진이 실제 학습과 지표를 계산합니다. LangSmith로 실행 경로를 확인했고 LLM으로 설명도 검사했습니다. 예제 여덟 개 중 여섯 개는 맞게 검사했지만 오판이 있어 숫자는 코드로 확인합니다.</a:t>
            </a:r>
          </a:p>
          <a:p/>
          <a:p>
            <a:r>
              <a:t>출처: app/planner.py; app/ensemble.py; docs/evaluation/langsmith_check.json; docs/evaluation/llm_judge.json; docs/evaluation/tests-windows.txt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성과는 제품 묶음과 혼합 비율의 선택 근거, 검증 실패까지 한 흐름에서 보여 준 점입니다. Validation에서 좋았던 그룹도 Test에서 실패할 수 있어 보류 판단이 필요했습니다. 합성 데이터와 작은 표본이 한계이며, 다음에는 현장 기준과 독립 데이터로 검증하겠습니다. 감사합니다.</a:t>
            </a:r>
          </a:p>
          <a:p/>
          <a:p>
            <a:r>
              <a:t>출처: </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초기 전체 제품 비교표입니다. AdaBoost는 F1이 더 높지만 이번에는 검출률을 먼저 보는 규칙을 따랐습니다. 초기 제품 조합 탐색의 CatBoost A+B+C와 이번 전체 제품 앙상블은 별도의 실험입니다.</a:t>
            </a:r>
          </a:p>
          <a:p/>
          <a:p>
            <a:r>
              <a:t>출처: docs/evaluation/synthetic_process.json; docs/evaluation/weighted_ensemble.json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 모델 탐색에는 공식 문서를 BGE-M3로 임베딩하고 FAISS에서 관련 문장을 찾아 로컬 Qwen에 전달하는 RAG를 씁니다. 5주차 실습과 같은 검색 구조이며 이 Windows에서는 Ollama로 임베딩을 실행합니다. FAISS 벡터와 출처를 로컬에 저장하며 별도 서버형 DB는 아닙니다. 학습 연결은 검토한 ExtraTrees와 GaussianNB 두 후보이고 임의 모델 코드를 자동 설치하지 않습니다.</a:t>
            </a:r>
          </a:p>
          <a:p/>
          <a:p>
            <a:r>
              <a:t>출처: app/discovery.py; app/retrieval.py; docs/evaluation/vector_rag.json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최선이라는 말은 승인한 후보와 조건, Validation 범위 안에서의 선택을 뜻합니다. 제품 그룹 구성과 앙상블 비율은 별도 실험으로 비교했습니다. 둘을 모두 동시에 최적화했다고 주장하지 않습니다. 그룹 구성은 Test에서 목표 미달이었고 적용을 보류했습니다.</a:t>
            </a:r>
          </a:p>
          <a:p/>
          <a:p>
            <a:r>
              <a:t>출처: app/ensemble.py; docs/evaluation/weighted_ensemble.json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LLM-as-a-Judge는 설명이 맞는지 LLM에게 검사시키는 기능입니다. 실제로27개를 찾았는데30개라고 설명하면 틀렸다고 알려줘야 합니다. 실제 결과와 문장을 함께 주고 검사했고, 직접 만든 예제8개 중6개는 맞게 판단했습니다. 하지만30개라는 오류는 놓쳤습니다. 그래서 보조 검사로 쓰고 중요한 숫자는 코드로 확인합니다. 이 예시는 앙상블 추가 전의 실험 기록을 기준으로 검사했습니다.</a:t>
            </a:r>
          </a:p>
          <a:p/>
          <a:p>
            <a:r>
              <a:t>출처: docs/evaluation/llm_judge.json; docs/EVALUATION.md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6.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01 · 무엇을 만드는 프로젝트인가요?</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800" b="1">
                <a:solidFill>
                  <a:srgbClr val="173A49"/>
                </a:solidFill>
                <a:latin typeface="맑은 고딕"/>
              </a:defRPr>
            </a:pPr>
            <a:r>
              <a:t>반도체 검사 모델</a:t>
            </a:r>
          </a:p>
          <a:p>
            <a:pPr>
              <a:lnSpc>
                <a:spcPct val="114000"/>
              </a:lnSpc>
              <a:spcAft>
                <a:spcPts val="800"/>
              </a:spcAft>
              <a:defRPr sz="3800" b="1">
                <a:solidFill>
                  <a:srgbClr val="173A49"/>
                </a:solidFill>
                <a:latin typeface="맑은 고딕"/>
              </a:defRPr>
            </a:pPr>
            <a:r>
              <a:t>실험 도우미</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01 / 14</a:t>
            </a:r>
          </a:p>
        </p:txBody>
      </p:sp>
      <p:sp>
        <p:nvSpPr>
          <p:cNvPr id="8" name="TextBox 7"/>
          <p:cNvSpPr txBox="1"/>
          <p:nvPr/>
        </p:nvSpPr>
        <p:spPr>
          <a:xfrm>
            <a:off x="658368" y="2514600"/>
            <a:ext cx="10515600" cy="731520"/>
          </a:xfrm>
          <a:prstGeom prst="rect">
            <a:avLst/>
          </a:prstGeom>
          <a:noFill/>
        </p:spPr>
        <p:txBody>
          <a:bodyPr wrap="square" lIns="18288" rIns="18288" tIns="18288" bIns="18288">
            <a:spAutoFit/>
          </a:bodyPr>
          <a:lstStyle/>
          <a:p>
            <a:pPr>
              <a:lnSpc>
                <a:spcPct val="114000"/>
              </a:lnSpc>
              <a:spcAft>
                <a:spcPts val="800"/>
              </a:spcAft>
              <a:defRPr sz="2300" b="0">
                <a:solidFill>
                  <a:srgbClr val="617681"/>
                </a:solidFill>
                <a:latin typeface="맑은 고딕"/>
              </a:defRPr>
            </a:pPr>
            <a:r>
              <a:t>학습 제품 묶음과 앙상블 비율을 비교하고, 선택 근거를 보여 주는 Agent</a:t>
            </a:r>
          </a:p>
        </p:txBody>
      </p:sp>
      <p:sp>
        <p:nvSpPr>
          <p:cNvPr id="9" name="TextBox 8"/>
          <p:cNvSpPr txBox="1"/>
          <p:nvPr/>
        </p:nvSpPr>
        <p:spPr>
          <a:xfrm>
            <a:off x="658368" y="3447288"/>
            <a:ext cx="10515600" cy="457200"/>
          </a:xfrm>
          <a:prstGeom prst="rect">
            <a:avLst/>
          </a:prstGeom>
          <a:noFill/>
        </p:spPr>
        <p:txBody>
          <a:bodyPr wrap="square" lIns="18288" rIns="18288" tIns="18288" bIns="18288">
            <a:spAutoFit/>
          </a:bodyPr>
          <a:lstStyle/>
          <a:p>
            <a:pPr>
              <a:lnSpc>
                <a:spcPct val="114000"/>
              </a:lnSpc>
              <a:spcAft>
                <a:spcPts val="800"/>
              </a:spcAft>
              <a:defRPr sz="2000" b="0">
                <a:solidFill>
                  <a:srgbClr val="173A49"/>
                </a:solidFill>
                <a:latin typeface="맑은 고딕"/>
              </a:defRPr>
            </a:pPr>
            <a:r>
              <a:t>SKALA 광주 2반 · G045 김용찬 · 2026.10.22</a:t>
            </a:r>
          </a:p>
        </p:txBody>
      </p:sp>
      <p:sp>
        <p:nvSpPr>
          <p:cNvPr id="10" name="Rounded Rectangle 9"/>
          <p:cNvSpPr/>
          <p:nvPr/>
        </p:nvSpPr>
        <p:spPr>
          <a:xfrm>
            <a:off x="658368" y="4709160"/>
            <a:ext cx="2542032" cy="960120"/>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7" y="4818888"/>
            <a:ext cx="457200" cy="292608"/>
          </a:xfrm>
          <a:prstGeom prst="rect">
            <a:avLst/>
          </a:prstGeom>
          <a:noFill/>
        </p:spPr>
        <p:txBody>
          <a:bodyPr wrap="square" lIns="18288" rIns="18288" tIns="18288" bIns="18288">
            <a:spAutoFit/>
          </a:bodyPr>
          <a:lstStyle/>
          <a:p>
            <a:pPr>
              <a:lnSpc>
                <a:spcPct val="114000"/>
              </a:lnSpc>
              <a:spcAft>
                <a:spcPts val="800"/>
              </a:spcAft>
              <a:defRPr sz="1400" b="1">
                <a:solidFill>
                  <a:srgbClr val="147D82"/>
                </a:solidFill>
                <a:latin typeface="맑은 고딕"/>
              </a:defRPr>
            </a:pPr>
            <a:r>
              <a:t>01</a:t>
            </a:r>
          </a:p>
        </p:txBody>
      </p:sp>
      <p:sp>
        <p:nvSpPr>
          <p:cNvPr id="12" name="TextBox 11"/>
          <p:cNvSpPr txBox="1"/>
          <p:nvPr/>
        </p:nvSpPr>
        <p:spPr>
          <a:xfrm>
            <a:off x="841247" y="5193792"/>
            <a:ext cx="2194560" cy="365760"/>
          </a:xfrm>
          <a:prstGeom prst="rect">
            <a:avLst/>
          </a:prstGeom>
          <a:noFill/>
        </p:spPr>
        <p:txBody>
          <a:bodyPr wrap="square" lIns="18288" rIns="18288" tIns="18288" bIns="18288">
            <a:spAutoFit/>
          </a:bodyPr>
          <a:lstStyle/>
          <a:p>
            <a:pPr>
              <a:lnSpc>
                <a:spcPct val="114000"/>
              </a:lnSpc>
              <a:spcAft>
                <a:spcPts val="800"/>
              </a:spcAft>
              <a:defRPr sz="1900" b="1">
                <a:solidFill>
                  <a:srgbClr val="173A49"/>
                </a:solidFill>
                <a:latin typeface="맑은 고딕"/>
              </a:defRPr>
            </a:pPr>
            <a:r>
              <a:t>데이터 점검</a:t>
            </a:r>
          </a:p>
        </p:txBody>
      </p:sp>
      <p:sp>
        <p:nvSpPr>
          <p:cNvPr id="13" name="Rounded Rectangle 12"/>
          <p:cNvSpPr/>
          <p:nvPr/>
        </p:nvSpPr>
        <p:spPr>
          <a:xfrm>
            <a:off x="3474720" y="4709160"/>
            <a:ext cx="2542032" cy="960120"/>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0" y="4818888"/>
            <a:ext cx="457200" cy="292608"/>
          </a:xfrm>
          <a:prstGeom prst="rect">
            <a:avLst/>
          </a:prstGeom>
          <a:noFill/>
        </p:spPr>
        <p:txBody>
          <a:bodyPr wrap="square" lIns="18288" rIns="18288" tIns="18288" bIns="18288">
            <a:spAutoFit/>
          </a:bodyPr>
          <a:lstStyle/>
          <a:p>
            <a:pPr>
              <a:lnSpc>
                <a:spcPct val="114000"/>
              </a:lnSpc>
              <a:spcAft>
                <a:spcPts val="800"/>
              </a:spcAft>
              <a:defRPr sz="1400" b="1">
                <a:solidFill>
                  <a:srgbClr val="147D82"/>
                </a:solidFill>
                <a:latin typeface="맑은 고딕"/>
              </a:defRPr>
            </a:pPr>
            <a:r>
              <a:t>02</a:t>
            </a:r>
          </a:p>
        </p:txBody>
      </p:sp>
      <p:sp>
        <p:nvSpPr>
          <p:cNvPr id="15" name="TextBox 14"/>
          <p:cNvSpPr txBox="1"/>
          <p:nvPr/>
        </p:nvSpPr>
        <p:spPr>
          <a:xfrm>
            <a:off x="3657600" y="5193792"/>
            <a:ext cx="2194560" cy="365760"/>
          </a:xfrm>
          <a:prstGeom prst="rect">
            <a:avLst/>
          </a:prstGeom>
          <a:noFill/>
        </p:spPr>
        <p:txBody>
          <a:bodyPr wrap="square" lIns="18288" rIns="18288" tIns="18288" bIns="18288">
            <a:spAutoFit/>
          </a:bodyPr>
          <a:lstStyle/>
          <a:p>
            <a:pPr>
              <a:lnSpc>
                <a:spcPct val="114000"/>
              </a:lnSpc>
              <a:spcAft>
                <a:spcPts val="800"/>
              </a:spcAft>
              <a:defRPr sz="1900" b="1">
                <a:solidFill>
                  <a:srgbClr val="173A49"/>
                </a:solidFill>
                <a:latin typeface="맑은 고딕"/>
              </a:defRPr>
            </a:pPr>
            <a:r>
              <a:t>계획 승인</a:t>
            </a:r>
          </a:p>
        </p:txBody>
      </p:sp>
      <p:sp>
        <p:nvSpPr>
          <p:cNvPr id="16" name="Rounded Rectangle 15"/>
          <p:cNvSpPr/>
          <p:nvPr/>
        </p:nvSpPr>
        <p:spPr>
          <a:xfrm>
            <a:off x="6291072" y="4709160"/>
            <a:ext cx="2542032" cy="960120"/>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73952" y="4818888"/>
            <a:ext cx="457200" cy="292608"/>
          </a:xfrm>
          <a:prstGeom prst="rect">
            <a:avLst/>
          </a:prstGeom>
          <a:noFill/>
        </p:spPr>
        <p:txBody>
          <a:bodyPr wrap="square" lIns="18288" rIns="18288" tIns="18288" bIns="18288">
            <a:spAutoFit/>
          </a:bodyPr>
          <a:lstStyle/>
          <a:p>
            <a:pPr>
              <a:lnSpc>
                <a:spcPct val="114000"/>
              </a:lnSpc>
              <a:spcAft>
                <a:spcPts val="800"/>
              </a:spcAft>
              <a:defRPr sz="1400" b="1">
                <a:solidFill>
                  <a:srgbClr val="147D82"/>
                </a:solidFill>
                <a:latin typeface="맑은 고딕"/>
              </a:defRPr>
            </a:pPr>
            <a:r>
              <a:t>03</a:t>
            </a:r>
          </a:p>
        </p:txBody>
      </p:sp>
      <p:sp>
        <p:nvSpPr>
          <p:cNvPr id="18" name="TextBox 17"/>
          <p:cNvSpPr txBox="1"/>
          <p:nvPr/>
        </p:nvSpPr>
        <p:spPr>
          <a:xfrm>
            <a:off x="6473952" y="5193792"/>
            <a:ext cx="2194560" cy="365760"/>
          </a:xfrm>
          <a:prstGeom prst="rect">
            <a:avLst/>
          </a:prstGeom>
          <a:noFill/>
        </p:spPr>
        <p:txBody>
          <a:bodyPr wrap="square" lIns="18288" rIns="18288" tIns="18288" bIns="18288">
            <a:spAutoFit/>
          </a:bodyPr>
          <a:lstStyle/>
          <a:p>
            <a:pPr>
              <a:lnSpc>
                <a:spcPct val="114000"/>
              </a:lnSpc>
              <a:spcAft>
                <a:spcPts val="800"/>
              </a:spcAft>
              <a:defRPr sz="1900" b="1">
                <a:solidFill>
                  <a:srgbClr val="173A49"/>
                </a:solidFill>
                <a:latin typeface="맑은 고딕"/>
              </a:defRPr>
            </a:pPr>
            <a:r>
              <a:t>모델·비율 비교</a:t>
            </a:r>
          </a:p>
        </p:txBody>
      </p:sp>
      <p:sp>
        <p:nvSpPr>
          <p:cNvPr id="19" name="Rounded Rectangle 18"/>
          <p:cNvSpPr/>
          <p:nvPr/>
        </p:nvSpPr>
        <p:spPr>
          <a:xfrm>
            <a:off x="9107424" y="4709160"/>
            <a:ext cx="2542032" cy="960120"/>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90304" y="4818888"/>
            <a:ext cx="457200" cy="292608"/>
          </a:xfrm>
          <a:prstGeom prst="rect">
            <a:avLst/>
          </a:prstGeom>
          <a:noFill/>
        </p:spPr>
        <p:txBody>
          <a:bodyPr wrap="square" lIns="18288" rIns="18288" tIns="18288" bIns="18288">
            <a:spAutoFit/>
          </a:bodyPr>
          <a:lstStyle/>
          <a:p>
            <a:pPr>
              <a:lnSpc>
                <a:spcPct val="114000"/>
              </a:lnSpc>
              <a:spcAft>
                <a:spcPts val="800"/>
              </a:spcAft>
              <a:defRPr sz="1400" b="1">
                <a:solidFill>
                  <a:srgbClr val="147D82"/>
                </a:solidFill>
                <a:latin typeface="맑은 고딕"/>
              </a:defRPr>
            </a:pPr>
            <a:r>
              <a:t>04</a:t>
            </a:r>
          </a:p>
        </p:txBody>
      </p:sp>
      <p:sp>
        <p:nvSpPr>
          <p:cNvPr id="21" name="TextBox 20"/>
          <p:cNvSpPr txBox="1"/>
          <p:nvPr/>
        </p:nvSpPr>
        <p:spPr>
          <a:xfrm>
            <a:off x="9290304" y="5193792"/>
            <a:ext cx="2194560" cy="365760"/>
          </a:xfrm>
          <a:prstGeom prst="rect">
            <a:avLst/>
          </a:prstGeom>
          <a:noFill/>
        </p:spPr>
        <p:txBody>
          <a:bodyPr wrap="square" lIns="18288" rIns="18288" tIns="18288" bIns="18288">
            <a:spAutoFit/>
          </a:bodyPr>
          <a:lstStyle/>
          <a:p>
            <a:pPr>
              <a:lnSpc>
                <a:spcPct val="114000"/>
              </a:lnSpc>
              <a:spcAft>
                <a:spcPts val="800"/>
              </a:spcAft>
              <a:defRPr sz="1900" b="1">
                <a:solidFill>
                  <a:srgbClr val="173A49"/>
                </a:solidFill>
                <a:latin typeface="맑은 고딕"/>
              </a:defRPr>
            </a:pPr>
            <a:r>
              <a:t>선택 근거</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02 · 신규 구현 | 프로젝트에서 설정한 업무 문제</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모델 실험의 계획·비교·기록을 연결합니다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02 / 14</a:t>
            </a:r>
          </a:p>
        </p:txBody>
      </p:sp>
      <p:sp>
        <p:nvSpPr>
          <p:cNvPr id="8" name="Rectangle 7"/>
          <p:cNvSpPr/>
          <p:nvPr/>
        </p:nvSpPr>
        <p:spPr>
          <a:xfrm>
            <a:off x="640080" y="197510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7510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사용자: 검사 데이터로 정상·불량 분류 모델을 만드는 엔지니어</a:t>
            </a:r>
          </a:p>
        </p:txBody>
      </p:sp>
      <p:sp>
        <p:nvSpPr>
          <p:cNvPr id="10" name="Rectangle 9"/>
          <p:cNvSpPr/>
          <p:nvPr/>
        </p:nvSpPr>
        <p:spPr>
          <a:xfrm>
            <a:off x="640080" y="275234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75234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해결할 업무: 학습할 제품 묶음 선택 → 모델·혼합 비율 비교 → 근거 기록</a:t>
            </a:r>
          </a:p>
        </p:txBody>
      </p:sp>
      <p:sp>
        <p:nvSpPr>
          <p:cNvPr id="12" name="Rectangle 11"/>
          <p:cNvSpPr/>
          <p:nvPr/>
        </p:nvSpPr>
        <p:spPr>
          <a:xfrm>
            <a:off x="640080" y="352958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52958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Agent가 근거와 계획을 제시하고, 엔지니어가 승인하면 실행</a:t>
            </a:r>
          </a:p>
        </p:txBody>
      </p:sp>
      <p:sp>
        <p:nvSpPr>
          <p:cNvPr id="14" name="Rectangle 13"/>
          <p:cNvSpPr/>
          <p:nvPr/>
        </p:nvSpPr>
        <p:spPr>
          <a:xfrm>
            <a:off x="640080" y="430682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30682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센서 사례 하나로 입력부터 선택 결과까지 보여 드립니다.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03 · 결과를 읽기 위한 기준</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불량을 놓치지 않되, 정상 오판도 제한합니다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03 / 14</a:t>
            </a:r>
          </a:p>
        </p:txBody>
      </p:sp>
      <p:sp>
        <p:nvSpPr>
          <p:cNvPr id="8" name="Rounded Rectangle 7"/>
          <p:cNvSpPr/>
          <p:nvPr/>
        </p:nvSpPr>
        <p:spPr>
          <a:xfrm>
            <a:off x="658368" y="1965960"/>
            <a:ext cx="5321808" cy="1307592"/>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2139696"/>
            <a:ext cx="4892040" cy="411480"/>
          </a:xfrm>
          <a:prstGeom prst="rect">
            <a:avLst/>
          </a:prstGeom>
          <a:noFill/>
        </p:spPr>
        <p:txBody>
          <a:bodyPr wrap="square" lIns="18288" rIns="18288" tIns="18288" bIns="18288">
            <a:spAutoFit/>
          </a:bodyPr>
          <a:lstStyle/>
          <a:p>
            <a:pPr>
              <a:lnSpc>
                <a:spcPct val="114000"/>
              </a:lnSpc>
              <a:spcAft>
                <a:spcPts val="800"/>
              </a:spcAft>
              <a:defRPr sz="2500" b="1">
                <a:solidFill>
                  <a:srgbClr val="147D82"/>
                </a:solidFill>
                <a:latin typeface="맑은 고딕"/>
              </a:defRPr>
            </a:pPr>
            <a:r>
              <a:t>불량 검출률 · Recall</a:t>
            </a:r>
          </a:p>
        </p:txBody>
      </p:sp>
      <p:sp>
        <p:nvSpPr>
          <p:cNvPr id="10" name="TextBox 9"/>
          <p:cNvSpPr txBox="1"/>
          <p:nvPr/>
        </p:nvSpPr>
        <p:spPr>
          <a:xfrm>
            <a:off x="859536" y="2715768"/>
            <a:ext cx="4892040" cy="36576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불량 100개 중 몇 개를 찾았나요?</a:t>
            </a:r>
          </a:p>
        </p:txBody>
      </p:sp>
      <p:sp>
        <p:nvSpPr>
          <p:cNvPr id="11" name="Rounded Rectangle 10"/>
          <p:cNvSpPr/>
          <p:nvPr/>
        </p:nvSpPr>
        <p:spPr>
          <a:xfrm>
            <a:off x="6217920" y="1965960"/>
            <a:ext cx="5321808" cy="1307592"/>
          </a:xfrm>
          <a:prstGeom prst="roundRect">
            <a:avLst>
              <a:gd name="adj" fmla="val 8000"/>
            </a:avLst>
          </a:prstGeom>
          <a:solidFill>
            <a:srgbClr val="FFF0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19088" y="2139696"/>
            <a:ext cx="4892040" cy="411480"/>
          </a:xfrm>
          <a:prstGeom prst="rect">
            <a:avLst/>
          </a:prstGeom>
          <a:noFill/>
        </p:spPr>
        <p:txBody>
          <a:bodyPr wrap="square" lIns="18288" rIns="18288" tIns="18288" bIns="18288">
            <a:spAutoFit/>
          </a:bodyPr>
          <a:lstStyle/>
          <a:p>
            <a:pPr>
              <a:lnSpc>
                <a:spcPct val="114000"/>
              </a:lnSpc>
              <a:spcAft>
                <a:spcPts val="800"/>
              </a:spcAft>
              <a:defRPr sz="2500" b="1">
                <a:solidFill>
                  <a:srgbClr val="173A49"/>
                </a:solidFill>
                <a:latin typeface="맑은 고딕"/>
              </a:defRPr>
            </a:pPr>
            <a:r>
              <a:t>정상 오판률</a:t>
            </a:r>
          </a:p>
        </p:txBody>
      </p:sp>
      <p:sp>
        <p:nvSpPr>
          <p:cNvPr id="13" name="TextBox 12"/>
          <p:cNvSpPr txBox="1"/>
          <p:nvPr/>
        </p:nvSpPr>
        <p:spPr>
          <a:xfrm>
            <a:off x="6419088" y="2715768"/>
            <a:ext cx="4892040" cy="36576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정상 100개 중 몇 개를 잘못 잡았나요?</a:t>
            </a:r>
          </a:p>
        </p:txBody>
      </p:sp>
      <p:sp>
        <p:nvSpPr>
          <p:cNvPr id="14" name="TextBox 13"/>
          <p:cNvSpPr txBox="1"/>
          <p:nvPr/>
        </p:nvSpPr>
        <p:spPr>
          <a:xfrm>
            <a:off x="731520" y="3648456"/>
            <a:ext cx="10698480" cy="502920"/>
          </a:xfrm>
          <a:prstGeom prst="rect">
            <a:avLst/>
          </a:prstGeom>
          <a:noFill/>
        </p:spPr>
        <p:txBody>
          <a:bodyPr wrap="square" lIns="18288" rIns="18288" tIns="18288" bIns="18288">
            <a:spAutoFit/>
          </a:bodyPr>
          <a:lstStyle/>
          <a:p>
            <a:pPr>
              <a:lnSpc>
                <a:spcPct val="114000"/>
              </a:lnSpc>
              <a:spcAft>
                <a:spcPts val="800"/>
              </a:spcAft>
              <a:defRPr sz="2300" b="1">
                <a:solidFill>
                  <a:srgbClr val="173A49"/>
                </a:solidFill>
                <a:latin typeface="맑은 고딕"/>
              </a:defRPr>
            </a:pPr>
            <a:r>
              <a:t>시연 목표: 불량 검출률 90% 이상 · 정상 오판률 15% 이하</a:t>
            </a:r>
          </a:p>
        </p:txBody>
      </p:sp>
      <p:sp>
        <p:nvSpPr>
          <p:cNvPr id="15" name="TextBox 14"/>
          <p:cNvSpPr txBox="1"/>
          <p:nvPr/>
        </p:nvSpPr>
        <p:spPr>
          <a:xfrm>
            <a:off x="731520" y="4471416"/>
            <a:ext cx="10698480" cy="502920"/>
          </a:xfrm>
          <a:prstGeom prst="rect">
            <a:avLst/>
          </a:prstGeom>
          <a:noFill/>
        </p:spPr>
        <p:txBody>
          <a:bodyPr wrap="square" lIns="18288" rIns="18288" tIns="18288" bIns="18288">
            <a:spAutoFit/>
          </a:bodyPr>
          <a:lstStyle/>
          <a:p>
            <a:pPr>
              <a:lnSpc>
                <a:spcPct val="114000"/>
              </a:lnSpc>
              <a:spcAft>
                <a:spcPts val="800"/>
              </a:spcAft>
              <a:defRPr sz="2200" b="1">
                <a:solidFill>
                  <a:srgbClr val="147D82"/>
                </a:solidFill>
                <a:latin typeface="맑은 고딕"/>
              </a:defRPr>
            </a:pPr>
            <a:r>
              <a:t>정상 오판 한도 준수 → 검출률 최대 → 동률이면 F1</a:t>
            </a:r>
          </a:p>
        </p:txBody>
      </p:sp>
      <p:sp>
        <p:nvSpPr>
          <p:cNvPr id="16" name="TextBox 15"/>
          <p:cNvSpPr txBox="1"/>
          <p:nvPr/>
        </p:nvSpPr>
        <p:spPr>
          <a:xfrm>
            <a:off x="731520" y="5102352"/>
            <a:ext cx="10698480" cy="365760"/>
          </a:xfrm>
          <a:prstGeom prst="rect">
            <a:avLst/>
          </a:prstGeom>
          <a:noFill/>
        </p:spPr>
        <p:txBody>
          <a:bodyPr wrap="square" lIns="18288" rIns="18288" tIns="18288" bIns="18288">
            <a:spAutoFit/>
          </a:bodyPr>
          <a:lstStyle/>
          <a:p>
            <a:pPr>
              <a:lnSpc>
                <a:spcPct val="114000"/>
              </a:lnSpc>
              <a:spcAft>
                <a:spcPts val="800"/>
              </a:spcAft>
              <a:defRPr sz="1700" b="0">
                <a:solidFill>
                  <a:srgbClr val="617681"/>
                </a:solidFill>
                <a:latin typeface="맑은 고딕"/>
              </a:defRPr>
            </a:pPr>
            <a:r>
              <a:t>F1: 불량 검출과 불량 판정의 정확성을 함께 보는 보조 지표</a:t>
            </a:r>
          </a:p>
        </p:txBody>
      </p:sp>
      <p:sp>
        <p:nvSpPr>
          <p:cNvPr id="17" name="TextBox 16"/>
          <p:cNvSpPr txBox="1"/>
          <p:nvPr/>
        </p:nvSpPr>
        <p:spPr>
          <a:xfrm>
            <a:off x="731520" y="5596128"/>
            <a:ext cx="10698480" cy="411480"/>
          </a:xfrm>
          <a:prstGeom prst="rect">
            <a:avLst/>
          </a:prstGeom>
          <a:noFill/>
        </p:spPr>
        <p:txBody>
          <a:bodyPr wrap="square" lIns="18288" rIns="18288" tIns="18288" bIns="18288">
            <a:spAutoFit/>
          </a:bodyPr>
          <a:lstStyle/>
          <a:p>
            <a:pPr>
              <a:lnSpc>
                <a:spcPct val="114000"/>
              </a:lnSpc>
              <a:spcAft>
                <a:spcPts val="800"/>
              </a:spcAft>
              <a:defRPr sz="1700" b="0">
                <a:solidFill>
                  <a:srgbClr val="617681"/>
                </a:solidFill>
                <a:latin typeface="맑은 고딕"/>
              </a:defRPr>
            </a:pPr>
            <a:r>
              <a:t>90%·15%는 교육용 목표입니다. 현장에서는 담당자와 허용 범위를 정합니다.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04 · 실제 화면 | 이번 시연의 입력</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① 검사 데이터를 선택합니다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04 / 14</a:t>
            </a:r>
          </a:p>
        </p:txBody>
      </p:sp>
      <p:sp>
        <p:nvSpPr>
          <p:cNvPr id="8" name="TextBox 7"/>
          <p:cNvSpPr txBox="1"/>
          <p:nvPr/>
        </p:nvSpPr>
        <p:spPr>
          <a:xfrm>
            <a:off x="658368" y="2057400"/>
            <a:ext cx="4526280" cy="804672"/>
          </a:xfrm>
          <a:prstGeom prst="rect">
            <a:avLst/>
          </a:prstGeom>
          <a:noFill/>
        </p:spPr>
        <p:txBody>
          <a:bodyPr wrap="square" lIns="18288" rIns="18288" tIns="18288" bIns="18288">
            <a:spAutoFit/>
          </a:bodyPr>
          <a:lstStyle/>
          <a:p>
            <a:pPr>
              <a:lnSpc>
                <a:spcPct val="114000"/>
              </a:lnSpc>
              <a:spcAft>
                <a:spcPts val="800"/>
              </a:spcAft>
              <a:defRPr sz="2200" b="1">
                <a:solidFill>
                  <a:srgbClr val="173A49"/>
                </a:solidFill>
                <a:latin typeface="맑은 고딕"/>
              </a:defRPr>
            </a:pPr>
            <a:r>
              <a:t>합성 센서 1,280건 · 불량 201건 · 제품 A–D는 가상 이름</a:t>
            </a:r>
          </a:p>
        </p:txBody>
      </p:sp>
      <p:sp>
        <p:nvSpPr>
          <p:cNvPr id="9" name="TextBox 8"/>
          <p:cNvSpPr txBox="1"/>
          <p:nvPr/>
        </p:nvSpPr>
        <p:spPr>
          <a:xfrm>
            <a:off x="658368" y="2935224"/>
            <a:ext cx="4526280" cy="804672"/>
          </a:xfrm>
          <a:prstGeom prst="rect">
            <a:avLst/>
          </a:prstGeom>
          <a:noFill/>
        </p:spPr>
        <p:txBody>
          <a:bodyPr wrap="square" lIns="18288" rIns="18288" tIns="18288" bIns="18288">
            <a:spAutoFit/>
          </a:bodyPr>
          <a:lstStyle/>
          <a:p>
            <a:pPr>
              <a:lnSpc>
                <a:spcPct val="114000"/>
              </a:lnSpc>
              <a:spcAft>
                <a:spcPts val="800"/>
              </a:spcAft>
              <a:defRPr sz="1900" b="0">
                <a:solidFill>
                  <a:srgbClr val="617681"/>
                </a:solidFill>
                <a:latin typeface="맑은 고딕"/>
              </a:defRPr>
            </a:pPr>
            <a:r>
              <a:t>센서 CSV와 검사 이미지 ZIP 등록도 지원합니다.</a:t>
            </a:r>
          </a:p>
        </p:txBody>
      </p:sp>
      <p:sp>
        <p:nvSpPr>
          <p:cNvPr id="10" name="TextBox 9"/>
          <p:cNvSpPr txBox="1"/>
          <p:nvPr/>
        </p:nvSpPr>
        <p:spPr>
          <a:xfrm>
            <a:off x="658368" y="3813048"/>
            <a:ext cx="4526280" cy="804672"/>
          </a:xfrm>
          <a:prstGeom prst="rect">
            <a:avLst/>
          </a:prstGeom>
          <a:noFill/>
        </p:spPr>
        <p:txBody>
          <a:bodyPr wrap="square" lIns="18288" rIns="18288" tIns="18288" bIns="18288">
            <a:spAutoFit/>
          </a:bodyPr>
          <a:lstStyle/>
          <a:p>
            <a:pPr>
              <a:lnSpc>
                <a:spcPct val="114000"/>
              </a:lnSpc>
              <a:spcAft>
                <a:spcPts val="800"/>
              </a:spcAft>
              <a:defRPr sz="1900" b="0">
                <a:solidFill>
                  <a:srgbClr val="617681"/>
                </a:solidFill>
                <a:latin typeface="맑은 고딕"/>
              </a:defRPr>
            </a:pPr>
            <a:r>
              <a:t>오늘은 센서 예제로 모델과 혼합 비율을 비교합니다.</a:t>
            </a:r>
          </a:p>
        </p:txBody>
      </p:sp>
      <p:sp>
        <p:nvSpPr>
          <p:cNvPr id="11" name="Rounded Rectangle 10"/>
          <p:cNvSpPr/>
          <p:nvPr/>
        </p:nvSpPr>
        <p:spPr>
          <a:xfrm>
            <a:off x="5413248" y="1801367"/>
            <a:ext cx="5998464" cy="4306824"/>
          </a:xfrm>
          <a:prstGeom prst="roundRect">
            <a:avLst>
              <a:gd name="adj" fmla="val 8000"/>
            </a:avLst>
          </a:prstGeom>
          <a:solidFill>
            <a:srgbClr val="FFFFFF"/>
          </a:solidFill>
          <a:ln>
            <a:solidFill>
              <a:srgbClr val="D8E3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data.jpg"/>
          <p:cNvPicPr>
            <a:picLocks noChangeAspect="1"/>
          </p:cNvPicPr>
          <p:nvPr/>
        </p:nvPicPr>
        <p:blipFill>
          <a:blip r:embed="rId3"/>
          <a:stretch>
            <a:fillRect/>
          </a:stretch>
        </p:blipFill>
        <p:spPr>
          <a:xfrm>
            <a:off x="5486400" y="1885029"/>
            <a:ext cx="5852160" cy="4139501"/>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05 · 실제 화면 | 제품 묶음과 혼합 비율을 각각 비교</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② 비교 범위를 확인하고 승인합니다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05 / 14</a:t>
            </a:r>
          </a:p>
        </p:txBody>
      </p:sp>
      <p:sp>
        <p:nvSpPr>
          <p:cNvPr id="8" name="TextBox 7"/>
          <p:cNvSpPr txBox="1"/>
          <p:nvPr/>
        </p:nvSpPr>
        <p:spPr>
          <a:xfrm>
            <a:off x="658368" y="2057400"/>
            <a:ext cx="4526280" cy="804672"/>
          </a:xfrm>
          <a:prstGeom prst="rect">
            <a:avLst/>
          </a:prstGeom>
          <a:noFill/>
        </p:spPr>
        <p:txBody>
          <a:bodyPr wrap="square" lIns="18288" rIns="18288" tIns="18288" bIns="18288">
            <a:spAutoFit/>
          </a:bodyPr>
          <a:lstStyle/>
          <a:p>
            <a:pPr>
              <a:lnSpc>
                <a:spcPct val="114000"/>
              </a:lnSpc>
              <a:spcAft>
                <a:spcPts val="800"/>
              </a:spcAft>
              <a:defRPr sz="2200" b="1">
                <a:solidFill>
                  <a:srgbClr val="173A49"/>
                </a:solidFill>
                <a:latin typeface="맑은 고딕"/>
              </a:defRPr>
            </a:pPr>
            <a:r>
              <a:t>학습60% / 후보 선택20% / 마지막 확인20%</a:t>
            </a:r>
          </a:p>
        </p:txBody>
      </p:sp>
      <p:sp>
        <p:nvSpPr>
          <p:cNvPr id="9" name="TextBox 8"/>
          <p:cNvSpPr txBox="1"/>
          <p:nvPr/>
        </p:nvSpPr>
        <p:spPr>
          <a:xfrm>
            <a:off x="658368" y="2935224"/>
            <a:ext cx="4526280" cy="804672"/>
          </a:xfrm>
          <a:prstGeom prst="rect">
            <a:avLst/>
          </a:prstGeom>
          <a:noFill/>
        </p:spPr>
        <p:txBody>
          <a:bodyPr wrap="square" lIns="18288" rIns="18288" tIns="18288" bIns="18288">
            <a:spAutoFit/>
          </a:bodyPr>
          <a:lstStyle/>
          <a:p>
            <a:pPr>
              <a:lnSpc>
                <a:spcPct val="114000"/>
              </a:lnSpc>
              <a:spcAft>
                <a:spcPts val="800"/>
              </a:spcAft>
              <a:defRPr sz="1900" b="0">
                <a:solidFill>
                  <a:srgbClr val="617681"/>
                </a:solidFill>
                <a:latin typeface="맑은 고딕"/>
              </a:defRPr>
            </a:pPr>
            <a:r>
              <a:t>실험1: 알고리즘 고정 → 제품 그룹 구성15개 비교</a:t>
            </a:r>
          </a:p>
        </p:txBody>
      </p:sp>
      <p:sp>
        <p:nvSpPr>
          <p:cNvPr id="10" name="TextBox 9"/>
          <p:cNvSpPr txBox="1"/>
          <p:nvPr/>
        </p:nvSpPr>
        <p:spPr>
          <a:xfrm>
            <a:off x="658368" y="3813048"/>
            <a:ext cx="4526280" cy="804672"/>
          </a:xfrm>
          <a:prstGeom prst="rect">
            <a:avLst/>
          </a:prstGeom>
          <a:noFill/>
        </p:spPr>
        <p:txBody>
          <a:bodyPr wrap="square" lIns="18288" rIns="18288" tIns="18288" bIns="18288">
            <a:spAutoFit/>
          </a:bodyPr>
          <a:lstStyle/>
          <a:p>
            <a:pPr>
              <a:lnSpc>
                <a:spcPct val="114000"/>
              </a:lnSpc>
              <a:spcAft>
                <a:spcPts val="800"/>
              </a:spcAft>
              <a:defRPr sz="1900" b="0">
                <a:solidFill>
                  <a:srgbClr val="617681"/>
                </a:solidFill>
                <a:latin typeface="맑은 고딕"/>
              </a:defRPr>
            </a:pPr>
            <a:r>
              <a:t>실험2: 학습 제품ABCD 고정 → 혼합 비율232개 비교</a:t>
            </a:r>
          </a:p>
        </p:txBody>
      </p:sp>
      <p:sp>
        <p:nvSpPr>
          <p:cNvPr id="11" name="TextBox 10"/>
          <p:cNvSpPr txBox="1"/>
          <p:nvPr/>
        </p:nvSpPr>
        <p:spPr>
          <a:xfrm>
            <a:off x="658368" y="4690872"/>
            <a:ext cx="4526280" cy="804672"/>
          </a:xfrm>
          <a:prstGeom prst="rect">
            <a:avLst/>
          </a:prstGeom>
          <a:noFill/>
        </p:spPr>
        <p:txBody>
          <a:bodyPr wrap="square" lIns="18288" rIns="18288" tIns="18288" bIns="18288">
            <a:spAutoFit/>
          </a:bodyPr>
          <a:lstStyle/>
          <a:p>
            <a:pPr>
              <a:lnSpc>
                <a:spcPct val="114000"/>
              </a:lnSpc>
              <a:spcAft>
                <a:spcPts val="800"/>
              </a:spcAft>
              <a:defRPr sz="1900" b="0">
                <a:solidFill>
                  <a:srgbClr val="617681"/>
                </a:solidFill>
                <a:latin typeface="맑은 고딕"/>
              </a:defRPr>
            </a:pPr>
            <a:r>
              <a:t>계획·데이터 확인 → 엔지니어 승인 → 실제 실행</a:t>
            </a:r>
          </a:p>
        </p:txBody>
      </p:sp>
      <p:sp>
        <p:nvSpPr>
          <p:cNvPr id="12" name="Rounded Rectangle 11"/>
          <p:cNvSpPr/>
          <p:nvPr/>
        </p:nvSpPr>
        <p:spPr>
          <a:xfrm>
            <a:off x="5413248" y="1801367"/>
            <a:ext cx="5998464" cy="4306824"/>
          </a:xfrm>
          <a:prstGeom prst="roundRect">
            <a:avLst>
              <a:gd name="adj" fmla="val 8000"/>
            </a:avLst>
          </a:prstGeom>
          <a:solidFill>
            <a:srgbClr val="FFFFFF"/>
          </a:solidFill>
          <a:ln>
            <a:solidFill>
              <a:srgbClr val="D8E3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pp-grouping-plan.jpg"/>
          <p:cNvPicPr>
            <a:picLocks noChangeAspect="1"/>
          </p:cNvPicPr>
          <p:nvPr/>
        </p:nvPicPr>
        <p:blipFill>
          <a:blip r:embed="rId3"/>
          <a:stretch>
            <a:fillRect/>
          </a:stretch>
        </p:blipFill>
        <p:spPr>
          <a:xfrm>
            <a:off x="5848381" y="1874519"/>
            <a:ext cx="5128197" cy="41605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06 · 실험1 | CatBoost 설정 고정 · 그룹 구성15개 비교</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③ 제품 묶음 선택: ABC 공통 모델 + D 전용 모델</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06 / 14</a:t>
            </a:r>
          </a:p>
        </p:txBody>
      </p:sp>
      <p:sp>
        <p:nvSpPr>
          <p:cNvPr id="8" name="Rounded Rectangle 7"/>
          <p:cNvSpPr/>
          <p:nvPr/>
        </p:nvSpPr>
        <p:spPr>
          <a:xfrm>
            <a:off x="658368" y="1938528"/>
            <a:ext cx="10863072" cy="3639312"/>
          </a:xfrm>
          <a:prstGeom prst="roundRect">
            <a:avLst>
              <a:gd name="adj" fmla="val 8000"/>
            </a:avLst>
          </a:prstGeom>
          <a:solidFill>
            <a:srgbClr val="FFFFFF"/>
          </a:solidFill>
          <a:ln>
            <a:solidFill>
              <a:srgbClr val="D8E3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pp-grouping-validation.jpg"/>
          <p:cNvPicPr>
            <a:picLocks noChangeAspect="1"/>
          </p:cNvPicPr>
          <p:nvPr/>
        </p:nvPicPr>
        <p:blipFill>
          <a:blip r:embed="rId3"/>
          <a:stretch>
            <a:fillRect/>
          </a:stretch>
        </p:blipFill>
        <p:spPr>
          <a:xfrm>
            <a:off x="731519" y="2233816"/>
            <a:ext cx="10716768" cy="3048735"/>
          </a:xfrm>
          <a:prstGeom prst="rect">
            <a:avLst/>
          </a:prstGeom>
        </p:spPr>
      </p:pic>
      <p:sp>
        <p:nvSpPr>
          <p:cNvPr id="10" name="TextBox 9"/>
          <p:cNvSpPr txBox="1"/>
          <p:nvPr/>
        </p:nvSpPr>
        <p:spPr>
          <a:xfrm>
            <a:off x="777240" y="5596128"/>
            <a:ext cx="10698480" cy="384048"/>
          </a:xfrm>
          <a:prstGeom prst="rect">
            <a:avLst/>
          </a:prstGeom>
          <a:noFill/>
        </p:spPr>
        <p:txBody>
          <a:bodyPr wrap="square" lIns="18288" rIns="18288" tIns="18288" bIns="18288">
            <a:spAutoFit/>
          </a:bodyPr>
          <a:lstStyle/>
          <a:p>
            <a:pPr>
              <a:lnSpc>
                <a:spcPct val="114000"/>
              </a:lnSpc>
              <a:spcAft>
                <a:spcPts val="800"/>
              </a:spcAft>
              <a:defRPr sz="1900" b="1">
                <a:solidFill>
                  <a:srgbClr val="173A49"/>
                </a:solidFill>
                <a:latin typeface="맑은 고딕"/>
              </a:defRPr>
            </a:pPr>
            <a:r>
              <a:t>Test: Recall 78.1% (25/32) · 목표 미달 → 적용 보류</a:t>
            </a:r>
          </a:p>
        </p:txBody>
      </p:sp>
      <p:sp>
        <p:nvSpPr>
          <p:cNvPr id="11" name="TextBox 10"/>
          <p:cNvSpPr txBox="1"/>
          <p:nvPr/>
        </p:nvSpPr>
        <p:spPr>
          <a:xfrm>
            <a:off x="777240" y="6053328"/>
            <a:ext cx="10698480" cy="219456"/>
          </a:xfrm>
          <a:prstGeom prst="rect">
            <a:avLst/>
          </a:prstGeom>
          <a:noFill/>
        </p:spPr>
        <p:txBody>
          <a:bodyPr wrap="square" lIns="18288" rIns="18288" tIns="18288" bIns="18288">
            <a:spAutoFit/>
          </a:bodyPr>
          <a:lstStyle/>
          <a:p>
            <a:pPr>
              <a:lnSpc>
                <a:spcPct val="114000"/>
              </a:lnSpc>
              <a:spcAft>
                <a:spcPts val="800"/>
              </a:spcAft>
              <a:defRPr sz="1200" b="0">
                <a:solidFill>
                  <a:srgbClr val="617681"/>
                </a:solidFill>
                <a:latin typeface="맑은 고딕"/>
              </a:defRPr>
            </a:pPr>
            <a:r>
              <a:t>Validation에서는 좋았지만 Test에서는 목표 미달 · 기존 Test 재사용 탐색 · 새 독립 데이터 필요</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07 · 실험2 | 학습 제품ABCD 고정 · Validation에서 비율 선택</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④ 선택 비율: CatBoost 90% + LightGBM 10%</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07 / 14</a:t>
            </a:r>
          </a:p>
        </p:txBody>
      </p:sp>
      <p:sp>
        <p:nvSpPr>
          <p:cNvPr id="8" name="Rounded Rectangle 7"/>
          <p:cNvSpPr/>
          <p:nvPr/>
        </p:nvSpPr>
        <p:spPr>
          <a:xfrm>
            <a:off x="658368" y="1938528"/>
            <a:ext cx="10863072" cy="3639312"/>
          </a:xfrm>
          <a:prstGeom prst="roundRect">
            <a:avLst>
              <a:gd name="adj" fmla="val 8000"/>
            </a:avLst>
          </a:prstGeom>
          <a:solidFill>
            <a:srgbClr val="FFFFFF"/>
          </a:solidFill>
          <a:ln>
            <a:solidFill>
              <a:srgbClr val="D8E3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pp-ensemble-validation.jpg"/>
          <p:cNvPicPr>
            <a:picLocks noChangeAspect="1"/>
          </p:cNvPicPr>
          <p:nvPr/>
        </p:nvPicPr>
        <p:blipFill>
          <a:blip r:embed="rId3"/>
          <a:stretch>
            <a:fillRect/>
          </a:stretch>
        </p:blipFill>
        <p:spPr>
          <a:xfrm>
            <a:off x="731520" y="2157137"/>
            <a:ext cx="10716768" cy="3202092"/>
          </a:xfrm>
          <a:prstGeom prst="rect">
            <a:avLst/>
          </a:prstGeom>
        </p:spPr>
      </p:pic>
      <p:sp>
        <p:nvSpPr>
          <p:cNvPr id="10" name="TextBox 9"/>
          <p:cNvSpPr txBox="1"/>
          <p:nvPr/>
        </p:nvSpPr>
        <p:spPr>
          <a:xfrm>
            <a:off x="777240" y="5596128"/>
            <a:ext cx="10698480" cy="365760"/>
          </a:xfrm>
          <a:prstGeom prst="rect">
            <a:avLst/>
          </a:prstGeom>
          <a:noFill/>
        </p:spPr>
        <p:txBody>
          <a:bodyPr wrap="square" lIns="18288" rIns="18288" tIns="18288" bIns="18288">
            <a:spAutoFit/>
          </a:bodyPr>
          <a:lstStyle/>
          <a:p>
            <a:pPr>
              <a:lnSpc>
                <a:spcPct val="114000"/>
              </a:lnSpc>
              <a:spcAft>
                <a:spcPts val="800"/>
              </a:spcAft>
              <a:defRPr sz="2000" b="1">
                <a:solidFill>
                  <a:srgbClr val="147D82"/>
                </a:solidFill>
                <a:latin typeface="맑은 고딕"/>
              </a:defRPr>
            </a:pPr>
            <a:r>
              <a:t>검출률 100.0% 유지 · F1 0.808 → 0.816</a:t>
            </a:r>
          </a:p>
        </p:txBody>
      </p:sp>
      <p:sp>
        <p:nvSpPr>
          <p:cNvPr id="11" name="TextBox 10"/>
          <p:cNvSpPr txBox="1"/>
          <p:nvPr/>
        </p:nvSpPr>
        <p:spPr>
          <a:xfrm>
            <a:off x="777240" y="6053328"/>
            <a:ext cx="10698480" cy="219456"/>
          </a:xfrm>
          <a:prstGeom prst="rect">
            <a:avLst/>
          </a:prstGeom>
          <a:noFill/>
        </p:spPr>
        <p:txBody>
          <a:bodyPr wrap="square" lIns="18288" rIns="18288" tIns="18288" bIns="18288">
            <a:spAutoFit/>
          </a:bodyPr>
          <a:lstStyle/>
          <a:p>
            <a:pPr>
              <a:lnSpc>
                <a:spcPct val="114000"/>
              </a:lnSpc>
              <a:spcAft>
                <a:spcPts val="800"/>
              </a:spcAft>
              <a:defRPr sz="1200" b="0">
                <a:solidFill>
                  <a:srgbClr val="617681"/>
                </a:solidFill>
                <a:latin typeface="맑은 고딕"/>
              </a:defRPr>
            </a:pPr>
            <a:r>
              <a:t>5% 간격과 균등 비율의 232개 비교 · 이 탐색 범위 안의 최선 · Test로 비율 선택하지 않음</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08 · 실험2의 Test 확인 | 불량32개 · 정상224개</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⑤ 같은 검출률을 유지하며 정상 오판을 줄였습니다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08 / 14</a:t>
            </a:r>
          </a:p>
        </p:txBody>
      </p:sp>
      <p:sp>
        <p:nvSpPr>
          <p:cNvPr id="8" name="TextBox 7"/>
          <p:cNvSpPr txBox="1"/>
          <p:nvPr/>
        </p:nvSpPr>
        <p:spPr>
          <a:xfrm>
            <a:off x="713232" y="2103120"/>
            <a:ext cx="3886200" cy="795528"/>
          </a:xfrm>
          <a:prstGeom prst="rect">
            <a:avLst/>
          </a:prstGeom>
          <a:noFill/>
        </p:spPr>
        <p:txBody>
          <a:bodyPr wrap="square" lIns="18288" rIns="18288" tIns="18288" bIns="18288">
            <a:spAutoFit/>
          </a:bodyPr>
          <a:lstStyle/>
          <a:p>
            <a:pPr>
              <a:lnSpc>
                <a:spcPct val="114000"/>
              </a:lnSpc>
              <a:spcAft>
                <a:spcPts val="800"/>
              </a:spcAft>
              <a:defRPr sz="2400" b="1">
                <a:solidFill>
                  <a:srgbClr val="147D82"/>
                </a:solidFill>
                <a:latin typeface="맑은 고딕"/>
              </a:defRPr>
            </a:pPr>
            <a:r>
              <a:t>불량 발견 30 → 30개</a:t>
            </a:r>
          </a:p>
        </p:txBody>
      </p:sp>
      <p:sp>
        <p:nvSpPr>
          <p:cNvPr id="9" name="TextBox 8"/>
          <p:cNvSpPr txBox="1"/>
          <p:nvPr/>
        </p:nvSpPr>
        <p:spPr>
          <a:xfrm>
            <a:off x="713232" y="3054096"/>
            <a:ext cx="3886200" cy="795528"/>
          </a:xfrm>
          <a:prstGeom prst="rect">
            <a:avLst/>
          </a:prstGeom>
          <a:noFill/>
        </p:spPr>
        <p:txBody>
          <a:bodyPr wrap="square" lIns="18288" rIns="18288" tIns="18288" bIns="18288">
            <a:spAutoFit/>
          </a:bodyPr>
          <a:lstStyle/>
          <a:p>
            <a:pPr>
              <a:lnSpc>
                <a:spcPct val="114000"/>
              </a:lnSpc>
              <a:spcAft>
                <a:spcPts val="800"/>
              </a:spcAft>
              <a:defRPr sz="2400" b="1">
                <a:solidFill>
                  <a:srgbClr val="147D82"/>
                </a:solidFill>
                <a:latin typeface="맑은 고딕"/>
              </a:defRPr>
            </a:pPr>
            <a:r>
              <a:t>정상 오판 21 → 19개</a:t>
            </a:r>
          </a:p>
        </p:txBody>
      </p:sp>
      <p:sp>
        <p:nvSpPr>
          <p:cNvPr id="10" name="TextBox 9"/>
          <p:cNvSpPr txBox="1"/>
          <p:nvPr/>
        </p:nvSpPr>
        <p:spPr>
          <a:xfrm>
            <a:off x="713232" y="4005072"/>
            <a:ext cx="3886200" cy="795528"/>
          </a:xfrm>
          <a:prstGeom prst="rect">
            <a:avLst/>
          </a:prstGeom>
          <a:noFill/>
        </p:spPr>
        <p:txBody>
          <a:bodyPr wrap="square" lIns="18288" rIns="18288" tIns="18288" bIns="18288">
            <a:spAutoFit/>
          </a:bodyPr>
          <a:lstStyle/>
          <a:p>
            <a:pPr>
              <a:lnSpc>
                <a:spcPct val="114000"/>
              </a:lnSpc>
              <a:spcAft>
                <a:spcPts val="800"/>
              </a:spcAft>
              <a:defRPr sz="2100" b="1">
                <a:solidFill>
                  <a:srgbClr val="173A49"/>
                </a:solidFill>
                <a:latin typeface="맑은 고딕"/>
              </a:defRPr>
            </a:pPr>
            <a:r>
              <a:t>Test F1 0.723 → 0.741</a:t>
            </a:r>
          </a:p>
        </p:txBody>
      </p:sp>
      <p:sp>
        <p:nvSpPr>
          <p:cNvPr id="11" name="TextBox 10"/>
          <p:cNvSpPr txBox="1"/>
          <p:nvPr/>
        </p:nvSpPr>
        <p:spPr>
          <a:xfrm>
            <a:off x="713232" y="4956048"/>
            <a:ext cx="3886200" cy="795528"/>
          </a:xfrm>
          <a:prstGeom prst="rect">
            <a:avLst/>
          </a:prstGeom>
          <a:noFill/>
        </p:spPr>
        <p:txBody>
          <a:bodyPr wrap="square" lIns="18288" rIns="18288" tIns="18288" bIns="18288">
            <a:spAutoFit/>
          </a:bodyPr>
          <a:lstStyle/>
          <a:p>
            <a:pPr>
              <a:lnSpc>
                <a:spcPct val="114000"/>
              </a:lnSpc>
              <a:spcAft>
                <a:spcPts val="800"/>
              </a:spcAft>
              <a:defRPr sz="2100" b="1">
                <a:solidFill>
                  <a:srgbClr val="173A49"/>
                </a:solidFill>
                <a:latin typeface="맑은 고딕"/>
              </a:defRPr>
            </a:pPr>
            <a:r>
              <a:t>검출률 93.8% · 시연 목표 충족</a:t>
            </a:r>
          </a:p>
          <a:p>
            <a:pPr>
              <a:lnSpc>
                <a:spcPct val="114000"/>
              </a:lnSpc>
              <a:spcAft>
                <a:spcPts val="800"/>
              </a:spcAft>
              <a:defRPr sz="2100" b="1">
                <a:solidFill>
                  <a:srgbClr val="173A49"/>
                </a:solidFill>
                <a:latin typeface="맑은 고딕"/>
              </a:defRPr>
            </a:pPr>
            <a:r>
              <a:t>새 독립 데이터 검증 필요</a:t>
            </a:r>
          </a:p>
        </p:txBody>
      </p:sp>
      <p:sp>
        <p:nvSpPr>
          <p:cNvPr id="12" name="Rounded Rectangle 11"/>
          <p:cNvSpPr/>
          <p:nvPr/>
        </p:nvSpPr>
        <p:spPr>
          <a:xfrm>
            <a:off x="4910328" y="1847088"/>
            <a:ext cx="6574536" cy="4306824"/>
          </a:xfrm>
          <a:prstGeom prst="roundRect">
            <a:avLst>
              <a:gd name="adj" fmla="val 8000"/>
            </a:avLst>
          </a:prstGeom>
          <a:solidFill>
            <a:srgbClr val="FFFFFF"/>
          </a:solidFill>
          <a:ln>
            <a:solidFill>
              <a:srgbClr val="D8E3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app-ensemble-test.jpg"/>
          <p:cNvPicPr>
            <a:picLocks noChangeAspect="1"/>
          </p:cNvPicPr>
          <p:nvPr/>
        </p:nvPicPr>
        <p:blipFill>
          <a:blip r:embed="rId3"/>
          <a:stretch>
            <a:fillRect/>
          </a:stretch>
        </p:blipFill>
        <p:spPr>
          <a:xfrm>
            <a:off x="4983480" y="2167095"/>
            <a:ext cx="6428232" cy="3666808"/>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09 · 구현 구조와 검증</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역할을 나누고, 실행과 답변을 검증했습니다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09 / 14</a:t>
            </a:r>
          </a:p>
        </p:txBody>
      </p:sp>
      <p:sp>
        <p:nvSpPr>
          <p:cNvPr id="8" name="TextBox 7"/>
          <p:cNvSpPr txBox="1"/>
          <p:nvPr/>
        </p:nvSpPr>
        <p:spPr>
          <a:xfrm>
            <a:off x="621792" y="1920240"/>
            <a:ext cx="10972800" cy="411480"/>
          </a:xfrm>
          <a:prstGeom prst="rect">
            <a:avLst/>
          </a:prstGeom>
          <a:noFill/>
        </p:spPr>
        <p:txBody>
          <a:bodyPr wrap="square" lIns="18288" rIns="18288" tIns="18288" bIns="18288">
            <a:spAutoFit/>
          </a:bodyPr>
          <a:lstStyle/>
          <a:p>
            <a:pPr>
              <a:lnSpc>
                <a:spcPct val="114000"/>
              </a:lnSpc>
              <a:spcAft>
                <a:spcPts val="800"/>
              </a:spcAft>
              <a:defRPr sz="2100" b="0">
                <a:solidFill>
                  <a:srgbClr val="617681"/>
                </a:solidFill>
                <a:latin typeface="맑은 고딕"/>
              </a:defRPr>
            </a:pPr>
            <a:r>
              <a:t>LangGraph 역할 연결 · 로컬 Qwen 설명 · MCP 조회·계획 도구</a:t>
            </a:r>
          </a:p>
        </p:txBody>
      </p:sp>
      <p:sp>
        <p:nvSpPr>
          <p:cNvPr id="9" name="TextBox 8"/>
          <p:cNvSpPr txBox="1"/>
          <p:nvPr/>
        </p:nvSpPr>
        <p:spPr>
          <a:xfrm>
            <a:off x="658368" y="2359152"/>
            <a:ext cx="10881360" cy="228600"/>
          </a:xfrm>
          <a:prstGeom prst="rect">
            <a:avLst/>
          </a:prstGeom>
          <a:noFill/>
        </p:spPr>
        <p:txBody>
          <a:bodyPr wrap="square" lIns="18288" rIns="18288" tIns="18288" bIns="18288">
            <a:spAutoFit/>
          </a:bodyPr>
          <a:lstStyle/>
          <a:p>
            <a:pPr>
              <a:lnSpc>
                <a:spcPct val="114000"/>
              </a:lnSpc>
              <a:spcAft>
                <a:spcPts val="800"/>
              </a:spcAft>
              <a:defRPr sz="1300" b="0">
                <a:solidFill>
                  <a:srgbClr val="147D82"/>
                </a:solidFill>
                <a:latin typeface="맑은 고딕"/>
              </a:defRPr>
            </a:pPr>
            <a:r>
              <a:t>RAG: 내부 근거·공식 문서 → BGE-M3 임베딩 → FAISS 검색 → Qwen에 근거 전달</a:t>
            </a:r>
          </a:p>
        </p:txBody>
      </p:sp>
      <p:sp>
        <p:nvSpPr>
          <p:cNvPr id="10" name="Rounded Rectangle 9"/>
          <p:cNvSpPr/>
          <p:nvPr/>
        </p:nvSpPr>
        <p:spPr>
          <a:xfrm>
            <a:off x="640080" y="2670048"/>
            <a:ext cx="2532888" cy="1024128"/>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816352"/>
            <a:ext cx="2267712" cy="365760"/>
          </a:xfrm>
          <a:prstGeom prst="rect">
            <a:avLst/>
          </a:prstGeom>
          <a:noFill/>
        </p:spPr>
        <p:txBody>
          <a:bodyPr wrap="square" lIns="18288" rIns="18288" tIns="18288" bIns="18288">
            <a:spAutoFit/>
          </a:bodyPr>
          <a:lstStyle/>
          <a:p>
            <a:pPr>
              <a:lnSpc>
                <a:spcPct val="114000"/>
              </a:lnSpc>
              <a:spcAft>
                <a:spcPts val="800"/>
              </a:spcAft>
              <a:defRPr sz="2100" b="1">
                <a:solidFill>
                  <a:srgbClr val="147D82"/>
                </a:solidFill>
                <a:latin typeface="맑은 고딕"/>
              </a:defRPr>
            </a:pPr>
            <a:r>
              <a:t>데이터 점검</a:t>
            </a:r>
          </a:p>
        </p:txBody>
      </p:sp>
      <p:sp>
        <p:nvSpPr>
          <p:cNvPr id="12" name="TextBox 11"/>
          <p:cNvSpPr txBox="1"/>
          <p:nvPr/>
        </p:nvSpPr>
        <p:spPr>
          <a:xfrm>
            <a:off x="777240" y="3282696"/>
            <a:ext cx="2286000" cy="274320"/>
          </a:xfrm>
          <a:prstGeom prst="rect">
            <a:avLst/>
          </a:prstGeom>
          <a:noFill/>
        </p:spPr>
        <p:txBody>
          <a:bodyPr wrap="square" lIns="18288" rIns="18288" tIns="18288" bIns="18288">
            <a:spAutoFit/>
          </a:bodyPr>
          <a:lstStyle/>
          <a:p>
            <a:pPr>
              <a:lnSpc>
                <a:spcPct val="114000"/>
              </a:lnSpc>
              <a:spcAft>
                <a:spcPts val="800"/>
              </a:spcAft>
              <a:defRPr sz="1300" b="0">
                <a:solidFill>
                  <a:srgbClr val="617681"/>
                </a:solidFill>
                <a:latin typeface="맑은 고딕"/>
              </a:defRPr>
            </a:pPr>
            <a:r>
              <a:t>행·결측·라벨</a:t>
            </a:r>
          </a:p>
        </p:txBody>
      </p:sp>
      <p:sp>
        <p:nvSpPr>
          <p:cNvPr id="13" name="TextBox 12"/>
          <p:cNvSpPr txBox="1"/>
          <p:nvPr/>
        </p:nvSpPr>
        <p:spPr>
          <a:xfrm>
            <a:off x="3200400" y="2944368"/>
            <a:ext cx="256032" cy="365760"/>
          </a:xfrm>
          <a:prstGeom prst="rect">
            <a:avLst/>
          </a:prstGeom>
          <a:noFill/>
        </p:spPr>
        <p:txBody>
          <a:bodyPr wrap="square" lIns="18288" rIns="18288" tIns="18288" bIns="18288">
            <a:spAutoFit/>
          </a:bodyPr>
          <a:lstStyle/>
          <a:p>
            <a:pPr>
              <a:lnSpc>
                <a:spcPct val="114000"/>
              </a:lnSpc>
              <a:spcAft>
                <a:spcPts val="800"/>
              </a:spcAft>
              <a:defRPr sz="1900" b="1">
                <a:solidFill>
                  <a:srgbClr val="147D82"/>
                </a:solidFill>
                <a:latin typeface="맑은 고딕"/>
              </a:defRPr>
            </a:pPr>
            <a:r>
              <a:t>→</a:t>
            </a:r>
          </a:p>
        </p:txBody>
      </p:sp>
      <p:sp>
        <p:nvSpPr>
          <p:cNvPr id="14" name="Rounded Rectangle 13"/>
          <p:cNvSpPr/>
          <p:nvPr/>
        </p:nvSpPr>
        <p:spPr>
          <a:xfrm>
            <a:off x="3456432" y="2670048"/>
            <a:ext cx="2532888" cy="1024128"/>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93592" y="2816352"/>
            <a:ext cx="2267712" cy="365760"/>
          </a:xfrm>
          <a:prstGeom prst="rect">
            <a:avLst/>
          </a:prstGeom>
          <a:noFill/>
        </p:spPr>
        <p:txBody>
          <a:bodyPr wrap="square" lIns="18288" rIns="18288" tIns="18288" bIns="18288">
            <a:spAutoFit/>
          </a:bodyPr>
          <a:lstStyle/>
          <a:p>
            <a:pPr>
              <a:lnSpc>
                <a:spcPct val="114000"/>
              </a:lnSpc>
              <a:spcAft>
                <a:spcPts val="800"/>
              </a:spcAft>
              <a:defRPr sz="2100" b="1">
                <a:solidFill>
                  <a:srgbClr val="147D82"/>
                </a:solidFill>
                <a:latin typeface="맑은 고딕"/>
              </a:defRPr>
            </a:pPr>
            <a:r>
              <a:t>근거 검색</a:t>
            </a:r>
          </a:p>
        </p:txBody>
      </p:sp>
      <p:sp>
        <p:nvSpPr>
          <p:cNvPr id="16" name="TextBox 15"/>
          <p:cNvSpPr txBox="1"/>
          <p:nvPr/>
        </p:nvSpPr>
        <p:spPr>
          <a:xfrm>
            <a:off x="3593592" y="3282696"/>
            <a:ext cx="2286000" cy="274320"/>
          </a:xfrm>
          <a:prstGeom prst="rect">
            <a:avLst/>
          </a:prstGeom>
          <a:noFill/>
        </p:spPr>
        <p:txBody>
          <a:bodyPr wrap="square" lIns="18288" rIns="18288" tIns="18288" bIns="18288">
            <a:spAutoFit/>
          </a:bodyPr>
          <a:lstStyle/>
          <a:p>
            <a:pPr>
              <a:lnSpc>
                <a:spcPct val="114000"/>
              </a:lnSpc>
              <a:spcAft>
                <a:spcPts val="800"/>
              </a:spcAft>
              <a:defRPr sz="1300" b="0">
                <a:solidFill>
                  <a:srgbClr val="617681"/>
                </a:solidFill>
                <a:latin typeface="맑은 고딕"/>
              </a:defRPr>
            </a:pPr>
            <a:r>
              <a:t>BGE-M3 · FAISS</a:t>
            </a:r>
          </a:p>
        </p:txBody>
      </p:sp>
      <p:sp>
        <p:nvSpPr>
          <p:cNvPr id="17" name="TextBox 16"/>
          <p:cNvSpPr txBox="1"/>
          <p:nvPr/>
        </p:nvSpPr>
        <p:spPr>
          <a:xfrm>
            <a:off x="6016752" y="2944368"/>
            <a:ext cx="256032" cy="365760"/>
          </a:xfrm>
          <a:prstGeom prst="rect">
            <a:avLst/>
          </a:prstGeom>
          <a:noFill/>
        </p:spPr>
        <p:txBody>
          <a:bodyPr wrap="square" lIns="18288" rIns="18288" tIns="18288" bIns="18288">
            <a:spAutoFit/>
          </a:bodyPr>
          <a:lstStyle/>
          <a:p>
            <a:pPr>
              <a:lnSpc>
                <a:spcPct val="114000"/>
              </a:lnSpc>
              <a:spcAft>
                <a:spcPts val="800"/>
              </a:spcAft>
              <a:defRPr sz="1900" b="1">
                <a:solidFill>
                  <a:srgbClr val="147D82"/>
                </a:solidFill>
                <a:latin typeface="맑은 고딕"/>
              </a:defRPr>
            </a:pPr>
            <a:r>
              <a:t>→</a:t>
            </a:r>
          </a:p>
        </p:txBody>
      </p:sp>
      <p:sp>
        <p:nvSpPr>
          <p:cNvPr id="18" name="Rounded Rectangle 17"/>
          <p:cNvSpPr/>
          <p:nvPr/>
        </p:nvSpPr>
        <p:spPr>
          <a:xfrm>
            <a:off x="6272784" y="2670048"/>
            <a:ext cx="2532888" cy="1024128"/>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9944" y="2816352"/>
            <a:ext cx="2267712" cy="365760"/>
          </a:xfrm>
          <a:prstGeom prst="rect">
            <a:avLst/>
          </a:prstGeom>
          <a:noFill/>
        </p:spPr>
        <p:txBody>
          <a:bodyPr wrap="square" lIns="18288" rIns="18288" tIns="18288" bIns="18288">
            <a:spAutoFit/>
          </a:bodyPr>
          <a:lstStyle/>
          <a:p>
            <a:pPr>
              <a:lnSpc>
                <a:spcPct val="114000"/>
              </a:lnSpc>
              <a:spcAft>
                <a:spcPts val="800"/>
              </a:spcAft>
              <a:defRPr sz="2100" b="1">
                <a:solidFill>
                  <a:srgbClr val="147D82"/>
                </a:solidFill>
                <a:latin typeface="맑은 고딕"/>
              </a:defRPr>
            </a:pPr>
            <a:r>
              <a:t>실험 계획</a:t>
            </a:r>
          </a:p>
        </p:txBody>
      </p:sp>
      <p:sp>
        <p:nvSpPr>
          <p:cNvPr id="20" name="TextBox 19"/>
          <p:cNvSpPr txBox="1"/>
          <p:nvPr/>
        </p:nvSpPr>
        <p:spPr>
          <a:xfrm>
            <a:off x="6409944" y="3282696"/>
            <a:ext cx="2286000" cy="274320"/>
          </a:xfrm>
          <a:prstGeom prst="rect">
            <a:avLst/>
          </a:prstGeom>
          <a:noFill/>
        </p:spPr>
        <p:txBody>
          <a:bodyPr wrap="square" lIns="18288" rIns="18288" tIns="18288" bIns="18288">
            <a:spAutoFit/>
          </a:bodyPr>
          <a:lstStyle/>
          <a:p>
            <a:pPr>
              <a:lnSpc>
                <a:spcPct val="114000"/>
              </a:lnSpc>
              <a:spcAft>
                <a:spcPts val="800"/>
              </a:spcAft>
              <a:defRPr sz="1300" b="0">
                <a:solidFill>
                  <a:srgbClr val="617681"/>
                </a:solidFill>
                <a:latin typeface="맑은 고딕"/>
              </a:defRPr>
            </a:pPr>
            <a:r>
              <a:t>모델·전처리·비교 범위</a:t>
            </a:r>
          </a:p>
        </p:txBody>
      </p:sp>
      <p:sp>
        <p:nvSpPr>
          <p:cNvPr id="21" name="TextBox 20"/>
          <p:cNvSpPr txBox="1"/>
          <p:nvPr/>
        </p:nvSpPr>
        <p:spPr>
          <a:xfrm>
            <a:off x="8833104" y="2944368"/>
            <a:ext cx="256032" cy="365760"/>
          </a:xfrm>
          <a:prstGeom prst="rect">
            <a:avLst/>
          </a:prstGeom>
          <a:noFill/>
        </p:spPr>
        <p:txBody>
          <a:bodyPr wrap="square" lIns="18288" rIns="18288" tIns="18288" bIns="18288">
            <a:spAutoFit/>
          </a:bodyPr>
          <a:lstStyle/>
          <a:p>
            <a:pPr>
              <a:lnSpc>
                <a:spcPct val="114000"/>
              </a:lnSpc>
              <a:spcAft>
                <a:spcPts val="800"/>
              </a:spcAft>
              <a:defRPr sz="1900" b="1">
                <a:solidFill>
                  <a:srgbClr val="147D82"/>
                </a:solidFill>
                <a:latin typeface="맑은 고딕"/>
              </a:defRPr>
            </a:pPr>
            <a:r>
              <a:t>→</a:t>
            </a:r>
          </a:p>
        </p:txBody>
      </p:sp>
      <p:sp>
        <p:nvSpPr>
          <p:cNvPr id="22" name="Rounded Rectangle 21"/>
          <p:cNvSpPr/>
          <p:nvPr/>
        </p:nvSpPr>
        <p:spPr>
          <a:xfrm>
            <a:off x="9089136" y="2670048"/>
            <a:ext cx="2532888" cy="1024128"/>
          </a:xfrm>
          <a:prstGeom prst="roundRect">
            <a:avLst>
              <a:gd name="adj" fmla="val 8000"/>
            </a:avLst>
          </a:prstGeom>
          <a:solidFill>
            <a:srgbClr val="E8F3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226296" y="2816352"/>
            <a:ext cx="2267712" cy="365760"/>
          </a:xfrm>
          <a:prstGeom prst="rect">
            <a:avLst/>
          </a:prstGeom>
          <a:noFill/>
        </p:spPr>
        <p:txBody>
          <a:bodyPr wrap="square" lIns="18288" rIns="18288" tIns="18288" bIns="18288">
            <a:spAutoFit/>
          </a:bodyPr>
          <a:lstStyle/>
          <a:p>
            <a:pPr>
              <a:lnSpc>
                <a:spcPct val="114000"/>
              </a:lnSpc>
              <a:spcAft>
                <a:spcPts val="800"/>
              </a:spcAft>
              <a:defRPr sz="2100" b="1">
                <a:solidFill>
                  <a:srgbClr val="147D82"/>
                </a:solidFill>
                <a:latin typeface="맑은 고딕"/>
              </a:defRPr>
            </a:pPr>
            <a:r>
              <a:t>엔지니어 승인</a:t>
            </a:r>
          </a:p>
        </p:txBody>
      </p:sp>
      <p:sp>
        <p:nvSpPr>
          <p:cNvPr id="24" name="TextBox 23"/>
          <p:cNvSpPr txBox="1"/>
          <p:nvPr/>
        </p:nvSpPr>
        <p:spPr>
          <a:xfrm>
            <a:off x="9226296" y="3282696"/>
            <a:ext cx="2286000" cy="274320"/>
          </a:xfrm>
          <a:prstGeom prst="rect">
            <a:avLst/>
          </a:prstGeom>
          <a:noFill/>
        </p:spPr>
        <p:txBody>
          <a:bodyPr wrap="square" lIns="18288" rIns="18288" tIns="18288" bIns="18288">
            <a:spAutoFit/>
          </a:bodyPr>
          <a:lstStyle/>
          <a:p>
            <a:pPr>
              <a:lnSpc>
                <a:spcPct val="114000"/>
              </a:lnSpc>
              <a:spcAft>
                <a:spcPts val="800"/>
              </a:spcAft>
              <a:defRPr sz="1300" b="0">
                <a:solidFill>
                  <a:srgbClr val="617681"/>
                </a:solidFill>
                <a:latin typeface="맑은 고딕"/>
              </a:defRPr>
            </a:pPr>
            <a:r>
              <a:t>확인 후 실행 허용</a:t>
            </a:r>
          </a:p>
        </p:txBody>
      </p:sp>
      <p:sp>
        <p:nvSpPr>
          <p:cNvPr id="25" name="Rounded Rectangle 24"/>
          <p:cNvSpPr/>
          <p:nvPr/>
        </p:nvSpPr>
        <p:spPr>
          <a:xfrm>
            <a:off x="640080" y="3986784"/>
            <a:ext cx="10927080" cy="777240"/>
          </a:xfrm>
          <a:prstGeom prst="roundRect">
            <a:avLst>
              <a:gd name="adj" fmla="val 8000"/>
            </a:avLst>
          </a:prstGeom>
          <a:solidFill>
            <a:srgbClr val="FFFFFF"/>
          </a:solidFill>
          <a:ln>
            <a:solidFill>
              <a:srgbClr val="D8E3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8" y="4169663"/>
            <a:ext cx="10515600" cy="411480"/>
          </a:xfrm>
          <a:prstGeom prst="rect">
            <a:avLst/>
          </a:prstGeom>
          <a:noFill/>
        </p:spPr>
        <p:txBody>
          <a:bodyPr wrap="square" lIns="18288" rIns="18288" tIns="18288" bIns="18288">
            <a:spAutoFit/>
          </a:bodyPr>
          <a:lstStyle/>
          <a:p>
            <a:pPr>
              <a:lnSpc>
                <a:spcPct val="114000"/>
              </a:lnSpc>
              <a:spcAft>
                <a:spcPts val="800"/>
              </a:spcAft>
              <a:defRPr sz="2200" b="1">
                <a:solidFill>
                  <a:srgbClr val="173A49"/>
                </a:solidFill>
                <a:latin typeface="맑은 고딕"/>
              </a:defRPr>
            </a:pPr>
            <a:r>
              <a:t>실험 엔진 학습·수치·순위 계산 → 결과 검토 역할이 근거 정리</a:t>
            </a:r>
          </a:p>
        </p:txBody>
      </p:sp>
      <p:sp>
        <p:nvSpPr>
          <p:cNvPr id="27" name="TextBox 26"/>
          <p:cNvSpPr txBox="1"/>
          <p:nvPr/>
        </p:nvSpPr>
        <p:spPr>
          <a:xfrm>
            <a:off x="731520" y="5084064"/>
            <a:ext cx="10698480" cy="365760"/>
          </a:xfrm>
          <a:prstGeom prst="rect">
            <a:avLst/>
          </a:prstGeom>
          <a:noFill/>
        </p:spPr>
        <p:txBody>
          <a:bodyPr wrap="square" lIns="18288" rIns="18288" tIns="18288" bIns="18288">
            <a:spAutoFit/>
          </a:bodyPr>
          <a:lstStyle/>
          <a:p>
            <a:pPr>
              <a:lnSpc>
                <a:spcPct val="114000"/>
              </a:lnSpc>
              <a:spcAft>
                <a:spcPts val="800"/>
              </a:spcAft>
              <a:defRPr sz="1900" b="1">
                <a:solidFill>
                  <a:srgbClr val="147D82"/>
                </a:solidFill>
                <a:latin typeface="맑은 고딕"/>
              </a:defRPr>
            </a:pPr>
            <a:r>
              <a:t>LangSmith: 실제 실행 추적 · API 재조회 확인</a:t>
            </a:r>
          </a:p>
        </p:txBody>
      </p:sp>
      <p:sp>
        <p:nvSpPr>
          <p:cNvPr id="28" name="TextBox 27"/>
          <p:cNvSpPr txBox="1"/>
          <p:nvPr/>
        </p:nvSpPr>
        <p:spPr>
          <a:xfrm>
            <a:off x="731520" y="5632704"/>
            <a:ext cx="10698480" cy="365760"/>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설명 검사(LLM-as-a-Judge): 6/8개 올바른 판단 · 코드 테스트 51개 통과</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10 · 성과와 교훈</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선택 근거와 검증 실패를 함께 남깁니다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10 / 14</a:t>
            </a:r>
          </a:p>
        </p:txBody>
      </p:sp>
      <p:sp>
        <p:nvSpPr>
          <p:cNvPr id="8" name="Rectangle 7"/>
          <p:cNvSpPr/>
          <p:nvPr/>
        </p:nvSpPr>
        <p:spPr>
          <a:xfrm>
            <a:off x="640080" y="197510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7510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성과: 승인된 모델·앙상블 비율 비교와 선택 근거를 한 흐름으로 연결</a:t>
            </a:r>
          </a:p>
        </p:txBody>
      </p:sp>
      <p:sp>
        <p:nvSpPr>
          <p:cNvPr id="10" name="Rectangle 9"/>
          <p:cNvSpPr/>
          <p:nvPr/>
        </p:nvSpPr>
        <p:spPr>
          <a:xfrm>
            <a:off x="640080" y="275234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75234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교훈: Validation에서 좋은 선택이 Test에서도 좋다는 보장은 없습니다.</a:t>
            </a:r>
          </a:p>
        </p:txBody>
      </p:sp>
      <p:sp>
        <p:nvSpPr>
          <p:cNvPr id="12" name="Rectangle 11"/>
          <p:cNvSpPr/>
          <p:nvPr/>
        </p:nvSpPr>
        <p:spPr>
          <a:xfrm>
            <a:off x="640080" y="352958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52958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한계: 합성 데이터·작은 불량 표본·반복 비교 → 현장 효과 미측정</a:t>
            </a:r>
          </a:p>
        </p:txBody>
      </p:sp>
      <p:sp>
        <p:nvSpPr>
          <p:cNvPr id="14" name="Rectangle 13"/>
          <p:cNvSpPr/>
          <p:nvPr/>
        </p:nvSpPr>
        <p:spPr>
          <a:xfrm>
            <a:off x="640080" y="430682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306824"/>
            <a:ext cx="10607040" cy="640080"/>
          </a:xfrm>
          <a:prstGeom prst="rect">
            <a:avLst/>
          </a:prstGeom>
          <a:noFill/>
        </p:spPr>
        <p:txBody>
          <a:bodyPr wrap="square" lIns="18288" rIns="18288" tIns="18288" bIns="18288">
            <a:spAutoFit/>
          </a:bodyPr>
          <a:lstStyle/>
          <a:p>
            <a:pPr>
              <a:lnSpc>
                <a:spcPct val="114000"/>
              </a:lnSpc>
              <a:spcAft>
                <a:spcPts val="800"/>
              </a:spcAft>
              <a:defRPr sz="2100" b="0">
                <a:solidFill>
                  <a:srgbClr val="173A49"/>
                </a:solidFill>
                <a:latin typeface="맑은 고딕"/>
              </a:defRPr>
            </a:pPr>
            <a:r>
              <a:t>개선: 현장 기준 합의 → 새 독립 데이터 검증 → 작업시간 절감 측정</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부록 A · 초기 전체 제품 Validation 비교</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비율을 섞기 전, 개별 모델 비교</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11 / 14  부록</a:t>
            </a:r>
          </a:p>
        </p:txBody>
      </p:sp>
      <p:sp>
        <p:nvSpPr>
          <p:cNvPr id="8" name="TextBox 7"/>
          <p:cNvSpPr txBox="1"/>
          <p:nvPr/>
        </p:nvSpPr>
        <p:spPr>
          <a:xfrm>
            <a:off x="640080" y="1847088"/>
            <a:ext cx="10972800" cy="402336"/>
          </a:xfrm>
          <a:prstGeom prst="rect">
            <a:avLst/>
          </a:prstGeom>
          <a:noFill/>
        </p:spPr>
        <p:txBody>
          <a:bodyPr wrap="square" lIns="18288" rIns="18288" tIns="18288" bIns="18288">
            <a:spAutoFit/>
          </a:bodyPr>
          <a:lstStyle/>
          <a:p>
            <a:pPr>
              <a:lnSpc>
                <a:spcPct val="114000"/>
              </a:lnSpc>
              <a:spcAft>
                <a:spcPts val="800"/>
              </a:spcAft>
              <a:defRPr sz="1500" b="0">
                <a:solidFill>
                  <a:srgbClr val="617681"/>
                </a:solidFill>
                <a:latin typeface="맑은 고딕"/>
              </a:defRPr>
            </a:pPr>
            <a:r>
              <a:t>전체 제품 Train의 24조건에서 알고리즘별 최선 불균형 설정을 표시합니다.</a:t>
            </a:r>
          </a:p>
        </p:txBody>
      </p:sp>
      <p:sp>
        <p:nvSpPr>
          <p:cNvPr id="9" name="TextBox 8"/>
          <p:cNvSpPr txBox="1"/>
          <p:nvPr/>
        </p:nvSpPr>
        <p:spPr>
          <a:xfrm>
            <a:off x="640080" y="2267712"/>
            <a:ext cx="10972800" cy="402336"/>
          </a:xfrm>
          <a:prstGeom prst="rect">
            <a:avLst/>
          </a:prstGeom>
          <a:noFill/>
        </p:spPr>
        <p:txBody>
          <a:bodyPr wrap="square" lIns="18288" rIns="18288" tIns="18288" bIns="18288">
            <a:spAutoFit/>
          </a:bodyPr>
          <a:lstStyle/>
          <a:p>
            <a:pPr>
              <a:lnSpc>
                <a:spcPct val="114000"/>
              </a:lnSpc>
              <a:spcAft>
                <a:spcPts val="800"/>
              </a:spcAft>
              <a:defRPr sz="1500" b="0">
                <a:solidFill>
                  <a:srgbClr val="617681"/>
                </a:solidFill>
                <a:latin typeface="맑은 고딕"/>
              </a:defRPr>
            </a:pPr>
            <a:r>
              <a:t>앙상블은 같은 학습 범위의 CatBoost·HistGradientBoosting·LightGBM으로 비교했습니다.</a:t>
            </a:r>
          </a:p>
        </p:txBody>
      </p:sp>
      <p:graphicFrame>
        <p:nvGraphicFramePr>
          <p:cNvPr id="10" name="Table 9"/>
          <p:cNvGraphicFramePr>
            <a:graphicFrameLocks noGrp="1"/>
          </p:cNvGraphicFramePr>
          <p:nvPr/>
        </p:nvGraphicFramePr>
        <p:xfrm>
          <a:off x="594360" y="2926080"/>
          <a:ext cx="11000231" cy="3145535"/>
        </p:xfrm>
        <a:graphic>
          <a:graphicData uri="http://schemas.openxmlformats.org/drawingml/2006/table">
            <a:tbl>
              <a:tblPr firstRow="1" bandRow="1">
                <a:tableStyleId>{5C22544A-7EE6-4342-B048-85BDC9FD1C3A}</a:tableStyleId>
              </a:tblPr>
              <a:tblGrid>
                <a:gridCol w="4050791"/>
                <a:gridCol w="1737360"/>
                <a:gridCol w="1737360"/>
                <a:gridCol w="1737360"/>
                <a:gridCol w="1737360"/>
              </a:tblGrid>
              <a:tr h="241964">
                <a:tc>
                  <a:txBody>
                    <a:bodyPr/>
                    <a:lstStyle/>
                    <a:p>
                      <a:pPr>
                        <a:defRPr sz="1200" b="1">
                          <a:solidFill>
                            <a:srgbClr val="FFFFFF"/>
                          </a:solidFill>
                          <a:latin typeface="맑은 고딕"/>
                        </a:defRPr>
                      </a:pPr>
                      <a:r>
                        <a:t>모델 · 전체 제품 학습</a:t>
                      </a:r>
                    </a:p>
                  </a:txBody>
                  <a:tcPr marL="118872" marR="91440" marT="64008" marB="54864" anchor="ctr">
                    <a:solidFill>
                      <a:srgbClr val="147D82"/>
                    </a:solidFill>
                  </a:tcPr>
                </a:tc>
                <a:tc>
                  <a:txBody>
                    <a:bodyPr/>
                    <a:lstStyle/>
                    <a:p>
                      <a:pPr>
                        <a:defRPr sz="1200" b="1">
                          <a:solidFill>
                            <a:srgbClr val="FFFFFF"/>
                          </a:solidFill>
                          <a:latin typeface="맑은 고딕"/>
                        </a:defRPr>
                      </a:pPr>
                      <a:r>
                        <a:t>불균형 설정</a:t>
                      </a:r>
                    </a:p>
                  </a:txBody>
                  <a:tcPr marL="118872" marR="91440" marT="64008" marB="54864" anchor="ctr">
                    <a:solidFill>
                      <a:srgbClr val="147D82"/>
                    </a:solidFill>
                  </a:tcPr>
                </a:tc>
                <a:tc>
                  <a:txBody>
                    <a:bodyPr/>
                    <a:lstStyle/>
                    <a:p>
                      <a:pPr>
                        <a:defRPr sz="1200" b="1">
                          <a:solidFill>
                            <a:srgbClr val="FFFFFF"/>
                          </a:solidFill>
                          <a:latin typeface="맑은 고딕"/>
                        </a:defRPr>
                      </a:pPr>
                      <a:r>
                        <a:t>검출률</a:t>
                      </a:r>
                    </a:p>
                  </a:txBody>
                  <a:tcPr marL="118872" marR="91440" marT="64008" marB="54864" anchor="ctr">
                    <a:solidFill>
                      <a:srgbClr val="147D82"/>
                    </a:solidFill>
                  </a:tcPr>
                </a:tc>
                <a:tc>
                  <a:txBody>
                    <a:bodyPr/>
                    <a:lstStyle/>
                    <a:p>
                      <a:pPr>
                        <a:defRPr sz="1200" b="1">
                          <a:solidFill>
                            <a:srgbClr val="FFFFFF"/>
                          </a:solidFill>
                          <a:latin typeface="맑은 고딕"/>
                        </a:defRPr>
                      </a:pPr>
                      <a:r>
                        <a:t>정상 오판률</a:t>
                      </a:r>
                    </a:p>
                  </a:txBody>
                  <a:tcPr marL="118872" marR="91440" marT="64008" marB="54864" anchor="ctr">
                    <a:solidFill>
                      <a:srgbClr val="147D82"/>
                    </a:solidFill>
                  </a:tcPr>
                </a:tc>
                <a:tc>
                  <a:txBody>
                    <a:bodyPr/>
                    <a:lstStyle/>
                    <a:p>
                      <a:pPr>
                        <a:defRPr sz="1200" b="1">
                          <a:solidFill>
                            <a:srgbClr val="FFFFFF"/>
                          </a:solidFill>
                          <a:latin typeface="맑은 고딕"/>
                        </a:defRPr>
                      </a:pPr>
                      <a:r>
                        <a:t>F1</a:t>
                      </a:r>
                    </a:p>
                  </a:txBody>
                  <a:tcPr marL="118872" marR="91440" marT="64008" marB="54864" anchor="ctr">
                    <a:solidFill>
                      <a:srgbClr val="147D82"/>
                    </a:solidFill>
                  </a:tcPr>
                </a:tc>
              </a:tr>
              <a:tr h="241964">
                <a:tc>
                  <a:txBody>
                    <a:bodyPr/>
                    <a:lstStyle/>
                    <a:p>
                      <a:pPr>
                        <a:defRPr sz="1200" b="0">
                          <a:solidFill>
                            <a:srgbClr val="173A49"/>
                          </a:solidFill>
                          <a:latin typeface="맑은 고딕"/>
                        </a:defRPr>
                      </a:pPr>
                      <a:r>
                        <a:t>CatBoost</a:t>
                      </a:r>
                    </a:p>
                  </a:txBody>
                  <a:tcPr marL="118872" marR="91440" marT="64008" marB="54864" anchor="ctr">
                    <a:solidFill>
                      <a:srgbClr val="FFFFFF"/>
                    </a:solidFill>
                  </a:tcPr>
                </a:tc>
                <a:tc>
                  <a:txBody>
                    <a:bodyPr/>
                    <a:lstStyle/>
                    <a:p>
                      <a:pPr>
                        <a:defRPr sz="1200" b="0">
                          <a:solidFill>
                            <a:srgbClr val="173A49"/>
                          </a:solidFill>
                          <a:latin typeface="맑은 고딕"/>
                        </a:defRPr>
                      </a:pPr>
                      <a:r>
                        <a:t>none</a:t>
                      </a:r>
                    </a:p>
                  </a:txBody>
                  <a:tcPr marL="118872" marR="91440" marT="64008" marB="54864" anchor="ctr">
                    <a:solidFill>
                      <a:srgbClr val="FFFFFF"/>
                    </a:solidFill>
                  </a:tcPr>
                </a:tc>
                <a:tc>
                  <a:txBody>
                    <a:bodyPr/>
                    <a:lstStyle/>
                    <a:p>
                      <a:pPr>
                        <a:defRPr sz="1200" b="0">
                          <a:solidFill>
                            <a:srgbClr val="173A49"/>
                          </a:solidFill>
                          <a:latin typeface="맑은 고딕"/>
                        </a:defRPr>
                      </a:pPr>
                      <a:r>
                        <a:t>100.0%</a:t>
                      </a:r>
                    </a:p>
                  </a:txBody>
                  <a:tcPr marL="118872" marR="91440" marT="64008" marB="54864" anchor="ctr">
                    <a:solidFill>
                      <a:srgbClr val="FFFFFF"/>
                    </a:solidFill>
                  </a:tcPr>
                </a:tc>
                <a:tc>
                  <a:txBody>
                    <a:bodyPr/>
                    <a:lstStyle/>
                    <a:p>
                      <a:pPr>
                        <a:defRPr sz="1200" b="0">
                          <a:solidFill>
                            <a:srgbClr val="173A49"/>
                          </a:solidFill>
                          <a:latin typeface="맑은 고딕"/>
                        </a:defRPr>
                      </a:pPr>
                      <a:r>
                        <a:t>9.3%</a:t>
                      </a:r>
                    </a:p>
                  </a:txBody>
                  <a:tcPr marL="118872" marR="91440" marT="64008" marB="54864" anchor="ctr">
                    <a:solidFill>
                      <a:srgbClr val="FFFFFF"/>
                    </a:solidFill>
                  </a:tcPr>
                </a:tc>
                <a:tc>
                  <a:txBody>
                    <a:bodyPr/>
                    <a:lstStyle/>
                    <a:p>
                      <a:pPr>
                        <a:defRPr sz="1200" b="0">
                          <a:solidFill>
                            <a:srgbClr val="173A49"/>
                          </a:solidFill>
                          <a:latin typeface="맑은 고딕"/>
                        </a:defRPr>
                      </a:pPr>
                      <a:r>
                        <a:t>80.8%</a:t>
                      </a:r>
                    </a:p>
                  </a:txBody>
                  <a:tcPr marL="118872" marR="91440" marT="64008" marB="54864" anchor="ctr">
                    <a:solidFill>
                      <a:srgbClr val="FFFFFF"/>
                    </a:solidFill>
                  </a:tcPr>
                </a:tc>
              </a:tr>
              <a:tr h="241964">
                <a:tc>
                  <a:txBody>
                    <a:bodyPr/>
                    <a:lstStyle/>
                    <a:p>
                      <a:pPr>
                        <a:defRPr sz="1200" b="0">
                          <a:solidFill>
                            <a:srgbClr val="173A49"/>
                          </a:solidFill>
                          <a:latin typeface="맑은 고딕"/>
                        </a:defRPr>
                      </a:pPr>
                      <a:r>
                        <a:t>HistGradientBoosting</a:t>
                      </a:r>
                    </a:p>
                  </a:txBody>
                  <a:tcPr marL="118872" marR="91440" marT="64008" marB="54864" anchor="ctr">
                    <a:solidFill>
                      <a:srgbClr val="E8F3F3"/>
                    </a:solidFill>
                  </a:tcPr>
                </a:tc>
                <a:tc>
                  <a:txBody>
                    <a:bodyPr/>
                    <a:lstStyle/>
                    <a:p>
                      <a:pPr>
                        <a:defRPr sz="1200" b="0">
                          <a:solidFill>
                            <a:srgbClr val="173A49"/>
                          </a:solidFill>
                          <a:latin typeface="맑은 고딕"/>
                        </a:defRPr>
                      </a:pPr>
                      <a:r>
                        <a:t>none</a:t>
                      </a:r>
                    </a:p>
                  </a:txBody>
                  <a:tcPr marL="118872" marR="91440" marT="64008" marB="54864" anchor="ctr">
                    <a:solidFill>
                      <a:srgbClr val="E8F3F3"/>
                    </a:solidFill>
                  </a:tcPr>
                </a:tc>
                <a:tc>
                  <a:txBody>
                    <a:bodyPr/>
                    <a:lstStyle/>
                    <a:p>
                      <a:pPr>
                        <a:defRPr sz="1200" b="0">
                          <a:solidFill>
                            <a:srgbClr val="173A49"/>
                          </a:solidFill>
                          <a:latin typeface="맑은 고딕"/>
                        </a:defRPr>
                      </a:pPr>
                      <a:r>
                        <a:t>100.0%</a:t>
                      </a:r>
                    </a:p>
                  </a:txBody>
                  <a:tcPr marL="118872" marR="91440" marT="64008" marB="54864" anchor="ctr">
                    <a:solidFill>
                      <a:srgbClr val="E8F3F3"/>
                    </a:solidFill>
                  </a:tcPr>
                </a:tc>
                <a:tc>
                  <a:txBody>
                    <a:bodyPr/>
                    <a:lstStyle/>
                    <a:p>
                      <a:pPr>
                        <a:defRPr sz="1200" b="0">
                          <a:solidFill>
                            <a:srgbClr val="173A49"/>
                          </a:solidFill>
                          <a:latin typeface="맑은 고딕"/>
                        </a:defRPr>
                      </a:pPr>
                      <a:r>
                        <a:t>10.3%</a:t>
                      </a:r>
                    </a:p>
                  </a:txBody>
                  <a:tcPr marL="118872" marR="91440" marT="64008" marB="54864" anchor="ctr">
                    <a:solidFill>
                      <a:srgbClr val="E8F3F3"/>
                    </a:solidFill>
                  </a:tcPr>
                </a:tc>
                <a:tc>
                  <a:txBody>
                    <a:bodyPr/>
                    <a:lstStyle/>
                    <a:p>
                      <a:pPr>
                        <a:defRPr sz="1200" b="0">
                          <a:solidFill>
                            <a:srgbClr val="173A49"/>
                          </a:solidFill>
                          <a:latin typeface="맑은 고딕"/>
                        </a:defRPr>
                      </a:pPr>
                      <a:r>
                        <a:t>79.2%</a:t>
                      </a:r>
                    </a:p>
                  </a:txBody>
                  <a:tcPr marL="118872" marR="91440" marT="64008" marB="54864" anchor="ctr">
                    <a:solidFill>
                      <a:srgbClr val="E8F3F3"/>
                    </a:solidFill>
                  </a:tcPr>
                </a:tc>
              </a:tr>
              <a:tr h="241964">
                <a:tc>
                  <a:txBody>
                    <a:bodyPr/>
                    <a:lstStyle/>
                    <a:p>
                      <a:pPr>
                        <a:defRPr sz="1200" b="0">
                          <a:solidFill>
                            <a:srgbClr val="173A49"/>
                          </a:solidFill>
                          <a:latin typeface="맑은 고딕"/>
                        </a:defRPr>
                      </a:pPr>
                      <a:r>
                        <a:t>LightGBM</a:t>
                      </a:r>
                    </a:p>
                  </a:txBody>
                  <a:tcPr marL="118872" marR="91440" marT="64008" marB="54864" anchor="ctr">
                    <a:solidFill>
                      <a:srgbClr val="FFFFFF"/>
                    </a:solidFill>
                  </a:tcPr>
                </a:tc>
                <a:tc>
                  <a:txBody>
                    <a:bodyPr/>
                    <a:lstStyle/>
                    <a:p>
                      <a:pPr>
                        <a:defRPr sz="1200" b="0">
                          <a:solidFill>
                            <a:srgbClr val="173A49"/>
                          </a:solidFill>
                          <a:latin typeface="맑은 고딕"/>
                        </a:defRPr>
                      </a:pPr>
                      <a:r>
                        <a:t>none</a:t>
                      </a:r>
                    </a:p>
                  </a:txBody>
                  <a:tcPr marL="118872" marR="91440" marT="64008" marB="54864" anchor="ctr">
                    <a:solidFill>
                      <a:srgbClr val="FFFFFF"/>
                    </a:solidFill>
                  </a:tcPr>
                </a:tc>
                <a:tc>
                  <a:txBody>
                    <a:bodyPr/>
                    <a:lstStyle/>
                    <a:p>
                      <a:pPr>
                        <a:defRPr sz="1200" b="0">
                          <a:solidFill>
                            <a:srgbClr val="173A49"/>
                          </a:solidFill>
                          <a:latin typeface="맑은 고딕"/>
                        </a:defRPr>
                      </a:pPr>
                      <a:r>
                        <a:t>100.0%</a:t>
                      </a:r>
                    </a:p>
                  </a:txBody>
                  <a:tcPr marL="118872" marR="91440" marT="64008" marB="54864" anchor="ctr">
                    <a:solidFill>
                      <a:srgbClr val="FFFFFF"/>
                    </a:solidFill>
                  </a:tcPr>
                </a:tc>
                <a:tc>
                  <a:txBody>
                    <a:bodyPr/>
                    <a:lstStyle/>
                    <a:p>
                      <a:pPr>
                        <a:defRPr sz="1200" b="0">
                          <a:solidFill>
                            <a:srgbClr val="173A49"/>
                          </a:solidFill>
                          <a:latin typeface="맑은 고딕"/>
                        </a:defRPr>
                      </a:pPr>
                      <a:r>
                        <a:t>10.7%</a:t>
                      </a:r>
                    </a:p>
                  </a:txBody>
                  <a:tcPr marL="118872" marR="91440" marT="64008" marB="54864" anchor="ctr">
                    <a:solidFill>
                      <a:srgbClr val="FFFFFF"/>
                    </a:solidFill>
                  </a:tcPr>
                </a:tc>
                <a:tc>
                  <a:txBody>
                    <a:bodyPr/>
                    <a:lstStyle/>
                    <a:p>
                      <a:pPr>
                        <a:defRPr sz="1200" b="0">
                          <a:solidFill>
                            <a:srgbClr val="173A49"/>
                          </a:solidFill>
                          <a:latin typeface="맑은 고딕"/>
                        </a:defRPr>
                      </a:pPr>
                      <a:r>
                        <a:t>78.5%</a:t>
                      </a:r>
                    </a:p>
                  </a:txBody>
                  <a:tcPr marL="118872" marR="91440" marT="64008" marB="54864" anchor="ctr">
                    <a:solidFill>
                      <a:srgbClr val="FFFFFF"/>
                    </a:solidFill>
                  </a:tcPr>
                </a:tc>
              </a:tr>
              <a:tr h="241964">
                <a:tc>
                  <a:txBody>
                    <a:bodyPr/>
                    <a:lstStyle/>
                    <a:p>
                      <a:pPr>
                        <a:defRPr sz="1200" b="0">
                          <a:solidFill>
                            <a:srgbClr val="173A49"/>
                          </a:solidFill>
                          <a:latin typeface="맑은 고딕"/>
                        </a:defRPr>
                      </a:pPr>
                      <a:r>
                        <a:t>XGBoost</a:t>
                      </a:r>
                    </a:p>
                  </a:txBody>
                  <a:tcPr marL="118872" marR="91440" marT="64008" marB="54864" anchor="ctr">
                    <a:solidFill>
                      <a:srgbClr val="E8F3F3"/>
                    </a:solidFill>
                  </a:tcPr>
                </a:tc>
                <a:tc>
                  <a:txBody>
                    <a:bodyPr/>
                    <a:lstStyle/>
                    <a:p>
                      <a:pPr>
                        <a:defRPr sz="1200" b="0">
                          <a:solidFill>
                            <a:srgbClr val="173A49"/>
                          </a:solidFill>
                          <a:latin typeface="맑은 고딕"/>
                        </a:defRPr>
                      </a:pPr>
                      <a:r>
                        <a:t>none</a:t>
                      </a:r>
                    </a:p>
                  </a:txBody>
                  <a:tcPr marL="118872" marR="91440" marT="64008" marB="54864" anchor="ctr">
                    <a:solidFill>
                      <a:srgbClr val="E8F3F3"/>
                    </a:solidFill>
                  </a:tcPr>
                </a:tc>
                <a:tc>
                  <a:txBody>
                    <a:bodyPr/>
                    <a:lstStyle/>
                    <a:p>
                      <a:pPr>
                        <a:defRPr sz="1200" b="0">
                          <a:solidFill>
                            <a:srgbClr val="173A49"/>
                          </a:solidFill>
                          <a:latin typeface="맑은 고딕"/>
                        </a:defRPr>
                      </a:pPr>
                      <a:r>
                        <a:t>100.0%</a:t>
                      </a:r>
                    </a:p>
                  </a:txBody>
                  <a:tcPr marL="118872" marR="91440" marT="64008" marB="54864" anchor="ctr">
                    <a:solidFill>
                      <a:srgbClr val="E8F3F3"/>
                    </a:solidFill>
                  </a:tcPr>
                </a:tc>
                <a:tc>
                  <a:txBody>
                    <a:bodyPr/>
                    <a:lstStyle/>
                    <a:p>
                      <a:pPr>
                        <a:defRPr sz="1200" b="0">
                          <a:solidFill>
                            <a:srgbClr val="173A49"/>
                          </a:solidFill>
                          <a:latin typeface="맑은 고딕"/>
                        </a:defRPr>
                      </a:pPr>
                      <a:r>
                        <a:t>11.2%</a:t>
                      </a:r>
                    </a:p>
                  </a:txBody>
                  <a:tcPr marL="118872" marR="91440" marT="64008" marB="54864" anchor="ctr">
                    <a:solidFill>
                      <a:srgbClr val="E8F3F3"/>
                    </a:solidFill>
                  </a:tcPr>
                </a:tc>
                <a:tc>
                  <a:txBody>
                    <a:bodyPr/>
                    <a:lstStyle/>
                    <a:p>
                      <a:pPr>
                        <a:defRPr sz="1200" b="0">
                          <a:solidFill>
                            <a:srgbClr val="173A49"/>
                          </a:solidFill>
                          <a:latin typeface="맑은 고딕"/>
                        </a:defRPr>
                      </a:pPr>
                      <a:r>
                        <a:t>77.8%</a:t>
                      </a:r>
                    </a:p>
                  </a:txBody>
                  <a:tcPr marL="118872" marR="91440" marT="64008" marB="54864" anchor="ctr">
                    <a:solidFill>
                      <a:srgbClr val="E8F3F3"/>
                    </a:solidFill>
                  </a:tcPr>
                </a:tc>
              </a:tr>
              <a:tr h="241964">
                <a:tc>
                  <a:txBody>
                    <a:bodyPr/>
                    <a:lstStyle/>
                    <a:p>
                      <a:pPr>
                        <a:defRPr sz="1200" b="0">
                          <a:solidFill>
                            <a:srgbClr val="173A49"/>
                          </a:solidFill>
                          <a:latin typeface="맑은 고딕"/>
                        </a:defRPr>
                      </a:pPr>
                      <a:r>
                        <a:t>Random Forest</a:t>
                      </a:r>
                    </a:p>
                  </a:txBody>
                  <a:tcPr marL="118872" marR="91440" marT="64008" marB="54864" anchor="ctr">
                    <a:solidFill>
                      <a:srgbClr val="FFFFFF"/>
                    </a:solidFill>
                  </a:tcPr>
                </a:tc>
                <a:tc>
                  <a:txBody>
                    <a:bodyPr/>
                    <a:lstStyle/>
                    <a:p>
                      <a:pPr>
                        <a:defRPr sz="1200" b="0">
                          <a:solidFill>
                            <a:srgbClr val="173A49"/>
                          </a:solidFill>
                          <a:latin typeface="맑은 고딕"/>
                        </a:defRPr>
                      </a:pPr>
                      <a:r>
                        <a:t>none</a:t>
                      </a:r>
                    </a:p>
                  </a:txBody>
                  <a:tcPr marL="118872" marR="91440" marT="64008" marB="54864" anchor="ctr">
                    <a:solidFill>
                      <a:srgbClr val="FFFFFF"/>
                    </a:solidFill>
                  </a:tcPr>
                </a:tc>
                <a:tc>
                  <a:txBody>
                    <a:bodyPr/>
                    <a:lstStyle/>
                    <a:p>
                      <a:pPr>
                        <a:defRPr sz="1200" b="0">
                          <a:solidFill>
                            <a:srgbClr val="173A49"/>
                          </a:solidFill>
                          <a:latin typeface="맑은 고딕"/>
                        </a:defRPr>
                      </a:pPr>
                      <a:r>
                        <a:t>100.0%</a:t>
                      </a:r>
                    </a:p>
                  </a:txBody>
                  <a:tcPr marL="118872" marR="91440" marT="64008" marB="54864" anchor="ctr">
                    <a:solidFill>
                      <a:srgbClr val="FFFFFF"/>
                    </a:solidFill>
                  </a:tcPr>
                </a:tc>
                <a:tc>
                  <a:txBody>
                    <a:bodyPr/>
                    <a:lstStyle/>
                    <a:p>
                      <a:pPr>
                        <a:defRPr sz="1200" b="0">
                          <a:solidFill>
                            <a:srgbClr val="173A49"/>
                          </a:solidFill>
                          <a:latin typeface="맑은 고딕"/>
                        </a:defRPr>
                      </a:pPr>
                      <a:r>
                        <a:t>13.1%</a:t>
                      </a:r>
                    </a:p>
                  </a:txBody>
                  <a:tcPr marL="118872" marR="91440" marT="64008" marB="54864" anchor="ctr">
                    <a:solidFill>
                      <a:srgbClr val="FFFFFF"/>
                    </a:solidFill>
                  </a:tcPr>
                </a:tc>
                <a:tc>
                  <a:txBody>
                    <a:bodyPr/>
                    <a:lstStyle/>
                    <a:p>
                      <a:pPr>
                        <a:defRPr sz="1200" b="0">
                          <a:solidFill>
                            <a:srgbClr val="173A49"/>
                          </a:solidFill>
                          <a:latin typeface="맑은 고딕"/>
                        </a:defRPr>
                      </a:pPr>
                      <a:r>
                        <a:t>75.0%</a:t>
                      </a:r>
                    </a:p>
                  </a:txBody>
                  <a:tcPr marL="118872" marR="91440" marT="64008" marB="54864" anchor="ctr">
                    <a:solidFill>
                      <a:srgbClr val="FFFFFF"/>
                    </a:solidFill>
                  </a:tcPr>
                </a:tc>
              </a:tr>
              <a:tr h="241964">
                <a:tc>
                  <a:txBody>
                    <a:bodyPr/>
                    <a:lstStyle/>
                    <a:p>
                      <a:pPr>
                        <a:defRPr sz="1200" b="0">
                          <a:solidFill>
                            <a:srgbClr val="173A49"/>
                          </a:solidFill>
                          <a:latin typeface="맑은 고딕"/>
                        </a:defRPr>
                      </a:pPr>
                      <a:r>
                        <a:t>AdaBoost</a:t>
                      </a:r>
                    </a:p>
                  </a:txBody>
                  <a:tcPr marL="118872" marR="91440" marT="64008" marB="54864" anchor="ctr">
                    <a:solidFill>
                      <a:srgbClr val="E8F3F3"/>
                    </a:solidFill>
                  </a:tcPr>
                </a:tc>
                <a:tc>
                  <a:txBody>
                    <a:bodyPr/>
                    <a:lstStyle/>
                    <a:p>
                      <a:pPr>
                        <a:defRPr sz="1200" b="0">
                          <a:solidFill>
                            <a:srgbClr val="173A49"/>
                          </a:solidFill>
                          <a:latin typeface="맑은 고딕"/>
                        </a:defRPr>
                      </a:pPr>
                      <a:r>
                        <a:t>none</a:t>
                      </a:r>
                    </a:p>
                  </a:txBody>
                  <a:tcPr marL="118872" marR="91440" marT="64008" marB="54864" anchor="ctr">
                    <a:solidFill>
                      <a:srgbClr val="E8F3F3"/>
                    </a:solidFill>
                  </a:tcPr>
                </a:tc>
                <a:tc>
                  <a:txBody>
                    <a:bodyPr/>
                    <a:lstStyle/>
                    <a:p>
                      <a:pPr>
                        <a:defRPr sz="1200" b="0">
                          <a:solidFill>
                            <a:srgbClr val="173A49"/>
                          </a:solidFill>
                          <a:latin typeface="맑은 고딕"/>
                        </a:defRPr>
                      </a:pPr>
                      <a:r>
                        <a:t>97.6%</a:t>
                      </a:r>
                    </a:p>
                  </a:txBody>
                  <a:tcPr marL="118872" marR="91440" marT="64008" marB="54864" anchor="ctr">
                    <a:solidFill>
                      <a:srgbClr val="E8F3F3"/>
                    </a:solidFill>
                  </a:tcPr>
                </a:tc>
                <a:tc>
                  <a:txBody>
                    <a:bodyPr/>
                    <a:lstStyle/>
                    <a:p>
                      <a:pPr>
                        <a:defRPr sz="1200" b="0">
                          <a:solidFill>
                            <a:srgbClr val="173A49"/>
                          </a:solidFill>
                          <a:latin typeface="맑은 고딕"/>
                        </a:defRPr>
                      </a:pPr>
                      <a:r>
                        <a:t>6.1%</a:t>
                      </a:r>
                    </a:p>
                  </a:txBody>
                  <a:tcPr marL="118872" marR="91440" marT="64008" marB="54864" anchor="ctr">
                    <a:solidFill>
                      <a:srgbClr val="E8F3F3"/>
                    </a:solidFill>
                  </a:tcPr>
                </a:tc>
                <a:tc>
                  <a:txBody>
                    <a:bodyPr/>
                    <a:lstStyle/>
                    <a:p>
                      <a:pPr>
                        <a:defRPr sz="1200" b="0">
                          <a:solidFill>
                            <a:srgbClr val="173A49"/>
                          </a:solidFill>
                          <a:latin typeface="맑은 고딕"/>
                        </a:defRPr>
                      </a:pPr>
                      <a:r>
                        <a:t>85.4%</a:t>
                      </a:r>
                    </a:p>
                  </a:txBody>
                  <a:tcPr marL="118872" marR="91440" marT="64008" marB="54864" anchor="ctr">
                    <a:solidFill>
                      <a:srgbClr val="E8F3F3"/>
                    </a:solidFill>
                  </a:tcPr>
                </a:tc>
              </a:tr>
              <a:tr h="241964">
                <a:tc>
                  <a:txBody>
                    <a:bodyPr/>
                    <a:lstStyle/>
                    <a:p>
                      <a:pPr>
                        <a:defRPr sz="1200" b="0">
                          <a:solidFill>
                            <a:srgbClr val="173A49"/>
                          </a:solidFill>
                          <a:latin typeface="맑은 고딕"/>
                        </a:defRPr>
                      </a:pPr>
                      <a:r>
                        <a:t>SVM (RBF)</a:t>
                      </a:r>
                    </a:p>
                  </a:txBody>
                  <a:tcPr marL="118872" marR="91440" marT="64008" marB="54864" anchor="ctr">
                    <a:solidFill>
                      <a:srgbClr val="FFFFFF"/>
                    </a:solidFill>
                  </a:tcPr>
                </a:tc>
                <a:tc>
                  <a:txBody>
                    <a:bodyPr/>
                    <a:lstStyle/>
                    <a:p>
                      <a:pPr>
                        <a:defRPr sz="1200" b="0">
                          <a:solidFill>
                            <a:srgbClr val="173A49"/>
                          </a:solidFill>
                          <a:latin typeface="맑은 고딕"/>
                        </a:defRPr>
                      </a:pPr>
                      <a:r>
                        <a:t>weighted</a:t>
                      </a:r>
                    </a:p>
                  </a:txBody>
                  <a:tcPr marL="118872" marR="91440" marT="64008" marB="54864" anchor="ctr">
                    <a:solidFill>
                      <a:srgbClr val="FFFFFF"/>
                    </a:solidFill>
                  </a:tcPr>
                </a:tc>
                <a:tc>
                  <a:txBody>
                    <a:bodyPr/>
                    <a:lstStyle/>
                    <a:p>
                      <a:pPr>
                        <a:defRPr sz="1200" b="0">
                          <a:solidFill>
                            <a:srgbClr val="173A49"/>
                          </a:solidFill>
                          <a:latin typeface="맑은 고딕"/>
                        </a:defRPr>
                      </a:pPr>
                      <a:r>
                        <a:t>97.6%</a:t>
                      </a:r>
                    </a:p>
                  </a:txBody>
                  <a:tcPr marL="118872" marR="91440" marT="64008" marB="54864" anchor="ctr">
                    <a:solidFill>
                      <a:srgbClr val="FFFFFF"/>
                    </a:solidFill>
                  </a:tcPr>
                </a:tc>
                <a:tc>
                  <a:txBody>
                    <a:bodyPr/>
                    <a:lstStyle/>
                    <a:p>
                      <a:pPr>
                        <a:defRPr sz="1200" b="0">
                          <a:solidFill>
                            <a:srgbClr val="173A49"/>
                          </a:solidFill>
                          <a:latin typeface="맑은 고딕"/>
                        </a:defRPr>
                      </a:pPr>
                      <a:r>
                        <a:t>10.7%</a:t>
                      </a:r>
                    </a:p>
                  </a:txBody>
                  <a:tcPr marL="118872" marR="91440" marT="64008" marB="54864" anchor="ctr">
                    <a:solidFill>
                      <a:srgbClr val="FFFFFF"/>
                    </a:solidFill>
                  </a:tcPr>
                </a:tc>
                <a:tc>
                  <a:txBody>
                    <a:bodyPr/>
                    <a:lstStyle/>
                    <a:p>
                      <a:pPr>
                        <a:defRPr sz="1200" b="0">
                          <a:solidFill>
                            <a:srgbClr val="173A49"/>
                          </a:solidFill>
                          <a:latin typeface="맑은 고딕"/>
                        </a:defRPr>
                      </a:pPr>
                      <a:r>
                        <a:t>77.4%</a:t>
                      </a:r>
                    </a:p>
                  </a:txBody>
                  <a:tcPr marL="118872" marR="91440" marT="64008" marB="54864" anchor="ctr">
                    <a:solidFill>
                      <a:srgbClr val="FFFFFF"/>
                    </a:solidFill>
                  </a:tcPr>
                </a:tc>
              </a:tr>
              <a:tr h="241964">
                <a:tc>
                  <a:txBody>
                    <a:bodyPr/>
                    <a:lstStyle/>
                    <a:p>
                      <a:pPr>
                        <a:defRPr sz="1200" b="0">
                          <a:solidFill>
                            <a:srgbClr val="173A49"/>
                          </a:solidFill>
                          <a:latin typeface="맑은 고딕"/>
                        </a:defRPr>
                      </a:pPr>
                      <a:r>
                        <a:t>Gradient Boosting</a:t>
                      </a:r>
                    </a:p>
                  </a:txBody>
                  <a:tcPr marL="118872" marR="91440" marT="64008" marB="54864" anchor="ctr">
                    <a:solidFill>
                      <a:srgbClr val="E8F3F3"/>
                    </a:solidFill>
                  </a:tcPr>
                </a:tc>
                <a:tc>
                  <a:txBody>
                    <a:bodyPr/>
                    <a:lstStyle/>
                    <a:p>
                      <a:pPr>
                        <a:defRPr sz="1200" b="0">
                          <a:solidFill>
                            <a:srgbClr val="173A49"/>
                          </a:solidFill>
                          <a:latin typeface="맑은 고딕"/>
                        </a:defRPr>
                      </a:pPr>
                      <a:r>
                        <a:t>none</a:t>
                      </a:r>
                    </a:p>
                  </a:txBody>
                  <a:tcPr marL="118872" marR="91440" marT="64008" marB="54864" anchor="ctr">
                    <a:solidFill>
                      <a:srgbClr val="E8F3F3"/>
                    </a:solidFill>
                  </a:tcPr>
                </a:tc>
                <a:tc>
                  <a:txBody>
                    <a:bodyPr/>
                    <a:lstStyle/>
                    <a:p>
                      <a:pPr>
                        <a:defRPr sz="1200" b="0">
                          <a:solidFill>
                            <a:srgbClr val="173A49"/>
                          </a:solidFill>
                          <a:latin typeface="맑은 고딕"/>
                        </a:defRPr>
                      </a:pPr>
                      <a:r>
                        <a:t>97.6%</a:t>
                      </a:r>
                    </a:p>
                  </a:txBody>
                  <a:tcPr marL="118872" marR="91440" marT="64008" marB="54864" anchor="ctr">
                    <a:solidFill>
                      <a:srgbClr val="E8F3F3"/>
                    </a:solidFill>
                  </a:tcPr>
                </a:tc>
                <a:tc>
                  <a:txBody>
                    <a:bodyPr/>
                    <a:lstStyle/>
                    <a:p>
                      <a:pPr>
                        <a:defRPr sz="1200" b="0">
                          <a:solidFill>
                            <a:srgbClr val="173A49"/>
                          </a:solidFill>
                          <a:latin typeface="맑은 고딕"/>
                        </a:defRPr>
                      </a:pPr>
                      <a:r>
                        <a:t>11.7%</a:t>
                      </a:r>
                    </a:p>
                  </a:txBody>
                  <a:tcPr marL="118872" marR="91440" marT="64008" marB="54864" anchor="ctr">
                    <a:solidFill>
                      <a:srgbClr val="E8F3F3"/>
                    </a:solidFill>
                  </a:tcPr>
                </a:tc>
                <a:tc>
                  <a:txBody>
                    <a:bodyPr/>
                    <a:lstStyle/>
                    <a:p>
                      <a:pPr>
                        <a:defRPr sz="1200" b="0">
                          <a:solidFill>
                            <a:srgbClr val="173A49"/>
                          </a:solidFill>
                          <a:latin typeface="맑은 고딕"/>
                        </a:defRPr>
                      </a:pPr>
                      <a:r>
                        <a:t>75.9%</a:t>
                      </a:r>
                    </a:p>
                  </a:txBody>
                  <a:tcPr marL="118872" marR="91440" marT="64008" marB="54864" anchor="ctr">
                    <a:solidFill>
                      <a:srgbClr val="E8F3F3"/>
                    </a:solidFill>
                  </a:tcPr>
                </a:tc>
              </a:tr>
              <a:tr h="241964">
                <a:tc>
                  <a:txBody>
                    <a:bodyPr/>
                    <a:lstStyle/>
                    <a:p>
                      <a:pPr>
                        <a:defRPr sz="1200" b="0">
                          <a:solidFill>
                            <a:srgbClr val="173A49"/>
                          </a:solidFill>
                          <a:latin typeface="맑은 고딕"/>
                        </a:defRPr>
                      </a:pPr>
                      <a:r>
                        <a:t>MLP / ANN</a:t>
                      </a:r>
                    </a:p>
                  </a:txBody>
                  <a:tcPr marL="118872" marR="91440" marT="64008" marB="54864" anchor="ctr">
                    <a:solidFill>
                      <a:srgbClr val="FFFFFF"/>
                    </a:solidFill>
                  </a:tcPr>
                </a:tc>
                <a:tc>
                  <a:txBody>
                    <a:bodyPr/>
                    <a:lstStyle/>
                    <a:p>
                      <a:pPr>
                        <a:defRPr sz="1200" b="0">
                          <a:solidFill>
                            <a:srgbClr val="173A49"/>
                          </a:solidFill>
                          <a:latin typeface="맑은 고딕"/>
                        </a:defRPr>
                      </a:pPr>
                      <a:r>
                        <a:t>none</a:t>
                      </a:r>
                    </a:p>
                  </a:txBody>
                  <a:tcPr marL="118872" marR="91440" marT="64008" marB="54864" anchor="ctr">
                    <a:solidFill>
                      <a:srgbClr val="FFFFFF"/>
                    </a:solidFill>
                  </a:tcPr>
                </a:tc>
                <a:tc>
                  <a:txBody>
                    <a:bodyPr/>
                    <a:lstStyle/>
                    <a:p>
                      <a:pPr>
                        <a:defRPr sz="1200" b="0">
                          <a:solidFill>
                            <a:srgbClr val="173A49"/>
                          </a:solidFill>
                          <a:latin typeface="맑은 고딕"/>
                        </a:defRPr>
                      </a:pPr>
                      <a:r>
                        <a:t>97.6%</a:t>
                      </a:r>
                    </a:p>
                  </a:txBody>
                  <a:tcPr marL="118872" marR="91440" marT="64008" marB="54864" anchor="ctr">
                    <a:solidFill>
                      <a:srgbClr val="FFFFFF"/>
                    </a:solidFill>
                  </a:tcPr>
                </a:tc>
                <a:tc>
                  <a:txBody>
                    <a:bodyPr/>
                    <a:lstStyle/>
                    <a:p>
                      <a:pPr>
                        <a:defRPr sz="1200" b="0">
                          <a:solidFill>
                            <a:srgbClr val="173A49"/>
                          </a:solidFill>
                          <a:latin typeface="맑은 고딕"/>
                        </a:defRPr>
                      </a:pPr>
                      <a:r>
                        <a:t>14.5%</a:t>
                      </a:r>
                    </a:p>
                  </a:txBody>
                  <a:tcPr marL="118872" marR="91440" marT="64008" marB="54864" anchor="ctr">
                    <a:solidFill>
                      <a:srgbClr val="FFFFFF"/>
                    </a:solidFill>
                  </a:tcPr>
                </a:tc>
                <a:tc>
                  <a:txBody>
                    <a:bodyPr/>
                    <a:lstStyle/>
                    <a:p>
                      <a:pPr>
                        <a:defRPr sz="1200" b="0">
                          <a:solidFill>
                            <a:srgbClr val="173A49"/>
                          </a:solidFill>
                          <a:latin typeface="맑은 고딕"/>
                        </a:defRPr>
                      </a:pPr>
                      <a:r>
                        <a:t>71.9%</a:t>
                      </a:r>
                    </a:p>
                  </a:txBody>
                  <a:tcPr marL="118872" marR="91440" marT="64008" marB="54864" anchor="ctr">
                    <a:solidFill>
                      <a:srgbClr val="FFFFFF"/>
                    </a:solidFill>
                  </a:tcPr>
                </a:tc>
              </a:tr>
              <a:tr h="241964">
                <a:tc>
                  <a:txBody>
                    <a:bodyPr/>
                    <a:lstStyle/>
                    <a:p>
                      <a:pPr>
                        <a:defRPr sz="1200" b="0">
                          <a:solidFill>
                            <a:srgbClr val="173A49"/>
                          </a:solidFill>
                          <a:latin typeface="맑은 고딕"/>
                        </a:defRPr>
                      </a:pPr>
                      <a:r>
                        <a:t>Decision Tree</a:t>
                      </a:r>
                    </a:p>
                  </a:txBody>
                  <a:tcPr marL="118872" marR="91440" marT="64008" marB="54864" anchor="ctr">
                    <a:solidFill>
                      <a:srgbClr val="E8F3F3"/>
                    </a:solidFill>
                  </a:tcPr>
                </a:tc>
                <a:tc>
                  <a:txBody>
                    <a:bodyPr/>
                    <a:lstStyle/>
                    <a:p>
                      <a:pPr>
                        <a:defRPr sz="1200" b="0">
                          <a:solidFill>
                            <a:srgbClr val="173A49"/>
                          </a:solidFill>
                          <a:latin typeface="맑은 고딕"/>
                        </a:defRPr>
                      </a:pPr>
                      <a:r>
                        <a:t>none</a:t>
                      </a:r>
                    </a:p>
                  </a:txBody>
                  <a:tcPr marL="118872" marR="91440" marT="64008" marB="54864" anchor="ctr">
                    <a:solidFill>
                      <a:srgbClr val="E8F3F3"/>
                    </a:solidFill>
                  </a:tcPr>
                </a:tc>
                <a:tc>
                  <a:txBody>
                    <a:bodyPr/>
                    <a:lstStyle/>
                    <a:p>
                      <a:pPr>
                        <a:defRPr sz="1200" b="0">
                          <a:solidFill>
                            <a:srgbClr val="173A49"/>
                          </a:solidFill>
                          <a:latin typeface="맑은 고딕"/>
                        </a:defRPr>
                      </a:pPr>
                      <a:r>
                        <a:t>92.9%</a:t>
                      </a:r>
                    </a:p>
                  </a:txBody>
                  <a:tcPr marL="118872" marR="91440" marT="64008" marB="54864" anchor="ctr">
                    <a:solidFill>
                      <a:srgbClr val="E8F3F3"/>
                    </a:solidFill>
                  </a:tcPr>
                </a:tc>
                <a:tc>
                  <a:txBody>
                    <a:bodyPr/>
                    <a:lstStyle/>
                    <a:p>
                      <a:pPr>
                        <a:defRPr sz="1200" b="0">
                          <a:solidFill>
                            <a:srgbClr val="173A49"/>
                          </a:solidFill>
                          <a:latin typeface="맑은 고딕"/>
                        </a:defRPr>
                      </a:pPr>
                      <a:r>
                        <a:t>8.4%</a:t>
                      </a:r>
                    </a:p>
                  </a:txBody>
                  <a:tcPr marL="118872" marR="91440" marT="64008" marB="54864" anchor="ctr">
                    <a:solidFill>
                      <a:srgbClr val="E8F3F3"/>
                    </a:solidFill>
                  </a:tcPr>
                </a:tc>
                <a:tc>
                  <a:txBody>
                    <a:bodyPr/>
                    <a:lstStyle/>
                    <a:p>
                      <a:pPr>
                        <a:defRPr sz="1200" b="0">
                          <a:solidFill>
                            <a:srgbClr val="173A49"/>
                          </a:solidFill>
                          <a:latin typeface="맑은 고딕"/>
                        </a:defRPr>
                      </a:pPr>
                      <a:r>
                        <a:t>78.8%</a:t>
                      </a:r>
                    </a:p>
                  </a:txBody>
                  <a:tcPr marL="118872" marR="91440" marT="64008" marB="54864" anchor="ctr">
                    <a:solidFill>
                      <a:srgbClr val="E8F3F3"/>
                    </a:solidFill>
                  </a:tcPr>
                </a:tc>
              </a:tr>
              <a:tr h="241964">
                <a:tc>
                  <a:txBody>
                    <a:bodyPr/>
                    <a:lstStyle/>
                    <a:p>
                      <a:pPr>
                        <a:defRPr sz="1200" b="0">
                          <a:solidFill>
                            <a:srgbClr val="173A49"/>
                          </a:solidFill>
                          <a:latin typeface="맑은 고딕"/>
                        </a:defRPr>
                      </a:pPr>
                      <a:r>
                        <a:t>KNN</a:t>
                      </a:r>
                    </a:p>
                  </a:txBody>
                  <a:tcPr marL="118872" marR="91440" marT="64008" marB="54864" anchor="ctr">
                    <a:solidFill>
                      <a:srgbClr val="FFFFFF"/>
                    </a:solidFill>
                  </a:tcPr>
                </a:tc>
                <a:tc>
                  <a:txBody>
                    <a:bodyPr/>
                    <a:lstStyle/>
                    <a:p>
                      <a:pPr>
                        <a:defRPr sz="1200" b="0">
                          <a:solidFill>
                            <a:srgbClr val="173A49"/>
                          </a:solidFill>
                          <a:latin typeface="맑은 고딕"/>
                        </a:defRPr>
                      </a:pPr>
                      <a:r>
                        <a:t>none</a:t>
                      </a:r>
                    </a:p>
                  </a:txBody>
                  <a:tcPr marL="118872" marR="91440" marT="64008" marB="54864" anchor="ctr">
                    <a:solidFill>
                      <a:srgbClr val="FFFFFF"/>
                    </a:solidFill>
                  </a:tcPr>
                </a:tc>
                <a:tc>
                  <a:txBody>
                    <a:bodyPr/>
                    <a:lstStyle/>
                    <a:p>
                      <a:pPr>
                        <a:defRPr sz="1200" b="0">
                          <a:solidFill>
                            <a:srgbClr val="173A49"/>
                          </a:solidFill>
                          <a:latin typeface="맑은 고딕"/>
                        </a:defRPr>
                      </a:pPr>
                      <a:r>
                        <a:t>92.9%</a:t>
                      </a:r>
                    </a:p>
                  </a:txBody>
                  <a:tcPr marL="118872" marR="91440" marT="64008" marB="54864" anchor="ctr">
                    <a:solidFill>
                      <a:srgbClr val="FFFFFF"/>
                    </a:solidFill>
                  </a:tcPr>
                </a:tc>
                <a:tc>
                  <a:txBody>
                    <a:bodyPr/>
                    <a:lstStyle/>
                    <a:p>
                      <a:pPr>
                        <a:defRPr sz="1200" b="0">
                          <a:solidFill>
                            <a:srgbClr val="173A49"/>
                          </a:solidFill>
                          <a:latin typeface="맑은 고딕"/>
                        </a:defRPr>
                      </a:pPr>
                      <a:r>
                        <a:t>11.2%</a:t>
                      </a:r>
                    </a:p>
                  </a:txBody>
                  <a:tcPr marL="118872" marR="91440" marT="64008" marB="54864" anchor="ctr">
                    <a:solidFill>
                      <a:srgbClr val="FFFFFF"/>
                    </a:solidFill>
                  </a:tcPr>
                </a:tc>
                <a:tc>
                  <a:txBody>
                    <a:bodyPr/>
                    <a:lstStyle/>
                    <a:p>
                      <a:pPr>
                        <a:defRPr sz="1200" b="0">
                          <a:solidFill>
                            <a:srgbClr val="173A49"/>
                          </a:solidFill>
                          <a:latin typeface="맑은 고딕"/>
                        </a:defRPr>
                      </a:pPr>
                      <a:r>
                        <a:t>74.3%</a:t>
                      </a:r>
                    </a:p>
                  </a:txBody>
                  <a:tcPr marL="118872" marR="91440" marT="64008" marB="54864" anchor="ctr">
                    <a:solidFill>
                      <a:srgbClr val="FFFFFF"/>
                    </a:solidFill>
                  </a:tcPr>
                </a:tc>
              </a:tr>
              <a:tr h="241967">
                <a:tc>
                  <a:txBody>
                    <a:bodyPr/>
                    <a:lstStyle/>
                    <a:p>
                      <a:pPr>
                        <a:defRPr sz="1200" b="0">
                          <a:solidFill>
                            <a:srgbClr val="173A49"/>
                          </a:solidFill>
                          <a:latin typeface="맑은 고딕"/>
                        </a:defRPr>
                      </a:pPr>
                      <a:r>
                        <a:t>Logistic Regression</a:t>
                      </a:r>
                    </a:p>
                  </a:txBody>
                  <a:tcPr marL="118872" marR="91440" marT="64008" marB="54864" anchor="ctr">
                    <a:solidFill>
                      <a:srgbClr val="E8F3F3"/>
                    </a:solidFill>
                  </a:tcPr>
                </a:tc>
                <a:tc>
                  <a:txBody>
                    <a:bodyPr/>
                    <a:lstStyle/>
                    <a:p>
                      <a:pPr>
                        <a:defRPr sz="1200" b="0">
                          <a:solidFill>
                            <a:srgbClr val="173A49"/>
                          </a:solidFill>
                          <a:latin typeface="맑은 고딕"/>
                        </a:defRPr>
                      </a:pPr>
                      <a:r>
                        <a:t>weighted</a:t>
                      </a:r>
                    </a:p>
                  </a:txBody>
                  <a:tcPr marL="118872" marR="91440" marT="64008" marB="54864" anchor="ctr">
                    <a:solidFill>
                      <a:srgbClr val="E8F3F3"/>
                    </a:solidFill>
                  </a:tcPr>
                </a:tc>
                <a:tc>
                  <a:txBody>
                    <a:bodyPr/>
                    <a:lstStyle/>
                    <a:p>
                      <a:pPr>
                        <a:defRPr sz="1200" b="0">
                          <a:solidFill>
                            <a:srgbClr val="173A49"/>
                          </a:solidFill>
                          <a:latin typeface="맑은 고딕"/>
                        </a:defRPr>
                      </a:pPr>
                      <a:r>
                        <a:t>90.5%</a:t>
                      </a:r>
                    </a:p>
                  </a:txBody>
                  <a:tcPr marL="118872" marR="91440" marT="64008" marB="54864" anchor="ctr">
                    <a:solidFill>
                      <a:srgbClr val="E8F3F3"/>
                    </a:solidFill>
                  </a:tcPr>
                </a:tc>
                <a:tc>
                  <a:txBody>
                    <a:bodyPr/>
                    <a:lstStyle/>
                    <a:p>
                      <a:pPr>
                        <a:defRPr sz="1200" b="0">
                          <a:solidFill>
                            <a:srgbClr val="173A49"/>
                          </a:solidFill>
                          <a:latin typeface="맑은 고딕"/>
                        </a:defRPr>
                      </a:pPr>
                      <a:r>
                        <a:t>18.7%</a:t>
                      </a:r>
                    </a:p>
                  </a:txBody>
                  <a:tcPr marL="118872" marR="91440" marT="64008" marB="54864" anchor="ctr">
                    <a:solidFill>
                      <a:srgbClr val="E8F3F3"/>
                    </a:solidFill>
                  </a:tcPr>
                </a:tc>
                <a:tc>
                  <a:txBody>
                    <a:bodyPr/>
                    <a:lstStyle/>
                    <a:p>
                      <a:pPr>
                        <a:defRPr sz="1200" b="0">
                          <a:solidFill>
                            <a:srgbClr val="173A49"/>
                          </a:solidFill>
                          <a:latin typeface="맑은 고딕"/>
                        </a:defRPr>
                      </a:pPr>
                      <a:r>
                        <a:t>63.3%</a:t>
                      </a:r>
                    </a:p>
                  </a:txBody>
                  <a:tcPr marL="118872" marR="91440" marT="64008" marB="54864" anchor="ctr">
                    <a:solidFill>
                      <a:srgbClr val="E8F3F3"/>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부록 B · 공식 문서 근거 | 저장된 실제 검색 기록의 UI 재현</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공식 문서에서 비교 후보를 추가할 수 있습니다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12 / 14  부록</a:t>
            </a:r>
          </a:p>
        </p:txBody>
      </p:sp>
      <p:sp>
        <p:nvSpPr>
          <p:cNvPr id="8" name="TextBox 7"/>
          <p:cNvSpPr txBox="1"/>
          <p:nvPr/>
        </p:nvSpPr>
        <p:spPr>
          <a:xfrm>
            <a:off x="658368" y="2057400"/>
            <a:ext cx="4526280" cy="804672"/>
          </a:xfrm>
          <a:prstGeom prst="rect">
            <a:avLst/>
          </a:prstGeom>
          <a:noFill/>
        </p:spPr>
        <p:txBody>
          <a:bodyPr wrap="square" lIns="18288" rIns="18288" tIns="18288" bIns="18288">
            <a:spAutoFit/>
          </a:bodyPr>
          <a:lstStyle/>
          <a:p>
            <a:pPr>
              <a:lnSpc>
                <a:spcPct val="114000"/>
              </a:lnSpc>
              <a:spcAft>
                <a:spcPts val="800"/>
              </a:spcAft>
              <a:defRPr sz="2200" b="1">
                <a:solidFill>
                  <a:srgbClr val="173A49"/>
                </a:solidFill>
                <a:latin typeface="맑은 고딕"/>
              </a:defRPr>
            </a:pPr>
            <a:r>
              <a:t>공식 문서 검색 → 근거를 Qwen에 전달</a:t>
            </a:r>
          </a:p>
        </p:txBody>
      </p:sp>
      <p:sp>
        <p:nvSpPr>
          <p:cNvPr id="9" name="TextBox 8"/>
          <p:cNvSpPr txBox="1"/>
          <p:nvPr/>
        </p:nvSpPr>
        <p:spPr>
          <a:xfrm>
            <a:off x="658368" y="2935224"/>
            <a:ext cx="4526280" cy="804672"/>
          </a:xfrm>
          <a:prstGeom prst="rect">
            <a:avLst/>
          </a:prstGeom>
          <a:noFill/>
        </p:spPr>
        <p:txBody>
          <a:bodyPr wrap="square" lIns="18288" rIns="18288" tIns="18288" bIns="18288">
            <a:spAutoFit/>
          </a:bodyPr>
          <a:lstStyle/>
          <a:p>
            <a:pPr>
              <a:lnSpc>
                <a:spcPct val="114000"/>
              </a:lnSpc>
              <a:spcAft>
                <a:spcPts val="800"/>
              </a:spcAft>
              <a:defRPr sz="1900" b="0">
                <a:solidFill>
                  <a:srgbClr val="617681"/>
                </a:solidFill>
                <a:latin typeface="맑은 고딕"/>
              </a:defRPr>
            </a:pPr>
            <a:r>
              <a:t>BGE-M3 임베딩 + FAISS 벡터 저장·검색</a:t>
            </a:r>
          </a:p>
        </p:txBody>
      </p:sp>
      <p:sp>
        <p:nvSpPr>
          <p:cNvPr id="10" name="TextBox 9"/>
          <p:cNvSpPr txBox="1"/>
          <p:nvPr/>
        </p:nvSpPr>
        <p:spPr>
          <a:xfrm>
            <a:off x="658368" y="3813048"/>
            <a:ext cx="4526280" cy="804672"/>
          </a:xfrm>
          <a:prstGeom prst="rect">
            <a:avLst/>
          </a:prstGeom>
          <a:noFill/>
        </p:spPr>
        <p:txBody>
          <a:bodyPr wrap="square" lIns="18288" rIns="18288" tIns="18288" bIns="18288">
            <a:spAutoFit/>
          </a:bodyPr>
          <a:lstStyle/>
          <a:p>
            <a:pPr>
              <a:lnSpc>
                <a:spcPct val="114000"/>
              </a:lnSpc>
              <a:spcAft>
                <a:spcPts val="800"/>
              </a:spcAft>
              <a:defRPr sz="1900" b="0">
                <a:solidFill>
                  <a:srgbClr val="617681"/>
                </a:solidFill>
                <a:latin typeface="맑은 고딕"/>
              </a:defRPr>
            </a:pPr>
            <a:r>
              <a:t>실제 학습 연결: ExtraTrees·GaussianNB 두 후보 · 계획 승인 후 비교</a:t>
            </a:r>
          </a:p>
        </p:txBody>
      </p:sp>
      <p:sp>
        <p:nvSpPr>
          <p:cNvPr id="11" name="Rounded Rectangle 10"/>
          <p:cNvSpPr/>
          <p:nvPr/>
        </p:nvSpPr>
        <p:spPr>
          <a:xfrm>
            <a:off x="5413248" y="1801367"/>
            <a:ext cx="5998464" cy="4306824"/>
          </a:xfrm>
          <a:prstGeom prst="roundRect">
            <a:avLst>
              <a:gd name="adj" fmla="val 8000"/>
            </a:avLst>
          </a:prstGeom>
          <a:solidFill>
            <a:srgbClr val="FFFFFF"/>
          </a:solidFill>
          <a:ln>
            <a:solidFill>
              <a:srgbClr val="D8E3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rag-proof.jpg"/>
          <p:cNvPicPr>
            <a:picLocks noChangeAspect="1"/>
          </p:cNvPicPr>
          <p:nvPr/>
        </p:nvPicPr>
        <p:blipFill>
          <a:blip r:embed="rId3"/>
          <a:stretch>
            <a:fillRect/>
          </a:stretch>
        </p:blipFill>
        <p:spPr>
          <a:xfrm>
            <a:off x="6231627" y="1874519"/>
            <a:ext cx="4361705" cy="416052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부록 C · 앙상블 선택 근거와 범위</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선택이 최적이라는 말은 어디까지인가요?</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13 / 14  부록</a:t>
            </a:r>
          </a:p>
        </p:txBody>
      </p:sp>
      <p:sp>
        <p:nvSpPr>
          <p:cNvPr id="8" name="Rectangle 7"/>
          <p:cNvSpPr/>
          <p:nvPr/>
        </p:nvSpPr>
        <p:spPr>
          <a:xfrm>
            <a:off x="640080" y="197510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7510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실험1: 알고리즘·설정 고정 → 제품 그룹15개 구성 비교</a:t>
            </a:r>
          </a:p>
        </p:txBody>
      </p:sp>
      <p:sp>
        <p:nvSpPr>
          <p:cNvPr id="10" name="Rectangle 9"/>
          <p:cNvSpPr/>
          <p:nvPr/>
        </p:nvSpPr>
        <p:spPr>
          <a:xfrm>
            <a:off x="640080" y="275234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75234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실험2: 학습 제품ABCD 고정 → 세 모델의 혼합 비율232개 비교</a:t>
            </a:r>
          </a:p>
        </p:txBody>
      </p:sp>
      <p:sp>
        <p:nvSpPr>
          <p:cNvPr id="12" name="Rectangle 11"/>
          <p:cNvSpPr/>
          <p:nvPr/>
        </p:nvSpPr>
        <p:spPr>
          <a:xfrm>
            <a:off x="640080" y="352958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52958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두 실험은 각각 조건을 통제했습니다. 그룹과 비율의 공동 전역 최적화가 아닙니다.</a:t>
            </a:r>
          </a:p>
        </p:txBody>
      </p:sp>
      <p:sp>
        <p:nvSpPr>
          <p:cNvPr id="14" name="Rectangle 13"/>
          <p:cNvSpPr/>
          <p:nvPr/>
        </p:nvSpPr>
        <p:spPr>
          <a:xfrm>
            <a:off x="640080" y="430682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430682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선택은 Validation에서, 선택 후 확인은 Test에서 수행했습니다.</a:t>
            </a:r>
          </a:p>
        </p:txBody>
      </p:sp>
      <p:sp>
        <p:nvSpPr>
          <p:cNvPr id="16" name="Rectangle 15"/>
          <p:cNvSpPr/>
          <p:nvPr/>
        </p:nvSpPr>
        <p:spPr>
          <a:xfrm>
            <a:off x="640080" y="5084064"/>
            <a:ext cx="50292" cy="512064"/>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5084064"/>
            <a:ext cx="10607040" cy="640080"/>
          </a:xfrm>
          <a:prstGeom prst="rect">
            <a:avLst/>
          </a:prstGeom>
          <a:noFill/>
        </p:spPr>
        <p:txBody>
          <a:bodyPr wrap="square" lIns="18288" rIns="18288" tIns="18288" bIns="18288">
            <a:spAutoFit/>
          </a:bodyPr>
          <a:lstStyle/>
          <a:p>
            <a:pPr>
              <a:lnSpc>
                <a:spcPct val="114000"/>
              </a:lnSpc>
              <a:spcAft>
                <a:spcPts val="800"/>
              </a:spcAft>
              <a:defRPr sz="1900" b="0">
                <a:solidFill>
                  <a:srgbClr val="173A49"/>
                </a:solidFill>
                <a:latin typeface="맑은 고딕"/>
              </a:defRPr>
            </a:pPr>
            <a:r>
              <a:t>기존 Test 재사용·작은 제품별 불량 표본 → 새 독립 기간 검증 필요</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A"/>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147D8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292608"/>
            <a:ext cx="10972800" cy="274320"/>
          </a:xfrm>
          <a:prstGeom prst="rect">
            <a:avLst/>
          </a:prstGeom>
          <a:noFill/>
        </p:spPr>
        <p:txBody>
          <a:bodyPr wrap="square" lIns="18288" rIns="18288" tIns="18288" bIns="18288">
            <a:spAutoFit/>
          </a:bodyPr>
          <a:lstStyle/>
          <a:p>
            <a:pPr>
              <a:lnSpc>
                <a:spcPct val="114000"/>
              </a:lnSpc>
              <a:spcAft>
                <a:spcPts val="800"/>
              </a:spcAft>
              <a:defRPr sz="1200" b="1">
                <a:solidFill>
                  <a:srgbClr val="147D82"/>
                </a:solidFill>
                <a:latin typeface="맑은 고딕"/>
              </a:defRPr>
            </a:pPr>
            <a:r>
              <a:t>부록 D · 실제 예시로 이해하기</a:t>
            </a:r>
          </a:p>
        </p:txBody>
      </p:sp>
      <p:sp>
        <p:nvSpPr>
          <p:cNvPr id="4" name="TextBox 3"/>
          <p:cNvSpPr txBox="1"/>
          <p:nvPr/>
        </p:nvSpPr>
        <p:spPr>
          <a:xfrm>
            <a:off x="594360" y="832104"/>
            <a:ext cx="10972800" cy="1005840"/>
          </a:xfrm>
          <a:prstGeom prst="rect">
            <a:avLst/>
          </a:prstGeom>
          <a:noFill/>
        </p:spPr>
        <p:txBody>
          <a:bodyPr wrap="square" lIns="18288" rIns="18288" tIns="18288" bIns="18288">
            <a:spAutoFit/>
          </a:bodyPr>
          <a:lstStyle/>
          <a:p>
            <a:pPr>
              <a:lnSpc>
                <a:spcPct val="114000"/>
              </a:lnSpc>
              <a:spcAft>
                <a:spcPts val="800"/>
              </a:spcAft>
              <a:defRPr sz="3200" b="1">
                <a:solidFill>
                  <a:srgbClr val="173A49"/>
                </a:solidFill>
                <a:latin typeface="맑은 고딕"/>
              </a:defRPr>
            </a:pPr>
            <a:r>
              <a:t>LLM-as-a-Judge: 설명이 맞는지 LLM이 검사합니다</a:t>
            </a:r>
          </a:p>
        </p:txBody>
      </p:sp>
      <p:sp>
        <p:nvSpPr>
          <p:cNvPr id="5" name="Rectangle 4"/>
          <p:cNvSpPr/>
          <p:nvPr/>
        </p:nvSpPr>
        <p:spPr>
          <a:xfrm>
            <a:off x="594360" y="6318504"/>
            <a:ext cx="11000232" cy="13716"/>
          </a:xfrm>
          <a:prstGeom prst="rect">
            <a:avLst/>
          </a:prstGeom>
          <a:solidFill>
            <a:srgbClr val="D8E3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419088"/>
            <a:ext cx="731520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SKALA 광주 2반 · G045 김용찬</a:t>
            </a:r>
          </a:p>
        </p:txBody>
      </p:sp>
      <p:sp>
        <p:nvSpPr>
          <p:cNvPr id="7" name="TextBox 6"/>
          <p:cNvSpPr txBox="1"/>
          <p:nvPr/>
        </p:nvSpPr>
        <p:spPr>
          <a:xfrm>
            <a:off x="10149840" y="6419088"/>
            <a:ext cx="1463040" cy="228600"/>
          </a:xfrm>
          <a:prstGeom prst="rect">
            <a:avLst/>
          </a:prstGeom>
          <a:noFill/>
        </p:spPr>
        <p:txBody>
          <a:bodyPr wrap="square" lIns="18288" rIns="18288" tIns="18288" bIns="18288">
            <a:spAutoFit/>
          </a:bodyPr>
          <a:lstStyle/>
          <a:p>
            <a:pPr>
              <a:lnSpc>
                <a:spcPct val="114000"/>
              </a:lnSpc>
              <a:spcAft>
                <a:spcPts val="800"/>
              </a:spcAft>
              <a:defRPr sz="1000" b="0">
                <a:solidFill>
                  <a:srgbClr val="617681"/>
                </a:solidFill>
                <a:latin typeface="맑은 고딕"/>
              </a:defRPr>
            </a:pPr>
            <a:r>
              <a:t>14 / 14  부록</a:t>
            </a:r>
          </a:p>
        </p:txBody>
      </p:sp>
      <p:sp>
        <p:nvSpPr>
          <p:cNvPr id="8" name="TextBox 7"/>
          <p:cNvSpPr txBox="1"/>
          <p:nvPr/>
        </p:nvSpPr>
        <p:spPr>
          <a:xfrm>
            <a:off x="640080" y="1847088"/>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검사용 기준: 이전 실험에서 불량27/32개 발견 · 목표90%에는 미달</a:t>
            </a:r>
          </a:p>
        </p:txBody>
      </p:sp>
      <p:sp>
        <p:nvSpPr>
          <p:cNvPr id="9" name="TextBox 8"/>
          <p:cNvSpPr txBox="1"/>
          <p:nvPr/>
        </p:nvSpPr>
        <p:spPr>
          <a:xfrm>
            <a:off x="640080" y="2267712"/>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실제 결과와 설명 문장을 주고 “맞는 설명인가?”를 물었습니다.</a:t>
            </a:r>
          </a:p>
        </p:txBody>
      </p:sp>
      <p:sp>
        <p:nvSpPr>
          <p:cNvPr id="10" name="TextBox 9"/>
          <p:cNvSpPr txBox="1"/>
          <p:nvPr/>
        </p:nvSpPr>
        <p:spPr>
          <a:xfrm>
            <a:off x="640080" y="2688336"/>
            <a:ext cx="10972800" cy="402336"/>
          </a:xfrm>
          <a:prstGeom prst="rect">
            <a:avLst/>
          </a:prstGeom>
          <a:noFill/>
        </p:spPr>
        <p:txBody>
          <a:bodyPr wrap="square" lIns="18288" rIns="18288" tIns="18288" bIns="18288">
            <a:spAutoFit/>
          </a:bodyPr>
          <a:lstStyle/>
          <a:p>
            <a:pPr>
              <a:lnSpc>
                <a:spcPct val="114000"/>
              </a:lnSpc>
              <a:spcAft>
                <a:spcPts val="800"/>
              </a:spcAft>
              <a:defRPr sz="1800" b="0">
                <a:solidFill>
                  <a:srgbClr val="617681"/>
                </a:solidFill>
                <a:latin typeface="맑은 고딕"/>
              </a:defRPr>
            </a:pPr>
            <a:r>
              <a:t>직접 만든 예제 8개 중 6개는 맞게 검사했고, 2개는 틀렸습니다.</a:t>
            </a:r>
          </a:p>
        </p:txBody>
      </p:sp>
      <p:graphicFrame>
        <p:nvGraphicFramePr>
          <p:cNvPr id="11" name="Table 10"/>
          <p:cNvGraphicFramePr>
            <a:graphicFrameLocks noGrp="1"/>
          </p:cNvGraphicFramePr>
          <p:nvPr/>
        </p:nvGraphicFramePr>
        <p:xfrm>
          <a:off x="594360" y="3346704"/>
          <a:ext cx="11000232" cy="2724911"/>
        </p:xfrm>
        <a:graphic>
          <a:graphicData uri="http://schemas.openxmlformats.org/drawingml/2006/table">
            <a:tbl>
              <a:tblPr firstRow="1" bandRow="1">
                <a:tableStyleId>{5C22544A-7EE6-4342-B048-85BDC9FD1C3A}</a:tableStyleId>
              </a:tblPr>
              <a:tblGrid>
                <a:gridCol w="4846320"/>
                <a:gridCol w="3017520"/>
                <a:gridCol w="3136392"/>
              </a:tblGrid>
              <a:tr h="681227">
                <a:tc>
                  <a:txBody>
                    <a:bodyPr/>
                    <a:lstStyle/>
                    <a:p>
                      <a:pPr>
                        <a:defRPr sz="1500" b="1">
                          <a:solidFill>
                            <a:srgbClr val="FFFFFF"/>
                          </a:solidFill>
                          <a:latin typeface="맑은 고딕"/>
                        </a:defRPr>
                      </a:pPr>
                      <a:r>
                        <a:t>검사할 설명</a:t>
                      </a:r>
                    </a:p>
                  </a:txBody>
                  <a:tcPr marL="118872" marR="91440" marT="64008" marB="54864" anchor="ctr">
                    <a:solidFill>
                      <a:srgbClr val="147D82"/>
                    </a:solidFill>
                  </a:tcPr>
                </a:tc>
                <a:tc>
                  <a:txBody>
                    <a:bodyPr/>
                    <a:lstStyle/>
                    <a:p>
                      <a:pPr>
                        <a:defRPr sz="1500" b="1">
                          <a:solidFill>
                            <a:srgbClr val="FFFFFF"/>
                          </a:solidFill>
                          <a:latin typeface="맑은 고딕"/>
                        </a:defRPr>
                      </a:pPr>
                      <a:r>
                        <a:t>맞는 판단</a:t>
                      </a:r>
                    </a:p>
                  </a:txBody>
                  <a:tcPr marL="118872" marR="91440" marT="64008" marB="54864" anchor="ctr">
                    <a:solidFill>
                      <a:srgbClr val="147D82"/>
                    </a:solidFill>
                  </a:tcPr>
                </a:tc>
                <a:tc>
                  <a:txBody>
                    <a:bodyPr/>
                    <a:lstStyle/>
                    <a:p>
                      <a:pPr>
                        <a:defRPr sz="1500" b="1">
                          <a:solidFill>
                            <a:srgbClr val="FFFFFF"/>
                          </a:solidFill>
                          <a:latin typeface="맑은 고딕"/>
                        </a:defRPr>
                      </a:pPr>
                      <a:r>
                        <a:t>LLM의 실제 답</a:t>
                      </a:r>
                    </a:p>
                  </a:txBody>
                  <a:tcPr marL="118872" marR="91440" marT="64008" marB="54864" anchor="ctr">
                    <a:solidFill>
                      <a:srgbClr val="147D82"/>
                    </a:solidFill>
                  </a:tcPr>
                </a:tc>
              </a:tr>
              <a:tr h="681227">
                <a:tc>
                  <a:txBody>
                    <a:bodyPr/>
                    <a:lstStyle/>
                    <a:p>
                      <a:pPr>
                        <a:defRPr sz="1500" b="0">
                          <a:solidFill>
                            <a:srgbClr val="173A49"/>
                          </a:solidFill>
                          <a:latin typeface="맑은 고딕"/>
                        </a:defRPr>
                      </a:pPr>
                      <a:r>
                        <a:t>“불량27개를 찾았고 목표에는 미달했다”</a:t>
                      </a:r>
                    </a:p>
                  </a:txBody>
                  <a:tcPr marL="118872" marR="91440" marT="64008" marB="54864" anchor="ctr">
                    <a:solidFill>
                      <a:srgbClr val="FFFFFF"/>
                    </a:solidFill>
                  </a:tcPr>
                </a:tc>
                <a:tc>
                  <a:txBody>
                    <a:bodyPr/>
                    <a:lstStyle/>
                    <a:p>
                      <a:pPr>
                        <a:defRPr sz="1500" b="0">
                          <a:solidFill>
                            <a:srgbClr val="173A49"/>
                          </a:solidFill>
                          <a:latin typeface="맑은 고딕"/>
                        </a:defRPr>
                      </a:pPr>
                      <a:r>
                        <a:t>맞는 설명</a:t>
                      </a:r>
                    </a:p>
                  </a:txBody>
                  <a:tcPr marL="118872" marR="91440" marT="64008" marB="54864" anchor="ctr">
                    <a:solidFill>
                      <a:srgbClr val="FFFFFF"/>
                    </a:solidFill>
                  </a:tcPr>
                </a:tc>
                <a:tc>
                  <a:txBody>
                    <a:bodyPr/>
                    <a:lstStyle/>
                    <a:p>
                      <a:pPr>
                        <a:defRPr sz="1500" b="0">
                          <a:solidFill>
                            <a:srgbClr val="173A49"/>
                          </a:solidFill>
                          <a:latin typeface="맑은 고딕"/>
                        </a:defRPr>
                      </a:pPr>
                      <a:r>
                        <a:t>맞다 · 올바른 검사</a:t>
                      </a:r>
                    </a:p>
                  </a:txBody>
                  <a:tcPr marL="118872" marR="91440" marT="64008" marB="54864" anchor="ctr">
                    <a:solidFill>
                      <a:srgbClr val="FFFFFF"/>
                    </a:solidFill>
                  </a:tcPr>
                </a:tc>
              </a:tr>
              <a:tr h="681227">
                <a:tc>
                  <a:txBody>
                    <a:bodyPr/>
                    <a:lstStyle/>
                    <a:p>
                      <a:pPr>
                        <a:defRPr sz="1500" b="0">
                          <a:solidFill>
                            <a:srgbClr val="173A49"/>
                          </a:solidFill>
                          <a:latin typeface="맑은 고딕"/>
                        </a:defRPr>
                      </a:pPr>
                      <a:r>
                        <a:t>“실제 공장 수율 증가가 입증됐다”</a:t>
                      </a:r>
                    </a:p>
                  </a:txBody>
                  <a:tcPr marL="118872" marR="91440" marT="64008" marB="54864" anchor="ctr">
                    <a:solidFill>
                      <a:srgbClr val="E8F3F3"/>
                    </a:solidFill>
                  </a:tcPr>
                </a:tc>
                <a:tc>
                  <a:txBody>
                    <a:bodyPr/>
                    <a:lstStyle/>
                    <a:p>
                      <a:pPr>
                        <a:defRPr sz="1500" b="0">
                          <a:solidFill>
                            <a:srgbClr val="173A49"/>
                          </a:solidFill>
                          <a:latin typeface="맑은 고딕"/>
                        </a:defRPr>
                      </a:pPr>
                      <a:r>
                        <a:t>근거 없는 설명</a:t>
                      </a:r>
                    </a:p>
                  </a:txBody>
                  <a:tcPr marL="118872" marR="91440" marT="64008" marB="54864" anchor="ctr">
                    <a:solidFill>
                      <a:srgbClr val="E8F3F3"/>
                    </a:solidFill>
                  </a:tcPr>
                </a:tc>
                <a:tc>
                  <a:txBody>
                    <a:bodyPr/>
                    <a:lstStyle/>
                    <a:p>
                      <a:pPr>
                        <a:defRPr sz="1500" b="0">
                          <a:solidFill>
                            <a:srgbClr val="173A49"/>
                          </a:solidFill>
                          <a:latin typeface="맑은 고딕"/>
                        </a:defRPr>
                      </a:pPr>
                      <a:r>
                        <a:t>틀리다 · 올바른 검사</a:t>
                      </a:r>
                    </a:p>
                  </a:txBody>
                  <a:tcPr marL="118872" marR="91440" marT="64008" marB="54864" anchor="ctr">
                    <a:solidFill>
                      <a:srgbClr val="E8F3F3"/>
                    </a:solidFill>
                  </a:tcPr>
                </a:tc>
              </a:tr>
              <a:tr h="681230">
                <a:tc>
                  <a:txBody>
                    <a:bodyPr/>
                    <a:lstStyle/>
                    <a:p>
                      <a:pPr>
                        <a:defRPr sz="1500" b="0">
                          <a:solidFill>
                            <a:srgbClr val="173A49"/>
                          </a:solidFill>
                          <a:latin typeface="맑은 고딕"/>
                        </a:defRPr>
                      </a:pPr>
                      <a:r>
                        <a:t>“불량30개를 발견했다”</a:t>
                      </a:r>
                    </a:p>
                  </a:txBody>
                  <a:tcPr marL="118872" marR="91440" marT="64008" marB="54864" anchor="ctr">
                    <a:solidFill>
                      <a:srgbClr val="FFFFFF"/>
                    </a:solidFill>
                  </a:tcPr>
                </a:tc>
                <a:tc>
                  <a:txBody>
                    <a:bodyPr/>
                    <a:lstStyle/>
                    <a:p>
                      <a:pPr>
                        <a:defRPr sz="1500" b="0">
                          <a:solidFill>
                            <a:srgbClr val="173A49"/>
                          </a:solidFill>
                          <a:latin typeface="맑은 고딕"/>
                        </a:defRPr>
                      </a:pPr>
                      <a:r>
                        <a:t>실제는27개 → 틀림</a:t>
                      </a:r>
                    </a:p>
                  </a:txBody>
                  <a:tcPr marL="118872" marR="91440" marT="64008" marB="54864" anchor="ctr">
                    <a:solidFill>
                      <a:srgbClr val="FFFFFF"/>
                    </a:solidFill>
                  </a:tcPr>
                </a:tc>
                <a:tc>
                  <a:txBody>
                    <a:bodyPr/>
                    <a:lstStyle/>
                    <a:p>
                      <a:pPr>
                        <a:defRPr sz="1500" b="0">
                          <a:solidFill>
                            <a:srgbClr val="173A49"/>
                          </a:solidFill>
                          <a:latin typeface="맑은 고딕"/>
                        </a:defRPr>
                      </a:pPr>
                      <a:r>
                        <a:t>맞다 · 검사가 틀림</a:t>
                      </a:r>
                    </a:p>
                  </a:txBody>
                  <a:tcPr marL="118872" marR="91440" marT="64008" marB="54864" anchor="ctr">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반도체 검사 모델 실험 도우미</dc:title>
  <dc:subject/>
  <dc:creator>SKALA 광주 2반 · G045 김용찬</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