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d7b3ed47aa5469b" /><Relationship Type="http://schemas.openxmlformats.org/officeDocument/2006/relationships/extended-properties" Target="/docProps/app.xml" Id="R47284c38b9e34e0c" /><Relationship Type="http://schemas.openxmlformats.org/officeDocument/2006/relationships/officeDocument" Target="/ppt/presentation.xml" Id="Re2a7004d6cad40fa" /></Relationships>
</file>

<file path=ppt/presentation.xml><?xml version="1.0" encoding="utf-8"?>
<p:presentation xmlns:p="http://schemas.openxmlformats.org/presentationml/2006/main">
  <p:sldMasterIdLst>
    <p:sldMasterId xmlns:r="http://schemas.openxmlformats.org/officeDocument/2006/relationships" id="2147483648" r:id="R776c15cf042f4549"/>
  </p:sldMasterIdLst>
  <p:notesMasterIdLst>
    <p:notesMasterId xmlns:r="http://schemas.openxmlformats.org/officeDocument/2006/relationships" r:id="Rd5f2cc38a8a04a65"/>
  </p:notesMasterIdLst>
  <p:sldIdLst>
    <p:sldId xmlns:r="http://schemas.openxmlformats.org/officeDocument/2006/relationships" id="256" r:id="Rd8d2e1c19b074340"/>
    <p:sldId xmlns:r="http://schemas.openxmlformats.org/officeDocument/2006/relationships" id="257" r:id="R9bc2536c5fe0421b"/>
    <p:sldId xmlns:r="http://schemas.openxmlformats.org/officeDocument/2006/relationships" id="258" r:id="R63ed216412e84493"/>
    <p:sldId xmlns:r="http://schemas.openxmlformats.org/officeDocument/2006/relationships" id="259" r:id="Rc2cf83b85a7c48ea"/>
    <p:sldId xmlns:r="http://schemas.openxmlformats.org/officeDocument/2006/relationships" id="260" r:id="Re4f84046edaa44bc"/>
    <p:sldId xmlns:r="http://schemas.openxmlformats.org/officeDocument/2006/relationships" id="261" r:id="R2c9ed9e0ebf24d38"/>
    <p:sldId xmlns:r="http://schemas.openxmlformats.org/officeDocument/2006/relationships" id="262" r:id="R51d6cd2caf334b7b"/>
    <p:sldId xmlns:r="http://schemas.openxmlformats.org/officeDocument/2006/relationships" id="263" r:id="R40695748aa5d4452"/>
    <p:sldId xmlns:r="http://schemas.openxmlformats.org/officeDocument/2006/relationships" id="264" r:id="Rf0fa69b9442947de"/>
    <p:sldId xmlns:r="http://schemas.openxmlformats.org/officeDocument/2006/relationships" id="265" r:id="R3fcbda0d2bd14b75"/>
    <p:sldId xmlns:r="http://schemas.openxmlformats.org/officeDocument/2006/relationships" id="266" r:id="Rb7b1c95c8f5046f1"/>
    <p:sldId xmlns:r="http://schemas.openxmlformats.org/officeDocument/2006/relationships" id="267" r:id="Ra6c9d3b96cf1492f"/>
    <p:sldId xmlns:r="http://schemas.openxmlformats.org/officeDocument/2006/relationships" id="268" r:id="R389746f9620442a3"/>
    <p:sldId xmlns:r="http://schemas.openxmlformats.org/officeDocument/2006/relationships" id="269" r:id="Rc8db8fedbb344b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a54707abbc049cb" /><Relationship Type="http://schemas.openxmlformats.org/officeDocument/2006/relationships/slideMaster" Target="/ppt/slideMasters/slideMaster1.xml" Id="R776c15cf042f4549" /><Relationship Type="http://schemas.openxmlformats.org/officeDocument/2006/relationships/notesMaster" Target="/ppt/notesMasters/notesMaster1.xml" Id="Rd5f2cc38a8a04a65" /><Relationship Type="http://schemas.openxmlformats.org/officeDocument/2006/relationships/presProps" Target="/ppt/presProps.xml" Id="Rb2f9f06526b84c33" /><Relationship Type="http://schemas.openxmlformats.org/officeDocument/2006/relationships/tableStyles" Target="/ppt/tableStyles.xml" Id="Ref63c32387af4546" /><Relationship Type="http://schemas.openxmlformats.org/officeDocument/2006/relationships/slide" Target="/ppt/slides/slide1.xml" Id="Rd8d2e1c19b074340" /><Relationship Type="http://schemas.openxmlformats.org/officeDocument/2006/relationships/slide" Target="/ppt/slides/slide2.xml" Id="R9bc2536c5fe0421b" /><Relationship Type="http://schemas.openxmlformats.org/officeDocument/2006/relationships/slide" Target="/ppt/slides/slide3.xml" Id="R63ed216412e84493" /><Relationship Type="http://schemas.openxmlformats.org/officeDocument/2006/relationships/slide" Target="/ppt/slides/slide4.xml" Id="Rc2cf83b85a7c48ea" /><Relationship Type="http://schemas.openxmlformats.org/officeDocument/2006/relationships/slide" Target="/ppt/slides/slide5.xml" Id="Re4f84046edaa44bc" /><Relationship Type="http://schemas.openxmlformats.org/officeDocument/2006/relationships/slide" Target="/ppt/slides/slide6.xml" Id="R2c9ed9e0ebf24d38" /><Relationship Type="http://schemas.openxmlformats.org/officeDocument/2006/relationships/slide" Target="/ppt/slides/slide7.xml" Id="R51d6cd2caf334b7b" /><Relationship Type="http://schemas.openxmlformats.org/officeDocument/2006/relationships/slide" Target="/ppt/slides/slide8.xml" Id="R40695748aa5d4452" /><Relationship Type="http://schemas.openxmlformats.org/officeDocument/2006/relationships/slide" Target="/ppt/slides/slide9.xml" Id="Rf0fa69b9442947de" /><Relationship Type="http://schemas.openxmlformats.org/officeDocument/2006/relationships/slide" Target="/ppt/slides/slide10.xml" Id="R3fcbda0d2bd14b75" /><Relationship Type="http://schemas.openxmlformats.org/officeDocument/2006/relationships/slide" Target="/ppt/slides/slide11.xml" Id="Rb7b1c95c8f5046f1" /><Relationship Type="http://schemas.openxmlformats.org/officeDocument/2006/relationships/slide" Target="/ppt/slides/slide12.xml" Id="Ra6c9d3b96cf1492f" /><Relationship Type="http://schemas.openxmlformats.org/officeDocument/2006/relationships/slide" Target="/ppt/slides/slide13.xml" Id="R389746f9620442a3" /><Relationship Type="http://schemas.openxmlformats.org/officeDocument/2006/relationships/slide" Target="/ppt/slides/slide14.xml" Id="Rc8db8fedbb344b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3c065e5dd4464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d197b52e6a422f" /><Relationship Type="http://schemas.openxmlformats.org/officeDocument/2006/relationships/notesMaster" Target="/ppt/notesMasters/notesMaster1.xml" Id="Ra410e1b5642346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4bdab5d63a724dfe" /><Relationship Type="http://schemas.openxmlformats.org/officeDocument/2006/relationships/notesMaster" Target="/ppt/notesMasters/notesMaster1.xml" Id="Re214af6c6a8a4dec" /></Relationships>
</file>

<file path=ppt/notesSlides/_rels/notesSlide3.xml.rels>&#65279;<?xml version="1.0" encoding="utf-8"?><Relationships xmlns="http://schemas.openxmlformats.org/package/2006/relationships"><Relationship Type="http://schemas.openxmlformats.org/officeDocument/2006/relationships/slide" Target="/ppt/slides/slide3.xml" Id="R45b206f92296415a" /><Relationship Type="http://schemas.openxmlformats.org/officeDocument/2006/relationships/notesMaster" Target="/ppt/notesMasters/notesMaster1.xml" Id="R46f76821b14a4bd8"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7295e047e146f1" /><Relationship Type="http://schemas.openxmlformats.org/officeDocument/2006/relationships/notesMaster" Target="/ppt/notesMasters/notesMaster1.xml" Id="R10702f4f477445d1" /></Relationships>
</file>

<file path=ppt/notesSlides/_rels/notesSlide5.xml.rels>&#65279;<?xml version="1.0" encoding="utf-8"?><Relationships xmlns="http://schemas.openxmlformats.org/package/2006/relationships"><Relationship Type="http://schemas.openxmlformats.org/officeDocument/2006/relationships/slide" Target="/ppt/slides/slide5.xml" Id="Rf030072654b44861" /><Relationship Type="http://schemas.openxmlformats.org/officeDocument/2006/relationships/notesMaster" Target="/ppt/notesMasters/notesMaster1.xml" Id="Ra0dd0e6cc90d45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bf18606c819f4374" /><Relationship Type="http://schemas.openxmlformats.org/officeDocument/2006/relationships/notesMaster" Target="/ppt/notesMasters/notesMaster1.xml" Id="R9f47ce1f7a0041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33411803514900" /><Relationship Type="http://schemas.openxmlformats.org/officeDocument/2006/relationships/notesMaster" Target="/ppt/notesMasters/notesMaster1.xml" Id="R3e0b2310b31042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e7088058052f4e02" /><Relationship Type="http://schemas.openxmlformats.org/officeDocument/2006/relationships/notesMaster" Target="/ppt/notesMasters/notesMaster1.xml" Id="R17cda26d91f74a11" /></Relationships>
</file>

<file path=ppt/notesSlides/_rels/notesSlide9.xml.rels>&#65279;<?xml version="1.0" encoding="utf-8"?><Relationships xmlns="http://schemas.openxmlformats.org/package/2006/relationships"><Relationship Type="http://schemas.openxmlformats.org/officeDocument/2006/relationships/slide" Target="/ppt/slides/slide9.xml" Id="R1d7eb8d714924f40" /><Relationship Type="http://schemas.openxmlformats.org/officeDocument/2006/relationships/notesMaster" Target="/ppt/notesMasters/notesMaster1.xml" Id="R1dba073ac18a4ec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12f17b1c0b945d9" /><Relationship Type="http://schemas.openxmlformats.org/officeDocument/2006/relationships/notesMaster" Target="/ppt/notesMasters/notesMaster1.xml" Id="R4ada6fb67063416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5d173b7c1cb44ba" /><Relationship Type="http://schemas.openxmlformats.org/officeDocument/2006/relationships/notesMaster" Target="/ppt/notesMasters/notesMaster1.xml" Id="R20124a471c134a7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212a6cfeec4415" /><Relationship Type="http://schemas.openxmlformats.org/officeDocument/2006/relationships/notesMaster" Target="/ppt/notesMasters/notesMaster1.xml" Id="R8d6c387b3c5a4ab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cb91f2b4db148ed" /><Relationship Type="http://schemas.openxmlformats.org/officeDocument/2006/relationships/notesMaster" Target="/ppt/notesMasters/notesMaster1.xml" Id="R39d7ae65e910443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c266b0758d64f8d" /><Relationship Type="http://schemas.openxmlformats.org/officeDocument/2006/relationships/notesMaster" Target="/ppt/notesMasters/notesMaster1.xml" Id="Re8829467a64745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G045 김용찬입니다. 제 프로젝트는 엔지니어가 검사 모델을 비교하고 관리하는 일을 돕는 Agent입니다. 불량을 더 찾는 효과와 정상 제품의 불필요한 검사 부담을 함께 보여주고, 새 데이터에서 재학습이 필요한지도 제안합니다.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먼저 용어를 설명하겠습니다. 불량 열 개 중 여덟 개를 찾으면 불량 발견 비율, Recall은 80%입니다. 정상 백 개 중 다섯 개를 잘못 의심하면 정상 추가검사 비율, FPR은 5%입니다. 정상 추가검사 허용 15%는 정상 백 개 중 최대 열다섯 개라는 뜻입니다. 두 비율의 분모가 다릅니다.</a:t>
            </a:r>
          </a:p>
          <a:p xmlns:a="http://schemas.openxmlformats.org/drawingml/2006/main">
            <a:r>
              <a:t/>
            </a:r>
          </a:p>
          <a:p xmlns:a="http://schemas.openxmlformats.org/drawingml/2006/main">
            <a:r>
              <a:t>근거: 설명용 예시. https://scikit-learn.org/stable/modules/generated/sklearn.metrics.confusion_matrix.html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Agent는 데이터 상태를 점검하고 근거를 검색해서 비교 계획을 만듭니다. 엔지니어가 기준과 실험 수를 확인한 뒤 승인하면 학습을 실행합니다. 결과가 기준에 못 미치면 보류합니다. 승인 기록과 모델 파일도 저장합니다. 현장 운영 모델을 자동 교체하지는 않습니다.</a:t>
            </a:r>
          </a:p>
          <a:p xmlns:a="http://schemas.openxmlformats.org/drawingml/2006/main">
            <a:r>
              <a:t/>
            </a:r>
          </a:p>
          <a:p xmlns:a="http://schemas.openxmlformats.org/drawingml/2006/main">
            <a:r>
              <a:t>근거: app/planner.py, app/advisors.py, app/store.py, app/workbench.py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기능은 왜 이런 전처리를 하고 모델을 썼는지도 설명합니다. 센서의 결측은 학습 데이터의 중앙값으로 채웁니다. KNN과 SVM처럼 거리와 단위에 영향을 받는 모델에는 표준화를 적용합니다. 트리 모델은 단위 표준화가 필수는 아닙니다. 불량이 적으면 가중치나 학습 데이터 안에서의 복제를 비교합니다. 평가 데이터는 바꾸지 않습니다.</a:t>
            </a:r>
          </a:p>
          <a:p xmlns:a="http://schemas.openxmlformats.org/drawingml/2006/main">
            <a:r>
              <a:t/>
            </a:r>
          </a:p>
          <a:p xmlns:a="http://schemas.openxmlformats.org/drawingml/2006/main">
            <a:r>
              <a:t>근거: docs/CURRICULUM_MODELS.md, app/catalog.py. Day1 PDF51쪽, Day2 PDF21~42쪽. https://scikit-learn.org/stable/modules/preprocessing.html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스칼라 Day1의 트리와 부스팅, Day2의 KNN과 SVM, Day3의 신경망을 후보로 넣었습니다. 먼저 전체 제품에서 열두 모델과 두 불균형 정책을 비교합니다. 그중 validation 상위 두 모델의 제품 조합을 더 비교해 최대 쉰두 조건을 학습합니다. 모든 조합의 완전탐색은 아닙니다. 이번 합성 예제는 SVM을 선택했지만 최종 기준을 넘어서 적용은 보류했습니다.</a:t>
            </a:r>
          </a:p>
          <a:p xmlns:a="http://schemas.openxmlformats.org/drawingml/2006/main">
            <a:r>
              <a:t/>
            </a:r>
          </a:p>
          <a:p xmlns:a="http://schemas.openxmlformats.org/drawingml/2006/main">
            <a:r>
              <a:t>근거: docs/evaluation/synthetic_process.json. 전체제품24조건 후 validation 상위 서로 다른 두 모델을15조합으로 확장, 총52조건. 같은 validation 반복 사용의 선택 편향 가능.</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생산 천 개 중 불량 백 개라는 가정으로 결과를 읽어보겠습니다. 기본 모델은 불량 60개, 선택 모델은 96개를 찾아 36개를 더 발견합니다. 대신 정상 제품 추가검사는 약 134.7개 늘어납니다. 미검출 한 개 십만 원, 정상 추가검사 한 개 천 원이라는 비용 가정에서는 손실이 약 346.5만 원 줄어듭니다. 실제 이익을 측정한 결과는 아니며 검사 부담 기준 초과로 적용은 보류했습니다.</a:t>
            </a:r>
          </a:p>
          <a:p xmlns:a="http://schemas.openxmlformats.org/drawingml/2006/main">
            <a:r>
              <a:t/>
            </a:r>
          </a:p>
          <a:p xmlns:a="http://schemas.openxmlformats.org/drawingml/2006/main">
            <a:r>
              <a:t>근거: docs/evaluation/presentation_cases.json. 합성 test192개 중 불량25개. 기본 logistic threshold0.5와 선택 SVM+calibration threshold의 전체 절차 비교.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불량을 찾는 것만으로 제조 수율이 오르지는 않습니다. 발견한 불량의 20%를 재작업으로 정상화할 수 있다는 추가 가정을 넣으면, 기본 모델보다 양품 7.2개를 더 회수합니다. 재작업 후 양품 비율은 91.20%에서 91.92%로 0.72%포인트 오릅니다. 실제 반도체 결함을 이 비율로 재작업할 수 있는지는 확인하지 않았습니다.</a:t>
            </a:r>
          </a:p>
          <a:p xmlns:a="http://schemas.openxmlformats.org/drawingml/2006/main">
            <a:r>
              <a:t/>
            </a:r>
          </a:p>
          <a:p xmlns:a="http://schemas.openxmlformats.org/drawingml/2006/main">
            <a:r>
              <a:t>근거: app/impact.py, docs/evaluation/presentation_cases.json. 재작업 가능성은 미검증이며 제조 수율과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공개 데이터인 SECOM도 비교했습니다. 불량 발견 비율은 6.7%에서 93.3%로 올랐지만 정상 추가검사 비율이 88.8%입니다. 대부분의 정상 제품도 다시 검사해야 한다는 뜻입니다. calibration과 validation 기준을 동시에 만족한 후보도 없고 test 불량은 열다섯 개뿐입니다. 따라서 성능이 좋다고 포장하지 않고 보류 사례로 보고합니다.</a:t>
            </a:r>
          </a:p>
          <a:p xmlns:a="http://schemas.openxmlformats.org/drawingml/2006/main">
            <a:r>
              <a:t/>
            </a:r>
          </a:p>
          <a:p xmlns:a="http://schemas.openxmlformats.org/drawingml/2006/main">
            <a:r>
              <a:t>근거: https://archive.ics.uci.edu/dataset/179/secom, docs/evaluation/secom.json. 24조건, test264개 중 불량15개. selection_feasible=false.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새로운 독립 합성 배치에서는 불량 발생 규칙을 바꿨습니다. 기존 모델의 불량 발견 비율이 이전 test의 96.0%에서 새 train 점검의 39.2%로 내려갔습니다. Agent는 재학습을 제안하고 승인 후 공통 모델과 제품 전용 모델을 생성합니다. 서로 다른 배치의 비교이며 10%포인트 하락 같은 기준은 개발용 규칙입니다.</a:t>
            </a:r>
          </a:p>
          <a:p xmlns:a="http://schemas.openxmlformats.org/drawingml/2006/main">
            <a:r>
              <a:t/>
            </a:r>
          </a:p>
          <a:p xmlns:a="http://schemas.openxmlformats.org/drawingml/2006/main">
            <a:r>
              <a:t>근거: docs/evaluation/model_management.json. 독립 합성3840행480lot, seed1045, 새 train에서 기존 모델점검. 이전test와 서로 다른 배치 비교.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학습 데이터를 합치는 것이 항상 좋지는 않습니다. 같은 제품의 같은 validation 데이터로 공통 모델과 제품 전용 모델을 비교했습니다. A는 공통, C는 전용을 권고했고 B와 D는 적용을 보류했습니다. C는 표에 보이는 비율이 같아 AP라는 점수 순위 지표로 선택했습니다. 최종 test는 방식을 고르는 데 사용하지 않고 보류 여부를 확인하는 데만 사용합니다.</a:t>
            </a:r>
          </a:p>
          <a:p xmlns:a="http://schemas.openxmlformats.org/drawingml/2006/main">
            <a:r>
              <a:t/>
            </a:r>
          </a:p>
          <a:p xmlns:a="http://schemas.openxmlformats.org/drawingml/2006/main">
            <a:r>
              <a:t>근거: docs/evaluation/model_management.json comparison. 같은 제품 validation으로 방식 선택, test는 보류 확인. C validation AP공통0.8575/전용0.8752.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화면에서는 완료된 예시 결과로 추가 불량 발견과 검사 부담을 먼저 읽을 수 있습니다. 모델 선정 이유에는 데이터에 맞춘 전처리와 불균형 대책을 표시했습니다. 새 비교 계획은 승인 전까지 학습하지 않습니다. 새 배치를 준비하면 성능 저하 점검과 통합·전용 후보 생성도 시연할 수 있습니다.</a:t>
            </a:r>
          </a:p>
          <a:p xmlns:a="http://schemas.openxmlformats.org/drawingml/2006/main">
            <a:r>
              <a:t/>
            </a:r>
          </a:p>
          <a:p xmlns:a="http://schemas.openxmlformats.org/drawingml/2006/main">
            <a:r>
              <a:t>근거: 실제 localhost 검증 화면, docs/assets/model-explanation.png.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여기부터는 기술 부록입니다. 로컬 LLM 역할과 LangGraph, 임베딩 검색과 생성 입력 연결, MCP, 의존성 주입, 모듈화와 스물여섯 테스트를 구현했습니다. 실제 LLM 통합 검증에서는 품질과 계획 역할이 검사를 통과했고 결과 검토 역할은 출처 검사를 통과하지 못해 규칙 설명으로 대체했습니다. LangSmith 원격 API는 403 권한 오류로 추적 성공을 확인하지 못했습니다. 이 한계도 보고서에 적었습니다.</a:t>
            </a:r>
          </a:p>
          <a:p xmlns:a="http://schemas.openxmlformats.org/drawingml/2006/main">
            <a:r>
              <a:t/>
            </a:r>
          </a:p>
          <a:p xmlns:a="http://schemas.openxmlformats.org/drawingml/2006/main">
            <a:r>
              <a:t>근거: docs/evaluation/agent_integration.json, tests.txt(26pass), mcp_check.json. 평가 기능30 기술30 한계20 발표20, 같은 입력 Before/After bonus10.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열두 모델의 전체 제품 학습 결과입니다. 각 모델에서 두 불균형 정책 중 validation 기준에 따라 정한 대표 조건을 보여줍니다. 이 표는 모델 선택에 사용한 수치이며 test 성능표가 아닙니다. 이후 상위 두 모델에 대해 제품 학습 조합을 확장했습니다. 모델 이름이 많아도 서로 다른 입력 형식을 한 순위에 넣지는 않았습니다.</a:t>
            </a:r>
          </a:p>
          <a:p xmlns:a="http://schemas.openxmlformats.org/drawingml/2006/main">
            <a:r>
              <a:t/>
            </a:r>
          </a:p>
          <a:p xmlns:a="http://schemas.openxmlformats.org/drawingml/2006/main">
            <a:r>
              <a:t>근거: docs/evaluation/synthetic_process.json의 model_comparison 단계24조건. 각 모델의2정책 중 기준 충족 우선, Recall·AP 순 대표조건. test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프로젝트는 공개 데이터와 합성 데모로 검사 모델 관리 흐름을 구현했습니다. 다음 확장은 외부에서 모델을 검색하고 모델 문서와 과거 실험을 RAG로 참고해서, 데이터에 맞는 새 후보를 승인 후 비교하는 기능입니다. 같은 조건의 검증을 통과하면 후보 목록과 버전을 갱신하는 흐름을 설계했습니다. 이 외부 발굴 기능은 아직 구현하지 않았습니다. 사진의 로그·시계열 모델도 관련 입력을 확보한 뒤 확장할 수 있습니다. 실제 제조 효과는 독립 현장 데이터와 비용 검증이 더 필요합니다. 감사합니다.</a:t>
            </a:r>
          </a:p>
          <a:p xmlns:a="http://schemas.openxmlformats.org/drawingml/2006/main">
            <a:r>
              <a:t/>
            </a:r>
          </a:p>
          <a:p xmlns:a="http://schemas.openxmlformats.org/drawingml/2006/main">
            <a:r>
              <a:t>근거: docs/CURRICULUM_MODELS.md. 반도체 참고 사진/20261017_144839.jpg, 참고 사진2/20261017_135247.jpg. 전체 보고서와 출처:</a:t>
            </a:r>
          </a:p>
          <a:p xmlns:a="http://schemas.openxmlformats.org/drawingml/2006/main">
            <a:r>
              <a:t/>
            </a:r>
          </a:p>
          <a:p xmlns:a="http://schemas.openxmlformats.org/drawingml/2006/main">
            <a:r>
              <a:t># 반도체 검사 모델 관리 Agent 최종 보고서</a:t>
            </a:r>
          </a:p>
          <a:p xmlns:a="http://schemas.openxmlformats.org/drawingml/2006/main">
            <a:r>
              <a:t/>
            </a:r>
          </a:p>
          <a:p xmlns:a="http://schemas.openxmlformats.org/drawingml/2006/main">
            <a:r>
              <a:t>G045 김용찬 / SK AI Leader Academy / 과제2 신규 프로젝트 / 2026-10-20</a:t>
            </a:r>
          </a:p>
          <a:p xmlns:a="http://schemas.openxmlformats.org/drawingml/2006/main">
            <a:r>
              <a:t/>
            </a:r>
          </a:p>
          <a:p xmlns:a="http://schemas.openxmlformats.org/drawingml/2006/main">
            <a:r>
              <a:t>## 문제와 목표</a:t>
            </a:r>
          </a:p>
          <a:p xmlns:a="http://schemas.openxmlformats.org/drawingml/2006/main">
            <a:r>
              <a:t/>
            </a:r>
          </a:p>
          <a:p xmlns:a="http://schemas.openxmlformats.org/drawingml/2006/main">
            <a:r>
              <a:t>반도체 공정 엔지니어가 불량을 더 찾는 모델을 고를 때 정상 제품의 추가검사 부담도 함께 판단해야 합니다. 데이터 분포가 바뀌면 재학습이 필요한지, 제품 데이터를 합칠지 전용 모델을 쓸지도 다시 비교해야 합니다. 이 프로젝트는 검색 근거와 수치 규칙으로 실험을 제안하고 엔지니어 승인 후 실제 학습을 실행하는 교육용 Agent입니다. 특정 회사 플랫폼 연동은 범위에 포함하지 않습니다.</a:t>
            </a:r>
          </a:p>
          <a:p xmlns:a="http://schemas.openxmlformats.org/drawingml/2006/main">
            <a:r>
              <a:t/>
            </a:r>
          </a:p>
          <a:p xmlns:a="http://schemas.openxmlformats.org/drawingml/2006/main">
            <a:r>
              <a:t>## 구현과 사용 흐름</a:t>
            </a:r>
          </a:p>
          <a:p xmlns:a="http://schemas.openxmlformats.org/drawingml/2006/main">
            <a:r>
              <a:t/>
            </a:r>
          </a:p>
          <a:p xmlns:a="http://schemas.openxmlformats.org/drawingml/2006/main">
            <a:r>
              <a:t>1. 공정 센서 CSV 또는 검사 이미지 ZIP을 등록하고 라벨·중복·결측·제품·lot·시각을 점검합니다.</a:t>
            </a:r>
          </a:p>
          <a:p xmlns:a="http://schemas.openxmlformats.org/drawingml/2006/main">
            <a:r>
              <a:t>2. 데이터 종류에 맞는 모델 후보와 전처리·학습 제품 범위·불균형 대책을 계획합니다.</a:t>
            </a:r>
          </a:p>
          <a:p xmlns:a="http://schemas.openxmlformats.org/drawingml/2006/main">
            <a:r>
              <a:t>3. 계획 hash와 데이터 버전을 확인하고 엔지니어가 승인해야 학습합니다. 반려·미승인·중복 실행을 차단합니다.</a:t>
            </a:r>
          </a:p>
          <a:p xmlns:a="http://schemas.openxmlformats.org/drawingml/2006/main">
            <a:r>
              <a:t>4. 학습, 임계값 조정, 후보 선택, 최종 평가를 분리합니다. 같은 입력의 기본·선택 절차를 비교합니다.</a:t>
            </a:r>
          </a:p>
          <a:p xmlns:a="http://schemas.openxmlformats.org/drawingml/2006/main">
            <a:r>
              <a:t>5. 불량 추가 발견량과 정상 추가검사를 가정 생산량으로 환산합니다.</a:t>
            </a:r>
          </a:p>
          <a:p xmlns:a="http://schemas.openxmlformats.org/drawingml/2006/main">
            <a:r>
              <a:t>6. 새 라벨 배치에서 성능 저하를 점검하고 재학습을 제안합니다. 승인 후 공통·제품별 후보를 생성하고 같은 제품의 평가에서 방식을 선택합니다.</a:t>
            </a:r>
          </a:p>
          <a:p xmlns:a="http://schemas.openxmlformats.org/drawingml/2006/main">
            <a:r>
              <a:t>7. 권고 또는 보류 사유, 실제 모델 파일·버전을 저장합니다. 운영 장비·recipe·모델을 자동 교체하지 않습니다.</a:t>
            </a:r>
          </a:p>
          <a:p xmlns:a="http://schemas.openxmlformats.org/drawingml/2006/main">
            <a:r>
              <a:t/>
            </a:r>
          </a:p>
          <a:p xmlns:a="http://schemas.openxmlformats.org/drawingml/2006/main">
            <a:r>
              <a:t>![검사 효과 화면](assets/easy-result.png)</a:t>
            </a:r>
          </a:p>
          <a:p xmlns:a="http://schemas.openxmlformats.org/drawingml/2006/main">
            <a:r>
              <a:t/>
            </a:r>
          </a:p>
          <a:p xmlns:a="http://schemas.openxmlformats.org/drawingml/2006/main">
            <a:r>
              <a:t>## 교육 자료에 맞춘 모델</a:t>
            </a:r>
          </a:p>
          <a:p xmlns:a="http://schemas.openxmlformats.org/drawingml/2006/main">
            <a:r>
              <a:t/>
            </a:r>
          </a:p>
          <a:p xmlns:a="http://schemas.openxmlformats.org/drawingml/2006/main">
            <a:r>
              <a:t>[교육 자료와 모델 선택 근거](CURRICULUM_MODELS.md)에 PDF명과 페이지를 정리했습니다. 공정 후보는 Decision Tree·Random Forest·Gradient Boosting·XGBoost·LightGBM·CatBoost·KNN·SVM·MLP·Logistic·AdaBoost·Hist Gradient Boosting 12종이며 이미지 후보는 교육용 축소 ResNet·VGGNet 계열과 Autoencoder입니다. 입력 형식에 맞는 후보군 안에서 실제 결과로 선택합니다. NLP·시계열 모델 우월성을 검증한 기능은 없습니다.</a:t>
            </a:r>
          </a:p>
          <a:p xmlns:a="http://schemas.openxmlformats.org/drawingml/2006/main">
            <a:r>
              <a:t/>
            </a:r>
          </a:p>
          <a:p xmlns:a="http://schemas.openxmlformats.org/drawingml/2006/main">
            <a:r>
              <a:t>## 데이터와 분할</a:t>
            </a:r>
          </a:p>
          <a:p xmlns:a="http://schemas.openxmlformats.org/drawingml/2006/main">
            <a:r>
              <a:t/>
            </a:r>
          </a:p>
          <a:p xmlns:a="http://schemas.openxmlformats.org/drawingml/2006/main">
            <a:r>
              <a:t>UCI SECOM은1,567행·불량104개·숫자 센서590열입니다. pass=-1을 정상0,fail=1을 불량1로 변환했고 제품 ID가 없어 단일 SECOM 제품으로 유지했습니다. [공식 출처, CC BY4.0](https://archive.ics.uci.edu/dataset/179/secom)</a:t>
            </a:r>
          </a:p>
          <a:p xmlns:a="http://schemas.openxmlformats.org/drawingml/2006/main">
            <a:r>
              <a:t/>
            </a:r>
          </a:p>
          <a:p xmlns:a="http://schemas.openxmlformats.org/drawingml/2006/main">
            <a:r>
              <a:t>합성 공정은1,280행·불량201개·160lot, 합성 이미지는576장·불량85개·96lot입니다. 실제 제조 측정값이 아닙니다. SECOM은 날짜별 시간 순4분할, 합성 자료는 lot별4분할이며 합성 분할은 시간 순서가 아닙니다.</a:t>
            </a:r>
          </a:p>
          <a:p xmlns:a="http://schemas.openxmlformats.org/drawingml/2006/main">
            <a:r>
              <a:t/>
            </a:r>
          </a:p>
          <a:p xmlns:a="http://schemas.openxmlformats.org/drawingml/2006/main">
            <a:r>
              <a:t>| 데이터 | Train | Calibration | Validation | Test |</a:t>
            </a:r>
          </a:p>
          <a:p xmlns:a="http://schemas.openxmlformats.org/drawingml/2006/main">
            <a:r>
              <a:t>|---|---:|---:|---:|---:|</a:t>
            </a:r>
          </a:p>
          <a:p xmlns:a="http://schemas.openxmlformats.org/drawingml/2006/main">
            <a:r>
              <a:t>| 합성 공정 | 704 | 192 | 192 | 192 |</a:t>
            </a:r>
          </a:p>
          <a:p xmlns:a="http://schemas.openxmlformats.org/drawingml/2006/main">
            <a:r>
              <a:t>| 공개 SECOM | 769 | 231 | 303 | 264 |</a:t>
            </a:r>
          </a:p>
          <a:p xmlns:a="http://schemas.openxmlformats.org/drawingml/2006/main">
            <a:r>
              <a:t>| 합성 이미지 | 306 | 90 | 90 | 90 |</a:t>
            </a:r>
          </a:p>
          <a:p xmlns:a="http://schemas.openxmlformats.org/drawingml/2006/main">
            <a:r>
              <a:t/>
            </a:r>
          </a:p>
          <a:p xmlns:a="http://schemas.openxmlformats.org/drawingml/2006/main">
            <a:r>
              <a:t>전처리는 train에서만 fit합니다. 유효0을 결측으로 제거하지 않습니다. 정확한 중복 행·이미지를 거부하며 근접 중복은 별도 검사 필요입니다. Calibration에서 임계값,validation에서 후보를 고르고 test는 마지막 비교·보류에만 씁니다. 같은 target·평가 행을 고정합니다. [누수 방지 원칙](https://scikit-learn.org/stable/common_pitfalls.html)</a:t>
            </a:r>
          </a:p>
          <a:p xmlns:a="http://schemas.openxmlformats.org/drawingml/2006/main">
            <a:r>
              <a:t/>
            </a:r>
          </a:p>
          <a:p xmlns:a="http://schemas.openxmlformats.org/drawingml/2006/main">
            <a:r>
              <a:t>공정 기본 모델은 전체 제품 train의 unweighted Logistic Regression,median+scaling,threshold0.5입니다. 이미지 기본 모델은 계획의 첫 지도학습 후보이며 이번에는 gray ResNetSmall,threshold0.5입니다. After는 모델·전처리·학습 범위·임계값을 함께 선택한 전체 절차입니다. 개별 요소의 인과 효과로 해석하지 않습니다.</a:t>
            </a:r>
          </a:p>
          <a:p xmlns:a="http://schemas.openxmlformats.org/drawingml/2006/main">
            <a:r>
              <a:t/>
            </a:r>
          </a:p>
          <a:p xmlns:a="http://schemas.openxmlformats.org/drawingml/2006/main">
            <a:r>
              <a:t>## 실제 Before/After</a:t>
            </a:r>
          </a:p>
          <a:p xmlns:a="http://schemas.openxmlformats.org/drawingml/2006/main">
            <a:r>
              <a:t/>
            </a:r>
          </a:p>
          <a:p xmlns:a="http://schemas.openxmlformats.org/drawingml/2006/main">
            <a:r>
              <a:t>| 데이터 | 후보 수 | Before Recall | After Recall | After Precision | After FPR | 판단 |</a:t>
            </a:r>
          </a:p>
          <a:p xmlns:a="http://schemas.openxmlformats.org/drawingml/2006/main">
            <a:r>
              <a:t>|---|---:|---:|---:|---:|---:|---|</a:t>
            </a:r>
          </a:p>
          <a:p xmlns:a="http://schemas.openxmlformats.org/drawingml/2006/main">
            <a:r>
              <a:t>| 합성 공정 | 52 | 60.0% | 96.0% | 48.0% | 15.6% | 보류 |</a:t>
            </a:r>
          </a:p>
          <a:p xmlns:a="http://schemas.openxmlformats.org/drawingml/2006/main">
            <a:r>
              <a:t>| 공개 SECOM | 24 | 6.7% | 93.3% | 6.0% | 88.8% | 보류 |</a:t>
            </a:r>
          </a:p>
          <a:p xmlns:a="http://schemas.openxmlformats.org/drawingml/2006/main">
            <a:r>
              <a:t>| 합성 이미지 | 6 | 64.3% | 100.0% | 100.0% | 0.0% | 보류 |</a:t>
            </a:r>
          </a:p>
          <a:p xmlns:a="http://schemas.openxmlformats.org/drawingml/2006/main">
            <a:r>
              <a:t/>
            </a:r>
          </a:p>
          <a:p xmlns:a="http://schemas.openxmlformats.org/drawingml/2006/main">
            <a:r>
              <a:t>| 데이터 | Test 전체/불량 | Before 미탐/오탐 | After 미탐/오탐 | Before/After AP | Recall Wilson95% | 시간 |</a:t>
            </a:r>
          </a:p>
          <a:p xmlns:a="http://schemas.openxmlformats.org/drawingml/2006/main">
            <a:r>
              <a:t>|---|---:|---:|---:|---:|---:|---:|</a:t>
            </a:r>
          </a:p>
          <a:p xmlns:a="http://schemas.openxmlformats.org/drawingml/2006/main">
            <a:r>
              <a:t>| 합성 공정 | 192 / 25 | 10 / 1 | 1 / 26 | 0.851 / 0.920 | 80.5%~99.3% | 22.03초 |</a:t>
            </a:r>
          </a:p>
          <a:p xmlns:a="http://schemas.openxmlformats.org/drawingml/2006/main">
            <a:r>
              <a:t>| 공개 SECOM | 264 / 15 | 14 / 11 | 1 / 221 | 0.077 / 0.076 | 70.2%~98.8% | 23.05초 |</a:t>
            </a:r>
          </a:p>
          <a:p xmlns:a="http://schemas.openxmlformats.org/drawingml/2006/main">
            <a:r>
              <a:t>| 합성 이미지 | 90 / 14 | 5 / 45 | 0 / 0 | 0.436 / 1.000 | 78.5%~100.0% | 4.38초 |</a:t>
            </a:r>
          </a:p>
          <a:p xmlns:a="http://schemas.openxmlformats.org/drawingml/2006/main">
            <a:r>
              <a:t/>
            </a:r>
          </a:p>
          <a:p xmlns:a="http://schemas.openxmlformats.org/drawingml/2006/main">
            <a:r>
              <a:t>합성 공정 선택은 **SVM (RBF) / B+C+D / auto / none**입니다. 합성 공정은 최종 FPR15.6%로 허용15%를 초과해 보류합니다. 공개 SECOM은 calibration·validation 기준을 동시에 만족한 후보가 없어 탐색 후보만 보고하고 보류합니다. 이미지 contrast 세 구조는 validation 주요 지표가 동률이어서 사전 정의한 trial ID로 Autoencoder를 선택했습니다. 구조 우월성의 증거가 아닙니다.</a:t>
            </a:r>
          </a:p>
          <a:p xmlns:a="http://schemas.openxmlformats.org/drawingml/2006/main">
            <a:r>
              <a:t/>
            </a:r>
          </a:p>
          <a:p xmlns:a="http://schemas.openxmlformats.org/drawingml/2006/main">
            <a:r>
              <a:t>AP는 sklearn non-interpolated Average Precision입니다. 단일 seed45·CPU·Python3.11.15,이미지6epoch 결과입니다. 합성의 높은 성능은 실제 현장 성능을 입증하지 않습니다. Wilson 구간도 분포 변화의 보장은 아닙니다. [AP 정의](https://scikit-learn.org/stable/modules/generated/sklearn.metrics.average_precision_score.html), [PyTorch 재현성](https://docs.pytorch.org/docs/stable/notes/randomness.html)</a:t>
            </a:r>
          </a:p>
          <a:p xmlns:a="http://schemas.openxmlformats.org/drawingml/2006/main">
            <a:r>
              <a:t/>
            </a:r>
          </a:p>
          <a:p xmlns:a="http://schemas.openxmlformats.org/drawingml/2006/main">
            <a:r>
              <a:t>## 검사량·비용·재작업 가정</a:t>
            </a:r>
          </a:p>
          <a:p xmlns:a="http://schemas.openxmlformats.org/drawingml/2006/main">
            <a:r>
              <a:t/>
            </a:r>
          </a:p>
          <a:p xmlns:a="http://schemas.openxmlformats.org/drawingml/2006/main">
            <a:r>
              <a:t>제품1,000개 중 불량100개·정상900개와 검증 비율 유지라는 **가정**입니다. 기본 모델은 불량60.0개, 선택 모델은96.0개를 찾습니다. 불량36.0개를 더 찾는 대신 정상 추가검사는5.4개에서140.1개로134.7개 늘어납니다.</a:t>
            </a:r>
          </a:p>
          <a:p xmlns:a="http://schemas.openxmlformats.org/drawingml/2006/main">
            <a:r>
              <a:t/>
            </a:r>
          </a:p>
          <a:p xmlns:a="http://schemas.openxmlformats.org/drawingml/2006/main">
            <a:r>
              <a:t>미검출1개10만원·정상 추가검사1개1천원 가정에서는 손실4,005,389원에서540,120원, 차이3,465,269원입니다. 재작업·설비·처리량·매출 효과를 제외하여 실제 영업이익으로 해석하지 않습니다.</a:t>
            </a:r>
          </a:p>
          <a:p xmlns:a="http://schemas.openxmlformats.org/drawingml/2006/main">
            <a:r>
              <a:t/>
            </a:r>
          </a:p>
          <a:p xmlns:a="http://schemas.openxmlformats.org/drawingml/2006/main">
            <a:r>
              <a:t>두 모델의 검출 불량 중20%를 재작업으로 정상화한다는 별도 가정에서는 양품7.2개를 추가 회수합니다. **재작업 후 양품 비율**은91.2%에서91.9%, 차이0.72%p입니다. 실제 결함의 재작업 가능성과 제조 수율 향상은 검증하지 않았습니다.</a:t>
            </a:r>
          </a:p>
          <a:p xmlns:a="http://schemas.openxmlformats.org/drawingml/2006/main">
            <a:r>
              <a:t/>
            </a:r>
          </a:p>
          <a:p xmlns:a="http://schemas.openxmlformats.org/drawingml/2006/main">
            <a:r>
              <a:t>FPR은 실제 정상 중 잘못 추가검사 대상으로 고른 비율입니다. 화면에서는 정상 제품 추가 검사 허용 비율로 표현합니다. 15%는 정상100개 중 최대15개라는 뜻입니다. Recall은 실제 불량 중 발견 비율이므로 분모가 다릅니다.</a:t>
            </a:r>
          </a:p>
          <a:p xmlns:a="http://schemas.openxmlformats.org/drawingml/2006/main">
            <a:r>
              <a:t/>
            </a:r>
          </a:p>
          <a:p xmlns:a="http://schemas.openxmlformats.org/drawingml/2006/main">
            <a:r>
              <a:t>계산식: D=N×불량률,G=N−D,발견=D×Recall,정상추가검사=G×FPR,손실=미탐×가정단가+정상추가검사×가정단가,재작업후양품률=(G+발견×정상화비율)/N. [계산 원본](evaluation/presentation_cases.json),[구현](../app/impact.py)</a:t>
            </a:r>
          </a:p>
          <a:p xmlns:a="http://schemas.openxmlformats.org/drawingml/2006/main">
            <a:r>
              <a:t/>
            </a:r>
          </a:p>
          <a:p xmlns:a="http://schemas.openxmlformats.org/drawingml/2006/main">
            <a:r>
              <a:t>## 재학습 판단과 공통·제품별 비교</a:t>
            </a:r>
          </a:p>
          <a:p xmlns:a="http://schemas.openxmlformats.org/drawingml/2006/main">
            <a:r>
              <a:t/>
            </a:r>
          </a:p>
          <a:p xmlns:a="http://schemas.openxmlformats.org/drawingml/2006/main">
            <a:r>
              <a:t>독립 seed1045의 새 합성3,840행·480lot에서 불량 발생 규칙을 변경했습니다. 이전 데이터와 중복되는 센서 행을 거부하고 새 train 구간에서만 기존 모델을 점검합니다. 이전 test Recall96.0%에 비해 새 train 점검39.2%,FPR27.1%로 **재학습 필요**을 제안했습니다. 서로 다른 배치의 비교이며 Recall10%p하락 등의 개발 휴리스틱은 통계적 drift 검정이 아닙니다. 불량20개 미만은 판단 보류합니다.</a:t>
            </a:r>
          </a:p>
          <a:p xmlns:a="http://schemas.openxmlformats.org/drawingml/2006/main">
            <a:r>
              <a:t/>
            </a:r>
          </a:p>
          <a:p xmlns:a="http://schemas.openxmlformats.org/drawingml/2006/main">
            <a:r>
              <a:t>공통1개와 제품별4개 계획 생성 시 학습하지 않는 것을 검증했습니다. 자동 검증용 테스트 승인자로 승인한 뒤 각4개,총20개 조건(Random Forest/Logistic,none/weighted)을 실제 학습했습니다. 현장 승인 실적이 아닙니다.</a:t>
            </a:r>
          </a:p>
          <a:p xmlns:a="http://schemas.openxmlformats.org/drawingml/2006/main">
            <a:r>
              <a:t/>
            </a:r>
          </a:p>
          <a:p xmlns:a="http://schemas.openxmlformats.org/drawingml/2006/main">
            <a:r>
              <a:t>| 제품 | 공통 Recall / FPR | 전용 Recall / FPR | 선택 방식 | 최종 판단 |</a:t>
            </a:r>
          </a:p>
          <a:p xmlns:a="http://schemas.openxmlformats.org/drawingml/2006/main">
            <a:r>
              <a:t>|---|---:|---:|---|---|</a:t>
            </a:r>
          </a:p>
          <a:p xmlns:a="http://schemas.openxmlformats.org/drawingml/2006/main">
            <a:r>
              <a:t>| A | 95.1% / 14.3% | 87.8% / 10.9% | 공통 | 공통 모델 권고 |</a:t>
            </a:r>
          </a:p>
          <a:p xmlns:a="http://schemas.openxmlformats.org/drawingml/2006/main">
            <a:r>
              <a:t>| B | 92.9% / 16.3% | 92.9% / 21.7% | 공통 | 적용 보류 |</a:t>
            </a:r>
          </a:p>
          <a:p xmlns:a="http://schemas.openxmlformats.org/drawingml/2006/main">
            <a:r>
              <a:t>| C | 92.3% / 12.8% | 92.3% / 12.8% | 전용 | 제품 전용 모델 권고 |</a:t>
            </a:r>
          </a:p>
          <a:p xmlns:a="http://schemas.openxmlformats.org/drawingml/2006/main">
            <a:r>
              <a:t>| D | 100.0% / 12.9% | 91.7% / 14.3% | 공통 | 적용 보류 |</a:t>
            </a:r>
          </a:p>
          <a:p xmlns:a="http://schemas.openxmlformats.org/drawingml/2006/main">
            <a:r>
              <a:t/>
            </a:r>
          </a:p>
          <a:p xmlns:a="http://schemas.openxmlformats.org/drawingml/2006/main">
            <a:r>
              <a:t>표는 **동일 제품의 같은 validation 행**을 평가한 수치입니다. 각 후보는 train에서 학습하고 calibration에서 정한 임계값을 고정합니다. calibration·validation 기준을 충족한 후보 중 Recall,AP 순으로 방식을 선택하고 동률이면 공통을 택합니다. 둘 다 부족하면 비용 최소 참고 후보를 표시하고 보류합니다. test는 순위에 사용하지 않고 최종 확인·보류에만 사용합니다. 내부 후보와 방식 선택이 같은 validation을 재사용하므로 낙관 편향 가능성이 있습니다. 독립 기간 반복 평가가 필요합니다.</a:t>
            </a:r>
          </a:p>
          <a:p xmlns:a="http://schemas.openxmlformats.org/drawingml/2006/main">
            <a:r>
              <a:t/>
            </a:r>
          </a:p>
          <a:p xmlns:a="http://schemas.openxmlformats.org/drawingml/2006/main">
            <a:r>
              <a:t>새로 등록한 한 배치 안의 제품 데이터를 통합·분리합니다. 과거 배치 파일을 자동 병합하지 않습니다. 파일·버전·source run·제품·지표·검토 상태를 저장하며 자동 배포false입니다. [점검·실행·비교 원본](evaluation/model_management.json)</a:t>
            </a:r>
          </a:p>
          <a:p xmlns:a="http://schemas.openxmlformats.org/drawingml/2006/main">
            <a:r>
              <a:t/>
            </a:r>
          </a:p>
          <a:p xmlns:a="http://schemas.openxmlformats.org/drawingml/2006/main">
            <a:r>
              <a:t>## 학습 제품 부분집합 비교</a:t>
            </a:r>
          </a:p>
          <a:p xmlns:a="http://schemas.openxmlformats.org/drawingml/2006/main">
            <a:r>
              <a:t/>
            </a:r>
          </a:p>
          <a:p xmlns:a="http://schemas.openxmlformats.org/drawingml/2006/main">
            <a:r>
              <a:t>이 표는 기존 합성 공정의 같은 validation192개를 평가합니다. 전용 제품만 평가하는 위의 새 배치 전략 비교와 목적이 다릅니다.</a:t>
            </a:r>
          </a:p>
          <a:p xmlns:a="http://schemas.openxmlformats.org/drawingml/2006/main">
            <a:r>
              <a:t/>
            </a:r>
          </a:p>
          <a:p xmlns:a="http://schemas.openxmlformats.org/drawingml/2006/main">
            <a:r>
              <a:t>| 학습 제품 | 후보 | Recall | Precision | FPR |</a:t>
            </a:r>
          </a:p>
          <a:p xmlns:a="http://schemas.openxmlformats.org/drawingml/2006/main">
            <a:r>
              <a:t>|---|---|---:|---:|---:|</a:t>
            </a:r>
          </a:p>
          <a:p xmlns:a="http://schemas.openxmlformats.org/drawingml/2006/main">
            <a:r>
              <a:t>| A | CatBoost / weighted | 91.2% | 66.0% | 10.1% |</a:t>
            </a:r>
          </a:p>
          <a:p xmlns:a="http://schemas.openxmlformats.org/drawingml/2006/main">
            <a:r>
              <a:t>| B | 기준 충족 후보 없음 | — | — | — |</a:t>
            </a:r>
          </a:p>
          <a:p xmlns:a="http://schemas.openxmlformats.org/drawingml/2006/main">
            <a:r>
              <a:t>| C | CatBoost / weighted | 97.1% | 63.5% | 12.0% |</a:t>
            </a:r>
          </a:p>
          <a:p xmlns:a="http://schemas.openxmlformats.org/drawingml/2006/main">
            <a:r>
              <a:t>| D | SVM (RBF) / none | 91.2% | 63.3% | 11.4% |</a:t>
            </a:r>
          </a:p>
          <a:p xmlns:a="http://schemas.openxmlformats.org/drawingml/2006/main">
            <a:r>
              <a:t>| A+B | SVM (RBF) / none | 91.2% | 66.0% | 10.1% |</a:t>
            </a:r>
          </a:p>
          <a:p xmlns:a="http://schemas.openxmlformats.org/drawingml/2006/main">
            <a:r>
              <a:t>| A+C | SVM (RBF) / none | 97.1% | 67.3% | 10.1% |</a:t>
            </a:r>
          </a:p>
          <a:p xmlns:a="http://schemas.openxmlformats.org/drawingml/2006/main">
            <a:r>
              <a:t>| A+D | SVM (RBF) / none | 88.2% | 76.9% | 5.7% |</a:t>
            </a:r>
          </a:p>
          <a:p xmlns:a="http://schemas.openxmlformats.org/drawingml/2006/main">
            <a:r>
              <a:t>| B+C | CatBoost / weighted | 94.1% | 58.2% | 14.6% |</a:t>
            </a:r>
          </a:p>
          <a:p xmlns:a="http://schemas.openxmlformats.org/drawingml/2006/main">
            <a:r>
              <a:t>| B+D | CatBoost / weighted | 88.2% | 60.0% | 12.7% |</a:t>
            </a:r>
          </a:p>
          <a:p xmlns:a="http://schemas.openxmlformats.org/drawingml/2006/main">
            <a:r>
              <a:t>| C+D | SVM (RBF) / none | 94.1% | 74.4% | 7.0% |</a:t>
            </a:r>
          </a:p>
          <a:p xmlns:a="http://schemas.openxmlformats.org/drawingml/2006/main">
            <a:r>
              <a:t>| A+B+C | CatBoost / weighted | 97.1% | 60.0% | 13.9% |</a:t>
            </a:r>
          </a:p>
          <a:p xmlns:a="http://schemas.openxmlformats.org/drawingml/2006/main">
            <a:r>
              <a:t>| A+B+D | SVM (RBF) / none | 97.1% | 67.3% | 10.1% |</a:t>
            </a:r>
          </a:p>
          <a:p xmlns:a="http://schemas.openxmlformats.org/drawingml/2006/main">
            <a:r>
              <a:t>| A+C+D | CatBoost / weighted | 97.1% | 61.1% | 13.3% |</a:t>
            </a:r>
          </a:p>
          <a:p xmlns:a="http://schemas.openxmlformats.org/drawingml/2006/main">
            <a:r>
              <a:t>| B+C+D | SVM (RBF) / none | 100.0% | 61.8% | 13.3% |</a:t>
            </a:r>
          </a:p>
          <a:p xmlns:a="http://schemas.openxmlformats.org/drawingml/2006/main">
            <a:r>
              <a:t>| A+B+C+D | SVM (RBF) / none | 97.1% | 68.8% | 9.5% |</a:t>
            </a:r>
          </a:p>
          <a:p xmlns:a="http://schemas.openxmlformats.org/drawingml/2006/main">
            <a:r>
              <a:t/>
            </a:r>
          </a:p>
          <a:p xmlns:a="http://schemas.openxmlformats.org/drawingml/2006/main">
            <a:r>
              <a:t>## Agent 구조와 기술 평가</a:t>
            </a:r>
          </a:p>
          <a:p xmlns:a="http://schemas.openxmlformats.org/drawingml/2006/main">
            <a:r>
              <a:t/>
            </a:r>
          </a:p>
          <a:p xmlns:a="http://schemas.openxmlformats.org/drawingml/2006/main">
            <a:r>
              <a:t>LangGraph의 검사·검색·실험 계획 그래프와 결과 검토 역할을 분리했습니다. DataQualityAgent·ExperimentPlannerAgent·ResultCriticAgent가 로컬 Qwen3.5:2b를 호출하여 관측 사실과 검색 문서에서 허용된 판단의 우선순위를 제안합니다. 모델 선택 수치·실험 예산·승인·최종 보류는 분석 엔진이 결정합니다. LLM의 코드·출처·주제 연결 검사를 통과하지 못하면 규칙 설명으로 대체하며 실패 상태를 숨기지 않습니다. 실제 통합 검증에서는 품질·계획 역할이 검사를 통과했고 결과 검토는 출처 검사 실패로 규칙 fallback을 사용했습니다. 자유 대화형 자율 Agent나 운영 자동 배포는 아닙니다.</a:t>
            </a:r>
          </a:p>
          <a:p xmlns:a="http://schemas.openxmlformats.org/drawingml/2006/main">
            <a:r>
              <a:t/>
            </a:r>
          </a:p>
          <a:p xmlns:a="http://schemas.openxmlformats.org/drawingml/2006/main">
            <a:r>
              <a:t>13개 요약 근거 문서를 qwen3-embedding:0.6b로 임베딩하고 cosine 검색한 뒤 역할별 생성 입력에 연결합니다. TF-IDF는 비교 기준과 연결 장애 시 fallback으로 유지합니다. 같은 13개 고정 질문에서 검색 Hit@3는 둘 다100%, MRR@3는0.9103에서0.9615였습니다. 자체 정답표의 작은 평가로 일반 검색 개선을 보장하지 않습니다. dense는 로컬 모델 호출 때문에 더 느립니다. 실제 질의·응답 시간과 역할별 성공/거부 상태는 [통합 검증 JSON](evaluation/agent_integration.json)에 기록합니다. 유료 LLM API 비용은0원이며 로컬 연산·전력 비용은 측정하지 않았습니다.</a:t>
            </a:r>
          </a:p>
          <a:p xmlns:a="http://schemas.openxmlformats.org/drawingml/2006/main">
            <a:r>
              <a:t/>
            </a:r>
          </a:p>
          <a:p xmlns:a="http://schemas.openxmlformats.org/drawingml/2006/main">
            <a:r>
              <a:t>MCP는 list_datasets,propose_experiment,get_experiment_result,explain_model_candidates와 지식 resource를 제공합니다. 실제 stdio handshake·tools/list·tools/call·resources/read 및 모델 설명 도구 호출을 검증했습니다. 승인·실행 도구는 노출하지 않습니다. DI로 Store·Knowledge·Advisor를 주입하고 API·MCP가 Workbench를 재사용합니다. SQLite에 hash·승인·이벤트·후보 이력을 저장하며 학습 worker는 단일 프로세스입니다.</a:t>
            </a:r>
          </a:p>
          <a:p xmlns:a="http://schemas.openxmlformats.org/drawingml/2006/main">
            <a:r>
              <a:t/>
            </a:r>
          </a:p>
          <a:p xmlns:a="http://schemas.openxmlformats.org/drawingml/2006/main">
            <a:r>
              <a:t>LangSmith @traceable 계측과 실제 전송을 시도했지만, 기존 자격 증명으로 원격 API가403 Forbidden을 반환했습니다. 따라서 원격 추적 성공을 주장하지 않습니다. 로컬 실험·통합 검증 기록은 저장했고 유효한 프로젝트 권한으로 원격 추적 재검증이 필요합니다. 비밀 값은 저장소에 넣지 않았습니다.</a:t>
            </a:r>
          </a:p>
          <a:p xmlns:a="http://schemas.openxmlformats.org/drawingml/2006/main">
            <a:r>
              <a:t/>
            </a:r>
          </a:p>
          <a:p xmlns:a="http://schemas.openxmlformats.org/drawingml/2006/main">
            <a:r>
              <a:t>| 평가항목 | 증빙 |</a:t>
            </a:r>
          </a:p>
          <a:p xmlns:a="http://schemas.openxmlformats.org/drawingml/2006/main">
            <a:r>
              <a:t>|---|---|</a:t>
            </a:r>
          </a:p>
          <a:p xmlns:a="http://schemas.openxmlformats.org/drawingml/2006/main">
            <a:r>
              <a:t>| 기능30 | 실제 공정·이미지 학습, 승인, 성능 저하 점검, 통합·전용 모델 생성·비교 |</a:t>
            </a:r>
          </a:p>
          <a:p xmlns:a="http://schemas.openxmlformats.org/drawingml/2006/main">
            <a:r>
              <a:t>| 기술30 | LangGraph 역할,검색 근거,DI,MCP,모듈화,단위/API 테스트 |</a:t>
            </a:r>
          </a:p>
          <a:p xmlns:a="http://schemas.openxmlformats.org/drawingml/2006/main">
            <a:r>
              <a:t>| 한계20 | 공개 SECOM 실패,검사 부담,작은 불량 표본,합성·비용 가정 명시 |</a:t>
            </a:r>
          </a:p>
          <a:p xmlns:a="http://schemas.openxmlformats.org/drawingml/2006/main">
            <a:r>
              <a:t>| 발표20 | 쉬운 건수 비교,승인 시연,발표 대본과 코드 설명 |</a:t>
            </a:r>
          </a:p>
          <a:p xmlns:a="http://schemas.openxmlformats.org/drawingml/2006/main">
            <a:r>
              <a:t>| Before/After bonus10 | 같은 입력·분할의 기본/선택 절차 실측 수치 |</a:t>
            </a:r>
          </a:p>
          <a:p xmlns:a="http://schemas.openxmlformats.org/drawingml/2006/main">
            <a:r>
              <a:t/>
            </a:r>
          </a:p>
          <a:p xmlns:a="http://schemas.openxmlformats.org/drawingml/2006/main">
            <a:r>
              <a:t>26개 테스트를 통과했습니다. 분할·누수·지표·승인·인증·API·SSE·CSV,가정 계산,재학습 계획 시 실행 없음,승인 후 후보 버전,validation만으로 전략 선택을 확인했습니다. [테스트 로그](evaluation/tests.txt),[MCP 실측](evaluation/mcp_check.json)</a:t>
            </a:r>
          </a:p>
          <a:p xmlns:a="http://schemas.openxmlformats.org/drawingml/2006/main">
            <a:r>
              <a:t/>
            </a:r>
          </a:p>
          <a:p xmlns:a="http://schemas.openxmlformats.org/drawingml/2006/main">
            <a:r>
              <a:t>## 외부 모델 발굴과 목록 갱신 (확장 설계)</a:t>
            </a:r>
          </a:p>
          <a:p xmlns:a="http://schemas.openxmlformats.org/drawingml/2006/main">
            <a:r>
              <a:t/>
            </a:r>
          </a:p>
          <a:p xmlns:a="http://schemas.openxmlformats.org/drawingml/2006/main">
            <a:r>
              <a:t>외부 검색으로 새 모델을 찾고 모델 문서·과거 실험을 RAG로 참고한 뒤 적합성을 검토합니다. 엔지니어 승인 후 같은 분할에서 성능·검사 부담·자원 비용을 비교하고 검증 완료 후보 목록을 갱신하는 흐름입니다. [설계 문서](MODEL_DISCOVERY_DESIGN.md)에 상태와 승인·평가 조건을 정리했습니다. 현재 외부 모델 발굴·adapter 생성·자동 목록 갱신은 미구현입니다.</a:t>
            </a:r>
          </a:p>
          <a:p xmlns:a="http://schemas.openxmlformats.org/drawingml/2006/main">
            <a:r>
              <a:t/>
            </a:r>
          </a:p>
          <a:p xmlns:a="http://schemas.openxmlformats.org/drawingml/2006/main">
            <a:r>
              <a:t>## 한계와 다음 단계</a:t>
            </a:r>
          </a:p>
          <a:p xmlns:a="http://schemas.openxmlformats.org/drawingml/2006/main">
            <a:r>
              <a:t/>
            </a:r>
          </a:p>
          <a:p xmlns:a="http://schemas.openxmlformats.org/drawingml/2006/main">
            <a:r>
              <a:t>단일 seed·작은 불량 표본·반복 validation 비교의 한계가 있습니다. 기준Precision25%이상,FPR15%이하,test불량20개이상은 교육용 개발 정책이며 현장 승인 기준이 아닙니다. 실제 wafer·장비·기간·제품별 독립 검증과 비용·처리량 측정이 필요합니다.</a:t>
            </a:r>
          </a:p>
          <a:p xmlns:a="http://schemas.openxmlformats.org/drawingml/2006/main">
            <a:r>
              <a:t/>
            </a:r>
          </a:p>
          <a:p xmlns:a="http://schemas.openxmlformats.org/drawingml/2006/main">
            <a:r>
              <a:t>이미지 모델은32×32·축소 구조·scratch6epoch입니다. GAN·자연어·시계열·SEM길이·공정 조건별 수율 예측은 미구현입니다. 조건별 수율 예측에는 lot별 투입/양품 수량과 시간·장비·공정 조건 이력이 필요합니다. pass/fail 확률을 제조 수율로 대체하지 않습니다.</a:t>
            </a:r>
          </a:p>
          <a:p xmlns:a="http://schemas.openxmlformats.org/drawingml/2006/main">
            <a:r>
              <a:t/>
            </a:r>
          </a:p>
          <a:p xmlns:a="http://schemas.openxmlformats.org/drawingml/2006/main">
            <a:r>
              <a:t>기업용 클라우드 확장을 위한 Docker/Kubernetes 예시는 제공하지만 빌드·실배포는 미검증입니다. 현재 SQLite 단일 worker와 공유 토큰은 SSO/RBAC를 대체하지 않습니다. 실제 도입에는 개인 인증·권한,worker queue,object storage,model registry,중앙 감사·백업이 필요합니다.</a:t>
            </a:r>
          </a:p>
          <a:p xmlns:a="http://schemas.openxmlformats.org/drawingml/2006/main">
            <a:r>
              <a:t/>
            </a:r>
          </a:p>
          <a:p xmlns:a="http://schemas.openxmlformats.org/drawingml/2006/main">
            <a:r>
              <a:t>교육 자료·아이디어 사진 원본은 공개 저장소에 올리지 않았습니다. 자료명·참고 페이지는 [교육 모델 근거](CURRICULUM_MODELS.md)에 남겼습니다. 공개 데이터는 [UCI SECOM](https://archive.ics.uci.edu/dataset/179/secom),원본 ZIP SHA256은eea568baf3c2229096d7d294cf0b096b5502bd96d92c0b80a65b84714059be8e입니다.</a:t>
            </a:r>
          </a:p>
          <a:p xmlns:a="http://schemas.openxmlformats.org/drawingml/2006/main">
            <a:r>
              <a:t/>
            </a:r>
          </a:p>
          <a:p xmlns:a="http://schemas.openxmlformats.org/drawingml/2006/main">
            <a:r>
              <a:t>실행·재현은 [README](../README.md),시연은 [DEMO](DEMO.md),읽을 대본은 [TXT](발표대본_G045.txt),코드는 https://github.com/dragonchan95/Semiconductor-AI-Agent 입니다.</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637bf5c6229405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efb620b96b047b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172d4c309f04b3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f6ab7df40844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bb16724a73443b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0a58759362740c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E058E4-4E1F-450D-AE0A-6628E42089A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6CB2FEC-CC72-4E93-B164-F128D1F6CFD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F0BF07-F288-4716-8FD3-68C41DA88DB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807132-DADE-4AB2-A4AA-B7891D973A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14A7BE7-F1AB-4247-9F7E-01EB0300C3D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325C1B2-D37E-4FCA-BADC-563F8D9B31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EAA24C8-2D5E-477C-A51C-2DAFB131791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A5236BE-5679-4B9A-81EA-0BBAA4308E5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18DE4B-0C2A-49AC-A35A-28CBACEB22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A52A02A-4146-49FC-9EF4-E1F94EA9E17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c62f9f755df48dc" /><Relationship Type="http://schemas.openxmlformats.org/officeDocument/2006/relationships/slideLayout" Target="/ppt/slideLayouts/slideLayout1.xml" Id="R4cd8414cb5de415f" /><Relationship Type="http://schemas.openxmlformats.org/officeDocument/2006/relationships/slideLayout" Target="/ppt/slideLayouts/slideLayout2.xml" Id="R46018a0fb508427b" /><Relationship Type="http://schemas.openxmlformats.org/officeDocument/2006/relationships/slideLayout" Target="/ppt/slideLayouts/slideLayout3.xml" Id="R7fb148bda2044047" /><Relationship Type="http://schemas.openxmlformats.org/officeDocument/2006/relationships/slideLayout" Target="/ppt/slideLayouts/slideLayout4.xml" Id="Re6b7d3b2ad234963" /><Relationship Type="http://schemas.openxmlformats.org/officeDocument/2006/relationships/slideLayout" Target="/ppt/slideLayouts/slideLayout5.xml" Id="Ra2be77aed7a24805" /><Relationship Type="http://schemas.openxmlformats.org/officeDocument/2006/relationships/slideLayout" Target="/ppt/slideLayouts/slideLayout6.xml" Id="R47870864541e4d3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d8414cb5de415f"/>
    <p:sldLayoutId xmlns:r="http://schemas.openxmlformats.org/officeDocument/2006/relationships" id="2147483650" r:id="R46018a0fb508427b"/>
    <p:sldLayoutId xmlns:r="http://schemas.openxmlformats.org/officeDocument/2006/relationships" id="2147483651" r:id="R7fb148bda2044047"/>
    <p:sldLayoutId xmlns:r="http://schemas.openxmlformats.org/officeDocument/2006/relationships" id="2147483652" r:id="Re6b7d3b2ad234963"/>
    <p:sldLayoutId xmlns:r="http://schemas.openxmlformats.org/officeDocument/2006/relationships" id="2147483653" r:id="Ra2be77aed7a24805"/>
    <p:sldLayoutId xmlns:r="http://schemas.openxmlformats.org/officeDocument/2006/relationships" id="2147483654" r:id="R47870864541e4d3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7d2ab4ca2aa41c8" /><Relationship Type="http://schemas.openxmlformats.org/officeDocument/2006/relationships/notesSlide" Target="/ppt/notesSlides/notesSlide1.xml" Id="Rb711b6ada1c0485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3a679cd60584bd0" /><Relationship Type="http://schemas.openxmlformats.org/officeDocument/2006/relationships/notesSlide" Target="/ppt/notesSlides/notesSlide2.xml" Id="R4c8ac5ce0041433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9c477d6ded343f6" /><Relationship Type="http://schemas.openxmlformats.org/officeDocument/2006/relationships/notesSlide" Target="/ppt/notesSlides/notesSlide3.xml" Id="R5c0525939f0941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c092af623c64d16" /><Relationship Type="http://schemas.openxmlformats.org/officeDocument/2006/relationships/notesSlide" Target="/ppt/notesSlides/notesSlide4.xml" Id="Rca051e2b0d98438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8b15aa56c7941dc" /><Relationship Type="http://schemas.openxmlformats.org/officeDocument/2006/relationships/notesSlide" Target="/ppt/notesSlides/notesSlide5.xml" Id="Rc0202534c24b44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4881c16485647c1" /><Relationship Type="http://schemas.openxmlformats.org/officeDocument/2006/relationships/notesSlide" Target="/ppt/notesSlides/notesSlide6.xml" Id="R458700cb4197468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f5aacb1d3be4909" /><Relationship Type="http://schemas.openxmlformats.org/officeDocument/2006/relationships/notesSlide" Target="/ppt/notesSlides/notesSlide7.xml" Id="Rc0d5e8a73103420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080c0af48a8487d" /><Relationship Type="http://schemas.openxmlformats.org/officeDocument/2006/relationships/notesSlide" Target="/ppt/notesSlides/notesSlide8.xml" Id="R90f2574bb5a0402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cda6788f3cf4ee7" /><Relationship Type="http://schemas.openxmlformats.org/officeDocument/2006/relationships/notesSlide" Target="/ppt/notesSlides/notesSlide9.xml" Id="R3c799bc51bd84cb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d54f4ad406c4d81" /><Relationship Type="http://schemas.openxmlformats.org/officeDocument/2006/relationships/notesSlide" Target="/ppt/notesSlides/notesSlide10.xml" Id="R3e8a2fcb79b44ba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20169452dbe404f" /><Relationship Type="http://schemas.openxmlformats.org/officeDocument/2006/relationships/image" Target="/ppt/media/image.jpeg" Id="R57b29190ab174de4" /><Relationship Type="http://schemas.openxmlformats.org/officeDocument/2006/relationships/notesSlide" Target="/ppt/notesSlides/notesSlide11.xml" Id="R13bdce2238894f8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cff239478bf4e8f" /><Relationship Type="http://schemas.openxmlformats.org/officeDocument/2006/relationships/notesSlide" Target="/ppt/notesSlides/notesSlide12.xml" Id="Rbc42d704850a475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0462eba55204d46" /><Relationship Type="http://schemas.openxmlformats.org/officeDocument/2006/relationships/notesSlide" Target="/ppt/notesSlides/notesSlide13.xml" Id="Rc449e60121ea464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ffc7c2cc8d242d1" /><Relationship Type="http://schemas.openxmlformats.org/officeDocument/2006/relationships/notesSlide" Target="/ppt/notesSlides/notesSlide14.xml" Id="R3b7a7af2713d4d6e" /></Relationships>
</file>

<file path=ppt/slides/slide1.xml><?xml version="1.0" encoding="utf-8"?>
<p:sld xmlns:p="http://schemas.openxmlformats.org/presentationml/2006/main">
  <p:cSld>
    <p:bg>
      <p:bgPr>
        <a:solidFill xmlns:a="http://schemas.openxmlformats.org/drawingml/2006/main">
          <a:srgbClr val="15364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AAEC86D8-C286-4C18-A67B-7D1074CE3D84}"/>
              </a:ext>
            </a:extLst>
          </p:cNvPr>
          <p:cNvSpPr>
            <a:spLocks xmlns:a="http://schemas.openxmlformats.org/drawingml/2006/main" noGrp="1"/>
          </p:cNvSpPr>
          <p:nvPr/>
        </p:nvSpPr>
        <p:spPr>
          <a:xfrm xmlns:a="http://schemas.openxmlformats.org/drawingml/2006/main">
            <a:off x="742950" y="1409700"/>
            <a:ext cx="1071562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Apple SD Gothic Neo"/>
                <a:ea typeface="Apple SD Gothic Neo"/>
                <a:cs typeface="Apple SD Gothic Neo"/>
              </a:defRPr>
            </a:defPPr>
            <a:lvl1pPr>
              <a:defRPr sz="4800" b="1">
                <a:solidFill>
                  <a:srgbClr val="FFFFFF"/>
                </a:solidFill>
                <a:latin typeface="Apple SD Gothic Neo"/>
                <a:ea typeface="Apple SD Gothic Neo"/>
                <a:cs typeface="Apple SD Gothic Neo"/>
              </a:defRPr>
            </a:lvl1pPr>
            <a:lvl2pPr>
              <a:defRPr sz="4800" b="1">
                <a:solidFill>
                  <a:srgbClr val="FFFFFF"/>
                </a:solidFill>
                <a:latin typeface="Apple SD Gothic Neo"/>
                <a:ea typeface="Apple SD Gothic Neo"/>
                <a:cs typeface="Apple SD Gothic Neo"/>
              </a:defRPr>
            </a:lvl2pPr>
            <a:lvl3pPr>
              <a:defRPr sz="4800" b="1">
                <a:solidFill>
                  <a:srgbClr val="FFFFFF"/>
                </a:solidFill>
                <a:latin typeface="Apple SD Gothic Neo"/>
                <a:ea typeface="Apple SD Gothic Neo"/>
                <a:cs typeface="Apple SD Gothic Neo"/>
              </a:defRPr>
            </a:lvl3pPr>
            <a:lvl4pPr>
              <a:defRPr sz="4800" b="1">
                <a:solidFill>
                  <a:srgbClr val="FFFFFF"/>
                </a:solidFill>
                <a:latin typeface="Apple SD Gothic Neo"/>
                <a:ea typeface="Apple SD Gothic Neo"/>
                <a:cs typeface="Apple SD Gothic Neo"/>
              </a:defRPr>
            </a:lvl4pPr>
            <a:lvl5pPr>
              <a:defRPr sz="4800" b="1">
                <a:solidFill>
                  <a:srgbClr val="FFFFFF"/>
                </a:solidFill>
                <a:latin typeface="Apple SD Gothic Neo"/>
                <a:ea typeface="Apple SD Gothic Neo"/>
                <a:cs typeface="Apple SD Gothic Neo"/>
              </a:defRPr>
            </a:lvl5pPr>
            <a:lvl6pPr>
              <a:defRPr sz="4800" b="1">
                <a:solidFill>
                  <a:srgbClr val="FFFFFF"/>
                </a:solidFill>
                <a:latin typeface="Apple SD Gothic Neo"/>
                <a:ea typeface="Apple SD Gothic Neo"/>
                <a:cs typeface="Apple SD Gothic Neo"/>
              </a:defRPr>
            </a:lvl6pPr>
            <a:lvl7pPr>
              <a:defRPr sz="4800" b="1">
                <a:solidFill>
                  <a:srgbClr val="FFFFFF"/>
                </a:solidFill>
                <a:latin typeface="Apple SD Gothic Neo"/>
                <a:ea typeface="Apple SD Gothic Neo"/>
                <a:cs typeface="Apple SD Gothic Neo"/>
              </a:defRPr>
            </a:lvl7pPr>
            <a:lvl8pPr>
              <a:defRPr sz="4800" b="1">
                <a:solidFill>
                  <a:srgbClr val="FFFFFF"/>
                </a:solidFill>
                <a:latin typeface="Apple SD Gothic Neo"/>
                <a:ea typeface="Apple SD Gothic Neo"/>
                <a:cs typeface="Apple SD Gothic Neo"/>
              </a:defRPr>
            </a:lvl8pPr>
            <a:lvl9pPr>
              <a:defRPr sz="4800" b="1">
                <a:solidFill>
                  <a:srgbClr val="FFFFFF"/>
                </a:solidFill>
                <a:latin typeface="Apple SD Gothic Neo"/>
                <a:ea typeface="Apple SD Gothic Neo"/>
                <a:cs typeface="Apple SD Gothic Neo"/>
              </a:defRPr>
            </a:lvl9pPr>
          </a:lstStyle>
          <a:p xmlns:a="http://schemas.openxmlformats.org/drawingml/2006/main">
            <a:pPr>
              <a:defRPr sz="4800" b="1">
                <a:solidFill>
                  <a:srgbClr val="FFFFFF"/>
                </a:solidFill>
                <a:latin typeface="Apple SD Gothic Neo"/>
                <a:ea typeface="Apple SD Gothic Neo"/>
                <a:cs typeface="Apple SD Gothic Neo"/>
              </a:defRPr>
            </a:pPr>
            <a:r>
              <a:rPr sz="4800" b="1">
                <a:solidFill>
                  <a:srgbClr val="FFFFFF"/>
                </a:solidFill>
                <a:latin typeface="Apple SD Gothic Neo"/>
                <a:ea typeface="Apple SD Gothic Neo"/>
                <a:cs typeface="Apple SD Gothic Neo"/>
              </a:rPr>
              <a:t>반도체 검사 모델</a:t>
            </a:r>
          </a:p>
          <a:p xmlns:a="http://schemas.openxmlformats.org/drawingml/2006/main">
            <a:pPr>
              <a:defRPr sz="4800" b="1">
                <a:solidFill>
                  <a:srgbClr val="FFFFFF"/>
                </a:solidFill>
                <a:latin typeface="Apple SD Gothic Neo"/>
                <a:ea typeface="Apple SD Gothic Neo"/>
                <a:cs typeface="Apple SD Gothic Neo"/>
              </a:defRPr>
            </a:pPr>
            <a:r>
              <a:rPr sz="4800" b="1">
                <a:solidFill>
                  <a:srgbClr val="FFFFFF"/>
                </a:solidFill>
                <a:latin typeface="Apple SD Gothic Neo"/>
                <a:ea typeface="Apple SD Gothic Neo"/>
                <a:cs typeface="Apple SD Gothic Neo"/>
              </a:rPr>
              <a:t>관리 Agent</a:t>
            </a:r>
          </a:p>
        </p:txBody>
      </p:sp>
      <p:sp>
        <p:nvSpPr>
          <p:cNvPr id="2" name="">
            <a:extLst xmlns:a="http://schemas.openxmlformats.org/drawingml/2006/main">
              <a:ext uri="{FF2B5EF4-FFF2-40B4-BE49-F238E27FC236}">
                <a16:creationId xmlns:a16="http://schemas.microsoft.com/office/drawing/2014/main" id="{C5492D0E-F013-412C-BFD5-1018D44DA630}"/>
              </a:ext>
            </a:extLst>
          </p:cNvPr>
          <p:cNvSpPr>
            <a:spLocks xmlns:a="http://schemas.openxmlformats.org/drawingml/2006/main" noGrp="1"/>
          </p:cNvSpPr>
          <p:nvPr/>
        </p:nvSpPr>
        <p:spPr>
          <a:xfrm xmlns:a="http://schemas.openxmlformats.org/drawingml/2006/main">
            <a:off x="781050" y="3810000"/>
            <a:ext cx="10382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D8F1EF"/>
                </a:solidFill>
                <a:latin typeface="Apple SD Gothic Neo"/>
                <a:ea typeface="Apple SD Gothic Neo"/>
                <a:cs typeface="Apple SD Gothic Neo"/>
              </a:defRPr>
            </a:defPPr>
            <a:lvl1pPr>
              <a:defRPr sz="2475" b="0">
                <a:solidFill>
                  <a:srgbClr val="D8F1EF"/>
                </a:solidFill>
                <a:latin typeface="Apple SD Gothic Neo"/>
                <a:ea typeface="Apple SD Gothic Neo"/>
                <a:cs typeface="Apple SD Gothic Neo"/>
              </a:defRPr>
            </a:lvl1pPr>
            <a:lvl2pPr>
              <a:defRPr sz="2475" b="0">
                <a:solidFill>
                  <a:srgbClr val="D8F1EF"/>
                </a:solidFill>
                <a:latin typeface="Apple SD Gothic Neo"/>
                <a:ea typeface="Apple SD Gothic Neo"/>
                <a:cs typeface="Apple SD Gothic Neo"/>
              </a:defRPr>
            </a:lvl2pPr>
            <a:lvl3pPr>
              <a:defRPr sz="2475" b="0">
                <a:solidFill>
                  <a:srgbClr val="D8F1EF"/>
                </a:solidFill>
                <a:latin typeface="Apple SD Gothic Neo"/>
                <a:ea typeface="Apple SD Gothic Neo"/>
                <a:cs typeface="Apple SD Gothic Neo"/>
              </a:defRPr>
            </a:lvl3pPr>
            <a:lvl4pPr>
              <a:defRPr sz="2475" b="0">
                <a:solidFill>
                  <a:srgbClr val="D8F1EF"/>
                </a:solidFill>
                <a:latin typeface="Apple SD Gothic Neo"/>
                <a:ea typeface="Apple SD Gothic Neo"/>
                <a:cs typeface="Apple SD Gothic Neo"/>
              </a:defRPr>
            </a:lvl4pPr>
            <a:lvl5pPr>
              <a:defRPr sz="2475" b="0">
                <a:solidFill>
                  <a:srgbClr val="D8F1EF"/>
                </a:solidFill>
                <a:latin typeface="Apple SD Gothic Neo"/>
                <a:ea typeface="Apple SD Gothic Neo"/>
                <a:cs typeface="Apple SD Gothic Neo"/>
              </a:defRPr>
            </a:lvl5pPr>
            <a:lvl6pPr>
              <a:defRPr sz="2475" b="0">
                <a:solidFill>
                  <a:srgbClr val="D8F1EF"/>
                </a:solidFill>
                <a:latin typeface="Apple SD Gothic Neo"/>
                <a:ea typeface="Apple SD Gothic Neo"/>
                <a:cs typeface="Apple SD Gothic Neo"/>
              </a:defRPr>
            </a:lvl6pPr>
            <a:lvl7pPr>
              <a:defRPr sz="2475" b="0">
                <a:solidFill>
                  <a:srgbClr val="D8F1EF"/>
                </a:solidFill>
                <a:latin typeface="Apple SD Gothic Neo"/>
                <a:ea typeface="Apple SD Gothic Neo"/>
                <a:cs typeface="Apple SD Gothic Neo"/>
              </a:defRPr>
            </a:lvl7pPr>
            <a:lvl8pPr>
              <a:defRPr sz="2475" b="0">
                <a:solidFill>
                  <a:srgbClr val="D8F1EF"/>
                </a:solidFill>
                <a:latin typeface="Apple SD Gothic Neo"/>
                <a:ea typeface="Apple SD Gothic Neo"/>
                <a:cs typeface="Apple SD Gothic Neo"/>
              </a:defRPr>
            </a:lvl8pPr>
            <a:lvl9pPr>
              <a:defRPr sz="2475" b="0">
                <a:solidFill>
                  <a:srgbClr val="D8F1EF"/>
                </a:solidFill>
                <a:latin typeface="Apple SD Gothic Neo"/>
                <a:ea typeface="Apple SD Gothic Neo"/>
                <a:cs typeface="Apple SD Gothic Neo"/>
              </a:defRPr>
            </a:lvl9pPr>
          </a:lstStyle>
          <a:p xmlns:a="http://schemas.openxmlformats.org/drawingml/2006/main">
            <a:pPr>
              <a:defRPr sz="2475" b="0">
                <a:solidFill>
                  <a:srgbClr val="D8F1EF"/>
                </a:solidFill>
                <a:latin typeface="Apple SD Gothic Neo"/>
                <a:ea typeface="Apple SD Gothic Neo"/>
                <a:cs typeface="Apple SD Gothic Neo"/>
              </a:defRPr>
            </a:pPr>
            <a:r>
              <a:rPr sz="2475" b="0">
                <a:solidFill>
                  <a:srgbClr val="D8F1EF"/>
                </a:solidFill>
                <a:latin typeface="Apple SD Gothic Neo"/>
                <a:ea typeface="Apple SD Gothic Neo"/>
                <a:cs typeface="Apple SD Gothic Neo"/>
              </a:rPr>
              <a:t>데이터에 맞는 모델을 비교하고</a:t>
            </a:r>
          </a:p>
          <a:p xmlns:a="http://schemas.openxmlformats.org/drawingml/2006/main">
            <a:pPr>
              <a:defRPr sz="2475" b="0">
                <a:solidFill>
                  <a:srgbClr val="D8F1EF"/>
                </a:solidFill>
                <a:latin typeface="Apple SD Gothic Neo"/>
                <a:ea typeface="Apple SD Gothic Neo"/>
                <a:cs typeface="Apple SD Gothic Neo"/>
              </a:defRPr>
            </a:pPr>
            <a:r>
              <a:rPr sz="2475" b="0">
                <a:solidFill>
                  <a:srgbClr val="D8F1EF"/>
                </a:solidFill>
                <a:latin typeface="Apple SD Gothic Neo"/>
                <a:ea typeface="Apple SD Gothic Neo"/>
                <a:cs typeface="Apple SD Gothic Neo"/>
              </a:rPr>
              <a:t>검사 부담과 재학습 방식을 제안</a:t>
            </a:r>
          </a:p>
        </p:txBody>
      </p:sp>
      <p:sp>
        <p:nvSpPr>
          <p:cNvPr id="3" name="">
            <a:extLst xmlns:a="http://schemas.openxmlformats.org/drawingml/2006/main">
              <a:ext uri="{FF2B5EF4-FFF2-40B4-BE49-F238E27FC236}">
                <a16:creationId xmlns:a16="http://schemas.microsoft.com/office/drawing/2014/main" id="{54E805E6-2F70-4E86-ADDF-6F79EBC105EA}"/>
              </a:ext>
            </a:extLst>
          </p:cNvPr>
          <p:cNvSpPr>
            <a:spLocks xmlns:a="http://schemas.openxmlformats.org/drawingml/2006/main" noGrp="1"/>
          </p:cNvSpPr>
          <p:nvPr/>
        </p:nvSpPr>
        <p:spPr>
          <a:xfrm xmlns:a="http://schemas.openxmlformats.org/drawingml/2006/main">
            <a:off x="781050" y="5410200"/>
            <a:ext cx="1038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pple SD Gothic Neo"/>
                <a:ea typeface="Apple SD Gothic Neo"/>
                <a:cs typeface="Apple SD Gothic Neo"/>
              </a:defRPr>
            </a:defPPr>
            <a:lvl1pPr>
              <a:defRPr sz="1950" b="0">
                <a:solidFill>
                  <a:srgbClr val="FFFFFF"/>
                </a:solidFill>
                <a:latin typeface="Apple SD Gothic Neo"/>
                <a:ea typeface="Apple SD Gothic Neo"/>
                <a:cs typeface="Apple SD Gothic Neo"/>
              </a:defRPr>
            </a:lvl1pPr>
            <a:lvl2pPr>
              <a:defRPr sz="1950" b="0">
                <a:solidFill>
                  <a:srgbClr val="FFFFFF"/>
                </a:solidFill>
                <a:latin typeface="Apple SD Gothic Neo"/>
                <a:ea typeface="Apple SD Gothic Neo"/>
                <a:cs typeface="Apple SD Gothic Neo"/>
              </a:defRPr>
            </a:lvl2pPr>
            <a:lvl3pPr>
              <a:defRPr sz="1950" b="0">
                <a:solidFill>
                  <a:srgbClr val="FFFFFF"/>
                </a:solidFill>
                <a:latin typeface="Apple SD Gothic Neo"/>
                <a:ea typeface="Apple SD Gothic Neo"/>
                <a:cs typeface="Apple SD Gothic Neo"/>
              </a:defRPr>
            </a:lvl3pPr>
            <a:lvl4pPr>
              <a:defRPr sz="1950" b="0">
                <a:solidFill>
                  <a:srgbClr val="FFFFFF"/>
                </a:solidFill>
                <a:latin typeface="Apple SD Gothic Neo"/>
                <a:ea typeface="Apple SD Gothic Neo"/>
                <a:cs typeface="Apple SD Gothic Neo"/>
              </a:defRPr>
            </a:lvl4pPr>
            <a:lvl5pPr>
              <a:defRPr sz="1950" b="0">
                <a:solidFill>
                  <a:srgbClr val="FFFFFF"/>
                </a:solidFill>
                <a:latin typeface="Apple SD Gothic Neo"/>
                <a:ea typeface="Apple SD Gothic Neo"/>
                <a:cs typeface="Apple SD Gothic Neo"/>
              </a:defRPr>
            </a:lvl5pPr>
            <a:lvl6pPr>
              <a:defRPr sz="1950" b="0">
                <a:solidFill>
                  <a:srgbClr val="FFFFFF"/>
                </a:solidFill>
                <a:latin typeface="Apple SD Gothic Neo"/>
                <a:ea typeface="Apple SD Gothic Neo"/>
                <a:cs typeface="Apple SD Gothic Neo"/>
              </a:defRPr>
            </a:lvl6pPr>
            <a:lvl7pPr>
              <a:defRPr sz="1950" b="0">
                <a:solidFill>
                  <a:srgbClr val="FFFFFF"/>
                </a:solidFill>
                <a:latin typeface="Apple SD Gothic Neo"/>
                <a:ea typeface="Apple SD Gothic Neo"/>
                <a:cs typeface="Apple SD Gothic Neo"/>
              </a:defRPr>
            </a:lvl7pPr>
            <a:lvl8pPr>
              <a:defRPr sz="1950" b="0">
                <a:solidFill>
                  <a:srgbClr val="FFFFFF"/>
                </a:solidFill>
                <a:latin typeface="Apple SD Gothic Neo"/>
                <a:ea typeface="Apple SD Gothic Neo"/>
                <a:cs typeface="Apple SD Gothic Neo"/>
              </a:defRPr>
            </a:lvl8pPr>
            <a:lvl9pPr>
              <a:defRPr sz="1950" b="0">
                <a:solidFill>
                  <a:srgbClr val="FFFFFF"/>
                </a:solidFill>
                <a:latin typeface="Apple SD Gothic Neo"/>
                <a:ea typeface="Apple SD Gothic Neo"/>
                <a:cs typeface="Apple SD Gothic Neo"/>
              </a:defRPr>
            </a:lvl9pPr>
          </a:lstStyle>
          <a:p xmlns:a="http://schemas.openxmlformats.org/drawingml/2006/main">
            <a:pPr>
              <a:defRPr sz="1950" b="0">
                <a:solidFill>
                  <a:srgbClr val="FFFFFF"/>
                </a:solidFill>
                <a:latin typeface="Apple SD Gothic Neo"/>
                <a:ea typeface="Apple SD Gothic Neo"/>
                <a:cs typeface="Apple SD Gothic Neo"/>
              </a:defRPr>
            </a:pPr>
            <a:r>
              <a:rPr sz="1950" b="0">
                <a:solidFill>
                  <a:srgbClr val="FFFFFF"/>
                </a:solidFill>
                <a:latin typeface="Apple SD Gothic Neo"/>
                <a:ea typeface="Apple SD Gothic Neo"/>
                <a:cs typeface="Apple SD Gothic Neo"/>
              </a:rPr>
              <a:t>G045 김용찬   과제 2</a:t>
            </a:r>
          </a:p>
          <a:p xmlns:a="http://schemas.openxmlformats.org/drawingml/2006/main">
            <a:pPr>
              <a:defRPr sz="1950" b="0">
                <a:solidFill>
                  <a:srgbClr val="FFFFFF"/>
                </a:solidFill>
                <a:latin typeface="Apple SD Gothic Neo"/>
                <a:ea typeface="Apple SD Gothic Neo"/>
                <a:cs typeface="Apple SD Gothic Neo"/>
              </a:defRPr>
            </a:pPr>
            <a:r>
              <a:rPr sz="1950" b="0">
                <a:solidFill>
                  <a:srgbClr val="FFFFFF"/>
                </a:solidFill>
                <a:latin typeface="Apple SD Gothic Neo"/>
                <a:ea typeface="Apple SD Gothic Neo"/>
                <a:cs typeface="Apple SD Gothic Neo"/>
              </a:rPr>
              <a:t>SK AI Leader Academy   2026.10.20</a:t>
            </a:r>
          </a:p>
        </p:txBody>
      </p:sp>
    </p:spTree>
    <p:extLst>
      <p:ext uri="{BB962C8B-B14F-4D97-AF65-F5344CB8AC3E}">
        <p14:creationId xmlns:p14="http://schemas.microsoft.com/office/powerpoint/2010/main" val="380629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08EE337-316D-4631-BF1D-92396141845A}"/>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불량 발견과 정상 추가검사의 차이</a:t>
            </a:r>
          </a:p>
        </p:txBody>
      </p:sp>
      <p:sp>
        <p:nvSpPr>
          <p:cNvPr id="2" name="">
            <a:extLst xmlns:a="http://schemas.openxmlformats.org/drawingml/2006/main">
              <a:ext uri="{FF2B5EF4-FFF2-40B4-BE49-F238E27FC236}">
                <a16:creationId xmlns:a16="http://schemas.microsoft.com/office/drawing/2014/main" id="{2F085DE5-6623-4820-8170-C85C9B74E008}"/>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02</a:t>
            </a:r>
          </a:p>
        </p:txBody>
      </p:sp>
      <p:graphicFrame>
        <p:nvGraphicFramePr>
          <p:cNvPr id="3" name="">
            <a:extLst xmlns:a="http://schemas.openxmlformats.org/drawingml/2006/main">
              <a:ext uri="{FF2B5EF4-FFF2-40B4-BE49-F238E27FC236}">
                <a16:creationId xmlns:a16="http://schemas.microsoft.com/office/drawing/2014/main" id="{8D1E383E-3AED-4846-8B76-7E4A0841AD07}"/>
              </a:ext>
            </a:extLst>
          </p:cNvPr>
          <p:cNvGraphicFramePr/>
          <p:nvPr/>
        </p:nvGraphicFramePr>
        <p:xfrm>
          <a:off xmlns:a="http://schemas.openxmlformats.org/drawingml/2006/main" x="685800" y="1571625"/>
          <a:ext xmlns:a="http://schemas.openxmlformats.org/drawingml/2006/main" cx="10820400" cy="3143250"/>
        </p:xfrm>
        <a:graphic xmlns:a="http://schemas.openxmlformats.org/drawingml/2006/main">
          <a:graphicData uri="http://schemas.openxmlformats.org/drawingml/2006/table">
            <a:tbl>
              <a:tblPr/>
              <a:tblGrid>
                <a:gridCol w="2381250"/>
                <a:gridCol w="4191000"/>
                <a:gridCol w="4248150"/>
              </a:tblGrid>
              <a:tr h="1047750">
                <a:tc>
                  <a:txBody>
                    <a:bodyPr/>
                    <a:lstStyle/>
                    <a:p>
                      <a:r>
                        <a:rPr sz="2175" b="1">
                          <a:solidFill>
                            <a:srgbClr val="FFFFFF"/>
                          </a:solidFill>
                          <a:latin typeface="Apple SD Gothic Neo"/>
                          <a:ea typeface="Apple SD Gothic Neo"/>
                          <a:cs typeface="Apple SD Gothic Neo"/>
                        </a:rPr>
                        <a:t>실제 제품</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175" b="1">
                          <a:solidFill>
                            <a:srgbClr val="FFFFFF"/>
                          </a:solidFill>
                          <a:latin typeface="Apple SD Gothic Neo"/>
                          <a:ea typeface="Apple SD Gothic Neo"/>
                          <a:cs typeface="Apple SD Gothic Neo"/>
                        </a:rPr>
                        <a:t>검사 모델 판단</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175" b="1">
                          <a:solidFill>
                            <a:srgbClr val="FFFFFF"/>
                          </a:solidFill>
                          <a:latin typeface="Apple SD Gothic Neo"/>
                          <a:ea typeface="Apple SD Gothic Neo"/>
                          <a:cs typeface="Apple SD Gothic Neo"/>
                        </a:rPr>
                        <a:t>쉽게 읽는 비율</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1047750">
                <a:tc>
                  <a:txBody>
                    <a:bodyPr/>
                    <a:lstStyle/>
                    <a:p>
                      <a:r>
                        <a:rPr sz="2175" b="0">
                          <a:solidFill>
                            <a:srgbClr val="15364A"/>
                          </a:solidFill>
                          <a:latin typeface="Apple SD Gothic Neo"/>
                          <a:ea typeface="Apple SD Gothic Neo"/>
                          <a:cs typeface="Apple SD Gothic Neo"/>
                        </a:rPr>
                        <a:t>불량 10개</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175" b="0">
                          <a:solidFill>
                            <a:srgbClr val="15364A"/>
                          </a:solidFill>
                          <a:latin typeface="Apple SD Gothic Neo"/>
                          <a:ea typeface="Apple SD Gothic Neo"/>
                          <a:cs typeface="Apple SD Gothic Neo"/>
                        </a:rPr>
                        <a:t>8개 발견 / 2개 놓침</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175" b="0">
                          <a:solidFill>
                            <a:srgbClr val="15364A"/>
                          </a:solidFill>
                          <a:latin typeface="Apple SD Gothic Neo"/>
                          <a:ea typeface="Apple SD Gothic Neo"/>
                          <a:cs typeface="Apple SD Gothic Neo"/>
                        </a:rPr>
                        <a:t>불량 발견 80%</a:t>
                      </a:r>
                    </a:p>
                    <a:p>
                      <a:r>
                        <a:rPr sz="2175" b="0">
                          <a:solidFill>
                            <a:srgbClr val="15364A"/>
                          </a:solidFill>
                          <a:latin typeface="Apple SD Gothic Neo"/>
                          <a:ea typeface="Apple SD Gothic Neo"/>
                          <a:cs typeface="Apple SD Gothic Neo"/>
                        </a:rPr>
                        <a:t>Recall</a:t>
                      </a:r>
                    </a:p>
                  </a:txBody>
                  <a:tcPr marL="91440" marR="91440" marT="45720" marB="45720">
                    <a:lnR w="9525">
                      <a:solidFill>
                        <a:srgbClr val="D6E1E6"/>
                      </a:solidFill>
                      <a:prstDash val="solid"/>
                    </a:lnR>
                    <a:lnB w="9525">
                      <a:solidFill>
                        <a:srgbClr val="D6E1E6"/>
                      </a:solidFill>
                      <a:prstDash val="solid"/>
                    </a:lnB>
                    <a:solidFill>
                      <a:srgbClr val="FFFFFF"/>
                    </a:solidFill>
                  </a:tcPr>
                </a:tc>
              </a:tr>
              <a:tr h="1047750">
                <a:tc>
                  <a:txBody>
                    <a:bodyPr/>
                    <a:lstStyle/>
                    <a:p>
                      <a:r>
                        <a:rPr sz="2175" b="0">
                          <a:solidFill>
                            <a:srgbClr val="15364A"/>
                          </a:solidFill>
                          <a:latin typeface="Apple SD Gothic Neo"/>
                          <a:ea typeface="Apple SD Gothic Neo"/>
                          <a:cs typeface="Apple SD Gothic Neo"/>
                        </a:rPr>
                        <a:t>정상 100개</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175" b="0">
                          <a:solidFill>
                            <a:srgbClr val="15364A"/>
                          </a:solidFill>
                          <a:latin typeface="Apple SD Gothic Neo"/>
                          <a:ea typeface="Apple SD Gothic Neo"/>
                          <a:cs typeface="Apple SD Gothic Neo"/>
                        </a:rPr>
                        <a:t>5개 추가검사 / 95개 통과</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2175" b="0">
                          <a:solidFill>
                            <a:srgbClr val="15364A"/>
                          </a:solidFill>
                          <a:latin typeface="Apple SD Gothic Neo"/>
                          <a:ea typeface="Apple SD Gothic Neo"/>
                          <a:cs typeface="Apple SD Gothic Neo"/>
                        </a:rPr>
                        <a:t>정상 추가검사 5%</a:t>
                      </a:r>
                    </a:p>
                    <a:p>
                      <a:r>
                        <a:rPr sz="2175" b="0">
                          <a:solidFill>
                            <a:srgbClr val="15364A"/>
                          </a:solidFill>
                          <a:latin typeface="Apple SD Gothic Neo"/>
                          <a:ea typeface="Apple SD Gothic Neo"/>
                          <a:cs typeface="Apple SD Gothic Neo"/>
                        </a:rPr>
                        <a:t>FPR</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4" name="">
            <a:extLst xmlns:a="http://schemas.openxmlformats.org/drawingml/2006/main">
              <a:ext uri="{FF2B5EF4-FFF2-40B4-BE49-F238E27FC236}">
                <a16:creationId xmlns:a16="http://schemas.microsoft.com/office/drawing/2014/main" id="{CB058F65-13A4-4F07-AF05-F12C0F284065}"/>
              </a:ext>
            </a:extLst>
          </p:cNvPr>
          <p:cNvSpPr>
            <a:spLocks xmlns:a="http://schemas.openxmlformats.org/drawingml/2006/main" noGrp="1"/>
          </p:cNvSpPr>
          <p:nvPr/>
        </p:nvSpPr>
        <p:spPr>
          <a:xfrm xmlns:a="http://schemas.openxmlformats.org/drawingml/2006/main">
            <a:off x="723900" y="50958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87E83"/>
                </a:solidFill>
                <a:latin typeface="Apple SD Gothic Neo"/>
                <a:ea typeface="Apple SD Gothic Neo"/>
                <a:cs typeface="Apple SD Gothic Neo"/>
              </a:defRPr>
            </a:defPPr>
            <a:lvl1pPr>
              <a:defRPr sz="2325" b="0">
                <a:solidFill>
                  <a:srgbClr val="087E83"/>
                </a:solidFill>
                <a:latin typeface="Apple SD Gothic Neo"/>
                <a:ea typeface="Apple SD Gothic Neo"/>
                <a:cs typeface="Apple SD Gothic Neo"/>
              </a:defRPr>
            </a:lvl1pPr>
            <a:lvl2pPr>
              <a:defRPr sz="2325" b="0">
                <a:solidFill>
                  <a:srgbClr val="087E83"/>
                </a:solidFill>
                <a:latin typeface="Apple SD Gothic Neo"/>
                <a:ea typeface="Apple SD Gothic Neo"/>
                <a:cs typeface="Apple SD Gothic Neo"/>
              </a:defRPr>
            </a:lvl2pPr>
            <a:lvl3pPr>
              <a:defRPr sz="2325" b="0">
                <a:solidFill>
                  <a:srgbClr val="087E83"/>
                </a:solidFill>
                <a:latin typeface="Apple SD Gothic Neo"/>
                <a:ea typeface="Apple SD Gothic Neo"/>
                <a:cs typeface="Apple SD Gothic Neo"/>
              </a:defRPr>
            </a:lvl3pPr>
            <a:lvl4pPr>
              <a:defRPr sz="2325" b="0">
                <a:solidFill>
                  <a:srgbClr val="087E83"/>
                </a:solidFill>
                <a:latin typeface="Apple SD Gothic Neo"/>
                <a:ea typeface="Apple SD Gothic Neo"/>
                <a:cs typeface="Apple SD Gothic Neo"/>
              </a:defRPr>
            </a:lvl4pPr>
            <a:lvl5pPr>
              <a:defRPr sz="2325" b="0">
                <a:solidFill>
                  <a:srgbClr val="087E83"/>
                </a:solidFill>
                <a:latin typeface="Apple SD Gothic Neo"/>
                <a:ea typeface="Apple SD Gothic Neo"/>
                <a:cs typeface="Apple SD Gothic Neo"/>
              </a:defRPr>
            </a:lvl5pPr>
            <a:lvl6pPr>
              <a:defRPr sz="2325" b="0">
                <a:solidFill>
                  <a:srgbClr val="087E83"/>
                </a:solidFill>
                <a:latin typeface="Apple SD Gothic Neo"/>
                <a:ea typeface="Apple SD Gothic Neo"/>
                <a:cs typeface="Apple SD Gothic Neo"/>
              </a:defRPr>
            </a:lvl6pPr>
            <a:lvl7pPr>
              <a:defRPr sz="2325" b="0">
                <a:solidFill>
                  <a:srgbClr val="087E83"/>
                </a:solidFill>
                <a:latin typeface="Apple SD Gothic Neo"/>
                <a:ea typeface="Apple SD Gothic Neo"/>
                <a:cs typeface="Apple SD Gothic Neo"/>
              </a:defRPr>
            </a:lvl7pPr>
            <a:lvl8pPr>
              <a:defRPr sz="2325" b="0">
                <a:solidFill>
                  <a:srgbClr val="087E83"/>
                </a:solidFill>
                <a:latin typeface="Apple SD Gothic Neo"/>
                <a:ea typeface="Apple SD Gothic Neo"/>
                <a:cs typeface="Apple SD Gothic Neo"/>
              </a:defRPr>
            </a:lvl8pPr>
            <a:lvl9pPr>
              <a:defRPr sz="2325" b="0">
                <a:solidFill>
                  <a:srgbClr val="087E83"/>
                </a:solidFill>
                <a:latin typeface="Apple SD Gothic Neo"/>
                <a:ea typeface="Apple SD Gothic Neo"/>
                <a:cs typeface="Apple SD Gothic Neo"/>
              </a:defRPr>
            </a:lvl9pPr>
          </a:lstStyle>
          <a:p xmlns:a="http://schemas.openxmlformats.org/drawingml/2006/main">
            <a:pPr>
              <a:defRPr sz="2325" b="0">
                <a:solidFill>
                  <a:srgbClr val="087E83"/>
                </a:solidFill>
                <a:latin typeface="Apple SD Gothic Neo"/>
                <a:ea typeface="Apple SD Gothic Neo"/>
                <a:cs typeface="Apple SD Gothic Neo"/>
              </a:defRPr>
            </a:pPr>
            <a:r>
              <a:rPr sz="2325" b="0">
                <a:solidFill>
                  <a:srgbClr val="087E83"/>
                </a:solidFill>
                <a:latin typeface="Apple SD Gothic Neo"/>
                <a:ea typeface="Apple SD Gothic Neo"/>
                <a:cs typeface="Apple SD Gothic Neo"/>
              </a:rPr>
              <a:t>정상 추가검사 허용 15% = 정상 100개 중 최대 15개</a:t>
            </a:r>
          </a:p>
        </p:txBody>
      </p:sp>
      <p:sp>
        <p:nvSpPr>
          <p:cNvPr id="5" name="">
            <a:extLst xmlns:a="http://schemas.openxmlformats.org/drawingml/2006/main">
              <a:ext uri="{FF2B5EF4-FFF2-40B4-BE49-F238E27FC236}">
                <a16:creationId xmlns:a16="http://schemas.microsoft.com/office/drawing/2014/main" id="{0BC42695-173F-4013-91DC-1692F80B7731}"/>
              </a:ext>
            </a:extLst>
          </p:cNvPr>
          <p:cNvSpPr>
            <a:spLocks xmlns:a="http://schemas.openxmlformats.org/drawingml/2006/main" noGrp="1"/>
          </p:cNvSpPr>
          <p:nvPr/>
        </p:nvSpPr>
        <p:spPr>
          <a:xfrm xmlns:a="http://schemas.openxmlformats.org/drawingml/2006/main">
            <a:off x="723900" y="590550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677"/>
                </a:solidFill>
                <a:latin typeface="Apple SD Gothic Neo"/>
                <a:ea typeface="Apple SD Gothic Neo"/>
                <a:cs typeface="Apple SD Gothic Neo"/>
              </a:defRPr>
            </a:defPPr>
            <a:lvl1pPr>
              <a:defRPr sz="1725" b="0">
                <a:solidFill>
                  <a:srgbClr val="526677"/>
                </a:solidFill>
                <a:latin typeface="Apple SD Gothic Neo"/>
                <a:ea typeface="Apple SD Gothic Neo"/>
                <a:cs typeface="Apple SD Gothic Neo"/>
              </a:defRPr>
            </a:lvl1pPr>
            <a:lvl2pPr>
              <a:defRPr sz="1725" b="0">
                <a:solidFill>
                  <a:srgbClr val="526677"/>
                </a:solidFill>
                <a:latin typeface="Apple SD Gothic Neo"/>
                <a:ea typeface="Apple SD Gothic Neo"/>
                <a:cs typeface="Apple SD Gothic Neo"/>
              </a:defRPr>
            </a:lvl2pPr>
            <a:lvl3pPr>
              <a:defRPr sz="1725" b="0">
                <a:solidFill>
                  <a:srgbClr val="526677"/>
                </a:solidFill>
                <a:latin typeface="Apple SD Gothic Neo"/>
                <a:ea typeface="Apple SD Gothic Neo"/>
                <a:cs typeface="Apple SD Gothic Neo"/>
              </a:defRPr>
            </a:lvl3pPr>
            <a:lvl4pPr>
              <a:defRPr sz="1725" b="0">
                <a:solidFill>
                  <a:srgbClr val="526677"/>
                </a:solidFill>
                <a:latin typeface="Apple SD Gothic Neo"/>
                <a:ea typeface="Apple SD Gothic Neo"/>
                <a:cs typeface="Apple SD Gothic Neo"/>
              </a:defRPr>
            </a:lvl4pPr>
            <a:lvl5pPr>
              <a:defRPr sz="1725" b="0">
                <a:solidFill>
                  <a:srgbClr val="526677"/>
                </a:solidFill>
                <a:latin typeface="Apple SD Gothic Neo"/>
                <a:ea typeface="Apple SD Gothic Neo"/>
                <a:cs typeface="Apple SD Gothic Neo"/>
              </a:defRPr>
            </a:lvl5pPr>
            <a:lvl6pPr>
              <a:defRPr sz="1725" b="0">
                <a:solidFill>
                  <a:srgbClr val="526677"/>
                </a:solidFill>
                <a:latin typeface="Apple SD Gothic Neo"/>
                <a:ea typeface="Apple SD Gothic Neo"/>
                <a:cs typeface="Apple SD Gothic Neo"/>
              </a:defRPr>
            </a:lvl6pPr>
            <a:lvl7pPr>
              <a:defRPr sz="1725" b="0">
                <a:solidFill>
                  <a:srgbClr val="526677"/>
                </a:solidFill>
                <a:latin typeface="Apple SD Gothic Neo"/>
                <a:ea typeface="Apple SD Gothic Neo"/>
                <a:cs typeface="Apple SD Gothic Neo"/>
              </a:defRPr>
            </a:lvl7pPr>
            <a:lvl8pPr>
              <a:defRPr sz="1725" b="0">
                <a:solidFill>
                  <a:srgbClr val="526677"/>
                </a:solidFill>
                <a:latin typeface="Apple SD Gothic Neo"/>
                <a:ea typeface="Apple SD Gothic Neo"/>
                <a:cs typeface="Apple SD Gothic Neo"/>
              </a:defRPr>
            </a:lvl8pPr>
            <a:lvl9pPr>
              <a:defRPr sz="1725" b="0">
                <a:solidFill>
                  <a:srgbClr val="526677"/>
                </a:solidFill>
                <a:latin typeface="Apple SD Gothic Neo"/>
                <a:ea typeface="Apple SD Gothic Neo"/>
                <a:cs typeface="Apple SD Gothic Neo"/>
              </a:defRPr>
            </a:lvl9pPr>
          </a:lstStyle>
          <a:p xmlns:a="http://schemas.openxmlformats.org/drawingml/2006/main">
            <a:pPr>
              <a:defRPr sz="1725" b="0">
                <a:solidFill>
                  <a:srgbClr val="526677"/>
                </a:solidFill>
                <a:latin typeface="Apple SD Gothic Neo"/>
                <a:ea typeface="Apple SD Gothic Neo"/>
                <a:cs typeface="Apple SD Gothic Neo"/>
              </a:defRPr>
            </a:pPr>
            <a:r>
              <a:rPr sz="1725" b="0">
                <a:solidFill>
                  <a:srgbClr val="526677"/>
                </a:solidFill>
                <a:latin typeface="Apple SD Gothic Neo"/>
                <a:ea typeface="Apple SD Gothic Neo"/>
                <a:cs typeface="Apple SD Gothic Neo"/>
              </a:rPr>
              <a:t>이 장의 건수는 용어 설명용 예시</a:t>
            </a:r>
          </a:p>
        </p:txBody>
      </p:sp>
    </p:spTree>
    <p:extLst>
      <p:ext uri="{BB962C8B-B14F-4D97-AF65-F5344CB8AC3E}">
        <p14:creationId xmlns:p14="http://schemas.microsoft.com/office/powerpoint/2010/main" val="140127339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AE6A745-A96C-41C3-B3C7-A7CC627B1619}"/>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Agent와 엔지니어의 역할</a:t>
            </a:r>
          </a:p>
        </p:txBody>
      </p:sp>
      <p:sp>
        <p:nvSpPr>
          <p:cNvPr id="2" name="">
            <a:extLst xmlns:a="http://schemas.openxmlformats.org/drawingml/2006/main">
              <a:ext uri="{FF2B5EF4-FFF2-40B4-BE49-F238E27FC236}">
                <a16:creationId xmlns:a16="http://schemas.microsoft.com/office/drawing/2014/main" id="{ACAED51D-09AC-4025-8E21-056F4C033D8C}"/>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03</a:t>
            </a:r>
          </a:p>
        </p:txBody>
      </p:sp>
      <p:graphicFrame>
        <p:nvGraphicFramePr>
          <p:cNvPr id="3" name="">
            <a:extLst xmlns:a="http://schemas.openxmlformats.org/drawingml/2006/main">
              <a:ext uri="{FF2B5EF4-FFF2-40B4-BE49-F238E27FC236}">
                <a16:creationId xmlns:a16="http://schemas.microsoft.com/office/drawing/2014/main" id="{886A14AD-F52C-4DAC-9909-3A4FC04656DE}"/>
              </a:ext>
            </a:extLst>
          </p:cNvPr>
          <p:cNvGraphicFramePr/>
          <p:nvPr/>
        </p:nvGraphicFramePr>
        <p:xfrm>
          <a:off xmlns:a="http://schemas.openxmlformats.org/drawingml/2006/main" x="685800" y="1524000"/>
          <a:ext xmlns:a="http://schemas.openxmlformats.org/drawingml/2006/main" cx="10820400" cy="3810000"/>
        </p:xfrm>
        <a:graphic xmlns:a="http://schemas.openxmlformats.org/drawingml/2006/main">
          <a:graphicData uri="http://schemas.openxmlformats.org/drawingml/2006/table">
            <a:tbl>
              <a:tblPr/>
              <a:tblGrid>
                <a:gridCol w="2381250"/>
                <a:gridCol w="8439150"/>
              </a:tblGrid>
              <a:tr h="952500">
                <a:tc>
                  <a:txBody>
                    <a:bodyPr/>
                    <a:lstStyle/>
                    <a:p>
                      <a:r>
                        <a:rPr sz="2175" b="1">
                          <a:solidFill>
                            <a:srgbClr val="FFFFFF"/>
                          </a:solidFill>
                          <a:latin typeface="Apple SD Gothic Neo"/>
                          <a:ea typeface="Apple SD Gothic Neo"/>
                          <a:cs typeface="Apple SD Gothic Neo"/>
                        </a:rPr>
                        <a:t>담당</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175" b="1">
                          <a:solidFill>
                            <a:srgbClr val="FFFFFF"/>
                          </a:solidFill>
                          <a:latin typeface="Apple SD Gothic Neo"/>
                          <a:ea typeface="Apple SD Gothic Neo"/>
                          <a:cs typeface="Apple SD Gothic Neo"/>
                        </a:rPr>
                        <a:t>하는 일</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952500">
                <a:tc>
                  <a:txBody>
                    <a:bodyPr/>
                    <a:lstStyle/>
                    <a:p>
                      <a:r>
                        <a:rPr sz="2175" b="0">
                          <a:solidFill>
                            <a:srgbClr val="15364A"/>
                          </a:solidFill>
                          <a:latin typeface="Apple SD Gothic Neo"/>
                          <a:ea typeface="Apple SD Gothic Neo"/>
                          <a:cs typeface="Apple SD Gothic Neo"/>
                        </a:rPr>
                        <a:t>Agent</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175" b="0">
                          <a:solidFill>
                            <a:srgbClr val="15364A"/>
                          </a:solidFill>
                          <a:latin typeface="Apple SD Gothic Neo"/>
                          <a:ea typeface="Apple SD Gothic Neo"/>
                          <a:cs typeface="Apple SD Gothic Neo"/>
                        </a:rPr>
                        <a:t>데이터 상태와 근거 확인, 비교 계획 제안</a:t>
                      </a:r>
                    </a:p>
                    <a:p>
                      <a:r>
                        <a:rPr sz="2175" b="0">
                          <a:solidFill>
                            <a:srgbClr val="15364A"/>
                          </a:solidFill>
                          <a:latin typeface="Apple SD Gothic Neo"/>
                          <a:ea typeface="Apple SD Gothic Neo"/>
                          <a:cs typeface="Apple SD Gothic Neo"/>
                        </a:rPr>
                        <a:t>새 배치 성능 점검과 재학습 제안</a:t>
                      </a:r>
                    </a:p>
                  </a:txBody>
                  <a:tcPr marL="91440" marR="91440" marT="45720" marB="45720">
                    <a:lnR w="9525">
                      <a:solidFill>
                        <a:srgbClr val="D6E1E6"/>
                      </a:solidFill>
                      <a:prstDash val="solid"/>
                    </a:lnR>
                    <a:lnB w="9525">
                      <a:solidFill>
                        <a:srgbClr val="D6E1E6"/>
                      </a:solidFill>
                      <a:prstDash val="solid"/>
                    </a:lnB>
                    <a:solidFill>
                      <a:srgbClr val="FFFFFF"/>
                    </a:solidFill>
                  </a:tcPr>
                </a:tc>
              </a:tr>
              <a:tr h="952500">
                <a:tc>
                  <a:txBody>
                    <a:bodyPr/>
                    <a:lstStyle/>
                    <a:p>
                      <a:r>
                        <a:rPr sz="2175" b="0">
                          <a:solidFill>
                            <a:srgbClr val="15364A"/>
                          </a:solidFill>
                          <a:latin typeface="Apple SD Gothic Neo"/>
                          <a:ea typeface="Apple SD Gothic Neo"/>
                          <a:cs typeface="Apple SD Gothic Neo"/>
                        </a:rPr>
                        <a:t>엔지니어</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175" b="0">
                          <a:solidFill>
                            <a:srgbClr val="15364A"/>
                          </a:solidFill>
                          <a:latin typeface="Apple SD Gothic Neo"/>
                          <a:ea typeface="Apple SD Gothic Neo"/>
                          <a:cs typeface="Apple SD Gothic Neo"/>
                        </a:rPr>
                        <a:t>비교 계획·실험 예산·허용 기준 확인 후 승인</a:t>
                      </a:r>
                    </a:p>
                  </a:txBody>
                  <a:tcPr marL="91440" marR="91440" marT="45720" marB="45720">
                    <a:lnR w="9525">
                      <a:solidFill>
                        <a:srgbClr val="D6E1E6"/>
                      </a:solidFill>
                      <a:prstDash val="solid"/>
                    </a:lnR>
                    <a:lnB w="9525">
                      <a:solidFill>
                        <a:srgbClr val="D6E1E6"/>
                      </a:solidFill>
                      <a:prstDash val="solid"/>
                    </a:lnB>
                    <a:solidFill>
                      <a:srgbClr val="F1F6F7"/>
                    </a:solidFill>
                  </a:tcPr>
                </a:tc>
              </a:tr>
              <a:tr h="952500">
                <a:tc>
                  <a:txBody>
                    <a:bodyPr/>
                    <a:lstStyle/>
                    <a:p>
                      <a:r>
                        <a:rPr sz="2175" b="0">
                          <a:solidFill>
                            <a:srgbClr val="15364A"/>
                          </a:solidFill>
                          <a:latin typeface="Apple SD Gothic Neo"/>
                          <a:ea typeface="Apple SD Gothic Neo"/>
                          <a:cs typeface="Apple SD Gothic Neo"/>
                        </a:rPr>
                        <a:t>승인 후 프로그램</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175" b="0">
                          <a:solidFill>
                            <a:srgbClr val="15364A"/>
                          </a:solidFill>
                          <a:latin typeface="Apple SD Gothic Neo"/>
                          <a:ea typeface="Apple SD Gothic Neo"/>
                          <a:cs typeface="Apple SD Gothic Neo"/>
                        </a:rPr>
                        <a:t>실제 학습·평가와 후보 버전 저장</a:t>
                      </a:r>
                    </a:p>
                    <a:p>
                      <a:r>
                        <a:rPr sz="2175" b="0">
                          <a:solidFill>
                            <a:srgbClr val="15364A"/>
                          </a:solidFill>
                          <a:latin typeface="Apple SD Gothic Neo"/>
                          <a:ea typeface="Apple SD Gothic Neo"/>
                          <a:cs typeface="Apple SD Gothic Neo"/>
                        </a:rPr>
                        <a:t>기준 미달 시 적용 보류</a:t>
                      </a:r>
                    </a:p>
                  </a:txBody>
                  <a:tcPr marL="91440" marR="91440" marT="45720" marB="45720">
                    <a:lnR w="9525">
                      <a:solidFill>
                        <a:srgbClr val="D6E1E6"/>
                      </a:solidFill>
                      <a:prstDash val="solid"/>
                    </a:lnR>
                    <a:lnB w="9525">
                      <a:solidFill>
                        <a:srgbClr val="D6E1E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70C98FDF-9FD7-4A22-91F8-FE67BA05B2D2}"/>
              </a:ext>
            </a:extLst>
          </p:cNvPr>
          <p:cNvSpPr>
            <a:spLocks xmlns:a="http://schemas.openxmlformats.org/drawingml/2006/main" noGrp="1"/>
          </p:cNvSpPr>
          <p:nvPr/>
        </p:nvSpPr>
        <p:spPr>
          <a:xfrm xmlns:a="http://schemas.openxmlformats.org/drawingml/2006/main">
            <a:off x="723900" y="56197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87E83"/>
                </a:solidFill>
                <a:latin typeface="Apple SD Gothic Neo"/>
                <a:ea typeface="Apple SD Gothic Neo"/>
                <a:cs typeface="Apple SD Gothic Neo"/>
              </a:defRPr>
            </a:defPPr>
            <a:lvl1pPr>
              <a:defRPr sz="2175" b="0">
                <a:solidFill>
                  <a:srgbClr val="087E83"/>
                </a:solidFill>
                <a:latin typeface="Apple SD Gothic Neo"/>
                <a:ea typeface="Apple SD Gothic Neo"/>
                <a:cs typeface="Apple SD Gothic Neo"/>
              </a:defRPr>
            </a:lvl1pPr>
            <a:lvl2pPr>
              <a:defRPr sz="2175" b="0">
                <a:solidFill>
                  <a:srgbClr val="087E83"/>
                </a:solidFill>
                <a:latin typeface="Apple SD Gothic Neo"/>
                <a:ea typeface="Apple SD Gothic Neo"/>
                <a:cs typeface="Apple SD Gothic Neo"/>
              </a:defRPr>
            </a:lvl2pPr>
            <a:lvl3pPr>
              <a:defRPr sz="2175" b="0">
                <a:solidFill>
                  <a:srgbClr val="087E83"/>
                </a:solidFill>
                <a:latin typeface="Apple SD Gothic Neo"/>
                <a:ea typeface="Apple SD Gothic Neo"/>
                <a:cs typeface="Apple SD Gothic Neo"/>
              </a:defRPr>
            </a:lvl3pPr>
            <a:lvl4pPr>
              <a:defRPr sz="2175" b="0">
                <a:solidFill>
                  <a:srgbClr val="087E83"/>
                </a:solidFill>
                <a:latin typeface="Apple SD Gothic Neo"/>
                <a:ea typeface="Apple SD Gothic Neo"/>
                <a:cs typeface="Apple SD Gothic Neo"/>
              </a:defRPr>
            </a:lvl4pPr>
            <a:lvl5pPr>
              <a:defRPr sz="2175" b="0">
                <a:solidFill>
                  <a:srgbClr val="087E83"/>
                </a:solidFill>
                <a:latin typeface="Apple SD Gothic Neo"/>
                <a:ea typeface="Apple SD Gothic Neo"/>
                <a:cs typeface="Apple SD Gothic Neo"/>
              </a:defRPr>
            </a:lvl5pPr>
            <a:lvl6pPr>
              <a:defRPr sz="2175" b="0">
                <a:solidFill>
                  <a:srgbClr val="087E83"/>
                </a:solidFill>
                <a:latin typeface="Apple SD Gothic Neo"/>
                <a:ea typeface="Apple SD Gothic Neo"/>
                <a:cs typeface="Apple SD Gothic Neo"/>
              </a:defRPr>
            </a:lvl6pPr>
            <a:lvl7pPr>
              <a:defRPr sz="2175" b="0">
                <a:solidFill>
                  <a:srgbClr val="087E83"/>
                </a:solidFill>
                <a:latin typeface="Apple SD Gothic Neo"/>
                <a:ea typeface="Apple SD Gothic Neo"/>
                <a:cs typeface="Apple SD Gothic Neo"/>
              </a:defRPr>
            </a:lvl7pPr>
            <a:lvl8pPr>
              <a:defRPr sz="2175" b="0">
                <a:solidFill>
                  <a:srgbClr val="087E83"/>
                </a:solidFill>
                <a:latin typeface="Apple SD Gothic Neo"/>
                <a:ea typeface="Apple SD Gothic Neo"/>
                <a:cs typeface="Apple SD Gothic Neo"/>
              </a:defRPr>
            </a:lvl8pPr>
            <a:lvl9pPr>
              <a:defRPr sz="2175" b="0">
                <a:solidFill>
                  <a:srgbClr val="087E83"/>
                </a:solidFill>
                <a:latin typeface="Apple SD Gothic Neo"/>
                <a:ea typeface="Apple SD Gothic Neo"/>
                <a:cs typeface="Apple SD Gothic Neo"/>
              </a:defRPr>
            </a:lvl9pPr>
          </a:lstStyle>
          <a:p xmlns:a="http://schemas.openxmlformats.org/drawingml/2006/main">
            <a:pPr>
              <a:defRPr sz="2175" b="0">
                <a:solidFill>
                  <a:srgbClr val="087E83"/>
                </a:solidFill>
                <a:latin typeface="Apple SD Gothic Neo"/>
                <a:ea typeface="Apple SD Gothic Neo"/>
                <a:cs typeface="Apple SD Gothic Neo"/>
              </a:defRPr>
            </a:pPr>
            <a:r>
              <a:rPr sz="2175" b="0">
                <a:solidFill>
                  <a:srgbClr val="087E83"/>
                </a:solidFill>
                <a:latin typeface="Apple SD Gothic Neo"/>
                <a:ea typeface="Apple SD Gothic Neo"/>
                <a:cs typeface="Apple SD Gothic Neo"/>
              </a:rPr>
              <a:t>모델·근거·수치가 같은 승인 계획에 기록됩니다</a:t>
            </a:r>
          </a:p>
        </p:txBody>
      </p:sp>
    </p:spTree>
    <p:extLst>
      <p:ext uri="{BB962C8B-B14F-4D97-AF65-F5344CB8AC3E}">
        <p14:creationId xmlns:p14="http://schemas.microsoft.com/office/powerpoint/2010/main" val="5699355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EE8612-C472-4039-9908-31A85F95A718}"/>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데이터에 맞춘 전처리와 모델</a:t>
            </a:r>
          </a:p>
        </p:txBody>
      </p:sp>
      <p:sp>
        <p:nvSpPr>
          <p:cNvPr id="2" name="">
            <a:extLst xmlns:a="http://schemas.openxmlformats.org/drawingml/2006/main">
              <a:ext uri="{FF2B5EF4-FFF2-40B4-BE49-F238E27FC236}">
                <a16:creationId xmlns:a16="http://schemas.microsoft.com/office/drawing/2014/main" id="{D02D813B-0374-4E18-ADE5-FB3DB2697B15}"/>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04</a:t>
            </a:r>
          </a:p>
        </p:txBody>
      </p:sp>
      <p:graphicFrame>
        <p:nvGraphicFramePr>
          <p:cNvPr id="3" name="">
            <a:extLst xmlns:a="http://schemas.openxmlformats.org/drawingml/2006/main">
              <a:ext uri="{FF2B5EF4-FFF2-40B4-BE49-F238E27FC236}">
                <a16:creationId xmlns:a16="http://schemas.microsoft.com/office/drawing/2014/main" id="{A64DB8CA-C0ED-4C89-9EFF-22FF449027FA}"/>
              </a:ext>
            </a:extLst>
          </p:cNvPr>
          <p:cNvGraphicFramePr/>
          <p:nvPr/>
        </p:nvGraphicFramePr>
        <p:xfrm>
          <a:off xmlns:a="http://schemas.openxmlformats.org/drawingml/2006/main" x="685800" y="1524000"/>
          <a:ext xmlns:a="http://schemas.openxmlformats.org/drawingml/2006/main" cx="10820400" cy="3619500"/>
        </p:xfrm>
        <a:graphic xmlns:a="http://schemas.openxmlformats.org/drawingml/2006/main">
          <a:graphicData uri="http://schemas.openxmlformats.org/drawingml/2006/table">
            <a:tbl>
              <a:tblPr/>
              <a:tblGrid>
                <a:gridCol w="2762250"/>
                <a:gridCol w="4572000"/>
                <a:gridCol w="3486150"/>
              </a:tblGrid>
              <a:tr h="904875">
                <a:tc>
                  <a:txBody>
                    <a:bodyPr/>
                    <a:lstStyle/>
                    <a:p>
                      <a:r>
                        <a:rPr sz="2025" b="1">
                          <a:solidFill>
                            <a:srgbClr val="FFFFFF"/>
                          </a:solidFill>
                          <a:latin typeface="Apple SD Gothic Neo"/>
                          <a:ea typeface="Apple SD Gothic Neo"/>
                          <a:cs typeface="Apple SD Gothic Neo"/>
                        </a:rPr>
                        <a:t>관측한 데이터 특징</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025" b="1">
                          <a:solidFill>
                            <a:srgbClr val="FFFFFF"/>
                          </a:solidFill>
                          <a:latin typeface="Apple SD Gothic Neo"/>
                          <a:ea typeface="Apple SD Gothic Neo"/>
                          <a:cs typeface="Apple SD Gothic Neo"/>
                        </a:rPr>
                        <a:t>실제 처리</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025" b="1">
                          <a:solidFill>
                            <a:srgbClr val="FFFFFF"/>
                          </a:solidFill>
                          <a:latin typeface="Apple SD Gothic Neo"/>
                          <a:ea typeface="Apple SD Gothic Neo"/>
                          <a:cs typeface="Apple SD Gothic Neo"/>
                        </a:rPr>
                        <a:t>이유</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904875">
                <a:tc>
                  <a:txBody>
                    <a:bodyPr/>
                    <a:lstStyle/>
                    <a:p>
                      <a:r>
                        <a:rPr sz="2025" b="0">
                          <a:solidFill>
                            <a:srgbClr val="15364A"/>
                          </a:solidFill>
                          <a:latin typeface="Apple SD Gothic Neo"/>
                          <a:ea typeface="Apple SD Gothic Neo"/>
                          <a:cs typeface="Apple SD Gothic Neo"/>
                        </a:rPr>
                        <a:t>숫자 센서의 결측</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025" b="0">
                          <a:solidFill>
                            <a:srgbClr val="15364A"/>
                          </a:solidFill>
                          <a:latin typeface="Apple SD Gothic Neo"/>
                          <a:ea typeface="Apple SD Gothic Neo"/>
                          <a:cs typeface="Apple SD Gothic Neo"/>
                        </a:rPr>
                        <a:t>train 중앙값으로 대체</a:t>
                      </a:r>
                    </a:p>
                    <a:p>
                      <a:r>
                        <a:rPr sz="2025" b="0">
                          <a:solidFill>
                            <a:srgbClr val="15364A"/>
                          </a:solidFill>
                          <a:latin typeface="Apple SD Gothic Neo"/>
                          <a:ea typeface="Apple SD Gothic Neo"/>
                          <a:cs typeface="Apple SD Gothic Neo"/>
                        </a:rPr>
                        <a:t>상수 특성 제거</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025" b="0">
                          <a:solidFill>
                            <a:srgbClr val="15364A"/>
                          </a:solidFill>
                          <a:latin typeface="Apple SD Gothic Neo"/>
                          <a:ea typeface="Apple SD Gothic Neo"/>
                          <a:cs typeface="Apple SD Gothic Neo"/>
                        </a:rPr>
                        <a:t>평가 데이터 정보 누수 방지</a:t>
                      </a:r>
                    </a:p>
                  </a:txBody>
                  <a:tcPr marL="91440" marR="91440" marT="45720" marB="45720">
                    <a:lnR w="9525">
                      <a:solidFill>
                        <a:srgbClr val="D6E1E6"/>
                      </a:solidFill>
                      <a:prstDash val="solid"/>
                    </a:lnR>
                    <a:lnB w="9525">
                      <a:solidFill>
                        <a:srgbClr val="D6E1E6"/>
                      </a:solidFill>
                      <a:prstDash val="solid"/>
                    </a:lnB>
                    <a:solidFill>
                      <a:srgbClr val="FFFFFF"/>
                    </a:solidFill>
                  </a:tcPr>
                </a:tc>
              </a:tr>
              <a:tr h="904875">
                <a:tc>
                  <a:txBody>
                    <a:bodyPr/>
                    <a:lstStyle/>
                    <a:p>
                      <a:r>
                        <a:rPr sz="2025" b="0">
                          <a:solidFill>
                            <a:srgbClr val="15364A"/>
                          </a:solidFill>
                          <a:latin typeface="Apple SD Gothic Neo"/>
                          <a:ea typeface="Apple SD Gothic Neo"/>
                          <a:cs typeface="Apple SD Gothic Neo"/>
                        </a:rPr>
                        <a:t>센서 단위 차이</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025" b="0">
                          <a:solidFill>
                            <a:srgbClr val="15364A"/>
                          </a:solidFill>
                          <a:latin typeface="Apple SD Gothic Neo"/>
                          <a:ea typeface="Apple SD Gothic Neo"/>
                          <a:cs typeface="Apple SD Gothic Neo"/>
                        </a:rPr>
                        <a:t>KNN·SVM·MLP 등 표준화</a:t>
                      </a:r>
                    </a:p>
                    <a:p>
                      <a:r>
                        <a:rPr sz="2025" b="0">
                          <a:solidFill>
                            <a:srgbClr val="15364A"/>
                          </a:solidFill>
                          <a:latin typeface="Apple SD Gothic Neo"/>
                          <a:ea typeface="Apple SD Gothic Neo"/>
                          <a:cs typeface="Apple SD Gothic Neo"/>
                        </a:rPr>
                        <a:t>트리 계열은 기본 생략</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2025" b="0">
                          <a:solidFill>
                            <a:srgbClr val="15364A"/>
                          </a:solidFill>
                          <a:latin typeface="Apple SD Gothic Neo"/>
                          <a:ea typeface="Apple SD Gothic Neo"/>
                          <a:cs typeface="Apple SD Gothic Neo"/>
                        </a:rPr>
                        <a:t>거리·마진·학습 안정성 고려</a:t>
                      </a:r>
                    </a:p>
                  </a:txBody>
                  <a:tcPr marL="91440" marR="91440" marT="45720" marB="45720">
                    <a:lnR w="9525">
                      <a:solidFill>
                        <a:srgbClr val="D6E1E6"/>
                      </a:solidFill>
                      <a:prstDash val="solid"/>
                    </a:lnR>
                    <a:lnB w="9525">
                      <a:solidFill>
                        <a:srgbClr val="D6E1E6"/>
                      </a:solidFill>
                      <a:prstDash val="solid"/>
                    </a:lnB>
                    <a:solidFill>
                      <a:srgbClr val="F1F6F7"/>
                    </a:solidFill>
                  </a:tcPr>
                </a:tc>
              </a:tr>
              <a:tr h="904875">
                <a:tc>
                  <a:txBody>
                    <a:bodyPr/>
                    <a:lstStyle/>
                    <a:p>
                      <a:r>
                        <a:rPr sz="2025" b="0">
                          <a:solidFill>
                            <a:srgbClr val="15364A"/>
                          </a:solidFill>
                          <a:latin typeface="Apple SD Gothic Neo"/>
                          <a:ea typeface="Apple SD Gothic Neo"/>
                          <a:cs typeface="Apple SD Gothic Neo"/>
                        </a:rPr>
                        <a:t>불량이 적음</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025" b="0">
                          <a:solidFill>
                            <a:srgbClr val="15364A"/>
                          </a:solidFill>
                          <a:latin typeface="Apple SD Gothic Neo"/>
                          <a:ea typeface="Apple SD Gothic Neo"/>
                          <a:cs typeface="Apple SD Gothic Neo"/>
                        </a:rPr>
                        <a:t>빈도 가중치 또는 train 복제</a:t>
                      </a:r>
                    </a:p>
                    <a:p>
                      <a:r>
                        <a:rPr sz="2025" b="0">
                          <a:solidFill>
                            <a:srgbClr val="15364A"/>
                          </a:solidFill>
                          <a:latin typeface="Apple SD Gothic Neo"/>
                          <a:ea typeface="Apple SD Gothic Neo"/>
                          <a:cs typeface="Apple SD Gothic Neo"/>
                        </a:rPr>
                        <a:t>평가 데이터 비율 유지</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025" b="0">
                          <a:solidFill>
                            <a:srgbClr val="15364A"/>
                          </a:solidFill>
                          <a:latin typeface="Apple SD Gothic Neo"/>
                          <a:ea typeface="Apple SD Gothic Neo"/>
                          <a:cs typeface="Apple SD Gothic Neo"/>
                        </a:rPr>
                        <a:t>정확도만 높아지는 착시 방지</a:t>
                      </a:r>
                    </a:p>
                  </a:txBody>
                  <a:tcPr marL="91440" marR="91440" marT="45720" marB="45720">
                    <a:lnR w="9525">
                      <a:solidFill>
                        <a:srgbClr val="D6E1E6"/>
                      </a:solidFill>
                      <a:prstDash val="solid"/>
                    </a:lnR>
                    <a:lnB w="9525">
                      <a:solidFill>
                        <a:srgbClr val="D6E1E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9E3EAEDE-6856-405D-AC38-EDC28EFAE47B}"/>
              </a:ext>
            </a:extLst>
          </p:cNvPr>
          <p:cNvSpPr>
            <a:spLocks xmlns:a="http://schemas.openxmlformats.org/drawingml/2006/main" noGrp="1"/>
          </p:cNvSpPr>
          <p:nvPr/>
        </p:nvSpPr>
        <p:spPr>
          <a:xfrm xmlns:a="http://schemas.openxmlformats.org/drawingml/2006/main">
            <a:off x="723900" y="55245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87E83"/>
                </a:solidFill>
                <a:latin typeface="Apple SD Gothic Neo"/>
                <a:ea typeface="Apple SD Gothic Neo"/>
                <a:cs typeface="Apple SD Gothic Neo"/>
              </a:defRPr>
            </a:defPPr>
            <a:lvl1pPr>
              <a:defRPr sz="2025" b="0">
                <a:solidFill>
                  <a:srgbClr val="087E83"/>
                </a:solidFill>
                <a:latin typeface="Apple SD Gothic Neo"/>
                <a:ea typeface="Apple SD Gothic Neo"/>
                <a:cs typeface="Apple SD Gothic Neo"/>
              </a:defRPr>
            </a:lvl1pPr>
            <a:lvl2pPr>
              <a:defRPr sz="2025" b="0">
                <a:solidFill>
                  <a:srgbClr val="087E83"/>
                </a:solidFill>
                <a:latin typeface="Apple SD Gothic Neo"/>
                <a:ea typeface="Apple SD Gothic Neo"/>
                <a:cs typeface="Apple SD Gothic Neo"/>
              </a:defRPr>
            </a:lvl2pPr>
            <a:lvl3pPr>
              <a:defRPr sz="2025" b="0">
                <a:solidFill>
                  <a:srgbClr val="087E83"/>
                </a:solidFill>
                <a:latin typeface="Apple SD Gothic Neo"/>
                <a:ea typeface="Apple SD Gothic Neo"/>
                <a:cs typeface="Apple SD Gothic Neo"/>
              </a:defRPr>
            </a:lvl3pPr>
            <a:lvl4pPr>
              <a:defRPr sz="2025" b="0">
                <a:solidFill>
                  <a:srgbClr val="087E83"/>
                </a:solidFill>
                <a:latin typeface="Apple SD Gothic Neo"/>
                <a:ea typeface="Apple SD Gothic Neo"/>
                <a:cs typeface="Apple SD Gothic Neo"/>
              </a:defRPr>
            </a:lvl4pPr>
            <a:lvl5pPr>
              <a:defRPr sz="2025" b="0">
                <a:solidFill>
                  <a:srgbClr val="087E83"/>
                </a:solidFill>
                <a:latin typeface="Apple SD Gothic Neo"/>
                <a:ea typeface="Apple SD Gothic Neo"/>
                <a:cs typeface="Apple SD Gothic Neo"/>
              </a:defRPr>
            </a:lvl5pPr>
            <a:lvl6pPr>
              <a:defRPr sz="2025" b="0">
                <a:solidFill>
                  <a:srgbClr val="087E83"/>
                </a:solidFill>
                <a:latin typeface="Apple SD Gothic Neo"/>
                <a:ea typeface="Apple SD Gothic Neo"/>
                <a:cs typeface="Apple SD Gothic Neo"/>
              </a:defRPr>
            </a:lvl6pPr>
            <a:lvl7pPr>
              <a:defRPr sz="2025" b="0">
                <a:solidFill>
                  <a:srgbClr val="087E83"/>
                </a:solidFill>
                <a:latin typeface="Apple SD Gothic Neo"/>
                <a:ea typeface="Apple SD Gothic Neo"/>
                <a:cs typeface="Apple SD Gothic Neo"/>
              </a:defRPr>
            </a:lvl7pPr>
            <a:lvl8pPr>
              <a:defRPr sz="2025" b="0">
                <a:solidFill>
                  <a:srgbClr val="087E83"/>
                </a:solidFill>
                <a:latin typeface="Apple SD Gothic Neo"/>
                <a:ea typeface="Apple SD Gothic Neo"/>
                <a:cs typeface="Apple SD Gothic Neo"/>
              </a:defRPr>
            </a:lvl8pPr>
            <a:lvl9pPr>
              <a:defRPr sz="2025" b="0">
                <a:solidFill>
                  <a:srgbClr val="087E83"/>
                </a:solidFill>
                <a:latin typeface="Apple SD Gothic Neo"/>
                <a:ea typeface="Apple SD Gothic Neo"/>
                <a:cs typeface="Apple SD Gothic Neo"/>
              </a:defRPr>
            </a:lvl9pPr>
          </a:lstStyle>
          <a:p xmlns:a="http://schemas.openxmlformats.org/drawingml/2006/main">
            <a:pPr>
              <a:defRPr sz="2025" b="0">
                <a:solidFill>
                  <a:srgbClr val="087E83"/>
                </a:solidFill>
                <a:latin typeface="Apple SD Gothic Neo"/>
                <a:ea typeface="Apple SD Gothic Neo"/>
                <a:cs typeface="Apple SD Gothic Neo"/>
              </a:defRPr>
            </a:pPr>
            <a:r>
              <a:rPr sz="2025" b="0">
                <a:solidFill>
                  <a:srgbClr val="087E83"/>
                </a:solidFill>
                <a:latin typeface="Apple SD Gothic Neo"/>
                <a:ea typeface="Apple SD Gothic Neo"/>
                <a:cs typeface="Apple SD Gothic Neo"/>
              </a:rPr>
              <a:t>이미지에는 흑백·대비 보정과 축소 ResNet·VGG·AE 비교</a:t>
            </a:r>
          </a:p>
        </p:txBody>
      </p:sp>
      <p:sp>
        <p:nvSpPr>
          <p:cNvPr id="5" name="">
            <a:extLst xmlns:a="http://schemas.openxmlformats.org/drawingml/2006/main">
              <a:ext uri="{FF2B5EF4-FFF2-40B4-BE49-F238E27FC236}">
                <a16:creationId xmlns:a16="http://schemas.microsoft.com/office/drawing/2014/main" id="{5936FB40-6E54-4E71-A330-8A4C0DC84824}"/>
              </a:ext>
            </a:extLst>
          </p:cNvPr>
          <p:cNvSpPr>
            <a:spLocks xmlns:a="http://schemas.openxmlformats.org/drawingml/2006/main" noGrp="1"/>
          </p:cNvSpPr>
          <p:nvPr/>
        </p:nvSpPr>
        <p:spPr>
          <a:xfrm xmlns:a="http://schemas.openxmlformats.org/drawingml/2006/main">
            <a:off x="723900" y="598170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677"/>
                </a:solidFill>
                <a:latin typeface="Apple SD Gothic Neo"/>
                <a:ea typeface="Apple SD Gothic Neo"/>
                <a:cs typeface="Apple SD Gothic Neo"/>
              </a:defRPr>
            </a:defPPr>
            <a:lvl1pPr>
              <a:defRPr sz="1800" b="0">
                <a:solidFill>
                  <a:srgbClr val="526677"/>
                </a:solidFill>
                <a:latin typeface="Apple SD Gothic Neo"/>
                <a:ea typeface="Apple SD Gothic Neo"/>
                <a:cs typeface="Apple SD Gothic Neo"/>
              </a:defRPr>
            </a:lvl1pPr>
            <a:lvl2pPr>
              <a:defRPr sz="1800" b="0">
                <a:solidFill>
                  <a:srgbClr val="526677"/>
                </a:solidFill>
                <a:latin typeface="Apple SD Gothic Neo"/>
                <a:ea typeface="Apple SD Gothic Neo"/>
                <a:cs typeface="Apple SD Gothic Neo"/>
              </a:defRPr>
            </a:lvl2pPr>
            <a:lvl3pPr>
              <a:defRPr sz="1800" b="0">
                <a:solidFill>
                  <a:srgbClr val="526677"/>
                </a:solidFill>
                <a:latin typeface="Apple SD Gothic Neo"/>
                <a:ea typeface="Apple SD Gothic Neo"/>
                <a:cs typeface="Apple SD Gothic Neo"/>
              </a:defRPr>
            </a:lvl3pPr>
            <a:lvl4pPr>
              <a:defRPr sz="1800" b="0">
                <a:solidFill>
                  <a:srgbClr val="526677"/>
                </a:solidFill>
                <a:latin typeface="Apple SD Gothic Neo"/>
                <a:ea typeface="Apple SD Gothic Neo"/>
                <a:cs typeface="Apple SD Gothic Neo"/>
              </a:defRPr>
            </a:lvl4pPr>
            <a:lvl5pPr>
              <a:defRPr sz="1800" b="0">
                <a:solidFill>
                  <a:srgbClr val="526677"/>
                </a:solidFill>
                <a:latin typeface="Apple SD Gothic Neo"/>
                <a:ea typeface="Apple SD Gothic Neo"/>
                <a:cs typeface="Apple SD Gothic Neo"/>
              </a:defRPr>
            </a:lvl5pPr>
            <a:lvl6pPr>
              <a:defRPr sz="1800" b="0">
                <a:solidFill>
                  <a:srgbClr val="526677"/>
                </a:solidFill>
                <a:latin typeface="Apple SD Gothic Neo"/>
                <a:ea typeface="Apple SD Gothic Neo"/>
                <a:cs typeface="Apple SD Gothic Neo"/>
              </a:defRPr>
            </a:lvl6pPr>
            <a:lvl7pPr>
              <a:defRPr sz="1800" b="0">
                <a:solidFill>
                  <a:srgbClr val="526677"/>
                </a:solidFill>
                <a:latin typeface="Apple SD Gothic Neo"/>
                <a:ea typeface="Apple SD Gothic Neo"/>
                <a:cs typeface="Apple SD Gothic Neo"/>
              </a:defRPr>
            </a:lvl7pPr>
            <a:lvl8pPr>
              <a:defRPr sz="1800" b="0">
                <a:solidFill>
                  <a:srgbClr val="526677"/>
                </a:solidFill>
                <a:latin typeface="Apple SD Gothic Neo"/>
                <a:ea typeface="Apple SD Gothic Neo"/>
                <a:cs typeface="Apple SD Gothic Neo"/>
              </a:defRPr>
            </a:lvl8pPr>
            <a:lvl9pPr>
              <a:defRPr sz="1800" b="0">
                <a:solidFill>
                  <a:srgbClr val="526677"/>
                </a:solidFill>
                <a:latin typeface="Apple SD Gothic Neo"/>
                <a:ea typeface="Apple SD Gothic Neo"/>
                <a:cs typeface="Apple SD Gothic Neo"/>
              </a:defRPr>
            </a:lvl9pPr>
          </a:lstStyle>
          <a:p xmlns:a="http://schemas.openxmlformats.org/drawingml/2006/main">
            <a:pPr>
              <a:defRPr sz="1800" b="0">
                <a:solidFill>
                  <a:srgbClr val="526677"/>
                </a:solidFill>
                <a:latin typeface="Apple SD Gothic Neo"/>
                <a:ea typeface="Apple SD Gothic Neo"/>
                <a:cs typeface="Apple SD Gothic Neo"/>
              </a:defRPr>
            </a:pPr>
            <a:r>
              <a:rPr sz="1800" b="0">
                <a:solidFill>
                  <a:srgbClr val="526677"/>
                </a:solidFill>
                <a:latin typeface="Apple SD Gothic Neo"/>
                <a:ea typeface="Apple SD Gothic Neo"/>
                <a:cs typeface="Apple SD Gothic Neo"/>
              </a:rPr>
              <a:t>입력 종류와 전처리·모델 선정 이유를 화면에서 함께 설명</a:t>
            </a:r>
          </a:p>
        </p:txBody>
      </p:sp>
    </p:spTree>
    <p:extLst>
      <p:ext uri="{BB962C8B-B14F-4D97-AF65-F5344CB8AC3E}">
        <p14:creationId xmlns:p14="http://schemas.microsoft.com/office/powerpoint/2010/main" val="84476562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9EF025-3FE4-435D-9779-9D6FF5738C2A}"/>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교육 모델 12종의 실제 비교</a:t>
            </a:r>
          </a:p>
        </p:txBody>
      </p:sp>
      <p:sp>
        <p:nvSpPr>
          <p:cNvPr id="2" name="">
            <a:extLst xmlns:a="http://schemas.openxmlformats.org/drawingml/2006/main">
              <a:ext uri="{FF2B5EF4-FFF2-40B4-BE49-F238E27FC236}">
                <a16:creationId xmlns:a16="http://schemas.microsoft.com/office/drawing/2014/main" id="{FCED212F-A3EC-4002-9B33-3F94316B1DE9}"/>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05</a:t>
            </a:r>
          </a:p>
        </p:txBody>
      </p:sp>
      <p:sp>
        <p:nvSpPr>
          <p:cNvPr id="3" name="">
            <a:extLst xmlns:a="http://schemas.openxmlformats.org/drawingml/2006/main">
              <a:ext uri="{FF2B5EF4-FFF2-40B4-BE49-F238E27FC236}">
                <a16:creationId xmlns:a16="http://schemas.microsoft.com/office/drawing/2014/main" id="{35B02737-0635-4549-808C-747FA3A1EC51}"/>
              </a:ext>
            </a:extLst>
          </p:cNvPr>
          <p:cNvSpPr>
            <a:spLocks xmlns:a="http://schemas.openxmlformats.org/drawingml/2006/main" noGrp="1"/>
          </p:cNvSpPr>
          <p:nvPr/>
        </p:nvSpPr>
        <p:spPr>
          <a:xfrm xmlns:a="http://schemas.openxmlformats.org/drawingml/2006/main">
            <a:off x="723900" y="14287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087E83"/>
                </a:solidFill>
                <a:latin typeface="Apple SD Gothic Neo"/>
                <a:ea typeface="Apple SD Gothic Neo"/>
                <a:cs typeface="Apple SD Gothic Neo"/>
              </a:defRPr>
            </a:defPPr>
            <a:lvl1pPr>
              <a:defRPr sz="2550" b="0">
                <a:solidFill>
                  <a:srgbClr val="087E83"/>
                </a:solidFill>
                <a:latin typeface="Apple SD Gothic Neo"/>
                <a:ea typeface="Apple SD Gothic Neo"/>
                <a:cs typeface="Apple SD Gothic Neo"/>
              </a:defRPr>
            </a:lvl1pPr>
            <a:lvl2pPr>
              <a:defRPr sz="2550" b="0">
                <a:solidFill>
                  <a:srgbClr val="087E83"/>
                </a:solidFill>
                <a:latin typeface="Apple SD Gothic Neo"/>
                <a:ea typeface="Apple SD Gothic Neo"/>
                <a:cs typeface="Apple SD Gothic Neo"/>
              </a:defRPr>
            </a:lvl2pPr>
            <a:lvl3pPr>
              <a:defRPr sz="2550" b="0">
                <a:solidFill>
                  <a:srgbClr val="087E83"/>
                </a:solidFill>
                <a:latin typeface="Apple SD Gothic Neo"/>
                <a:ea typeface="Apple SD Gothic Neo"/>
                <a:cs typeface="Apple SD Gothic Neo"/>
              </a:defRPr>
            </a:lvl3pPr>
            <a:lvl4pPr>
              <a:defRPr sz="2550" b="0">
                <a:solidFill>
                  <a:srgbClr val="087E83"/>
                </a:solidFill>
                <a:latin typeface="Apple SD Gothic Neo"/>
                <a:ea typeface="Apple SD Gothic Neo"/>
                <a:cs typeface="Apple SD Gothic Neo"/>
              </a:defRPr>
            </a:lvl4pPr>
            <a:lvl5pPr>
              <a:defRPr sz="2550" b="0">
                <a:solidFill>
                  <a:srgbClr val="087E83"/>
                </a:solidFill>
                <a:latin typeface="Apple SD Gothic Neo"/>
                <a:ea typeface="Apple SD Gothic Neo"/>
                <a:cs typeface="Apple SD Gothic Neo"/>
              </a:defRPr>
            </a:lvl5pPr>
            <a:lvl6pPr>
              <a:defRPr sz="2550" b="0">
                <a:solidFill>
                  <a:srgbClr val="087E83"/>
                </a:solidFill>
                <a:latin typeface="Apple SD Gothic Neo"/>
                <a:ea typeface="Apple SD Gothic Neo"/>
                <a:cs typeface="Apple SD Gothic Neo"/>
              </a:defRPr>
            </a:lvl6pPr>
            <a:lvl7pPr>
              <a:defRPr sz="2550" b="0">
                <a:solidFill>
                  <a:srgbClr val="087E83"/>
                </a:solidFill>
                <a:latin typeface="Apple SD Gothic Neo"/>
                <a:ea typeface="Apple SD Gothic Neo"/>
                <a:cs typeface="Apple SD Gothic Neo"/>
              </a:defRPr>
            </a:lvl7pPr>
            <a:lvl8pPr>
              <a:defRPr sz="2550" b="0">
                <a:solidFill>
                  <a:srgbClr val="087E83"/>
                </a:solidFill>
                <a:latin typeface="Apple SD Gothic Neo"/>
                <a:ea typeface="Apple SD Gothic Neo"/>
                <a:cs typeface="Apple SD Gothic Neo"/>
              </a:defRPr>
            </a:lvl8pPr>
            <a:lvl9pPr>
              <a:defRPr sz="2550" b="0">
                <a:solidFill>
                  <a:srgbClr val="087E83"/>
                </a:solidFill>
                <a:latin typeface="Apple SD Gothic Neo"/>
                <a:ea typeface="Apple SD Gothic Neo"/>
                <a:cs typeface="Apple SD Gothic Neo"/>
              </a:defRPr>
            </a:lvl9pPr>
          </a:lstStyle>
          <a:p xmlns:a="http://schemas.openxmlformats.org/drawingml/2006/main">
            <a:pPr>
              <a:defRPr sz="2550" b="0">
                <a:solidFill>
                  <a:srgbClr val="087E83"/>
                </a:solidFill>
                <a:latin typeface="Apple SD Gothic Neo"/>
                <a:ea typeface="Apple SD Gothic Neo"/>
                <a:cs typeface="Apple SD Gothic Neo"/>
              </a:defRPr>
            </a:pPr>
            <a:r>
              <a:rPr sz="2550" b="0">
                <a:solidFill>
                  <a:srgbClr val="087E83"/>
                </a:solidFill>
                <a:latin typeface="Apple SD Gothic Neo"/>
                <a:ea typeface="Apple SD Gothic Neo"/>
                <a:cs typeface="Apple SD Gothic Neo"/>
              </a:rPr>
              <a:t>전체 제품에서 모델 12종·불균형 2정책 비교</a:t>
            </a:r>
          </a:p>
        </p:txBody>
      </p:sp>
      <p:sp>
        <p:nvSpPr>
          <p:cNvPr id="4" name="">
            <a:extLst xmlns:a="http://schemas.openxmlformats.org/drawingml/2006/main">
              <a:ext uri="{FF2B5EF4-FFF2-40B4-BE49-F238E27FC236}">
                <a16:creationId xmlns:a16="http://schemas.microsoft.com/office/drawing/2014/main" id="{FFA56264-04F7-4A30-A2E3-2ECC1783882D}"/>
              </a:ext>
            </a:extLst>
          </p:cNvPr>
          <p:cNvSpPr>
            <a:spLocks xmlns:a="http://schemas.openxmlformats.org/drawingml/2006/main" noGrp="1"/>
          </p:cNvSpPr>
          <p:nvPr/>
        </p:nvSpPr>
        <p:spPr>
          <a:xfrm xmlns:a="http://schemas.openxmlformats.org/drawingml/2006/main">
            <a:off x="723900" y="20955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5364A"/>
                </a:solidFill>
                <a:latin typeface="Apple SD Gothic Neo"/>
                <a:ea typeface="Apple SD Gothic Neo"/>
                <a:cs typeface="Apple SD Gothic Neo"/>
              </a:defRPr>
            </a:defPPr>
            <a:lvl1pPr>
              <a:defRPr sz="2325" b="0">
                <a:solidFill>
                  <a:srgbClr val="15364A"/>
                </a:solidFill>
                <a:latin typeface="Apple SD Gothic Neo"/>
                <a:ea typeface="Apple SD Gothic Neo"/>
                <a:cs typeface="Apple SD Gothic Neo"/>
              </a:defRPr>
            </a:lvl1pPr>
            <a:lvl2pPr>
              <a:defRPr sz="2325" b="0">
                <a:solidFill>
                  <a:srgbClr val="15364A"/>
                </a:solidFill>
                <a:latin typeface="Apple SD Gothic Neo"/>
                <a:ea typeface="Apple SD Gothic Neo"/>
                <a:cs typeface="Apple SD Gothic Neo"/>
              </a:defRPr>
            </a:lvl2pPr>
            <a:lvl3pPr>
              <a:defRPr sz="2325" b="0">
                <a:solidFill>
                  <a:srgbClr val="15364A"/>
                </a:solidFill>
                <a:latin typeface="Apple SD Gothic Neo"/>
                <a:ea typeface="Apple SD Gothic Neo"/>
                <a:cs typeface="Apple SD Gothic Neo"/>
              </a:defRPr>
            </a:lvl3pPr>
            <a:lvl4pPr>
              <a:defRPr sz="2325" b="0">
                <a:solidFill>
                  <a:srgbClr val="15364A"/>
                </a:solidFill>
                <a:latin typeface="Apple SD Gothic Neo"/>
                <a:ea typeface="Apple SD Gothic Neo"/>
                <a:cs typeface="Apple SD Gothic Neo"/>
              </a:defRPr>
            </a:lvl4pPr>
            <a:lvl5pPr>
              <a:defRPr sz="2325" b="0">
                <a:solidFill>
                  <a:srgbClr val="15364A"/>
                </a:solidFill>
                <a:latin typeface="Apple SD Gothic Neo"/>
                <a:ea typeface="Apple SD Gothic Neo"/>
                <a:cs typeface="Apple SD Gothic Neo"/>
              </a:defRPr>
            </a:lvl5pPr>
            <a:lvl6pPr>
              <a:defRPr sz="2325" b="0">
                <a:solidFill>
                  <a:srgbClr val="15364A"/>
                </a:solidFill>
                <a:latin typeface="Apple SD Gothic Neo"/>
                <a:ea typeface="Apple SD Gothic Neo"/>
                <a:cs typeface="Apple SD Gothic Neo"/>
              </a:defRPr>
            </a:lvl6pPr>
            <a:lvl7pPr>
              <a:defRPr sz="2325" b="0">
                <a:solidFill>
                  <a:srgbClr val="15364A"/>
                </a:solidFill>
                <a:latin typeface="Apple SD Gothic Neo"/>
                <a:ea typeface="Apple SD Gothic Neo"/>
                <a:cs typeface="Apple SD Gothic Neo"/>
              </a:defRPr>
            </a:lvl7pPr>
            <a:lvl8pPr>
              <a:defRPr sz="2325" b="0">
                <a:solidFill>
                  <a:srgbClr val="15364A"/>
                </a:solidFill>
                <a:latin typeface="Apple SD Gothic Neo"/>
                <a:ea typeface="Apple SD Gothic Neo"/>
                <a:cs typeface="Apple SD Gothic Neo"/>
              </a:defRPr>
            </a:lvl8pPr>
            <a:lvl9pPr>
              <a:defRPr sz="2325" b="0">
                <a:solidFill>
                  <a:srgbClr val="15364A"/>
                </a:solidFill>
                <a:latin typeface="Apple SD Gothic Neo"/>
                <a:ea typeface="Apple SD Gothic Neo"/>
                <a:cs typeface="Apple SD Gothic Neo"/>
              </a:defRPr>
            </a:lvl9pPr>
          </a:lstStyle>
          <a:p xmlns:a="http://schemas.openxmlformats.org/drawingml/2006/main">
            <a:pPr>
              <a:defRPr sz="2325" b="0">
                <a:solidFill>
                  <a:srgbClr val="15364A"/>
                </a:solidFill>
                <a:latin typeface="Apple SD Gothic Neo"/>
                <a:ea typeface="Apple SD Gothic Neo"/>
                <a:cs typeface="Apple SD Gothic Neo"/>
              </a:defRPr>
            </a:pPr>
            <a:r>
              <a:rPr sz="2325" b="0">
                <a:solidFill>
                  <a:srgbClr val="15364A"/>
                </a:solidFill>
                <a:latin typeface="Apple SD Gothic Neo"/>
                <a:ea typeface="Apple SD Gothic Neo"/>
                <a:cs typeface="Apple SD Gothic Neo"/>
              </a:rPr>
              <a:t>상위 두 모델의 제품 학습 조합 확장, 최대 52조건</a:t>
            </a:r>
          </a:p>
        </p:txBody>
      </p:sp>
      <p:graphicFrame>
        <p:nvGraphicFramePr>
          <p:cNvPr id="5" name="">
            <a:extLst xmlns:a="http://schemas.openxmlformats.org/drawingml/2006/main">
              <a:ext uri="{FF2B5EF4-FFF2-40B4-BE49-F238E27FC236}">
                <a16:creationId xmlns:a16="http://schemas.microsoft.com/office/drawing/2014/main" id="{F0D6A29C-EFC6-42CF-8B99-4130A47A28C9}"/>
              </a:ext>
            </a:extLst>
          </p:cNvPr>
          <p:cNvGraphicFramePr/>
          <p:nvPr/>
        </p:nvGraphicFramePr>
        <p:xfrm>
          <a:off xmlns:a="http://schemas.openxmlformats.org/drawingml/2006/main" x="685800" y="3095625"/>
          <a:ext xmlns:a="http://schemas.openxmlformats.org/drawingml/2006/main" cx="10820400" cy="1952625"/>
        </p:xfrm>
        <a:graphic xmlns:a="http://schemas.openxmlformats.org/drawingml/2006/main">
          <a:graphicData uri="http://schemas.openxmlformats.org/drawingml/2006/table">
            <a:tbl>
              <a:tblPr/>
              <a:tblGrid>
                <a:gridCol w="3429000"/>
                <a:gridCol w="3695700"/>
                <a:gridCol w="3695700"/>
              </a:tblGrid>
              <a:tr h="976313">
                <a:tc>
                  <a:txBody>
                    <a:bodyPr/>
                    <a:lstStyle/>
                    <a:p>
                      <a:r>
                        <a:rPr sz="2100" b="1">
                          <a:solidFill>
                            <a:srgbClr val="FFFFFF"/>
                          </a:solidFill>
                          <a:latin typeface="Apple SD Gothic Neo"/>
                          <a:ea typeface="Apple SD Gothic Neo"/>
                          <a:cs typeface="Apple SD Gothic Neo"/>
                        </a:rPr>
                        <a:t>최종 선택</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100" b="1">
                          <a:solidFill>
                            <a:srgbClr val="FFFFFF"/>
                          </a:solidFill>
                          <a:latin typeface="Apple SD Gothic Neo"/>
                          <a:ea typeface="Apple SD Gothic Neo"/>
                          <a:cs typeface="Apple SD Gothic Neo"/>
                        </a:rPr>
                        <a:t>선택용 데이터</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100" b="1">
                          <a:solidFill>
                            <a:srgbClr val="FFFFFF"/>
                          </a:solidFill>
                          <a:latin typeface="Apple SD Gothic Neo"/>
                          <a:ea typeface="Apple SD Gothic Neo"/>
                          <a:cs typeface="Apple SD Gothic Neo"/>
                        </a:rPr>
                        <a:t>최종 평가 데이터</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976313">
                <a:tc>
                  <a:txBody>
                    <a:bodyPr/>
                    <a:lstStyle/>
                    <a:p>
                      <a:r>
                        <a:rPr sz="2100" b="0">
                          <a:solidFill>
                            <a:srgbClr val="15364A"/>
                          </a:solidFill>
                          <a:latin typeface="Apple SD Gothic Neo"/>
                          <a:ea typeface="Apple SD Gothic Neo"/>
                          <a:cs typeface="Apple SD Gothic Neo"/>
                        </a:rPr>
                        <a:t>SVM (RBF)</a:t>
                      </a:r>
                    </a:p>
                    <a:p>
                      <a:r>
                        <a:rPr sz="2100" b="0">
                          <a:solidFill>
                            <a:srgbClr val="15364A"/>
                          </a:solidFill>
                          <a:latin typeface="Apple SD Gothic Neo"/>
                          <a:ea typeface="Apple SD Gothic Neo"/>
                          <a:cs typeface="Apple SD Gothic Neo"/>
                        </a:rPr>
                        <a:t>학습 B+C+D</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100" b="0">
                          <a:solidFill>
                            <a:srgbClr val="15364A"/>
                          </a:solidFill>
                          <a:latin typeface="Apple SD Gothic Neo"/>
                          <a:ea typeface="Apple SD Gothic Neo"/>
                          <a:cs typeface="Apple SD Gothic Neo"/>
                        </a:rPr>
                        <a:t>불량 발견 100.0%</a:t>
                      </a:r>
                    </a:p>
                    <a:p>
                      <a:r>
                        <a:rPr sz="2100" b="0">
                          <a:solidFill>
                            <a:srgbClr val="15364A"/>
                          </a:solidFill>
                          <a:latin typeface="Apple SD Gothic Neo"/>
                          <a:ea typeface="Apple SD Gothic Neo"/>
                          <a:cs typeface="Apple SD Gothic Neo"/>
                        </a:rPr>
                        <a:t>정상 추가검사 13.3%</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100" b="0">
                          <a:solidFill>
                            <a:srgbClr val="15364A"/>
                          </a:solidFill>
                          <a:latin typeface="Apple SD Gothic Neo"/>
                          <a:ea typeface="Apple SD Gothic Neo"/>
                          <a:cs typeface="Apple SD Gothic Neo"/>
                        </a:rPr>
                        <a:t>불량 발견 96.0%</a:t>
                      </a:r>
                    </a:p>
                    <a:p>
                      <a:r>
                        <a:rPr sz="2100" b="0">
                          <a:solidFill>
                            <a:srgbClr val="15364A"/>
                          </a:solidFill>
                          <a:latin typeface="Apple SD Gothic Neo"/>
                          <a:ea typeface="Apple SD Gothic Neo"/>
                          <a:cs typeface="Apple SD Gothic Neo"/>
                        </a:rPr>
                        <a:t>정상 추가검사 15.6%</a:t>
                      </a:r>
                    </a:p>
                  </a:txBody>
                  <a:tcPr marL="91440" marR="91440" marT="45720" marB="45720">
                    <a:lnR w="9525">
                      <a:solidFill>
                        <a:srgbClr val="D6E1E6"/>
                      </a:solidFill>
                      <a:prstDash val="solid"/>
                    </a:lnR>
                    <a:lnB w="9525">
                      <a:solidFill>
                        <a:srgbClr val="D6E1E6"/>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763652C-6EB5-489F-BB1B-C994C8E3597E}"/>
              </a:ext>
            </a:extLst>
          </p:cNvPr>
          <p:cNvSpPr>
            <a:spLocks xmlns:a="http://schemas.openxmlformats.org/drawingml/2006/main" noGrp="1"/>
          </p:cNvSpPr>
          <p:nvPr/>
        </p:nvSpPr>
        <p:spPr>
          <a:xfrm xmlns:a="http://schemas.openxmlformats.org/drawingml/2006/main">
            <a:off x="723900" y="53816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98601D"/>
                </a:solidFill>
                <a:latin typeface="Apple SD Gothic Neo"/>
                <a:ea typeface="Apple SD Gothic Neo"/>
                <a:cs typeface="Apple SD Gothic Neo"/>
              </a:defRPr>
            </a:defPPr>
            <a:lvl1pPr>
              <a:defRPr sz="2250" b="0">
                <a:solidFill>
                  <a:srgbClr val="98601D"/>
                </a:solidFill>
                <a:latin typeface="Apple SD Gothic Neo"/>
                <a:ea typeface="Apple SD Gothic Neo"/>
                <a:cs typeface="Apple SD Gothic Neo"/>
              </a:defRPr>
            </a:lvl1pPr>
            <a:lvl2pPr>
              <a:defRPr sz="2250" b="0">
                <a:solidFill>
                  <a:srgbClr val="98601D"/>
                </a:solidFill>
                <a:latin typeface="Apple SD Gothic Neo"/>
                <a:ea typeface="Apple SD Gothic Neo"/>
                <a:cs typeface="Apple SD Gothic Neo"/>
              </a:defRPr>
            </a:lvl2pPr>
            <a:lvl3pPr>
              <a:defRPr sz="2250" b="0">
                <a:solidFill>
                  <a:srgbClr val="98601D"/>
                </a:solidFill>
                <a:latin typeface="Apple SD Gothic Neo"/>
                <a:ea typeface="Apple SD Gothic Neo"/>
                <a:cs typeface="Apple SD Gothic Neo"/>
              </a:defRPr>
            </a:lvl3pPr>
            <a:lvl4pPr>
              <a:defRPr sz="2250" b="0">
                <a:solidFill>
                  <a:srgbClr val="98601D"/>
                </a:solidFill>
                <a:latin typeface="Apple SD Gothic Neo"/>
                <a:ea typeface="Apple SD Gothic Neo"/>
                <a:cs typeface="Apple SD Gothic Neo"/>
              </a:defRPr>
            </a:lvl4pPr>
            <a:lvl5pPr>
              <a:defRPr sz="2250" b="0">
                <a:solidFill>
                  <a:srgbClr val="98601D"/>
                </a:solidFill>
                <a:latin typeface="Apple SD Gothic Neo"/>
                <a:ea typeface="Apple SD Gothic Neo"/>
                <a:cs typeface="Apple SD Gothic Neo"/>
              </a:defRPr>
            </a:lvl5pPr>
            <a:lvl6pPr>
              <a:defRPr sz="2250" b="0">
                <a:solidFill>
                  <a:srgbClr val="98601D"/>
                </a:solidFill>
                <a:latin typeface="Apple SD Gothic Neo"/>
                <a:ea typeface="Apple SD Gothic Neo"/>
                <a:cs typeface="Apple SD Gothic Neo"/>
              </a:defRPr>
            </a:lvl6pPr>
            <a:lvl7pPr>
              <a:defRPr sz="2250" b="0">
                <a:solidFill>
                  <a:srgbClr val="98601D"/>
                </a:solidFill>
                <a:latin typeface="Apple SD Gothic Neo"/>
                <a:ea typeface="Apple SD Gothic Neo"/>
                <a:cs typeface="Apple SD Gothic Neo"/>
              </a:defRPr>
            </a:lvl7pPr>
            <a:lvl8pPr>
              <a:defRPr sz="2250" b="0">
                <a:solidFill>
                  <a:srgbClr val="98601D"/>
                </a:solidFill>
                <a:latin typeface="Apple SD Gothic Neo"/>
                <a:ea typeface="Apple SD Gothic Neo"/>
                <a:cs typeface="Apple SD Gothic Neo"/>
              </a:defRPr>
            </a:lvl8pPr>
            <a:lvl9pPr>
              <a:defRPr sz="2250" b="0">
                <a:solidFill>
                  <a:srgbClr val="98601D"/>
                </a:solidFill>
                <a:latin typeface="Apple SD Gothic Neo"/>
                <a:ea typeface="Apple SD Gothic Neo"/>
                <a:cs typeface="Apple SD Gothic Neo"/>
              </a:defRPr>
            </a:lvl9pPr>
          </a:lstStyle>
          <a:p xmlns:a="http://schemas.openxmlformats.org/drawingml/2006/main">
            <a:pPr>
              <a:defRPr sz="2250" b="0">
                <a:solidFill>
                  <a:srgbClr val="98601D"/>
                </a:solidFill>
                <a:latin typeface="Apple SD Gothic Neo"/>
                <a:ea typeface="Apple SD Gothic Neo"/>
                <a:cs typeface="Apple SD Gothic Neo"/>
              </a:defRPr>
            </a:pPr>
            <a:r>
              <a:rPr sz="2250" b="0">
                <a:solidFill>
                  <a:srgbClr val="98601D"/>
                </a:solidFill>
                <a:latin typeface="Apple SD Gothic Neo"/>
                <a:ea typeface="Apple SD Gothic Neo"/>
                <a:cs typeface="Apple SD Gothic Neo"/>
              </a:rPr>
              <a:t>최종 정상 추가검사 15.6%로 허용 15%를 넘어 적용 보류</a:t>
            </a:r>
          </a:p>
        </p:txBody>
      </p:sp>
      <p:sp>
        <p:nvSpPr>
          <p:cNvPr id="7" name="">
            <a:extLst xmlns:a="http://schemas.openxmlformats.org/drawingml/2006/main">
              <a:ext uri="{FF2B5EF4-FFF2-40B4-BE49-F238E27FC236}">
                <a16:creationId xmlns:a16="http://schemas.microsoft.com/office/drawing/2014/main" id="{D7AB5A1E-0E08-4324-B06F-93D86FAA9B85}"/>
              </a:ext>
            </a:extLst>
          </p:cNvPr>
          <p:cNvSpPr>
            <a:spLocks xmlns:a="http://schemas.openxmlformats.org/drawingml/2006/main" noGrp="1"/>
          </p:cNvSpPr>
          <p:nvPr/>
        </p:nvSpPr>
        <p:spPr>
          <a:xfrm xmlns:a="http://schemas.openxmlformats.org/drawingml/2006/main">
            <a:off x="723900" y="60007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677"/>
                </a:solidFill>
                <a:latin typeface="Apple SD Gothic Neo"/>
                <a:ea typeface="Apple SD Gothic Neo"/>
                <a:cs typeface="Apple SD Gothic Neo"/>
              </a:defRPr>
            </a:defPPr>
            <a:lvl1pPr>
              <a:defRPr sz="1725" b="0">
                <a:solidFill>
                  <a:srgbClr val="526677"/>
                </a:solidFill>
                <a:latin typeface="Apple SD Gothic Neo"/>
                <a:ea typeface="Apple SD Gothic Neo"/>
                <a:cs typeface="Apple SD Gothic Neo"/>
              </a:defRPr>
            </a:lvl1pPr>
            <a:lvl2pPr>
              <a:defRPr sz="1725" b="0">
                <a:solidFill>
                  <a:srgbClr val="526677"/>
                </a:solidFill>
                <a:latin typeface="Apple SD Gothic Neo"/>
                <a:ea typeface="Apple SD Gothic Neo"/>
                <a:cs typeface="Apple SD Gothic Neo"/>
              </a:defRPr>
            </a:lvl2pPr>
            <a:lvl3pPr>
              <a:defRPr sz="1725" b="0">
                <a:solidFill>
                  <a:srgbClr val="526677"/>
                </a:solidFill>
                <a:latin typeface="Apple SD Gothic Neo"/>
                <a:ea typeface="Apple SD Gothic Neo"/>
                <a:cs typeface="Apple SD Gothic Neo"/>
              </a:defRPr>
            </a:lvl3pPr>
            <a:lvl4pPr>
              <a:defRPr sz="1725" b="0">
                <a:solidFill>
                  <a:srgbClr val="526677"/>
                </a:solidFill>
                <a:latin typeface="Apple SD Gothic Neo"/>
                <a:ea typeface="Apple SD Gothic Neo"/>
                <a:cs typeface="Apple SD Gothic Neo"/>
              </a:defRPr>
            </a:lvl4pPr>
            <a:lvl5pPr>
              <a:defRPr sz="1725" b="0">
                <a:solidFill>
                  <a:srgbClr val="526677"/>
                </a:solidFill>
                <a:latin typeface="Apple SD Gothic Neo"/>
                <a:ea typeface="Apple SD Gothic Neo"/>
                <a:cs typeface="Apple SD Gothic Neo"/>
              </a:defRPr>
            </a:lvl5pPr>
            <a:lvl6pPr>
              <a:defRPr sz="1725" b="0">
                <a:solidFill>
                  <a:srgbClr val="526677"/>
                </a:solidFill>
                <a:latin typeface="Apple SD Gothic Neo"/>
                <a:ea typeface="Apple SD Gothic Neo"/>
                <a:cs typeface="Apple SD Gothic Neo"/>
              </a:defRPr>
            </a:lvl6pPr>
            <a:lvl7pPr>
              <a:defRPr sz="1725" b="0">
                <a:solidFill>
                  <a:srgbClr val="526677"/>
                </a:solidFill>
                <a:latin typeface="Apple SD Gothic Neo"/>
                <a:ea typeface="Apple SD Gothic Neo"/>
                <a:cs typeface="Apple SD Gothic Neo"/>
              </a:defRPr>
            </a:lvl7pPr>
            <a:lvl8pPr>
              <a:defRPr sz="1725" b="0">
                <a:solidFill>
                  <a:srgbClr val="526677"/>
                </a:solidFill>
                <a:latin typeface="Apple SD Gothic Neo"/>
                <a:ea typeface="Apple SD Gothic Neo"/>
                <a:cs typeface="Apple SD Gothic Neo"/>
              </a:defRPr>
            </a:lvl8pPr>
            <a:lvl9pPr>
              <a:defRPr sz="1725" b="0">
                <a:solidFill>
                  <a:srgbClr val="526677"/>
                </a:solidFill>
                <a:latin typeface="Apple SD Gothic Neo"/>
                <a:ea typeface="Apple SD Gothic Neo"/>
                <a:cs typeface="Apple SD Gothic Neo"/>
              </a:defRPr>
            </a:lvl9pPr>
          </a:lstStyle>
          <a:p xmlns:a="http://schemas.openxmlformats.org/drawingml/2006/main">
            <a:pPr>
              <a:defRPr sz="1725" b="0">
                <a:solidFill>
                  <a:srgbClr val="526677"/>
                </a:solidFill>
                <a:latin typeface="Apple SD Gothic Neo"/>
                <a:ea typeface="Apple SD Gothic Neo"/>
                <a:cs typeface="Apple SD Gothic Neo"/>
              </a:defRPr>
            </a:pPr>
            <a:r>
              <a:rPr sz="1725" b="0">
                <a:solidFill>
                  <a:srgbClr val="526677"/>
                </a:solidFill>
                <a:latin typeface="Apple SD Gothic Neo"/>
                <a:ea typeface="Apple SD Gothic Neo"/>
                <a:cs typeface="Apple SD Gothic Neo"/>
              </a:rPr>
              <a:t>완전탐색은 아님. 모델·제품 조합은 validation으로 선택하고 test로 보류 확인</a:t>
            </a:r>
          </a:p>
        </p:txBody>
      </p:sp>
    </p:spTree>
    <p:extLst>
      <p:ext uri="{BB962C8B-B14F-4D97-AF65-F5344CB8AC3E}">
        <p14:creationId xmlns:p14="http://schemas.microsoft.com/office/powerpoint/2010/main" val="22332440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C212C1-4C4B-432F-9543-A15A6664FDF4}"/>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불량 추가 발견과 추가검사 부담</a:t>
            </a:r>
          </a:p>
        </p:txBody>
      </p:sp>
      <p:sp>
        <p:nvSpPr>
          <p:cNvPr id="2" name="">
            <a:extLst xmlns:a="http://schemas.openxmlformats.org/drawingml/2006/main">
              <a:ext uri="{FF2B5EF4-FFF2-40B4-BE49-F238E27FC236}">
                <a16:creationId xmlns:a16="http://schemas.microsoft.com/office/drawing/2014/main" id="{22D449CF-E198-41D1-AACE-7C1FDD39FCB5}"/>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06</a:t>
            </a:r>
          </a:p>
        </p:txBody>
      </p:sp>
      <p:sp>
        <p:nvSpPr>
          <p:cNvPr id="3" name="">
            <a:extLst xmlns:a="http://schemas.openxmlformats.org/drawingml/2006/main">
              <a:ext uri="{FF2B5EF4-FFF2-40B4-BE49-F238E27FC236}">
                <a16:creationId xmlns:a16="http://schemas.microsoft.com/office/drawing/2014/main" id="{79C141A5-1958-415A-81DB-04B5419761DF}"/>
              </a:ext>
            </a:extLst>
          </p:cNvPr>
          <p:cNvSpPr>
            <a:spLocks xmlns:a="http://schemas.openxmlformats.org/drawingml/2006/main" noGrp="1"/>
          </p:cNvSpPr>
          <p:nvPr/>
        </p:nvSpPr>
        <p:spPr>
          <a:xfrm xmlns:a="http://schemas.openxmlformats.org/drawingml/2006/main">
            <a:off x="723900" y="1419225"/>
            <a:ext cx="4191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087E83"/>
                </a:solidFill>
                <a:latin typeface="Apple SD Gothic Neo"/>
                <a:ea typeface="Apple SD Gothic Neo"/>
                <a:cs typeface="Apple SD Gothic Neo"/>
              </a:defRPr>
            </a:defPPr>
            <a:lvl1pPr>
              <a:defRPr sz="5700" b="1">
                <a:solidFill>
                  <a:srgbClr val="087E83"/>
                </a:solidFill>
                <a:latin typeface="Apple SD Gothic Neo"/>
                <a:ea typeface="Apple SD Gothic Neo"/>
                <a:cs typeface="Apple SD Gothic Neo"/>
              </a:defRPr>
            </a:lvl1pPr>
            <a:lvl2pPr>
              <a:defRPr sz="5700" b="1">
                <a:solidFill>
                  <a:srgbClr val="087E83"/>
                </a:solidFill>
                <a:latin typeface="Apple SD Gothic Neo"/>
                <a:ea typeface="Apple SD Gothic Neo"/>
                <a:cs typeface="Apple SD Gothic Neo"/>
              </a:defRPr>
            </a:lvl2pPr>
            <a:lvl3pPr>
              <a:defRPr sz="5700" b="1">
                <a:solidFill>
                  <a:srgbClr val="087E83"/>
                </a:solidFill>
                <a:latin typeface="Apple SD Gothic Neo"/>
                <a:ea typeface="Apple SD Gothic Neo"/>
                <a:cs typeface="Apple SD Gothic Neo"/>
              </a:defRPr>
            </a:lvl3pPr>
            <a:lvl4pPr>
              <a:defRPr sz="5700" b="1">
                <a:solidFill>
                  <a:srgbClr val="087E83"/>
                </a:solidFill>
                <a:latin typeface="Apple SD Gothic Neo"/>
                <a:ea typeface="Apple SD Gothic Neo"/>
                <a:cs typeface="Apple SD Gothic Neo"/>
              </a:defRPr>
            </a:lvl4pPr>
            <a:lvl5pPr>
              <a:defRPr sz="5700" b="1">
                <a:solidFill>
                  <a:srgbClr val="087E83"/>
                </a:solidFill>
                <a:latin typeface="Apple SD Gothic Neo"/>
                <a:ea typeface="Apple SD Gothic Neo"/>
                <a:cs typeface="Apple SD Gothic Neo"/>
              </a:defRPr>
            </a:lvl5pPr>
            <a:lvl6pPr>
              <a:defRPr sz="5700" b="1">
                <a:solidFill>
                  <a:srgbClr val="087E83"/>
                </a:solidFill>
                <a:latin typeface="Apple SD Gothic Neo"/>
                <a:ea typeface="Apple SD Gothic Neo"/>
                <a:cs typeface="Apple SD Gothic Neo"/>
              </a:defRPr>
            </a:lvl6pPr>
            <a:lvl7pPr>
              <a:defRPr sz="5700" b="1">
                <a:solidFill>
                  <a:srgbClr val="087E83"/>
                </a:solidFill>
                <a:latin typeface="Apple SD Gothic Neo"/>
                <a:ea typeface="Apple SD Gothic Neo"/>
                <a:cs typeface="Apple SD Gothic Neo"/>
              </a:defRPr>
            </a:lvl7pPr>
            <a:lvl8pPr>
              <a:defRPr sz="5700" b="1">
                <a:solidFill>
                  <a:srgbClr val="087E83"/>
                </a:solidFill>
                <a:latin typeface="Apple SD Gothic Neo"/>
                <a:ea typeface="Apple SD Gothic Neo"/>
                <a:cs typeface="Apple SD Gothic Neo"/>
              </a:defRPr>
            </a:lvl8pPr>
            <a:lvl9pPr>
              <a:defRPr sz="5700" b="1">
                <a:solidFill>
                  <a:srgbClr val="087E83"/>
                </a:solidFill>
                <a:latin typeface="Apple SD Gothic Neo"/>
                <a:ea typeface="Apple SD Gothic Neo"/>
                <a:cs typeface="Apple SD Gothic Neo"/>
              </a:defRPr>
            </a:lvl9pPr>
          </a:lstStyle>
          <a:p xmlns:a="http://schemas.openxmlformats.org/drawingml/2006/main">
            <a:pPr>
              <a:defRPr sz="5700" b="1">
                <a:solidFill>
                  <a:srgbClr val="087E83"/>
                </a:solidFill>
                <a:latin typeface="Apple SD Gothic Neo"/>
                <a:ea typeface="Apple SD Gothic Neo"/>
                <a:cs typeface="Apple SD Gothic Neo"/>
              </a:defRPr>
            </a:pPr>
            <a:r>
              <a:rPr sz="5700" b="1">
                <a:solidFill>
                  <a:srgbClr val="087E83"/>
                </a:solidFill>
                <a:latin typeface="Apple SD Gothic Neo"/>
                <a:ea typeface="Apple SD Gothic Neo"/>
                <a:cs typeface="Apple SD Gothic Neo"/>
              </a:rPr>
              <a:t>36개</a:t>
            </a:r>
          </a:p>
        </p:txBody>
      </p:sp>
      <p:sp>
        <p:nvSpPr>
          <p:cNvPr id="4" name="">
            <a:extLst xmlns:a="http://schemas.openxmlformats.org/drawingml/2006/main">
              <a:ext uri="{FF2B5EF4-FFF2-40B4-BE49-F238E27FC236}">
                <a16:creationId xmlns:a16="http://schemas.microsoft.com/office/drawing/2014/main" id="{DC362B54-7B2C-4C94-8037-A41734420551}"/>
              </a:ext>
            </a:extLst>
          </p:cNvPr>
          <p:cNvSpPr>
            <a:spLocks xmlns:a="http://schemas.openxmlformats.org/drawingml/2006/main" noGrp="1"/>
          </p:cNvSpPr>
          <p:nvPr/>
        </p:nvSpPr>
        <p:spPr>
          <a:xfrm xmlns:a="http://schemas.openxmlformats.org/drawingml/2006/main">
            <a:off x="742950" y="2476500"/>
            <a:ext cx="419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87E83"/>
                </a:solidFill>
                <a:latin typeface="Apple SD Gothic Neo"/>
                <a:ea typeface="Apple SD Gothic Neo"/>
                <a:cs typeface="Apple SD Gothic Neo"/>
              </a:defRPr>
            </a:defPPr>
            <a:lvl1pPr>
              <a:defRPr sz="2175" b="1">
                <a:solidFill>
                  <a:srgbClr val="087E83"/>
                </a:solidFill>
                <a:latin typeface="Apple SD Gothic Neo"/>
                <a:ea typeface="Apple SD Gothic Neo"/>
                <a:cs typeface="Apple SD Gothic Neo"/>
              </a:defRPr>
            </a:lvl1pPr>
            <a:lvl2pPr>
              <a:defRPr sz="2175" b="1">
                <a:solidFill>
                  <a:srgbClr val="087E83"/>
                </a:solidFill>
                <a:latin typeface="Apple SD Gothic Neo"/>
                <a:ea typeface="Apple SD Gothic Neo"/>
                <a:cs typeface="Apple SD Gothic Neo"/>
              </a:defRPr>
            </a:lvl2pPr>
            <a:lvl3pPr>
              <a:defRPr sz="2175" b="1">
                <a:solidFill>
                  <a:srgbClr val="087E83"/>
                </a:solidFill>
                <a:latin typeface="Apple SD Gothic Neo"/>
                <a:ea typeface="Apple SD Gothic Neo"/>
                <a:cs typeface="Apple SD Gothic Neo"/>
              </a:defRPr>
            </a:lvl3pPr>
            <a:lvl4pPr>
              <a:defRPr sz="2175" b="1">
                <a:solidFill>
                  <a:srgbClr val="087E83"/>
                </a:solidFill>
                <a:latin typeface="Apple SD Gothic Neo"/>
                <a:ea typeface="Apple SD Gothic Neo"/>
                <a:cs typeface="Apple SD Gothic Neo"/>
              </a:defRPr>
            </a:lvl4pPr>
            <a:lvl5pPr>
              <a:defRPr sz="2175" b="1">
                <a:solidFill>
                  <a:srgbClr val="087E83"/>
                </a:solidFill>
                <a:latin typeface="Apple SD Gothic Neo"/>
                <a:ea typeface="Apple SD Gothic Neo"/>
                <a:cs typeface="Apple SD Gothic Neo"/>
              </a:defRPr>
            </a:lvl5pPr>
            <a:lvl6pPr>
              <a:defRPr sz="2175" b="1">
                <a:solidFill>
                  <a:srgbClr val="087E83"/>
                </a:solidFill>
                <a:latin typeface="Apple SD Gothic Neo"/>
                <a:ea typeface="Apple SD Gothic Neo"/>
                <a:cs typeface="Apple SD Gothic Neo"/>
              </a:defRPr>
            </a:lvl6pPr>
            <a:lvl7pPr>
              <a:defRPr sz="2175" b="1">
                <a:solidFill>
                  <a:srgbClr val="087E83"/>
                </a:solidFill>
                <a:latin typeface="Apple SD Gothic Neo"/>
                <a:ea typeface="Apple SD Gothic Neo"/>
                <a:cs typeface="Apple SD Gothic Neo"/>
              </a:defRPr>
            </a:lvl7pPr>
            <a:lvl8pPr>
              <a:defRPr sz="2175" b="1">
                <a:solidFill>
                  <a:srgbClr val="087E83"/>
                </a:solidFill>
                <a:latin typeface="Apple SD Gothic Neo"/>
                <a:ea typeface="Apple SD Gothic Neo"/>
                <a:cs typeface="Apple SD Gothic Neo"/>
              </a:defRPr>
            </a:lvl8pPr>
            <a:lvl9pPr>
              <a:defRPr sz="2175" b="1">
                <a:solidFill>
                  <a:srgbClr val="087E83"/>
                </a:solidFill>
                <a:latin typeface="Apple SD Gothic Neo"/>
                <a:ea typeface="Apple SD Gothic Neo"/>
                <a:cs typeface="Apple SD Gothic Neo"/>
              </a:defRPr>
            </a:lvl9pPr>
          </a:lstStyle>
          <a:p xmlns:a="http://schemas.openxmlformats.org/drawingml/2006/main">
            <a:pPr>
              <a:defRPr sz="2175" b="1">
                <a:solidFill>
                  <a:srgbClr val="087E83"/>
                </a:solidFill>
                <a:latin typeface="Apple SD Gothic Neo"/>
                <a:ea typeface="Apple SD Gothic Neo"/>
                <a:cs typeface="Apple SD Gothic Neo"/>
              </a:defRPr>
            </a:pPr>
            <a:r>
              <a:rPr sz="2175" b="1">
                <a:solidFill>
                  <a:srgbClr val="087E83"/>
                </a:solidFill>
                <a:latin typeface="Apple SD Gothic Neo"/>
                <a:ea typeface="Apple SD Gothic Neo"/>
                <a:cs typeface="Apple SD Gothic Neo"/>
              </a:rPr>
              <a:t>불량 추가 발견</a:t>
            </a:r>
          </a:p>
        </p:txBody>
      </p:sp>
      <p:sp>
        <p:nvSpPr>
          <p:cNvPr id="5" name="">
            <a:extLst xmlns:a="http://schemas.openxmlformats.org/drawingml/2006/main">
              <a:ext uri="{FF2B5EF4-FFF2-40B4-BE49-F238E27FC236}">
                <a16:creationId xmlns:a16="http://schemas.microsoft.com/office/drawing/2014/main" id="{D268DB4C-D8F3-41DD-A04F-85279CEE20DD}"/>
              </a:ext>
            </a:extLst>
          </p:cNvPr>
          <p:cNvSpPr>
            <a:spLocks xmlns:a="http://schemas.openxmlformats.org/drawingml/2006/main" noGrp="1"/>
          </p:cNvSpPr>
          <p:nvPr/>
        </p:nvSpPr>
        <p:spPr>
          <a:xfrm xmlns:a="http://schemas.openxmlformats.org/drawingml/2006/main">
            <a:off x="6381750" y="1419225"/>
            <a:ext cx="5095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98601D"/>
                </a:solidFill>
                <a:latin typeface="Apple SD Gothic Neo"/>
                <a:ea typeface="Apple SD Gothic Neo"/>
                <a:cs typeface="Apple SD Gothic Neo"/>
              </a:defRPr>
            </a:defPPr>
            <a:lvl1pPr>
              <a:defRPr sz="5700" b="1">
                <a:solidFill>
                  <a:srgbClr val="98601D"/>
                </a:solidFill>
                <a:latin typeface="Apple SD Gothic Neo"/>
                <a:ea typeface="Apple SD Gothic Neo"/>
                <a:cs typeface="Apple SD Gothic Neo"/>
              </a:defRPr>
            </a:lvl1pPr>
            <a:lvl2pPr>
              <a:defRPr sz="5700" b="1">
                <a:solidFill>
                  <a:srgbClr val="98601D"/>
                </a:solidFill>
                <a:latin typeface="Apple SD Gothic Neo"/>
                <a:ea typeface="Apple SD Gothic Neo"/>
                <a:cs typeface="Apple SD Gothic Neo"/>
              </a:defRPr>
            </a:lvl2pPr>
            <a:lvl3pPr>
              <a:defRPr sz="5700" b="1">
                <a:solidFill>
                  <a:srgbClr val="98601D"/>
                </a:solidFill>
                <a:latin typeface="Apple SD Gothic Neo"/>
                <a:ea typeface="Apple SD Gothic Neo"/>
                <a:cs typeface="Apple SD Gothic Neo"/>
              </a:defRPr>
            </a:lvl3pPr>
            <a:lvl4pPr>
              <a:defRPr sz="5700" b="1">
                <a:solidFill>
                  <a:srgbClr val="98601D"/>
                </a:solidFill>
                <a:latin typeface="Apple SD Gothic Neo"/>
                <a:ea typeface="Apple SD Gothic Neo"/>
                <a:cs typeface="Apple SD Gothic Neo"/>
              </a:defRPr>
            </a:lvl4pPr>
            <a:lvl5pPr>
              <a:defRPr sz="5700" b="1">
                <a:solidFill>
                  <a:srgbClr val="98601D"/>
                </a:solidFill>
                <a:latin typeface="Apple SD Gothic Neo"/>
                <a:ea typeface="Apple SD Gothic Neo"/>
                <a:cs typeface="Apple SD Gothic Neo"/>
              </a:defRPr>
            </a:lvl5pPr>
            <a:lvl6pPr>
              <a:defRPr sz="5700" b="1">
                <a:solidFill>
                  <a:srgbClr val="98601D"/>
                </a:solidFill>
                <a:latin typeface="Apple SD Gothic Neo"/>
                <a:ea typeface="Apple SD Gothic Neo"/>
                <a:cs typeface="Apple SD Gothic Neo"/>
              </a:defRPr>
            </a:lvl6pPr>
            <a:lvl7pPr>
              <a:defRPr sz="5700" b="1">
                <a:solidFill>
                  <a:srgbClr val="98601D"/>
                </a:solidFill>
                <a:latin typeface="Apple SD Gothic Neo"/>
                <a:ea typeface="Apple SD Gothic Neo"/>
                <a:cs typeface="Apple SD Gothic Neo"/>
              </a:defRPr>
            </a:lvl7pPr>
            <a:lvl8pPr>
              <a:defRPr sz="5700" b="1">
                <a:solidFill>
                  <a:srgbClr val="98601D"/>
                </a:solidFill>
                <a:latin typeface="Apple SD Gothic Neo"/>
                <a:ea typeface="Apple SD Gothic Neo"/>
                <a:cs typeface="Apple SD Gothic Neo"/>
              </a:defRPr>
            </a:lvl8pPr>
            <a:lvl9pPr>
              <a:defRPr sz="5700" b="1">
                <a:solidFill>
                  <a:srgbClr val="98601D"/>
                </a:solidFill>
                <a:latin typeface="Apple SD Gothic Neo"/>
                <a:ea typeface="Apple SD Gothic Neo"/>
                <a:cs typeface="Apple SD Gothic Neo"/>
              </a:defRPr>
            </a:lvl9pPr>
          </a:lstStyle>
          <a:p xmlns:a="http://schemas.openxmlformats.org/drawingml/2006/main">
            <a:pPr>
              <a:defRPr sz="5700" b="1">
                <a:solidFill>
                  <a:srgbClr val="98601D"/>
                </a:solidFill>
                <a:latin typeface="Apple SD Gothic Neo"/>
                <a:ea typeface="Apple SD Gothic Neo"/>
                <a:cs typeface="Apple SD Gothic Neo"/>
              </a:defRPr>
            </a:pPr>
            <a:r>
              <a:rPr sz="5700" b="1">
                <a:solidFill>
                  <a:srgbClr val="98601D"/>
                </a:solidFill>
                <a:latin typeface="Apple SD Gothic Neo"/>
                <a:ea typeface="Apple SD Gothic Neo"/>
                <a:cs typeface="Apple SD Gothic Neo"/>
              </a:rPr>
              <a:t>134.7개</a:t>
            </a:r>
          </a:p>
        </p:txBody>
      </p:sp>
      <p:sp>
        <p:nvSpPr>
          <p:cNvPr id="6" name="">
            <a:extLst xmlns:a="http://schemas.openxmlformats.org/drawingml/2006/main">
              <a:ext uri="{FF2B5EF4-FFF2-40B4-BE49-F238E27FC236}">
                <a16:creationId xmlns:a16="http://schemas.microsoft.com/office/drawing/2014/main" id="{1657F7B7-0811-4111-802D-99CDC022E1F9}"/>
              </a:ext>
            </a:extLst>
          </p:cNvPr>
          <p:cNvSpPr>
            <a:spLocks xmlns:a="http://schemas.openxmlformats.org/drawingml/2006/main" noGrp="1"/>
          </p:cNvSpPr>
          <p:nvPr/>
        </p:nvSpPr>
        <p:spPr>
          <a:xfrm xmlns:a="http://schemas.openxmlformats.org/drawingml/2006/main">
            <a:off x="6410325" y="247650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98601D"/>
                </a:solidFill>
                <a:latin typeface="Apple SD Gothic Neo"/>
                <a:ea typeface="Apple SD Gothic Neo"/>
                <a:cs typeface="Apple SD Gothic Neo"/>
              </a:defRPr>
            </a:defPPr>
            <a:lvl1pPr>
              <a:defRPr sz="2175" b="1">
                <a:solidFill>
                  <a:srgbClr val="98601D"/>
                </a:solidFill>
                <a:latin typeface="Apple SD Gothic Neo"/>
                <a:ea typeface="Apple SD Gothic Neo"/>
                <a:cs typeface="Apple SD Gothic Neo"/>
              </a:defRPr>
            </a:lvl1pPr>
            <a:lvl2pPr>
              <a:defRPr sz="2175" b="1">
                <a:solidFill>
                  <a:srgbClr val="98601D"/>
                </a:solidFill>
                <a:latin typeface="Apple SD Gothic Neo"/>
                <a:ea typeface="Apple SD Gothic Neo"/>
                <a:cs typeface="Apple SD Gothic Neo"/>
              </a:defRPr>
            </a:lvl2pPr>
            <a:lvl3pPr>
              <a:defRPr sz="2175" b="1">
                <a:solidFill>
                  <a:srgbClr val="98601D"/>
                </a:solidFill>
                <a:latin typeface="Apple SD Gothic Neo"/>
                <a:ea typeface="Apple SD Gothic Neo"/>
                <a:cs typeface="Apple SD Gothic Neo"/>
              </a:defRPr>
            </a:lvl3pPr>
            <a:lvl4pPr>
              <a:defRPr sz="2175" b="1">
                <a:solidFill>
                  <a:srgbClr val="98601D"/>
                </a:solidFill>
                <a:latin typeface="Apple SD Gothic Neo"/>
                <a:ea typeface="Apple SD Gothic Neo"/>
                <a:cs typeface="Apple SD Gothic Neo"/>
              </a:defRPr>
            </a:lvl4pPr>
            <a:lvl5pPr>
              <a:defRPr sz="2175" b="1">
                <a:solidFill>
                  <a:srgbClr val="98601D"/>
                </a:solidFill>
                <a:latin typeface="Apple SD Gothic Neo"/>
                <a:ea typeface="Apple SD Gothic Neo"/>
                <a:cs typeface="Apple SD Gothic Neo"/>
              </a:defRPr>
            </a:lvl5pPr>
            <a:lvl6pPr>
              <a:defRPr sz="2175" b="1">
                <a:solidFill>
                  <a:srgbClr val="98601D"/>
                </a:solidFill>
                <a:latin typeface="Apple SD Gothic Neo"/>
                <a:ea typeface="Apple SD Gothic Neo"/>
                <a:cs typeface="Apple SD Gothic Neo"/>
              </a:defRPr>
            </a:lvl6pPr>
            <a:lvl7pPr>
              <a:defRPr sz="2175" b="1">
                <a:solidFill>
                  <a:srgbClr val="98601D"/>
                </a:solidFill>
                <a:latin typeface="Apple SD Gothic Neo"/>
                <a:ea typeface="Apple SD Gothic Neo"/>
                <a:cs typeface="Apple SD Gothic Neo"/>
              </a:defRPr>
            </a:lvl7pPr>
            <a:lvl8pPr>
              <a:defRPr sz="2175" b="1">
                <a:solidFill>
                  <a:srgbClr val="98601D"/>
                </a:solidFill>
                <a:latin typeface="Apple SD Gothic Neo"/>
                <a:ea typeface="Apple SD Gothic Neo"/>
                <a:cs typeface="Apple SD Gothic Neo"/>
              </a:defRPr>
            </a:lvl8pPr>
            <a:lvl9pPr>
              <a:defRPr sz="2175" b="1">
                <a:solidFill>
                  <a:srgbClr val="98601D"/>
                </a:solidFill>
                <a:latin typeface="Apple SD Gothic Neo"/>
                <a:ea typeface="Apple SD Gothic Neo"/>
                <a:cs typeface="Apple SD Gothic Neo"/>
              </a:defRPr>
            </a:lvl9pPr>
          </a:lstStyle>
          <a:p xmlns:a="http://schemas.openxmlformats.org/drawingml/2006/main">
            <a:pPr>
              <a:defRPr sz="2175" b="1">
                <a:solidFill>
                  <a:srgbClr val="98601D"/>
                </a:solidFill>
                <a:latin typeface="Apple SD Gothic Neo"/>
                <a:ea typeface="Apple SD Gothic Neo"/>
                <a:cs typeface="Apple SD Gothic Neo"/>
              </a:defRPr>
            </a:pPr>
            <a:r>
              <a:rPr sz="2175" b="1">
                <a:solidFill>
                  <a:srgbClr val="98601D"/>
                </a:solidFill>
                <a:latin typeface="Apple SD Gothic Neo"/>
                <a:ea typeface="Apple SD Gothic Neo"/>
                <a:cs typeface="Apple SD Gothic Neo"/>
              </a:rPr>
              <a:t>정상 추가검사 증가</a:t>
            </a:r>
          </a:p>
        </p:txBody>
      </p:sp>
      <p:graphicFrame>
        <p:nvGraphicFramePr>
          <p:cNvPr id="7" name="">
            <a:extLst xmlns:a="http://schemas.openxmlformats.org/drawingml/2006/main">
              <a:ext uri="{FF2B5EF4-FFF2-40B4-BE49-F238E27FC236}">
                <a16:creationId xmlns:a16="http://schemas.microsoft.com/office/drawing/2014/main" id="{100FD074-D3F6-4F93-81A7-C39B0E5F1F11}"/>
              </a:ext>
            </a:extLst>
          </p:cNvPr>
          <p:cNvGraphicFramePr/>
          <p:nvPr/>
        </p:nvGraphicFramePr>
        <p:xfrm>
          <a:off xmlns:a="http://schemas.openxmlformats.org/drawingml/2006/main" x="685800" y="3238500"/>
          <a:ext xmlns:a="http://schemas.openxmlformats.org/drawingml/2006/main" cx="10820400" cy="1857375"/>
        </p:xfrm>
        <a:graphic xmlns:a="http://schemas.openxmlformats.org/drawingml/2006/main">
          <a:graphicData uri="http://schemas.openxmlformats.org/drawingml/2006/table">
            <a:tbl>
              <a:tblPr/>
              <a:tblGrid>
                <a:gridCol w="5143500"/>
                <a:gridCol w="2838450"/>
                <a:gridCol w="2838450"/>
              </a:tblGrid>
              <a:tr h="619125">
                <a:tc>
                  <a:txBody>
                    <a:bodyPr/>
                    <a:lstStyle/>
                    <a:p>
                      <a:r>
                        <a:rPr sz="2025" b="1">
                          <a:solidFill>
                            <a:srgbClr val="FFFFFF"/>
                          </a:solidFill>
                          <a:latin typeface="Apple SD Gothic Neo"/>
                          <a:ea typeface="Apple SD Gothic Neo"/>
                          <a:cs typeface="Apple SD Gothic Neo"/>
                        </a:rPr>
                        <a:t>1,000개 검사 가정</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025" b="1">
                          <a:solidFill>
                            <a:srgbClr val="FFFFFF"/>
                          </a:solidFill>
                          <a:latin typeface="Apple SD Gothic Neo"/>
                          <a:ea typeface="Apple SD Gothic Neo"/>
                          <a:cs typeface="Apple SD Gothic Neo"/>
                        </a:rPr>
                        <a:t>기본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025" b="1">
                          <a:solidFill>
                            <a:srgbClr val="FFFFFF"/>
                          </a:solidFill>
                          <a:latin typeface="Apple SD Gothic Neo"/>
                          <a:ea typeface="Apple SD Gothic Neo"/>
                          <a:cs typeface="Apple SD Gothic Neo"/>
                        </a:rPr>
                        <a:t>선택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619125">
                <a:tc>
                  <a:txBody>
                    <a:bodyPr/>
                    <a:lstStyle/>
                    <a:p>
                      <a:r>
                        <a:rPr sz="2025" b="0">
                          <a:solidFill>
                            <a:srgbClr val="15364A"/>
                          </a:solidFill>
                          <a:latin typeface="Apple SD Gothic Neo"/>
                          <a:ea typeface="Apple SD Gothic Neo"/>
                          <a:cs typeface="Apple SD Gothic Neo"/>
                        </a:rPr>
                        <a:t>찾아낸 / 놓친 불량</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025" b="0">
                          <a:solidFill>
                            <a:srgbClr val="15364A"/>
                          </a:solidFill>
                          <a:latin typeface="Apple SD Gothic Neo"/>
                          <a:ea typeface="Apple SD Gothic Neo"/>
                          <a:cs typeface="Apple SD Gothic Neo"/>
                        </a:rPr>
                        <a:t>60 / 40개</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025" b="0">
                          <a:solidFill>
                            <a:srgbClr val="15364A"/>
                          </a:solidFill>
                          <a:latin typeface="Apple SD Gothic Neo"/>
                          <a:ea typeface="Apple SD Gothic Neo"/>
                          <a:cs typeface="Apple SD Gothic Neo"/>
                        </a:rPr>
                        <a:t>96 / 4개</a:t>
                      </a:r>
                    </a:p>
                  </a:txBody>
                  <a:tcPr marL="91440" marR="91440" marT="45720" marB="45720">
                    <a:lnR w="9525">
                      <a:solidFill>
                        <a:srgbClr val="D6E1E6"/>
                      </a:solidFill>
                      <a:prstDash val="solid"/>
                    </a:lnR>
                    <a:lnB w="9525">
                      <a:solidFill>
                        <a:srgbClr val="D6E1E6"/>
                      </a:solidFill>
                      <a:prstDash val="solid"/>
                    </a:lnB>
                    <a:solidFill>
                      <a:srgbClr val="FFFFFF"/>
                    </a:solidFill>
                  </a:tcPr>
                </a:tc>
              </a:tr>
              <a:tr h="619125">
                <a:tc>
                  <a:txBody>
                    <a:bodyPr/>
                    <a:lstStyle/>
                    <a:p>
                      <a:r>
                        <a:rPr sz="2025" b="0">
                          <a:solidFill>
                            <a:srgbClr val="15364A"/>
                          </a:solidFill>
                          <a:latin typeface="Apple SD Gothic Neo"/>
                          <a:ea typeface="Apple SD Gothic Neo"/>
                          <a:cs typeface="Apple SD Gothic Neo"/>
                        </a:rPr>
                        <a:t>정상 제품 추가검사</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025" b="0">
                          <a:solidFill>
                            <a:srgbClr val="15364A"/>
                          </a:solidFill>
                          <a:latin typeface="Apple SD Gothic Neo"/>
                          <a:ea typeface="Apple SD Gothic Neo"/>
                          <a:cs typeface="Apple SD Gothic Neo"/>
                        </a:rPr>
                        <a:t>5.4개</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2025" b="0">
                          <a:solidFill>
                            <a:srgbClr val="15364A"/>
                          </a:solidFill>
                          <a:latin typeface="Apple SD Gothic Neo"/>
                          <a:ea typeface="Apple SD Gothic Neo"/>
                          <a:cs typeface="Apple SD Gothic Neo"/>
                        </a:rPr>
                        <a:t>140.1개</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8" name="">
            <a:extLst xmlns:a="http://schemas.openxmlformats.org/drawingml/2006/main">
              <a:ext uri="{FF2B5EF4-FFF2-40B4-BE49-F238E27FC236}">
                <a16:creationId xmlns:a16="http://schemas.microsoft.com/office/drawing/2014/main" id="{B7BC0D55-B48E-4D2F-AFCE-1F765EC88808}"/>
              </a:ext>
            </a:extLst>
          </p:cNvPr>
          <p:cNvSpPr>
            <a:spLocks xmlns:a="http://schemas.openxmlformats.org/drawingml/2006/main" noGrp="1"/>
          </p:cNvSpPr>
          <p:nvPr/>
        </p:nvSpPr>
        <p:spPr>
          <a:xfrm xmlns:a="http://schemas.openxmlformats.org/drawingml/2006/main">
            <a:off x="723900" y="54292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677"/>
                </a:solidFill>
                <a:latin typeface="Apple SD Gothic Neo"/>
                <a:ea typeface="Apple SD Gothic Neo"/>
                <a:cs typeface="Apple SD Gothic Neo"/>
              </a:defRPr>
            </a:defPPr>
            <a:lvl1pPr>
              <a:defRPr sz="1800" b="0">
                <a:solidFill>
                  <a:srgbClr val="526677"/>
                </a:solidFill>
                <a:latin typeface="Apple SD Gothic Neo"/>
                <a:ea typeface="Apple SD Gothic Neo"/>
                <a:cs typeface="Apple SD Gothic Neo"/>
              </a:defRPr>
            </a:lvl1pPr>
            <a:lvl2pPr>
              <a:defRPr sz="1800" b="0">
                <a:solidFill>
                  <a:srgbClr val="526677"/>
                </a:solidFill>
                <a:latin typeface="Apple SD Gothic Neo"/>
                <a:ea typeface="Apple SD Gothic Neo"/>
                <a:cs typeface="Apple SD Gothic Neo"/>
              </a:defRPr>
            </a:lvl2pPr>
            <a:lvl3pPr>
              <a:defRPr sz="1800" b="0">
                <a:solidFill>
                  <a:srgbClr val="526677"/>
                </a:solidFill>
                <a:latin typeface="Apple SD Gothic Neo"/>
                <a:ea typeface="Apple SD Gothic Neo"/>
                <a:cs typeface="Apple SD Gothic Neo"/>
              </a:defRPr>
            </a:lvl3pPr>
            <a:lvl4pPr>
              <a:defRPr sz="1800" b="0">
                <a:solidFill>
                  <a:srgbClr val="526677"/>
                </a:solidFill>
                <a:latin typeface="Apple SD Gothic Neo"/>
                <a:ea typeface="Apple SD Gothic Neo"/>
                <a:cs typeface="Apple SD Gothic Neo"/>
              </a:defRPr>
            </a:lvl4pPr>
            <a:lvl5pPr>
              <a:defRPr sz="1800" b="0">
                <a:solidFill>
                  <a:srgbClr val="526677"/>
                </a:solidFill>
                <a:latin typeface="Apple SD Gothic Neo"/>
                <a:ea typeface="Apple SD Gothic Neo"/>
                <a:cs typeface="Apple SD Gothic Neo"/>
              </a:defRPr>
            </a:lvl5pPr>
            <a:lvl6pPr>
              <a:defRPr sz="1800" b="0">
                <a:solidFill>
                  <a:srgbClr val="526677"/>
                </a:solidFill>
                <a:latin typeface="Apple SD Gothic Neo"/>
                <a:ea typeface="Apple SD Gothic Neo"/>
                <a:cs typeface="Apple SD Gothic Neo"/>
              </a:defRPr>
            </a:lvl6pPr>
            <a:lvl7pPr>
              <a:defRPr sz="1800" b="0">
                <a:solidFill>
                  <a:srgbClr val="526677"/>
                </a:solidFill>
                <a:latin typeface="Apple SD Gothic Neo"/>
                <a:ea typeface="Apple SD Gothic Neo"/>
                <a:cs typeface="Apple SD Gothic Neo"/>
              </a:defRPr>
            </a:lvl7pPr>
            <a:lvl8pPr>
              <a:defRPr sz="1800" b="0">
                <a:solidFill>
                  <a:srgbClr val="526677"/>
                </a:solidFill>
                <a:latin typeface="Apple SD Gothic Neo"/>
                <a:ea typeface="Apple SD Gothic Neo"/>
                <a:cs typeface="Apple SD Gothic Neo"/>
              </a:defRPr>
            </a:lvl8pPr>
            <a:lvl9pPr>
              <a:defRPr sz="1800" b="0">
                <a:solidFill>
                  <a:srgbClr val="526677"/>
                </a:solidFill>
                <a:latin typeface="Apple SD Gothic Neo"/>
                <a:ea typeface="Apple SD Gothic Neo"/>
                <a:cs typeface="Apple SD Gothic Neo"/>
              </a:defRPr>
            </a:lvl9pPr>
          </a:lstStyle>
          <a:p xmlns:a="http://schemas.openxmlformats.org/drawingml/2006/main">
            <a:pPr>
              <a:defRPr sz="1800" b="0">
                <a:solidFill>
                  <a:srgbClr val="526677"/>
                </a:solidFill>
                <a:latin typeface="Apple SD Gothic Neo"/>
                <a:ea typeface="Apple SD Gothic Neo"/>
                <a:cs typeface="Apple SD Gothic Neo"/>
              </a:defRPr>
            </a:pPr>
            <a:r>
              <a:rPr sz="1800" b="0">
                <a:solidFill>
                  <a:srgbClr val="526677"/>
                </a:solidFill>
                <a:latin typeface="Apple SD Gothic Neo"/>
                <a:ea typeface="Apple SD Gothic Neo"/>
                <a:cs typeface="Apple SD Gothic Neo"/>
              </a:rPr>
              <a:t>불량10%·검증 비율 유지 가정. 미검출10만원·정상 추가검사1천원 가정 시</a:t>
            </a:r>
          </a:p>
          <a:p xmlns:a="http://schemas.openxmlformats.org/drawingml/2006/main">
            <a:pPr>
              <a:defRPr sz="1800" b="0">
                <a:solidFill>
                  <a:srgbClr val="526677"/>
                </a:solidFill>
                <a:latin typeface="Apple SD Gothic Neo"/>
                <a:ea typeface="Apple SD Gothic Neo"/>
                <a:cs typeface="Apple SD Gothic Neo"/>
              </a:defRPr>
            </a:pPr>
            <a:r>
              <a:rPr sz="1800" b="0">
                <a:solidFill>
                  <a:srgbClr val="526677"/>
                </a:solidFill>
                <a:latin typeface="Apple SD Gothic Neo"/>
                <a:ea typeface="Apple SD Gothic Neo"/>
                <a:cs typeface="Apple SD Gothic Neo"/>
              </a:rPr>
              <a:t>손실 약 346.5만원 감소. 실제 이익 실측 아님, 적용 보류</a:t>
            </a:r>
          </a:p>
        </p:txBody>
      </p:sp>
    </p:spTree>
    <p:extLst>
      <p:ext uri="{BB962C8B-B14F-4D97-AF65-F5344CB8AC3E}">
        <p14:creationId xmlns:p14="http://schemas.microsoft.com/office/powerpoint/2010/main" val="61631320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5C9B96-0D3F-4AEF-8D04-41410AB4DAB3}"/>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재작업 후 양품 비율의 가정</a:t>
            </a:r>
          </a:p>
        </p:txBody>
      </p:sp>
      <p:sp>
        <p:nvSpPr>
          <p:cNvPr id="2" name="">
            <a:extLst xmlns:a="http://schemas.openxmlformats.org/drawingml/2006/main">
              <a:ext uri="{FF2B5EF4-FFF2-40B4-BE49-F238E27FC236}">
                <a16:creationId xmlns:a16="http://schemas.microsoft.com/office/drawing/2014/main" id="{026A76D7-AD0D-4BCA-9F8E-8DC76579315A}"/>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07</a:t>
            </a:r>
          </a:p>
        </p:txBody>
      </p:sp>
      <p:sp>
        <p:nvSpPr>
          <p:cNvPr id="3" name="">
            <a:extLst xmlns:a="http://schemas.openxmlformats.org/drawingml/2006/main">
              <a:ext uri="{FF2B5EF4-FFF2-40B4-BE49-F238E27FC236}">
                <a16:creationId xmlns:a16="http://schemas.microsoft.com/office/drawing/2014/main" id="{AE68B7B3-1C56-4603-B472-C5931104CA85}"/>
              </a:ext>
            </a:extLst>
          </p:cNvPr>
          <p:cNvSpPr>
            <a:spLocks xmlns:a="http://schemas.openxmlformats.org/drawingml/2006/main" noGrp="1"/>
          </p:cNvSpPr>
          <p:nvPr/>
        </p:nvSpPr>
        <p:spPr>
          <a:xfrm xmlns:a="http://schemas.openxmlformats.org/drawingml/2006/main">
            <a:off x="723900" y="14763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87E83"/>
                </a:solidFill>
                <a:latin typeface="Apple SD Gothic Neo"/>
                <a:ea typeface="Apple SD Gothic Neo"/>
                <a:cs typeface="Apple SD Gothic Neo"/>
              </a:defRPr>
            </a:defPPr>
            <a:lvl1pPr>
              <a:defRPr sz="2400" b="0">
                <a:solidFill>
                  <a:srgbClr val="087E83"/>
                </a:solidFill>
                <a:latin typeface="Apple SD Gothic Neo"/>
                <a:ea typeface="Apple SD Gothic Neo"/>
                <a:cs typeface="Apple SD Gothic Neo"/>
              </a:defRPr>
            </a:lvl1pPr>
            <a:lvl2pPr>
              <a:defRPr sz="2400" b="0">
                <a:solidFill>
                  <a:srgbClr val="087E83"/>
                </a:solidFill>
                <a:latin typeface="Apple SD Gothic Neo"/>
                <a:ea typeface="Apple SD Gothic Neo"/>
                <a:cs typeface="Apple SD Gothic Neo"/>
              </a:defRPr>
            </a:lvl2pPr>
            <a:lvl3pPr>
              <a:defRPr sz="2400" b="0">
                <a:solidFill>
                  <a:srgbClr val="087E83"/>
                </a:solidFill>
                <a:latin typeface="Apple SD Gothic Neo"/>
                <a:ea typeface="Apple SD Gothic Neo"/>
                <a:cs typeface="Apple SD Gothic Neo"/>
              </a:defRPr>
            </a:lvl3pPr>
            <a:lvl4pPr>
              <a:defRPr sz="2400" b="0">
                <a:solidFill>
                  <a:srgbClr val="087E83"/>
                </a:solidFill>
                <a:latin typeface="Apple SD Gothic Neo"/>
                <a:ea typeface="Apple SD Gothic Neo"/>
                <a:cs typeface="Apple SD Gothic Neo"/>
              </a:defRPr>
            </a:lvl4pPr>
            <a:lvl5pPr>
              <a:defRPr sz="2400" b="0">
                <a:solidFill>
                  <a:srgbClr val="087E83"/>
                </a:solidFill>
                <a:latin typeface="Apple SD Gothic Neo"/>
                <a:ea typeface="Apple SD Gothic Neo"/>
                <a:cs typeface="Apple SD Gothic Neo"/>
              </a:defRPr>
            </a:lvl5pPr>
            <a:lvl6pPr>
              <a:defRPr sz="2400" b="0">
                <a:solidFill>
                  <a:srgbClr val="087E83"/>
                </a:solidFill>
                <a:latin typeface="Apple SD Gothic Neo"/>
                <a:ea typeface="Apple SD Gothic Neo"/>
                <a:cs typeface="Apple SD Gothic Neo"/>
              </a:defRPr>
            </a:lvl6pPr>
            <a:lvl7pPr>
              <a:defRPr sz="2400" b="0">
                <a:solidFill>
                  <a:srgbClr val="087E83"/>
                </a:solidFill>
                <a:latin typeface="Apple SD Gothic Neo"/>
                <a:ea typeface="Apple SD Gothic Neo"/>
                <a:cs typeface="Apple SD Gothic Neo"/>
              </a:defRPr>
            </a:lvl7pPr>
            <a:lvl8pPr>
              <a:defRPr sz="2400" b="0">
                <a:solidFill>
                  <a:srgbClr val="087E83"/>
                </a:solidFill>
                <a:latin typeface="Apple SD Gothic Neo"/>
                <a:ea typeface="Apple SD Gothic Neo"/>
                <a:cs typeface="Apple SD Gothic Neo"/>
              </a:defRPr>
            </a:lvl8pPr>
            <a:lvl9pPr>
              <a:defRPr sz="2400" b="0">
                <a:solidFill>
                  <a:srgbClr val="087E83"/>
                </a:solidFill>
                <a:latin typeface="Apple SD Gothic Neo"/>
                <a:ea typeface="Apple SD Gothic Neo"/>
                <a:cs typeface="Apple SD Gothic Neo"/>
              </a:defRPr>
            </a:lvl9pPr>
          </a:lstStyle>
          <a:p xmlns:a="http://schemas.openxmlformats.org/drawingml/2006/main">
            <a:pPr>
              <a:defRPr sz="2400" b="0">
                <a:solidFill>
                  <a:srgbClr val="087E83"/>
                </a:solidFill>
                <a:latin typeface="Apple SD Gothic Neo"/>
                <a:ea typeface="Apple SD Gothic Neo"/>
                <a:cs typeface="Apple SD Gothic Neo"/>
              </a:defRPr>
            </a:pPr>
            <a:r>
              <a:rPr sz="2400" b="0">
                <a:solidFill>
                  <a:srgbClr val="087E83"/>
                </a:solidFill>
                <a:latin typeface="Apple SD Gothic Neo"/>
                <a:ea typeface="Apple SD Gothic Neo"/>
                <a:cs typeface="Apple SD Gothic Neo"/>
              </a:rPr>
              <a:t>발견한 불량의 20%를 정상화할 수 있다고 가정</a:t>
            </a:r>
          </a:p>
        </p:txBody>
      </p:sp>
      <p:graphicFrame>
        <p:nvGraphicFramePr>
          <p:cNvPr id="4" name="">
            <a:extLst xmlns:a="http://schemas.openxmlformats.org/drawingml/2006/main">
              <a:ext uri="{FF2B5EF4-FFF2-40B4-BE49-F238E27FC236}">
                <a16:creationId xmlns:a16="http://schemas.microsoft.com/office/drawing/2014/main" id="{8CD716B3-384A-4961-9282-C27F890F9F23}"/>
              </a:ext>
            </a:extLst>
          </p:cNvPr>
          <p:cNvGraphicFramePr/>
          <p:nvPr/>
        </p:nvGraphicFramePr>
        <p:xfrm>
          <a:off xmlns:a="http://schemas.openxmlformats.org/drawingml/2006/main" x="685800" y="2524125"/>
          <a:ext xmlns:a="http://schemas.openxmlformats.org/drawingml/2006/main" cx="10820400" cy="2333625"/>
        </p:xfrm>
        <a:graphic xmlns:a="http://schemas.openxmlformats.org/drawingml/2006/main">
          <a:graphicData uri="http://schemas.openxmlformats.org/drawingml/2006/table">
            <a:tbl>
              <a:tblPr/>
              <a:tblGrid>
                <a:gridCol w="5143500"/>
                <a:gridCol w="2838450"/>
                <a:gridCol w="2838450"/>
              </a:tblGrid>
              <a:tr h="777875">
                <a:tc>
                  <a:txBody>
                    <a:bodyPr/>
                    <a:lstStyle/>
                    <a:p>
                      <a:r>
                        <a:rPr sz="2250" b="1">
                          <a:solidFill>
                            <a:srgbClr val="FFFFFF"/>
                          </a:solidFill>
                          <a:latin typeface="Apple SD Gothic Neo"/>
                          <a:ea typeface="Apple SD Gothic Neo"/>
                          <a:cs typeface="Apple SD Gothic Neo"/>
                        </a:rPr>
                        <a:t>1,000개 중 불량100개 가정</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250" b="1">
                          <a:solidFill>
                            <a:srgbClr val="FFFFFF"/>
                          </a:solidFill>
                          <a:latin typeface="Apple SD Gothic Neo"/>
                          <a:ea typeface="Apple SD Gothic Neo"/>
                          <a:cs typeface="Apple SD Gothic Neo"/>
                        </a:rPr>
                        <a:t>기본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250" b="1">
                          <a:solidFill>
                            <a:srgbClr val="FFFFFF"/>
                          </a:solidFill>
                          <a:latin typeface="Apple SD Gothic Neo"/>
                          <a:ea typeface="Apple SD Gothic Neo"/>
                          <a:cs typeface="Apple SD Gothic Neo"/>
                        </a:rPr>
                        <a:t>선택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777875">
                <a:tc>
                  <a:txBody>
                    <a:bodyPr/>
                    <a:lstStyle/>
                    <a:p>
                      <a:r>
                        <a:rPr sz="2250" b="0">
                          <a:solidFill>
                            <a:srgbClr val="15364A"/>
                          </a:solidFill>
                          <a:latin typeface="Apple SD Gothic Neo"/>
                          <a:ea typeface="Apple SD Gothic Neo"/>
                          <a:cs typeface="Apple SD Gothic Neo"/>
                        </a:rPr>
                        <a:t>재작업으로 회수한 양품</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250" b="0">
                          <a:solidFill>
                            <a:srgbClr val="15364A"/>
                          </a:solidFill>
                          <a:latin typeface="Apple SD Gothic Neo"/>
                          <a:ea typeface="Apple SD Gothic Neo"/>
                          <a:cs typeface="Apple SD Gothic Neo"/>
                        </a:rPr>
                        <a:t>12.0개</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250" b="0">
                          <a:solidFill>
                            <a:srgbClr val="15364A"/>
                          </a:solidFill>
                          <a:latin typeface="Apple SD Gothic Neo"/>
                          <a:ea typeface="Apple SD Gothic Neo"/>
                          <a:cs typeface="Apple SD Gothic Neo"/>
                        </a:rPr>
                        <a:t>19.2개</a:t>
                      </a:r>
                    </a:p>
                  </a:txBody>
                  <a:tcPr marL="91440" marR="91440" marT="45720" marB="45720">
                    <a:lnR w="9525">
                      <a:solidFill>
                        <a:srgbClr val="D6E1E6"/>
                      </a:solidFill>
                      <a:prstDash val="solid"/>
                    </a:lnR>
                    <a:lnB w="9525">
                      <a:solidFill>
                        <a:srgbClr val="D6E1E6"/>
                      </a:solidFill>
                      <a:prstDash val="solid"/>
                    </a:lnB>
                    <a:solidFill>
                      <a:srgbClr val="FFFFFF"/>
                    </a:solidFill>
                  </a:tcPr>
                </a:tc>
              </a:tr>
              <a:tr h="777875">
                <a:tc>
                  <a:txBody>
                    <a:bodyPr/>
                    <a:lstStyle/>
                    <a:p>
                      <a:r>
                        <a:rPr sz="2250" b="0">
                          <a:solidFill>
                            <a:srgbClr val="15364A"/>
                          </a:solidFill>
                          <a:latin typeface="Apple SD Gothic Neo"/>
                          <a:ea typeface="Apple SD Gothic Neo"/>
                          <a:cs typeface="Apple SD Gothic Neo"/>
                        </a:rPr>
                        <a:t>재작업 후 양품 비율</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250" b="0">
                          <a:solidFill>
                            <a:srgbClr val="15364A"/>
                          </a:solidFill>
                          <a:latin typeface="Apple SD Gothic Neo"/>
                          <a:ea typeface="Apple SD Gothic Neo"/>
                          <a:cs typeface="Apple SD Gothic Neo"/>
                        </a:rPr>
                        <a:t>91.20%</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2250" b="0">
                          <a:solidFill>
                            <a:srgbClr val="15364A"/>
                          </a:solidFill>
                          <a:latin typeface="Apple SD Gothic Neo"/>
                          <a:ea typeface="Apple SD Gothic Neo"/>
                          <a:cs typeface="Apple SD Gothic Neo"/>
                        </a:rPr>
                        <a:t>91.92%</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5" name="">
            <a:extLst xmlns:a="http://schemas.openxmlformats.org/drawingml/2006/main">
              <a:ext uri="{FF2B5EF4-FFF2-40B4-BE49-F238E27FC236}">
                <a16:creationId xmlns:a16="http://schemas.microsoft.com/office/drawing/2014/main" id="{3475993E-D9D1-4535-9432-D066B16B79AE}"/>
              </a:ext>
            </a:extLst>
          </p:cNvPr>
          <p:cNvSpPr>
            <a:spLocks xmlns:a="http://schemas.openxmlformats.org/drawingml/2006/main" noGrp="1"/>
          </p:cNvSpPr>
          <p:nvPr/>
        </p:nvSpPr>
        <p:spPr>
          <a:xfrm xmlns:a="http://schemas.openxmlformats.org/drawingml/2006/main">
            <a:off x="723900" y="52578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87E83"/>
                </a:solidFill>
                <a:latin typeface="Apple SD Gothic Neo"/>
                <a:ea typeface="Apple SD Gothic Neo"/>
                <a:cs typeface="Apple SD Gothic Neo"/>
              </a:defRPr>
            </a:defPPr>
            <a:lvl1pPr>
              <a:defRPr sz="2325" b="0">
                <a:solidFill>
                  <a:srgbClr val="087E83"/>
                </a:solidFill>
                <a:latin typeface="Apple SD Gothic Neo"/>
                <a:ea typeface="Apple SD Gothic Neo"/>
                <a:cs typeface="Apple SD Gothic Neo"/>
              </a:defRPr>
            </a:lvl1pPr>
            <a:lvl2pPr>
              <a:defRPr sz="2325" b="0">
                <a:solidFill>
                  <a:srgbClr val="087E83"/>
                </a:solidFill>
                <a:latin typeface="Apple SD Gothic Neo"/>
                <a:ea typeface="Apple SD Gothic Neo"/>
                <a:cs typeface="Apple SD Gothic Neo"/>
              </a:defRPr>
            </a:lvl2pPr>
            <a:lvl3pPr>
              <a:defRPr sz="2325" b="0">
                <a:solidFill>
                  <a:srgbClr val="087E83"/>
                </a:solidFill>
                <a:latin typeface="Apple SD Gothic Neo"/>
                <a:ea typeface="Apple SD Gothic Neo"/>
                <a:cs typeface="Apple SD Gothic Neo"/>
              </a:defRPr>
            </a:lvl3pPr>
            <a:lvl4pPr>
              <a:defRPr sz="2325" b="0">
                <a:solidFill>
                  <a:srgbClr val="087E83"/>
                </a:solidFill>
                <a:latin typeface="Apple SD Gothic Neo"/>
                <a:ea typeface="Apple SD Gothic Neo"/>
                <a:cs typeface="Apple SD Gothic Neo"/>
              </a:defRPr>
            </a:lvl4pPr>
            <a:lvl5pPr>
              <a:defRPr sz="2325" b="0">
                <a:solidFill>
                  <a:srgbClr val="087E83"/>
                </a:solidFill>
                <a:latin typeface="Apple SD Gothic Neo"/>
                <a:ea typeface="Apple SD Gothic Neo"/>
                <a:cs typeface="Apple SD Gothic Neo"/>
              </a:defRPr>
            </a:lvl5pPr>
            <a:lvl6pPr>
              <a:defRPr sz="2325" b="0">
                <a:solidFill>
                  <a:srgbClr val="087E83"/>
                </a:solidFill>
                <a:latin typeface="Apple SD Gothic Neo"/>
                <a:ea typeface="Apple SD Gothic Neo"/>
                <a:cs typeface="Apple SD Gothic Neo"/>
              </a:defRPr>
            </a:lvl6pPr>
            <a:lvl7pPr>
              <a:defRPr sz="2325" b="0">
                <a:solidFill>
                  <a:srgbClr val="087E83"/>
                </a:solidFill>
                <a:latin typeface="Apple SD Gothic Neo"/>
                <a:ea typeface="Apple SD Gothic Neo"/>
                <a:cs typeface="Apple SD Gothic Neo"/>
              </a:defRPr>
            </a:lvl7pPr>
            <a:lvl8pPr>
              <a:defRPr sz="2325" b="0">
                <a:solidFill>
                  <a:srgbClr val="087E83"/>
                </a:solidFill>
                <a:latin typeface="Apple SD Gothic Neo"/>
                <a:ea typeface="Apple SD Gothic Neo"/>
                <a:cs typeface="Apple SD Gothic Neo"/>
              </a:defRPr>
            </a:lvl8pPr>
            <a:lvl9pPr>
              <a:defRPr sz="2325" b="0">
                <a:solidFill>
                  <a:srgbClr val="087E83"/>
                </a:solidFill>
                <a:latin typeface="Apple SD Gothic Neo"/>
                <a:ea typeface="Apple SD Gothic Neo"/>
                <a:cs typeface="Apple SD Gothic Neo"/>
              </a:defRPr>
            </a:lvl9pPr>
          </a:lstStyle>
          <a:p xmlns:a="http://schemas.openxmlformats.org/drawingml/2006/main">
            <a:pPr>
              <a:defRPr sz="2325" b="0">
                <a:solidFill>
                  <a:srgbClr val="087E83"/>
                </a:solidFill>
                <a:latin typeface="Apple SD Gothic Neo"/>
                <a:ea typeface="Apple SD Gothic Neo"/>
                <a:cs typeface="Apple SD Gothic Neo"/>
              </a:defRPr>
            </a:pPr>
            <a:r>
              <a:rPr sz="2325" b="0">
                <a:solidFill>
                  <a:srgbClr val="087E83"/>
                </a:solidFill>
                <a:latin typeface="Apple SD Gothic Neo"/>
                <a:ea typeface="Apple SD Gothic Neo"/>
                <a:cs typeface="Apple SD Gothic Neo"/>
              </a:rPr>
              <a:t>양품 7.2개 추가 회수, 재작업 후 양품 비율 +0.72%p</a:t>
            </a:r>
          </a:p>
        </p:txBody>
      </p:sp>
      <p:sp>
        <p:nvSpPr>
          <p:cNvPr id="6" name="">
            <a:extLst xmlns:a="http://schemas.openxmlformats.org/drawingml/2006/main">
              <a:ext uri="{FF2B5EF4-FFF2-40B4-BE49-F238E27FC236}">
                <a16:creationId xmlns:a16="http://schemas.microsoft.com/office/drawing/2014/main" id="{E15BD7D3-DC80-41D2-BBAD-04D3946315E3}"/>
              </a:ext>
            </a:extLst>
          </p:cNvPr>
          <p:cNvSpPr>
            <a:spLocks xmlns:a="http://schemas.openxmlformats.org/drawingml/2006/main" noGrp="1"/>
          </p:cNvSpPr>
          <p:nvPr/>
        </p:nvSpPr>
        <p:spPr>
          <a:xfrm xmlns:a="http://schemas.openxmlformats.org/drawingml/2006/main">
            <a:off x="723900" y="601980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677"/>
                </a:solidFill>
                <a:latin typeface="Apple SD Gothic Neo"/>
                <a:ea typeface="Apple SD Gothic Neo"/>
                <a:cs typeface="Apple SD Gothic Neo"/>
              </a:defRPr>
            </a:defPPr>
            <a:lvl1pPr>
              <a:defRPr sz="1725" b="0">
                <a:solidFill>
                  <a:srgbClr val="526677"/>
                </a:solidFill>
                <a:latin typeface="Apple SD Gothic Neo"/>
                <a:ea typeface="Apple SD Gothic Neo"/>
                <a:cs typeface="Apple SD Gothic Neo"/>
              </a:defRPr>
            </a:lvl1pPr>
            <a:lvl2pPr>
              <a:defRPr sz="1725" b="0">
                <a:solidFill>
                  <a:srgbClr val="526677"/>
                </a:solidFill>
                <a:latin typeface="Apple SD Gothic Neo"/>
                <a:ea typeface="Apple SD Gothic Neo"/>
                <a:cs typeface="Apple SD Gothic Neo"/>
              </a:defRPr>
            </a:lvl2pPr>
            <a:lvl3pPr>
              <a:defRPr sz="1725" b="0">
                <a:solidFill>
                  <a:srgbClr val="526677"/>
                </a:solidFill>
                <a:latin typeface="Apple SD Gothic Neo"/>
                <a:ea typeface="Apple SD Gothic Neo"/>
                <a:cs typeface="Apple SD Gothic Neo"/>
              </a:defRPr>
            </a:lvl3pPr>
            <a:lvl4pPr>
              <a:defRPr sz="1725" b="0">
                <a:solidFill>
                  <a:srgbClr val="526677"/>
                </a:solidFill>
                <a:latin typeface="Apple SD Gothic Neo"/>
                <a:ea typeface="Apple SD Gothic Neo"/>
                <a:cs typeface="Apple SD Gothic Neo"/>
              </a:defRPr>
            </a:lvl4pPr>
            <a:lvl5pPr>
              <a:defRPr sz="1725" b="0">
                <a:solidFill>
                  <a:srgbClr val="526677"/>
                </a:solidFill>
                <a:latin typeface="Apple SD Gothic Neo"/>
                <a:ea typeface="Apple SD Gothic Neo"/>
                <a:cs typeface="Apple SD Gothic Neo"/>
              </a:defRPr>
            </a:lvl5pPr>
            <a:lvl6pPr>
              <a:defRPr sz="1725" b="0">
                <a:solidFill>
                  <a:srgbClr val="526677"/>
                </a:solidFill>
                <a:latin typeface="Apple SD Gothic Neo"/>
                <a:ea typeface="Apple SD Gothic Neo"/>
                <a:cs typeface="Apple SD Gothic Neo"/>
              </a:defRPr>
            </a:lvl6pPr>
            <a:lvl7pPr>
              <a:defRPr sz="1725" b="0">
                <a:solidFill>
                  <a:srgbClr val="526677"/>
                </a:solidFill>
                <a:latin typeface="Apple SD Gothic Neo"/>
                <a:ea typeface="Apple SD Gothic Neo"/>
                <a:cs typeface="Apple SD Gothic Neo"/>
              </a:defRPr>
            </a:lvl7pPr>
            <a:lvl8pPr>
              <a:defRPr sz="1725" b="0">
                <a:solidFill>
                  <a:srgbClr val="526677"/>
                </a:solidFill>
                <a:latin typeface="Apple SD Gothic Neo"/>
                <a:ea typeface="Apple SD Gothic Neo"/>
                <a:cs typeface="Apple SD Gothic Neo"/>
              </a:defRPr>
            </a:lvl8pPr>
            <a:lvl9pPr>
              <a:defRPr sz="1725" b="0">
                <a:solidFill>
                  <a:srgbClr val="526677"/>
                </a:solidFill>
                <a:latin typeface="Apple SD Gothic Neo"/>
                <a:ea typeface="Apple SD Gothic Neo"/>
                <a:cs typeface="Apple SD Gothic Neo"/>
              </a:defRPr>
            </a:lvl9pPr>
          </a:lstStyle>
          <a:p xmlns:a="http://schemas.openxmlformats.org/drawingml/2006/main">
            <a:pPr>
              <a:defRPr sz="1725" b="0">
                <a:solidFill>
                  <a:srgbClr val="526677"/>
                </a:solidFill>
                <a:latin typeface="Apple SD Gothic Neo"/>
                <a:ea typeface="Apple SD Gothic Neo"/>
                <a:cs typeface="Apple SD Gothic Neo"/>
              </a:defRPr>
            </a:pPr>
            <a:r>
              <a:rPr sz="1725" b="0">
                <a:solidFill>
                  <a:srgbClr val="526677"/>
                </a:solidFill>
                <a:latin typeface="Apple SD Gothic Neo"/>
                <a:ea typeface="Apple SD Gothic Neo"/>
                <a:cs typeface="Apple SD Gothic Neo"/>
              </a:rPr>
              <a:t>검사만으로 제조 수율은 바뀌지 않음. 실제 결함의 재작업 가능 여부는 미확인</a:t>
            </a:r>
          </a:p>
        </p:txBody>
      </p:sp>
    </p:spTree>
    <p:extLst>
      <p:ext uri="{BB962C8B-B14F-4D97-AF65-F5344CB8AC3E}">
        <p14:creationId xmlns:p14="http://schemas.microsoft.com/office/powerpoint/2010/main" val="86522015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31BB29F-42D7-47EC-BAA6-32585B42BFF7}"/>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공개 SECOM에서는 적용 보류</a:t>
            </a:r>
          </a:p>
        </p:txBody>
      </p:sp>
      <p:sp>
        <p:nvSpPr>
          <p:cNvPr id="2" name="">
            <a:extLst xmlns:a="http://schemas.openxmlformats.org/drawingml/2006/main">
              <a:ext uri="{FF2B5EF4-FFF2-40B4-BE49-F238E27FC236}">
                <a16:creationId xmlns:a16="http://schemas.microsoft.com/office/drawing/2014/main" id="{75B6CA4F-84A5-4981-85C5-893D90E87EB6}"/>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08</a:t>
            </a:r>
          </a:p>
        </p:txBody>
      </p:sp>
      <p:graphicFrame>
        <p:nvGraphicFramePr>
          <p:cNvPr id="3" name="">
            <a:extLst xmlns:a="http://schemas.openxmlformats.org/drawingml/2006/main">
              <a:ext uri="{FF2B5EF4-FFF2-40B4-BE49-F238E27FC236}">
                <a16:creationId xmlns:a16="http://schemas.microsoft.com/office/drawing/2014/main" id="{ED809FE8-3E45-4FDB-8BD7-95673A47A2EC}"/>
              </a:ext>
            </a:extLst>
          </p:cNvPr>
          <p:cNvGraphicFramePr/>
          <p:nvPr/>
        </p:nvGraphicFramePr>
        <p:xfrm>
          <a:off xmlns:a="http://schemas.openxmlformats.org/drawingml/2006/main" x="685800" y="1571625"/>
          <a:ext xmlns:a="http://schemas.openxmlformats.org/drawingml/2006/main" cx="10820400" cy="2667000"/>
        </p:xfrm>
        <a:graphic xmlns:a="http://schemas.openxmlformats.org/drawingml/2006/main">
          <a:graphicData uri="http://schemas.openxmlformats.org/drawingml/2006/table">
            <a:tbl>
              <a:tblPr/>
              <a:tblGrid>
                <a:gridCol w="5143500"/>
                <a:gridCol w="2838450"/>
                <a:gridCol w="2838450"/>
              </a:tblGrid>
              <a:tr h="889000">
                <a:tc>
                  <a:txBody>
                    <a:bodyPr/>
                    <a:lstStyle/>
                    <a:p>
                      <a:r>
                        <a:rPr sz="2325" b="1">
                          <a:solidFill>
                            <a:srgbClr val="FFFFFF"/>
                          </a:solidFill>
                          <a:latin typeface="Apple SD Gothic Neo"/>
                          <a:ea typeface="Apple SD Gothic Neo"/>
                          <a:cs typeface="Apple SD Gothic Neo"/>
                        </a:rPr>
                        <a:t>공개 SECOM 최종 평가</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325" b="1">
                          <a:solidFill>
                            <a:srgbClr val="FFFFFF"/>
                          </a:solidFill>
                          <a:latin typeface="Apple SD Gothic Neo"/>
                          <a:ea typeface="Apple SD Gothic Neo"/>
                          <a:cs typeface="Apple SD Gothic Neo"/>
                        </a:rPr>
                        <a:t>기본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2325" b="1">
                          <a:solidFill>
                            <a:srgbClr val="FFFFFF"/>
                          </a:solidFill>
                          <a:latin typeface="Apple SD Gothic Neo"/>
                          <a:ea typeface="Apple SD Gothic Neo"/>
                          <a:cs typeface="Apple SD Gothic Neo"/>
                        </a:rPr>
                        <a:t>선택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889000">
                <a:tc>
                  <a:txBody>
                    <a:bodyPr/>
                    <a:lstStyle/>
                    <a:p>
                      <a:r>
                        <a:rPr sz="2325" b="0">
                          <a:solidFill>
                            <a:srgbClr val="15364A"/>
                          </a:solidFill>
                          <a:latin typeface="Apple SD Gothic Neo"/>
                          <a:ea typeface="Apple SD Gothic Neo"/>
                          <a:cs typeface="Apple SD Gothic Neo"/>
                        </a:rPr>
                        <a:t>불량 발견 비율</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2325" b="0">
                          <a:solidFill>
                            <a:srgbClr val="15364A"/>
                          </a:solidFill>
                          <a:latin typeface="Apple SD Gothic Neo"/>
                          <a:ea typeface="Apple SD Gothic Neo"/>
                          <a:cs typeface="Apple SD Gothic Neo"/>
                        </a:rPr>
                        <a:t>6.7%</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2325" b="0">
                          <a:solidFill>
                            <a:srgbClr val="15364A"/>
                          </a:solidFill>
                          <a:latin typeface="Apple SD Gothic Neo"/>
                          <a:ea typeface="Apple SD Gothic Neo"/>
                          <a:cs typeface="Apple SD Gothic Neo"/>
                        </a:rPr>
                        <a:t>93.3%</a:t>
                      </a:r>
                    </a:p>
                  </a:txBody>
                  <a:tcPr marL="91440" marR="91440" marT="45720" marB="45720">
                    <a:lnR w="9525">
                      <a:solidFill>
                        <a:srgbClr val="D6E1E6"/>
                      </a:solidFill>
                      <a:prstDash val="solid"/>
                    </a:lnR>
                    <a:lnB w="9525">
                      <a:solidFill>
                        <a:srgbClr val="D6E1E6"/>
                      </a:solidFill>
                      <a:prstDash val="solid"/>
                    </a:lnB>
                    <a:solidFill>
                      <a:srgbClr val="FFFFFF"/>
                    </a:solidFill>
                  </a:tcPr>
                </a:tc>
              </a:tr>
              <a:tr h="889000">
                <a:tc>
                  <a:txBody>
                    <a:bodyPr/>
                    <a:lstStyle/>
                    <a:p>
                      <a:r>
                        <a:rPr sz="2325" b="0">
                          <a:solidFill>
                            <a:srgbClr val="15364A"/>
                          </a:solidFill>
                          <a:latin typeface="Apple SD Gothic Neo"/>
                          <a:ea typeface="Apple SD Gothic Neo"/>
                          <a:cs typeface="Apple SD Gothic Neo"/>
                        </a:rPr>
                        <a:t>정상 추가검사 비율</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2325" b="0">
                          <a:solidFill>
                            <a:srgbClr val="15364A"/>
                          </a:solidFill>
                          <a:latin typeface="Apple SD Gothic Neo"/>
                          <a:ea typeface="Apple SD Gothic Neo"/>
                          <a:cs typeface="Apple SD Gothic Neo"/>
                        </a:rPr>
                        <a:t>4.4%</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2325" b="0">
                          <a:solidFill>
                            <a:srgbClr val="15364A"/>
                          </a:solidFill>
                          <a:latin typeface="Apple SD Gothic Neo"/>
                          <a:ea typeface="Apple SD Gothic Neo"/>
                          <a:cs typeface="Apple SD Gothic Neo"/>
                        </a:rPr>
                        <a:t>88.8%</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4" name="">
            <a:extLst xmlns:a="http://schemas.openxmlformats.org/drawingml/2006/main">
              <a:ext uri="{FF2B5EF4-FFF2-40B4-BE49-F238E27FC236}">
                <a16:creationId xmlns:a16="http://schemas.microsoft.com/office/drawing/2014/main" id="{F6BD0101-93BC-48A1-A086-DAC079508D2E}"/>
              </a:ext>
            </a:extLst>
          </p:cNvPr>
          <p:cNvSpPr>
            <a:spLocks xmlns:a="http://schemas.openxmlformats.org/drawingml/2006/main" noGrp="1"/>
          </p:cNvSpPr>
          <p:nvPr/>
        </p:nvSpPr>
        <p:spPr>
          <a:xfrm xmlns:a="http://schemas.openxmlformats.org/drawingml/2006/main">
            <a:off x="723900" y="45720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98601D"/>
                </a:solidFill>
                <a:latin typeface="Apple SD Gothic Neo"/>
                <a:ea typeface="Apple SD Gothic Neo"/>
                <a:cs typeface="Apple SD Gothic Neo"/>
              </a:defRPr>
            </a:defPPr>
            <a:lvl1pPr>
              <a:defRPr sz="3825" b="1">
                <a:solidFill>
                  <a:srgbClr val="98601D"/>
                </a:solidFill>
                <a:latin typeface="Apple SD Gothic Neo"/>
                <a:ea typeface="Apple SD Gothic Neo"/>
                <a:cs typeface="Apple SD Gothic Neo"/>
              </a:defRPr>
            </a:lvl1pPr>
            <a:lvl2pPr>
              <a:defRPr sz="3825" b="1">
                <a:solidFill>
                  <a:srgbClr val="98601D"/>
                </a:solidFill>
                <a:latin typeface="Apple SD Gothic Neo"/>
                <a:ea typeface="Apple SD Gothic Neo"/>
                <a:cs typeface="Apple SD Gothic Neo"/>
              </a:defRPr>
            </a:lvl2pPr>
            <a:lvl3pPr>
              <a:defRPr sz="3825" b="1">
                <a:solidFill>
                  <a:srgbClr val="98601D"/>
                </a:solidFill>
                <a:latin typeface="Apple SD Gothic Neo"/>
                <a:ea typeface="Apple SD Gothic Neo"/>
                <a:cs typeface="Apple SD Gothic Neo"/>
              </a:defRPr>
            </a:lvl3pPr>
            <a:lvl4pPr>
              <a:defRPr sz="3825" b="1">
                <a:solidFill>
                  <a:srgbClr val="98601D"/>
                </a:solidFill>
                <a:latin typeface="Apple SD Gothic Neo"/>
                <a:ea typeface="Apple SD Gothic Neo"/>
                <a:cs typeface="Apple SD Gothic Neo"/>
              </a:defRPr>
            </a:lvl4pPr>
            <a:lvl5pPr>
              <a:defRPr sz="3825" b="1">
                <a:solidFill>
                  <a:srgbClr val="98601D"/>
                </a:solidFill>
                <a:latin typeface="Apple SD Gothic Neo"/>
                <a:ea typeface="Apple SD Gothic Neo"/>
                <a:cs typeface="Apple SD Gothic Neo"/>
              </a:defRPr>
            </a:lvl5pPr>
            <a:lvl6pPr>
              <a:defRPr sz="3825" b="1">
                <a:solidFill>
                  <a:srgbClr val="98601D"/>
                </a:solidFill>
                <a:latin typeface="Apple SD Gothic Neo"/>
                <a:ea typeface="Apple SD Gothic Neo"/>
                <a:cs typeface="Apple SD Gothic Neo"/>
              </a:defRPr>
            </a:lvl6pPr>
            <a:lvl7pPr>
              <a:defRPr sz="3825" b="1">
                <a:solidFill>
                  <a:srgbClr val="98601D"/>
                </a:solidFill>
                <a:latin typeface="Apple SD Gothic Neo"/>
                <a:ea typeface="Apple SD Gothic Neo"/>
                <a:cs typeface="Apple SD Gothic Neo"/>
              </a:defRPr>
            </a:lvl7pPr>
            <a:lvl8pPr>
              <a:defRPr sz="3825" b="1">
                <a:solidFill>
                  <a:srgbClr val="98601D"/>
                </a:solidFill>
                <a:latin typeface="Apple SD Gothic Neo"/>
                <a:ea typeface="Apple SD Gothic Neo"/>
                <a:cs typeface="Apple SD Gothic Neo"/>
              </a:defRPr>
            </a:lvl8pPr>
            <a:lvl9pPr>
              <a:defRPr sz="3825" b="1">
                <a:solidFill>
                  <a:srgbClr val="98601D"/>
                </a:solidFill>
                <a:latin typeface="Apple SD Gothic Neo"/>
                <a:ea typeface="Apple SD Gothic Neo"/>
                <a:cs typeface="Apple SD Gothic Neo"/>
              </a:defRPr>
            </a:lvl9pPr>
          </a:lstStyle>
          <a:p xmlns:a="http://schemas.openxmlformats.org/drawingml/2006/main">
            <a:pPr>
              <a:defRPr sz="3825" b="1">
                <a:solidFill>
                  <a:srgbClr val="98601D"/>
                </a:solidFill>
                <a:latin typeface="Apple SD Gothic Neo"/>
                <a:ea typeface="Apple SD Gothic Neo"/>
                <a:cs typeface="Apple SD Gothic Neo"/>
              </a:defRPr>
            </a:pPr>
            <a:r>
              <a:rPr sz="3825" b="1">
                <a:solidFill>
                  <a:srgbClr val="98601D"/>
                </a:solidFill>
                <a:latin typeface="Apple SD Gothic Neo"/>
                <a:ea typeface="Apple SD Gothic Neo"/>
                <a:cs typeface="Apple SD Gothic Neo"/>
              </a:rPr>
              <a:t>적용 보류</a:t>
            </a:r>
          </a:p>
        </p:txBody>
      </p:sp>
      <p:sp>
        <p:nvSpPr>
          <p:cNvPr id="5" name="">
            <a:extLst xmlns:a="http://schemas.openxmlformats.org/drawingml/2006/main">
              <a:ext uri="{FF2B5EF4-FFF2-40B4-BE49-F238E27FC236}">
                <a16:creationId xmlns:a16="http://schemas.microsoft.com/office/drawing/2014/main" id="{18094528-D805-416C-AA76-2C89EDDA53B7}"/>
              </a:ext>
            </a:extLst>
          </p:cNvPr>
          <p:cNvSpPr>
            <a:spLocks xmlns:a="http://schemas.openxmlformats.org/drawingml/2006/main" noGrp="1"/>
          </p:cNvSpPr>
          <p:nvPr/>
        </p:nvSpPr>
        <p:spPr>
          <a:xfrm xmlns:a="http://schemas.openxmlformats.org/drawingml/2006/main">
            <a:off x="723900" y="54768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364A"/>
                </a:solidFill>
                <a:latin typeface="Apple SD Gothic Neo"/>
                <a:ea typeface="Apple SD Gothic Neo"/>
                <a:cs typeface="Apple SD Gothic Neo"/>
              </a:defRPr>
            </a:defPPr>
            <a:lvl1pPr>
              <a:defRPr sz="2100" b="0">
                <a:solidFill>
                  <a:srgbClr val="15364A"/>
                </a:solidFill>
                <a:latin typeface="Apple SD Gothic Neo"/>
                <a:ea typeface="Apple SD Gothic Neo"/>
                <a:cs typeface="Apple SD Gothic Neo"/>
              </a:defRPr>
            </a:lvl1pPr>
            <a:lvl2pPr>
              <a:defRPr sz="2100" b="0">
                <a:solidFill>
                  <a:srgbClr val="15364A"/>
                </a:solidFill>
                <a:latin typeface="Apple SD Gothic Neo"/>
                <a:ea typeface="Apple SD Gothic Neo"/>
                <a:cs typeface="Apple SD Gothic Neo"/>
              </a:defRPr>
            </a:lvl2pPr>
            <a:lvl3pPr>
              <a:defRPr sz="2100" b="0">
                <a:solidFill>
                  <a:srgbClr val="15364A"/>
                </a:solidFill>
                <a:latin typeface="Apple SD Gothic Neo"/>
                <a:ea typeface="Apple SD Gothic Neo"/>
                <a:cs typeface="Apple SD Gothic Neo"/>
              </a:defRPr>
            </a:lvl3pPr>
            <a:lvl4pPr>
              <a:defRPr sz="2100" b="0">
                <a:solidFill>
                  <a:srgbClr val="15364A"/>
                </a:solidFill>
                <a:latin typeface="Apple SD Gothic Neo"/>
                <a:ea typeface="Apple SD Gothic Neo"/>
                <a:cs typeface="Apple SD Gothic Neo"/>
              </a:defRPr>
            </a:lvl4pPr>
            <a:lvl5pPr>
              <a:defRPr sz="2100" b="0">
                <a:solidFill>
                  <a:srgbClr val="15364A"/>
                </a:solidFill>
                <a:latin typeface="Apple SD Gothic Neo"/>
                <a:ea typeface="Apple SD Gothic Neo"/>
                <a:cs typeface="Apple SD Gothic Neo"/>
              </a:defRPr>
            </a:lvl5pPr>
            <a:lvl6pPr>
              <a:defRPr sz="2100" b="0">
                <a:solidFill>
                  <a:srgbClr val="15364A"/>
                </a:solidFill>
                <a:latin typeface="Apple SD Gothic Neo"/>
                <a:ea typeface="Apple SD Gothic Neo"/>
                <a:cs typeface="Apple SD Gothic Neo"/>
              </a:defRPr>
            </a:lvl6pPr>
            <a:lvl7pPr>
              <a:defRPr sz="2100" b="0">
                <a:solidFill>
                  <a:srgbClr val="15364A"/>
                </a:solidFill>
                <a:latin typeface="Apple SD Gothic Neo"/>
                <a:ea typeface="Apple SD Gothic Neo"/>
                <a:cs typeface="Apple SD Gothic Neo"/>
              </a:defRPr>
            </a:lvl7pPr>
            <a:lvl8pPr>
              <a:defRPr sz="2100" b="0">
                <a:solidFill>
                  <a:srgbClr val="15364A"/>
                </a:solidFill>
                <a:latin typeface="Apple SD Gothic Neo"/>
                <a:ea typeface="Apple SD Gothic Neo"/>
                <a:cs typeface="Apple SD Gothic Neo"/>
              </a:defRPr>
            </a:lvl8pPr>
            <a:lvl9pPr>
              <a:defRPr sz="2100" b="0">
                <a:solidFill>
                  <a:srgbClr val="15364A"/>
                </a:solidFill>
                <a:latin typeface="Apple SD Gothic Neo"/>
                <a:ea typeface="Apple SD Gothic Neo"/>
                <a:cs typeface="Apple SD Gothic Neo"/>
              </a:defRPr>
            </a:lvl9pPr>
          </a:lstStyle>
          <a:p xmlns:a="http://schemas.openxmlformats.org/drawingml/2006/main">
            <a:pPr>
              <a:defRPr sz="2100" b="0">
                <a:solidFill>
                  <a:srgbClr val="15364A"/>
                </a:solidFill>
                <a:latin typeface="Apple SD Gothic Neo"/>
                <a:ea typeface="Apple SD Gothic Neo"/>
                <a:cs typeface="Apple SD Gothic Neo"/>
              </a:defRPr>
            </a:pPr>
            <a:r>
              <a:rPr sz="2100" b="0">
                <a:solidFill>
                  <a:srgbClr val="15364A"/>
                </a:solidFill>
                <a:latin typeface="Apple SD Gothic Neo"/>
                <a:ea typeface="Apple SD Gothic Neo"/>
                <a:cs typeface="Apple SD Gothic Neo"/>
              </a:rPr>
              <a:t>정상 제품 대부분을 추가 검사 대상으로 분류</a:t>
            </a:r>
          </a:p>
          <a:p xmlns:a="http://schemas.openxmlformats.org/drawingml/2006/main">
            <a:pPr>
              <a:defRPr sz="2100" b="0">
                <a:solidFill>
                  <a:srgbClr val="15364A"/>
                </a:solidFill>
                <a:latin typeface="Apple SD Gothic Neo"/>
                <a:ea typeface="Apple SD Gothic Neo"/>
                <a:cs typeface="Apple SD Gothic Neo"/>
              </a:defRPr>
            </a:pPr>
            <a:r>
              <a:rPr sz="2100" b="0">
                <a:solidFill>
                  <a:srgbClr val="15364A"/>
                </a:solidFill>
                <a:latin typeface="Apple SD Gothic Neo"/>
                <a:ea typeface="Apple SD Gothic Neo"/>
                <a:cs typeface="Apple SD Gothic Neo"/>
              </a:rPr>
              <a:t>calibration·validation 기준 동시 미달, test 불량도 15개로 적음</a:t>
            </a:r>
          </a:p>
        </p:txBody>
      </p:sp>
    </p:spTree>
    <p:extLst>
      <p:ext uri="{BB962C8B-B14F-4D97-AF65-F5344CB8AC3E}">
        <p14:creationId xmlns:p14="http://schemas.microsoft.com/office/powerpoint/2010/main" val="20475417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8E62FB6-145E-4F0A-816A-34E2B019767F}"/>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새 데이터의 성능 저하와 재학습</a:t>
            </a:r>
          </a:p>
        </p:txBody>
      </p:sp>
      <p:sp>
        <p:nvSpPr>
          <p:cNvPr id="2" name="">
            <a:extLst xmlns:a="http://schemas.openxmlformats.org/drawingml/2006/main">
              <a:ext uri="{FF2B5EF4-FFF2-40B4-BE49-F238E27FC236}">
                <a16:creationId xmlns:a16="http://schemas.microsoft.com/office/drawing/2014/main" id="{C626A622-84EB-4FF6-B5EC-36224880D09E}"/>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09</a:t>
            </a:r>
          </a:p>
        </p:txBody>
      </p:sp>
      <p:sp>
        <p:nvSpPr>
          <p:cNvPr id="3" name="">
            <a:extLst xmlns:a="http://schemas.openxmlformats.org/drawingml/2006/main">
              <a:ext uri="{FF2B5EF4-FFF2-40B4-BE49-F238E27FC236}">
                <a16:creationId xmlns:a16="http://schemas.microsoft.com/office/drawing/2014/main" id="{129B5F71-2455-4CCE-BE6B-F1933D77D397}"/>
              </a:ext>
            </a:extLst>
          </p:cNvPr>
          <p:cNvSpPr>
            <a:spLocks xmlns:a="http://schemas.openxmlformats.org/drawingml/2006/main" noGrp="1"/>
          </p:cNvSpPr>
          <p:nvPr/>
        </p:nvSpPr>
        <p:spPr>
          <a:xfrm xmlns:a="http://schemas.openxmlformats.org/drawingml/2006/main">
            <a:off x="723900" y="1571625"/>
            <a:ext cx="4191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15364A"/>
                </a:solidFill>
                <a:latin typeface="Apple SD Gothic Neo"/>
                <a:ea typeface="Apple SD Gothic Neo"/>
                <a:cs typeface="Apple SD Gothic Neo"/>
              </a:defRPr>
            </a:defPPr>
            <a:lvl1pPr>
              <a:defRPr sz="5400" b="1">
                <a:solidFill>
                  <a:srgbClr val="15364A"/>
                </a:solidFill>
                <a:latin typeface="Apple SD Gothic Neo"/>
                <a:ea typeface="Apple SD Gothic Neo"/>
                <a:cs typeface="Apple SD Gothic Neo"/>
              </a:defRPr>
            </a:lvl1pPr>
            <a:lvl2pPr>
              <a:defRPr sz="5400" b="1">
                <a:solidFill>
                  <a:srgbClr val="15364A"/>
                </a:solidFill>
                <a:latin typeface="Apple SD Gothic Neo"/>
                <a:ea typeface="Apple SD Gothic Neo"/>
                <a:cs typeface="Apple SD Gothic Neo"/>
              </a:defRPr>
            </a:lvl2pPr>
            <a:lvl3pPr>
              <a:defRPr sz="5400" b="1">
                <a:solidFill>
                  <a:srgbClr val="15364A"/>
                </a:solidFill>
                <a:latin typeface="Apple SD Gothic Neo"/>
                <a:ea typeface="Apple SD Gothic Neo"/>
                <a:cs typeface="Apple SD Gothic Neo"/>
              </a:defRPr>
            </a:lvl3pPr>
            <a:lvl4pPr>
              <a:defRPr sz="5400" b="1">
                <a:solidFill>
                  <a:srgbClr val="15364A"/>
                </a:solidFill>
                <a:latin typeface="Apple SD Gothic Neo"/>
                <a:ea typeface="Apple SD Gothic Neo"/>
                <a:cs typeface="Apple SD Gothic Neo"/>
              </a:defRPr>
            </a:lvl4pPr>
            <a:lvl5pPr>
              <a:defRPr sz="5400" b="1">
                <a:solidFill>
                  <a:srgbClr val="15364A"/>
                </a:solidFill>
                <a:latin typeface="Apple SD Gothic Neo"/>
                <a:ea typeface="Apple SD Gothic Neo"/>
                <a:cs typeface="Apple SD Gothic Neo"/>
              </a:defRPr>
            </a:lvl5pPr>
            <a:lvl6pPr>
              <a:defRPr sz="5400" b="1">
                <a:solidFill>
                  <a:srgbClr val="15364A"/>
                </a:solidFill>
                <a:latin typeface="Apple SD Gothic Neo"/>
                <a:ea typeface="Apple SD Gothic Neo"/>
                <a:cs typeface="Apple SD Gothic Neo"/>
              </a:defRPr>
            </a:lvl6pPr>
            <a:lvl7pPr>
              <a:defRPr sz="5400" b="1">
                <a:solidFill>
                  <a:srgbClr val="15364A"/>
                </a:solidFill>
                <a:latin typeface="Apple SD Gothic Neo"/>
                <a:ea typeface="Apple SD Gothic Neo"/>
                <a:cs typeface="Apple SD Gothic Neo"/>
              </a:defRPr>
            </a:lvl7pPr>
            <a:lvl8pPr>
              <a:defRPr sz="5400" b="1">
                <a:solidFill>
                  <a:srgbClr val="15364A"/>
                </a:solidFill>
                <a:latin typeface="Apple SD Gothic Neo"/>
                <a:ea typeface="Apple SD Gothic Neo"/>
                <a:cs typeface="Apple SD Gothic Neo"/>
              </a:defRPr>
            </a:lvl8pPr>
            <a:lvl9pPr>
              <a:defRPr sz="5400" b="1">
                <a:solidFill>
                  <a:srgbClr val="15364A"/>
                </a:solidFill>
                <a:latin typeface="Apple SD Gothic Neo"/>
                <a:ea typeface="Apple SD Gothic Neo"/>
                <a:cs typeface="Apple SD Gothic Neo"/>
              </a:defRPr>
            </a:lvl9pPr>
          </a:lstStyle>
          <a:p xmlns:a="http://schemas.openxmlformats.org/drawingml/2006/main">
            <a:pPr>
              <a:defRPr sz="5400" b="1">
                <a:solidFill>
                  <a:srgbClr val="15364A"/>
                </a:solidFill>
                <a:latin typeface="Apple SD Gothic Neo"/>
                <a:ea typeface="Apple SD Gothic Neo"/>
                <a:cs typeface="Apple SD Gothic Neo"/>
              </a:defRPr>
            </a:pPr>
            <a:r>
              <a:rPr sz="5400" b="1">
                <a:solidFill>
                  <a:srgbClr val="15364A"/>
                </a:solidFill>
                <a:latin typeface="Apple SD Gothic Neo"/>
                <a:ea typeface="Apple SD Gothic Neo"/>
                <a:cs typeface="Apple SD Gothic Neo"/>
              </a:rPr>
              <a:t>96.0%</a:t>
            </a:r>
          </a:p>
        </p:txBody>
      </p:sp>
      <p:sp>
        <p:nvSpPr>
          <p:cNvPr id="4" name="">
            <a:extLst xmlns:a="http://schemas.openxmlformats.org/drawingml/2006/main">
              <a:ext uri="{FF2B5EF4-FFF2-40B4-BE49-F238E27FC236}">
                <a16:creationId xmlns:a16="http://schemas.microsoft.com/office/drawing/2014/main" id="{40ABCB72-E205-457C-8C8F-81F35775319B}"/>
              </a:ext>
            </a:extLst>
          </p:cNvPr>
          <p:cNvSpPr>
            <a:spLocks xmlns:a="http://schemas.openxmlformats.org/drawingml/2006/main" noGrp="1"/>
          </p:cNvSpPr>
          <p:nvPr/>
        </p:nvSpPr>
        <p:spPr>
          <a:xfrm xmlns:a="http://schemas.openxmlformats.org/drawingml/2006/main">
            <a:off x="742950" y="264795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364A"/>
                </a:solidFill>
                <a:latin typeface="Apple SD Gothic Neo"/>
                <a:ea typeface="Apple SD Gothic Neo"/>
                <a:cs typeface="Apple SD Gothic Neo"/>
              </a:defRPr>
            </a:defPPr>
            <a:lvl1pPr>
              <a:defRPr sz="2100" b="0">
                <a:solidFill>
                  <a:srgbClr val="15364A"/>
                </a:solidFill>
                <a:latin typeface="Apple SD Gothic Neo"/>
                <a:ea typeface="Apple SD Gothic Neo"/>
                <a:cs typeface="Apple SD Gothic Neo"/>
              </a:defRPr>
            </a:lvl1pPr>
            <a:lvl2pPr>
              <a:defRPr sz="2100" b="0">
                <a:solidFill>
                  <a:srgbClr val="15364A"/>
                </a:solidFill>
                <a:latin typeface="Apple SD Gothic Neo"/>
                <a:ea typeface="Apple SD Gothic Neo"/>
                <a:cs typeface="Apple SD Gothic Neo"/>
              </a:defRPr>
            </a:lvl2pPr>
            <a:lvl3pPr>
              <a:defRPr sz="2100" b="0">
                <a:solidFill>
                  <a:srgbClr val="15364A"/>
                </a:solidFill>
                <a:latin typeface="Apple SD Gothic Neo"/>
                <a:ea typeface="Apple SD Gothic Neo"/>
                <a:cs typeface="Apple SD Gothic Neo"/>
              </a:defRPr>
            </a:lvl3pPr>
            <a:lvl4pPr>
              <a:defRPr sz="2100" b="0">
                <a:solidFill>
                  <a:srgbClr val="15364A"/>
                </a:solidFill>
                <a:latin typeface="Apple SD Gothic Neo"/>
                <a:ea typeface="Apple SD Gothic Neo"/>
                <a:cs typeface="Apple SD Gothic Neo"/>
              </a:defRPr>
            </a:lvl4pPr>
            <a:lvl5pPr>
              <a:defRPr sz="2100" b="0">
                <a:solidFill>
                  <a:srgbClr val="15364A"/>
                </a:solidFill>
                <a:latin typeface="Apple SD Gothic Neo"/>
                <a:ea typeface="Apple SD Gothic Neo"/>
                <a:cs typeface="Apple SD Gothic Neo"/>
              </a:defRPr>
            </a:lvl5pPr>
            <a:lvl6pPr>
              <a:defRPr sz="2100" b="0">
                <a:solidFill>
                  <a:srgbClr val="15364A"/>
                </a:solidFill>
                <a:latin typeface="Apple SD Gothic Neo"/>
                <a:ea typeface="Apple SD Gothic Neo"/>
                <a:cs typeface="Apple SD Gothic Neo"/>
              </a:defRPr>
            </a:lvl6pPr>
            <a:lvl7pPr>
              <a:defRPr sz="2100" b="0">
                <a:solidFill>
                  <a:srgbClr val="15364A"/>
                </a:solidFill>
                <a:latin typeface="Apple SD Gothic Neo"/>
                <a:ea typeface="Apple SD Gothic Neo"/>
                <a:cs typeface="Apple SD Gothic Neo"/>
              </a:defRPr>
            </a:lvl7pPr>
            <a:lvl8pPr>
              <a:defRPr sz="2100" b="0">
                <a:solidFill>
                  <a:srgbClr val="15364A"/>
                </a:solidFill>
                <a:latin typeface="Apple SD Gothic Neo"/>
                <a:ea typeface="Apple SD Gothic Neo"/>
                <a:cs typeface="Apple SD Gothic Neo"/>
              </a:defRPr>
            </a:lvl8pPr>
            <a:lvl9pPr>
              <a:defRPr sz="2100" b="0">
                <a:solidFill>
                  <a:srgbClr val="15364A"/>
                </a:solidFill>
                <a:latin typeface="Apple SD Gothic Neo"/>
                <a:ea typeface="Apple SD Gothic Neo"/>
                <a:cs typeface="Apple SD Gothic Neo"/>
              </a:defRPr>
            </a:lvl9pPr>
          </a:lstStyle>
          <a:p xmlns:a="http://schemas.openxmlformats.org/drawingml/2006/main">
            <a:pPr>
              <a:defRPr sz="2100" b="0">
                <a:solidFill>
                  <a:srgbClr val="15364A"/>
                </a:solidFill>
                <a:latin typeface="Apple SD Gothic Neo"/>
                <a:ea typeface="Apple SD Gothic Neo"/>
                <a:cs typeface="Apple SD Gothic Neo"/>
              </a:defRPr>
            </a:pPr>
            <a:r>
              <a:rPr sz="2100" b="0">
                <a:solidFill>
                  <a:srgbClr val="15364A"/>
                </a:solidFill>
                <a:latin typeface="Apple SD Gothic Neo"/>
                <a:ea typeface="Apple SD Gothic Neo"/>
                <a:cs typeface="Apple SD Gothic Neo"/>
              </a:rPr>
              <a:t>이전 데이터의 불량 발견</a:t>
            </a:r>
          </a:p>
        </p:txBody>
      </p:sp>
      <p:sp>
        <p:nvSpPr>
          <p:cNvPr id="5" name="">
            <a:extLst xmlns:a="http://schemas.openxmlformats.org/drawingml/2006/main">
              <a:ext uri="{FF2B5EF4-FFF2-40B4-BE49-F238E27FC236}">
                <a16:creationId xmlns:a16="http://schemas.microsoft.com/office/drawing/2014/main" id="{BCCE56B2-73F4-4B8D-BFAF-1BA820F711F0}"/>
              </a:ext>
            </a:extLst>
          </p:cNvPr>
          <p:cNvSpPr>
            <a:spLocks xmlns:a="http://schemas.openxmlformats.org/drawingml/2006/main" noGrp="1"/>
          </p:cNvSpPr>
          <p:nvPr/>
        </p:nvSpPr>
        <p:spPr>
          <a:xfrm xmlns:a="http://schemas.openxmlformats.org/drawingml/2006/main">
            <a:off x="6381750" y="1571625"/>
            <a:ext cx="5095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98601D"/>
                </a:solidFill>
                <a:latin typeface="Apple SD Gothic Neo"/>
                <a:ea typeface="Apple SD Gothic Neo"/>
                <a:cs typeface="Apple SD Gothic Neo"/>
              </a:defRPr>
            </a:defPPr>
            <a:lvl1pPr>
              <a:defRPr sz="5400" b="1">
                <a:solidFill>
                  <a:srgbClr val="98601D"/>
                </a:solidFill>
                <a:latin typeface="Apple SD Gothic Neo"/>
                <a:ea typeface="Apple SD Gothic Neo"/>
                <a:cs typeface="Apple SD Gothic Neo"/>
              </a:defRPr>
            </a:lvl1pPr>
            <a:lvl2pPr>
              <a:defRPr sz="5400" b="1">
                <a:solidFill>
                  <a:srgbClr val="98601D"/>
                </a:solidFill>
                <a:latin typeface="Apple SD Gothic Neo"/>
                <a:ea typeface="Apple SD Gothic Neo"/>
                <a:cs typeface="Apple SD Gothic Neo"/>
              </a:defRPr>
            </a:lvl2pPr>
            <a:lvl3pPr>
              <a:defRPr sz="5400" b="1">
                <a:solidFill>
                  <a:srgbClr val="98601D"/>
                </a:solidFill>
                <a:latin typeface="Apple SD Gothic Neo"/>
                <a:ea typeface="Apple SD Gothic Neo"/>
                <a:cs typeface="Apple SD Gothic Neo"/>
              </a:defRPr>
            </a:lvl3pPr>
            <a:lvl4pPr>
              <a:defRPr sz="5400" b="1">
                <a:solidFill>
                  <a:srgbClr val="98601D"/>
                </a:solidFill>
                <a:latin typeface="Apple SD Gothic Neo"/>
                <a:ea typeface="Apple SD Gothic Neo"/>
                <a:cs typeface="Apple SD Gothic Neo"/>
              </a:defRPr>
            </a:lvl4pPr>
            <a:lvl5pPr>
              <a:defRPr sz="5400" b="1">
                <a:solidFill>
                  <a:srgbClr val="98601D"/>
                </a:solidFill>
                <a:latin typeface="Apple SD Gothic Neo"/>
                <a:ea typeface="Apple SD Gothic Neo"/>
                <a:cs typeface="Apple SD Gothic Neo"/>
              </a:defRPr>
            </a:lvl5pPr>
            <a:lvl6pPr>
              <a:defRPr sz="5400" b="1">
                <a:solidFill>
                  <a:srgbClr val="98601D"/>
                </a:solidFill>
                <a:latin typeface="Apple SD Gothic Neo"/>
                <a:ea typeface="Apple SD Gothic Neo"/>
                <a:cs typeface="Apple SD Gothic Neo"/>
              </a:defRPr>
            </a:lvl6pPr>
            <a:lvl7pPr>
              <a:defRPr sz="5400" b="1">
                <a:solidFill>
                  <a:srgbClr val="98601D"/>
                </a:solidFill>
                <a:latin typeface="Apple SD Gothic Neo"/>
                <a:ea typeface="Apple SD Gothic Neo"/>
                <a:cs typeface="Apple SD Gothic Neo"/>
              </a:defRPr>
            </a:lvl7pPr>
            <a:lvl8pPr>
              <a:defRPr sz="5400" b="1">
                <a:solidFill>
                  <a:srgbClr val="98601D"/>
                </a:solidFill>
                <a:latin typeface="Apple SD Gothic Neo"/>
                <a:ea typeface="Apple SD Gothic Neo"/>
                <a:cs typeface="Apple SD Gothic Neo"/>
              </a:defRPr>
            </a:lvl8pPr>
            <a:lvl9pPr>
              <a:defRPr sz="5400" b="1">
                <a:solidFill>
                  <a:srgbClr val="98601D"/>
                </a:solidFill>
                <a:latin typeface="Apple SD Gothic Neo"/>
                <a:ea typeface="Apple SD Gothic Neo"/>
                <a:cs typeface="Apple SD Gothic Neo"/>
              </a:defRPr>
            </a:lvl9pPr>
          </a:lstStyle>
          <a:p xmlns:a="http://schemas.openxmlformats.org/drawingml/2006/main">
            <a:pPr>
              <a:defRPr sz="5400" b="1">
                <a:solidFill>
                  <a:srgbClr val="98601D"/>
                </a:solidFill>
                <a:latin typeface="Apple SD Gothic Neo"/>
                <a:ea typeface="Apple SD Gothic Neo"/>
                <a:cs typeface="Apple SD Gothic Neo"/>
              </a:defRPr>
            </a:pPr>
            <a:r>
              <a:rPr sz="5400" b="1">
                <a:solidFill>
                  <a:srgbClr val="98601D"/>
                </a:solidFill>
                <a:latin typeface="Apple SD Gothic Neo"/>
                <a:ea typeface="Apple SD Gothic Neo"/>
                <a:cs typeface="Apple SD Gothic Neo"/>
              </a:rPr>
              <a:t>39.2%</a:t>
            </a:r>
          </a:p>
        </p:txBody>
      </p:sp>
      <p:sp>
        <p:nvSpPr>
          <p:cNvPr id="6" name="">
            <a:extLst xmlns:a="http://schemas.openxmlformats.org/drawingml/2006/main">
              <a:ext uri="{FF2B5EF4-FFF2-40B4-BE49-F238E27FC236}">
                <a16:creationId xmlns:a16="http://schemas.microsoft.com/office/drawing/2014/main" id="{F8DA9CF5-CC9B-4348-B256-90953D0DC423}"/>
              </a:ext>
            </a:extLst>
          </p:cNvPr>
          <p:cNvSpPr>
            <a:spLocks xmlns:a="http://schemas.openxmlformats.org/drawingml/2006/main" noGrp="1"/>
          </p:cNvSpPr>
          <p:nvPr/>
        </p:nvSpPr>
        <p:spPr>
          <a:xfrm xmlns:a="http://schemas.openxmlformats.org/drawingml/2006/main">
            <a:off x="6410325" y="264795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364A"/>
                </a:solidFill>
                <a:latin typeface="Apple SD Gothic Neo"/>
                <a:ea typeface="Apple SD Gothic Neo"/>
                <a:cs typeface="Apple SD Gothic Neo"/>
              </a:defRPr>
            </a:defPPr>
            <a:lvl1pPr>
              <a:defRPr sz="2100" b="0">
                <a:solidFill>
                  <a:srgbClr val="15364A"/>
                </a:solidFill>
                <a:latin typeface="Apple SD Gothic Neo"/>
                <a:ea typeface="Apple SD Gothic Neo"/>
                <a:cs typeface="Apple SD Gothic Neo"/>
              </a:defRPr>
            </a:lvl1pPr>
            <a:lvl2pPr>
              <a:defRPr sz="2100" b="0">
                <a:solidFill>
                  <a:srgbClr val="15364A"/>
                </a:solidFill>
                <a:latin typeface="Apple SD Gothic Neo"/>
                <a:ea typeface="Apple SD Gothic Neo"/>
                <a:cs typeface="Apple SD Gothic Neo"/>
              </a:defRPr>
            </a:lvl2pPr>
            <a:lvl3pPr>
              <a:defRPr sz="2100" b="0">
                <a:solidFill>
                  <a:srgbClr val="15364A"/>
                </a:solidFill>
                <a:latin typeface="Apple SD Gothic Neo"/>
                <a:ea typeface="Apple SD Gothic Neo"/>
                <a:cs typeface="Apple SD Gothic Neo"/>
              </a:defRPr>
            </a:lvl3pPr>
            <a:lvl4pPr>
              <a:defRPr sz="2100" b="0">
                <a:solidFill>
                  <a:srgbClr val="15364A"/>
                </a:solidFill>
                <a:latin typeface="Apple SD Gothic Neo"/>
                <a:ea typeface="Apple SD Gothic Neo"/>
                <a:cs typeface="Apple SD Gothic Neo"/>
              </a:defRPr>
            </a:lvl4pPr>
            <a:lvl5pPr>
              <a:defRPr sz="2100" b="0">
                <a:solidFill>
                  <a:srgbClr val="15364A"/>
                </a:solidFill>
                <a:latin typeface="Apple SD Gothic Neo"/>
                <a:ea typeface="Apple SD Gothic Neo"/>
                <a:cs typeface="Apple SD Gothic Neo"/>
              </a:defRPr>
            </a:lvl5pPr>
            <a:lvl6pPr>
              <a:defRPr sz="2100" b="0">
                <a:solidFill>
                  <a:srgbClr val="15364A"/>
                </a:solidFill>
                <a:latin typeface="Apple SD Gothic Neo"/>
                <a:ea typeface="Apple SD Gothic Neo"/>
                <a:cs typeface="Apple SD Gothic Neo"/>
              </a:defRPr>
            </a:lvl6pPr>
            <a:lvl7pPr>
              <a:defRPr sz="2100" b="0">
                <a:solidFill>
                  <a:srgbClr val="15364A"/>
                </a:solidFill>
                <a:latin typeface="Apple SD Gothic Neo"/>
                <a:ea typeface="Apple SD Gothic Neo"/>
                <a:cs typeface="Apple SD Gothic Neo"/>
              </a:defRPr>
            </a:lvl7pPr>
            <a:lvl8pPr>
              <a:defRPr sz="2100" b="0">
                <a:solidFill>
                  <a:srgbClr val="15364A"/>
                </a:solidFill>
                <a:latin typeface="Apple SD Gothic Neo"/>
                <a:ea typeface="Apple SD Gothic Neo"/>
                <a:cs typeface="Apple SD Gothic Neo"/>
              </a:defRPr>
            </a:lvl8pPr>
            <a:lvl9pPr>
              <a:defRPr sz="2100" b="0">
                <a:solidFill>
                  <a:srgbClr val="15364A"/>
                </a:solidFill>
                <a:latin typeface="Apple SD Gothic Neo"/>
                <a:ea typeface="Apple SD Gothic Neo"/>
                <a:cs typeface="Apple SD Gothic Neo"/>
              </a:defRPr>
            </a:lvl9pPr>
          </a:lstStyle>
          <a:p xmlns:a="http://schemas.openxmlformats.org/drawingml/2006/main">
            <a:pPr>
              <a:defRPr sz="2100" b="0">
                <a:solidFill>
                  <a:srgbClr val="15364A"/>
                </a:solidFill>
                <a:latin typeface="Apple SD Gothic Neo"/>
                <a:ea typeface="Apple SD Gothic Neo"/>
                <a:cs typeface="Apple SD Gothic Neo"/>
              </a:defRPr>
            </a:pPr>
            <a:r>
              <a:rPr sz="2100" b="0">
                <a:solidFill>
                  <a:srgbClr val="15364A"/>
                </a:solidFill>
                <a:latin typeface="Apple SD Gothic Neo"/>
                <a:ea typeface="Apple SD Gothic Neo"/>
                <a:cs typeface="Apple SD Gothic Neo"/>
              </a:rPr>
              <a:t>새 배치의 불량 발견</a:t>
            </a:r>
          </a:p>
        </p:txBody>
      </p:sp>
      <p:sp>
        <p:nvSpPr>
          <p:cNvPr id="7" name="">
            <a:extLst xmlns:a="http://schemas.openxmlformats.org/drawingml/2006/main">
              <a:ext uri="{FF2B5EF4-FFF2-40B4-BE49-F238E27FC236}">
                <a16:creationId xmlns:a16="http://schemas.microsoft.com/office/drawing/2014/main" id="{C8423505-B1E7-404E-BD4E-1CE5F72BB08D}"/>
              </a:ext>
            </a:extLst>
          </p:cNvPr>
          <p:cNvSpPr>
            <a:spLocks xmlns:a="http://schemas.openxmlformats.org/drawingml/2006/main" noGrp="1"/>
          </p:cNvSpPr>
          <p:nvPr/>
        </p:nvSpPr>
        <p:spPr>
          <a:xfrm xmlns:a="http://schemas.openxmlformats.org/drawingml/2006/main">
            <a:off x="723900" y="39814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0">
                <a:solidFill>
                  <a:srgbClr val="98601D"/>
                </a:solidFill>
                <a:latin typeface="Apple SD Gothic Neo"/>
                <a:ea typeface="Apple SD Gothic Neo"/>
                <a:cs typeface="Apple SD Gothic Neo"/>
              </a:defRPr>
            </a:defPPr>
            <a:lvl1pPr>
              <a:defRPr sz="3000" b="0">
                <a:solidFill>
                  <a:srgbClr val="98601D"/>
                </a:solidFill>
                <a:latin typeface="Apple SD Gothic Neo"/>
                <a:ea typeface="Apple SD Gothic Neo"/>
                <a:cs typeface="Apple SD Gothic Neo"/>
              </a:defRPr>
            </a:lvl1pPr>
            <a:lvl2pPr>
              <a:defRPr sz="3000" b="0">
                <a:solidFill>
                  <a:srgbClr val="98601D"/>
                </a:solidFill>
                <a:latin typeface="Apple SD Gothic Neo"/>
                <a:ea typeface="Apple SD Gothic Neo"/>
                <a:cs typeface="Apple SD Gothic Neo"/>
              </a:defRPr>
            </a:lvl2pPr>
            <a:lvl3pPr>
              <a:defRPr sz="3000" b="0">
                <a:solidFill>
                  <a:srgbClr val="98601D"/>
                </a:solidFill>
                <a:latin typeface="Apple SD Gothic Neo"/>
                <a:ea typeface="Apple SD Gothic Neo"/>
                <a:cs typeface="Apple SD Gothic Neo"/>
              </a:defRPr>
            </a:lvl3pPr>
            <a:lvl4pPr>
              <a:defRPr sz="3000" b="0">
                <a:solidFill>
                  <a:srgbClr val="98601D"/>
                </a:solidFill>
                <a:latin typeface="Apple SD Gothic Neo"/>
                <a:ea typeface="Apple SD Gothic Neo"/>
                <a:cs typeface="Apple SD Gothic Neo"/>
              </a:defRPr>
            </a:lvl4pPr>
            <a:lvl5pPr>
              <a:defRPr sz="3000" b="0">
                <a:solidFill>
                  <a:srgbClr val="98601D"/>
                </a:solidFill>
                <a:latin typeface="Apple SD Gothic Neo"/>
                <a:ea typeface="Apple SD Gothic Neo"/>
                <a:cs typeface="Apple SD Gothic Neo"/>
              </a:defRPr>
            </a:lvl5pPr>
            <a:lvl6pPr>
              <a:defRPr sz="3000" b="0">
                <a:solidFill>
                  <a:srgbClr val="98601D"/>
                </a:solidFill>
                <a:latin typeface="Apple SD Gothic Neo"/>
                <a:ea typeface="Apple SD Gothic Neo"/>
                <a:cs typeface="Apple SD Gothic Neo"/>
              </a:defRPr>
            </a:lvl6pPr>
            <a:lvl7pPr>
              <a:defRPr sz="3000" b="0">
                <a:solidFill>
                  <a:srgbClr val="98601D"/>
                </a:solidFill>
                <a:latin typeface="Apple SD Gothic Neo"/>
                <a:ea typeface="Apple SD Gothic Neo"/>
                <a:cs typeface="Apple SD Gothic Neo"/>
              </a:defRPr>
            </a:lvl7pPr>
            <a:lvl8pPr>
              <a:defRPr sz="3000" b="0">
                <a:solidFill>
                  <a:srgbClr val="98601D"/>
                </a:solidFill>
                <a:latin typeface="Apple SD Gothic Neo"/>
                <a:ea typeface="Apple SD Gothic Neo"/>
                <a:cs typeface="Apple SD Gothic Neo"/>
              </a:defRPr>
            </a:lvl8pPr>
            <a:lvl9pPr>
              <a:defRPr sz="3000" b="0">
                <a:solidFill>
                  <a:srgbClr val="98601D"/>
                </a:solidFill>
                <a:latin typeface="Apple SD Gothic Neo"/>
                <a:ea typeface="Apple SD Gothic Neo"/>
                <a:cs typeface="Apple SD Gothic Neo"/>
              </a:defRPr>
            </a:lvl9pPr>
          </a:lstStyle>
          <a:p xmlns:a="http://schemas.openxmlformats.org/drawingml/2006/main">
            <a:pPr>
              <a:defRPr sz="3000" b="0">
                <a:solidFill>
                  <a:srgbClr val="98601D"/>
                </a:solidFill>
                <a:latin typeface="Apple SD Gothic Neo"/>
                <a:ea typeface="Apple SD Gothic Neo"/>
                <a:cs typeface="Apple SD Gothic Neo"/>
              </a:defRPr>
            </a:pPr>
            <a:r>
              <a:rPr sz="3000" b="0">
                <a:solidFill>
                  <a:srgbClr val="98601D"/>
                </a:solidFill>
                <a:latin typeface="Apple SD Gothic Neo"/>
                <a:ea typeface="Apple SD Gothic Neo"/>
                <a:cs typeface="Apple SD Gothic Neo"/>
              </a:rPr>
              <a:t>Agent 판단: 재학습 필요</a:t>
            </a:r>
          </a:p>
        </p:txBody>
      </p:sp>
      <p:sp>
        <p:nvSpPr>
          <p:cNvPr id="8" name="">
            <a:extLst xmlns:a="http://schemas.openxmlformats.org/drawingml/2006/main">
              <a:ext uri="{FF2B5EF4-FFF2-40B4-BE49-F238E27FC236}">
                <a16:creationId xmlns:a16="http://schemas.microsoft.com/office/drawing/2014/main" id="{F76F4CBA-4948-4149-839F-03E013D9DA6D}"/>
              </a:ext>
            </a:extLst>
          </p:cNvPr>
          <p:cNvSpPr>
            <a:spLocks xmlns:a="http://schemas.openxmlformats.org/drawingml/2006/main" noGrp="1"/>
          </p:cNvSpPr>
          <p:nvPr/>
        </p:nvSpPr>
        <p:spPr>
          <a:xfrm xmlns:a="http://schemas.openxmlformats.org/drawingml/2006/main">
            <a:off x="723900" y="47625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87E83"/>
                </a:solidFill>
                <a:latin typeface="Apple SD Gothic Neo"/>
                <a:ea typeface="Apple SD Gothic Neo"/>
                <a:cs typeface="Apple SD Gothic Neo"/>
              </a:defRPr>
            </a:defPPr>
            <a:lvl1pPr>
              <a:defRPr sz="2400" b="0">
                <a:solidFill>
                  <a:srgbClr val="087E83"/>
                </a:solidFill>
                <a:latin typeface="Apple SD Gothic Neo"/>
                <a:ea typeface="Apple SD Gothic Neo"/>
                <a:cs typeface="Apple SD Gothic Neo"/>
              </a:defRPr>
            </a:lvl1pPr>
            <a:lvl2pPr>
              <a:defRPr sz="2400" b="0">
                <a:solidFill>
                  <a:srgbClr val="087E83"/>
                </a:solidFill>
                <a:latin typeface="Apple SD Gothic Neo"/>
                <a:ea typeface="Apple SD Gothic Neo"/>
                <a:cs typeface="Apple SD Gothic Neo"/>
              </a:defRPr>
            </a:lvl2pPr>
            <a:lvl3pPr>
              <a:defRPr sz="2400" b="0">
                <a:solidFill>
                  <a:srgbClr val="087E83"/>
                </a:solidFill>
                <a:latin typeface="Apple SD Gothic Neo"/>
                <a:ea typeface="Apple SD Gothic Neo"/>
                <a:cs typeface="Apple SD Gothic Neo"/>
              </a:defRPr>
            </a:lvl3pPr>
            <a:lvl4pPr>
              <a:defRPr sz="2400" b="0">
                <a:solidFill>
                  <a:srgbClr val="087E83"/>
                </a:solidFill>
                <a:latin typeface="Apple SD Gothic Neo"/>
                <a:ea typeface="Apple SD Gothic Neo"/>
                <a:cs typeface="Apple SD Gothic Neo"/>
              </a:defRPr>
            </a:lvl4pPr>
            <a:lvl5pPr>
              <a:defRPr sz="2400" b="0">
                <a:solidFill>
                  <a:srgbClr val="087E83"/>
                </a:solidFill>
                <a:latin typeface="Apple SD Gothic Neo"/>
                <a:ea typeface="Apple SD Gothic Neo"/>
                <a:cs typeface="Apple SD Gothic Neo"/>
              </a:defRPr>
            </a:lvl5pPr>
            <a:lvl6pPr>
              <a:defRPr sz="2400" b="0">
                <a:solidFill>
                  <a:srgbClr val="087E83"/>
                </a:solidFill>
                <a:latin typeface="Apple SD Gothic Neo"/>
                <a:ea typeface="Apple SD Gothic Neo"/>
                <a:cs typeface="Apple SD Gothic Neo"/>
              </a:defRPr>
            </a:lvl6pPr>
            <a:lvl7pPr>
              <a:defRPr sz="2400" b="0">
                <a:solidFill>
                  <a:srgbClr val="087E83"/>
                </a:solidFill>
                <a:latin typeface="Apple SD Gothic Neo"/>
                <a:ea typeface="Apple SD Gothic Neo"/>
                <a:cs typeface="Apple SD Gothic Neo"/>
              </a:defRPr>
            </a:lvl7pPr>
            <a:lvl8pPr>
              <a:defRPr sz="2400" b="0">
                <a:solidFill>
                  <a:srgbClr val="087E83"/>
                </a:solidFill>
                <a:latin typeface="Apple SD Gothic Neo"/>
                <a:ea typeface="Apple SD Gothic Neo"/>
                <a:cs typeface="Apple SD Gothic Neo"/>
              </a:defRPr>
            </a:lvl8pPr>
            <a:lvl9pPr>
              <a:defRPr sz="2400" b="0">
                <a:solidFill>
                  <a:srgbClr val="087E83"/>
                </a:solidFill>
                <a:latin typeface="Apple SD Gothic Neo"/>
                <a:ea typeface="Apple SD Gothic Neo"/>
                <a:cs typeface="Apple SD Gothic Neo"/>
              </a:defRPr>
            </a:lvl9pPr>
          </a:lstStyle>
          <a:p xmlns:a="http://schemas.openxmlformats.org/drawingml/2006/main">
            <a:pPr>
              <a:defRPr sz="2400" b="0">
                <a:solidFill>
                  <a:srgbClr val="087E83"/>
                </a:solidFill>
                <a:latin typeface="Apple SD Gothic Neo"/>
                <a:ea typeface="Apple SD Gothic Neo"/>
                <a:cs typeface="Apple SD Gothic Neo"/>
              </a:defRPr>
            </a:pPr>
            <a:r>
              <a:rPr sz="2400" b="0">
                <a:solidFill>
                  <a:srgbClr val="087E83"/>
                </a:solidFill>
                <a:latin typeface="Apple SD Gothic Neo"/>
                <a:ea typeface="Apple SD Gothic Neo"/>
                <a:cs typeface="Apple SD Gothic Neo"/>
              </a:rPr>
              <a:t>승인 후 공통·제품 전용 후보 생성과 평가</a:t>
            </a:r>
          </a:p>
        </p:txBody>
      </p:sp>
      <p:sp>
        <p:nvSpPr>
          <p:cNvPr id="9" name="">
            <a:extLst xmlns:a="http://schemas.openxmlformats.org/drawingml/2006/main">
              <a:ext uri="{FF2B5EF4-FFF2-40B4-BE49-F238E27FC236}">
                <a16:creationId xmlns:a16="http://schemas.microsoft.com/office/drawing/2014/main" id="{20F9D7E2-BB80-4477-9DBA-F4BE023D14D5}"/>
              </a:ext>
            </a:extLst>
          </p:cNvPr>
          <p:cNvSpPr>
            <a:spLocks xmlns:a="http://schemas.openxmlformats.org/drawingml/2006/main" noGrp="1"/>
          </p:cNvSpPr>
          <p:nvPr/>
        </p:nvSpPr>
        <p:spPr>
          <a:xfrm xmlns:a="http://schemas.openxmlformats.org/drawingml/2006/main">
            <a:off x="723900" y="56959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677"/>
                </a:solidFill>
                <a:latin typeface="Apple SD Gothic Neo"/>
                <a:ea typeface="Apple SD Gothic Neo"/>
                <a:cs typeface="Apple SD Gothic Neo"/>
              </a:defRPr>
            </a:defPPr>
            <a:lvl1pPr>
              <a:defRPr sz="1800" b="0">
                <a:solidFill>
                  <a:srgbClr val="526677"/>
                </a:solidFill>
                <a:latin typeface="Apple SD Gothic Neo"/>
                <a:ea typeface="Apple SD Gothic Neo"/>
                <a:cs typeface="Apple SD Gothic Neo"/>
              </a:defRPr>
            </a:lvl1pPr>
            <a:lvl2pPr>
              <a:defRPr sz="1800" b="0">
                <a:solidFill>
                  <a:srgbClr val="526677"/>
                </a:solidFill>
                <a:latin typeface="Apple SD Gothic Neo"/>
                <a:ea typeface="Apple SD Gothic Neo"/>
                <a:cs typeface="Apple SD Gothic Neo"/>
              </a:defRPr>
            </a:lvl2pPr>
            <a:lvl3pPr>
              <a:defRPr sz="1800" b="0">
                <a:solidFill>
                  <a:srgbClr val="526677"/>
                </a:solidFill>
                <a:latin typeface="Apple SD Gothic Neo"/>
                <a:ea typeface="Apple SD Gothic Neo"/>
                <a:cs typeface="Apple SD Gothic Neo"/>
              </a:defRPr>
            </a:lvl3pPr>
            <a:lvl4pPr>
              <a:defRPr sz="1800" b="0">
                <a:solidFill>
                  <a:srgbClr val="526677"/>
                </a:solidFill>
                <a:latin typeface="Apple SD Gothic Neo"/>
                <a:ea typeface="Apple SD Gothic Neo"/>
                <a:cs typeface="Apple SD Gothic Neo"/>
              </a:defRPr>
            </a:lvl4pPr>
            <a:lvl5pPr>
              <a:defRPr sz="1800" b="0">
                <a:solidFill>
                  <a:srgbClr val="526677"/>
                </a:solidFill>
                <a:latin typeface="Apple SD Gothic Neo"/>
                <a:ea typeface="Apple SD Gothic Neo"/>
                <a:cs typeface="Apple SD Gothic Neo"/>
              </a:defRPr>
            </a:lvl5pPr>
            <a:lvl6pPr>
              <a:defRPr sz="1800" b="0">
                <a:solidFill>
                  <a:srgbClr val="526677"/>
                </a:solidFill>
                <a:latin typeface="Apple SD Gothic Neo"/>
                <a:ea typeface="Apple SD Gothic Neo"/>
                <a:cs typeface="Apple SD Gothic Neo"/>
              </a:defRPr>
            </a:lvl6pPr>
            <a:lvl7pPr>
              <a:defRPr sz="1800" b="0">
                <a:solidFill>
                  <a:srgbClr val="526677"/>
                </a:solidFill>
                <a:latin typeface="Apple SD Gothic Neo"/>
                <a:ea typeface="Apple SD Gothic Neo"/>
                <a:cs typeface="Apple SD Gothic Neo"/>
              </a:defRPr>
            </a:lvl7pPr>
            <a:lvl8pPr>
              <a:defRPr sz="1800" b="0">
                <a:solidFill>
                  <a:srgbClr val="526677"/>
                </a:solidFill>
                <a:latin typeface="Apple SD Gothic Neo"/>
                <a:ea typeface="Apple SD Gothic Neo"/>
                <a:cs typeface="Apple SD Gothic Neo"/>
              </a:defRPr>
            </a:lvl8pPr>
            <a:lvl9pPr>
              <a:defRPr sz="1800" b="0">
                <a:solidFill>
                  <a:srgbClr val="526677"/>
                </a:solidFill>
                <a:latin typeface="Apple SD Gothic Neo"/>
                <a:ea typeface="Apple SD Gothic Neo"/>
                <a:cs typeface="Apple SD Gothic Neo"/>
              </a:defRPr>
            </a:lvl9pPr>
          </a:lstStyle>
          <a:p xmlns:a="http://schemas.openxmlformats.org/drawingml/2006/main">
            <a:pPr>
              <a:defRPr sz="1800" b="0">
                <a:solidFill>
                  <a:srgbClr val="526677"/>
                </a:solidFill>
                <a:latin typeface="Apple SD Gothic Neo"/>
                <a:ea typeface="Apple SD Gothic Neo"/>
                <a:cs typeface="Apple SD Gothic Neo"/>
              </a:defRPr>
            </a:pPr>
            <a:r>
              <a:rPr sz="1800" b="0">
                <a:solidFill>
                  <a:srgbClr val="526677"/>
                </a:solidFill>
                <a:latin typeface="Apple SD Gothic Neo"/>
                <a:ea typeface="Apple SD Gothic Neo"/>
                <a:cs typeface="Apple SD Gothic Neo"/>
              </a:rPr>
              <a:t>불량 규칙을 바꾼 합성 변화 데모. 10%p 하락 등은 개발 규칙</a:t>
            </a:r>
          </a:p>
          <a:p xmlns:a="http://schemas.openxmlformats.org/drawingml/2006/main">
            <a:pPr>
              <a:defRPr sz="1800" b="0">
                <a:solidFill>
                  <a:srgbClr val="526677"/>
                </a:solidFill>
                <a:latin typeface="Apple SD Gothic Neo"/>
                <a:ea typeface="Apple SD Gothic Neo"/>
                <a:cs typeface="Apple SD Gothic Neo"/>
              </a:defRPr>
            </a:pPr>
            <a:r>
              <a:rPr sz="1800" b="0">
                <a:solidFill>
                  <a:srgbClr val="526677"/>
                </a:solidFill>
                <a:latin typeface="Apple SD Gothic Neo"/>
                <a:ea typeface="Apple SD Gothic Neo"/>
                <a:cs typeface="Apple SD Gothic Neo"/>
              </a:rPr>
              <a:t>통계적 drift 검정이 아니며 운영 모델 자동 교체는 미구현</a:t>
            </a:r>
          </a:p>
        </p:txBody>
      </p:sp>
    </p:spTree>
    <p:extLst>
      <p:ext uri="{BB962C8B-B14F-4D97-AF65-F5344CB8AC3E}">
        <p14:creationId xmlns:p14="http://schemas.microsoft.com/office/powerpoint/2010/main" val="12027171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2DE6F52-7972-4B6C-BE78-29A89823521D}"/>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통합 학습과 제품 전용 학습 비교</a:t>
            </a:r>
          </a:p>
        </p:txBody>
      </p:sp>
      <p:sp>
        <p:nvSpPr>
          <p:cNvPr id="2" name="">
            <a:extLst xmlns:a="http://schemas.openxmlformats.org/drawingml/2006/main">
              <a:ext uri="{FF2B5EF4-FFF2-40B4-BE49-F238E27FC236}">
                <a16:creationId xmlns:a16="http://schemas.microsoft.com/office/drawing/2014/main" id="{66D17FD2-446C-4B33-BF8E-B4993B19ADAA}"/>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10</a:t>
            </a:r>
          </a:p>
        </p:txBody>
      </p:sp>
      <p:graphicFrame>
        <p:nvGraphicFramePr>
          <p:cNvPr id="3" name="">
            <a:extLst xmlns:a="http://schemas.openxmlformats.org/drawingml/2006/main">
              <a:ext uri="{FF2B5EF4-FFF2-40B4-BE49-F238E27FC236}">
                <a16:creationId xmlns:a16="http://schemas.microsoft.com/office/drawing/2014/main" id="{16F5A29F-7E29-4BE6-8121-1C3FCA9F0385}"/>
              </a:ext>
            </a:extLst>
          </p:cNvPr>
          <p:cNvGraphicFramePr/>
          <p:nvPr/>
        </p:nvGraphicFramePr>
        <p:xfrm>
          <a:off xmlns:a="http://schemas.openxmlformats.org/drawingml/2006/main" x="685800" y="1571625"/>
          <a:ext xmlns:a="http://schemas.openxmlformats.org/drawingml/2006/main" cx="10820400" cy="3381375"/>
        </p:xfrm>
        <a:graphic xmlns:a="http://schemas.openxmlformats.org/drawingml/2006/main">
          <a:graphicData uri="http://schemas.openxmlformats.org/drawingml/2006/table">
            <a:tbl>
              <a:tblPr/>
              <a:tblGrid>
                <a:gridCol w="952500"/>
                <a:gridCol w="2857500"/>
                <a:gridCol w="2857500"/>
                <a:gridCol w="1809750"/>
                <a:gridCol w="2343150"/>
              </a:tblGrid>
              <a:tr h="676275">
                <a:tc>
                  <a:txBody>
                    <a:bodyPr/>
                    <a:lstStyle/>
                    <a:p>
                      <a:r>
                        <a:rPr sz="1875" b="1">
                          <a:solidFill>
                            <a:srgbClr val="FFFFFF"/>
                          </a:solidFill>
                          <a:latin typeface="Apple SD Gothic Neo"/>
                          <a:ea typeface="Apple SD Gothic Neo"/>
                          <a:cs typeface="Apple SD Gothic Neo"/>
                        </a:rPr>
                        <a:t>제품</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공통 모델</a:t>
                      </a:r>
                    </a:p>
                    <a:p>
                      <a:r>
                        <a:rPr sz="1875" b="1">
                          <a:solidFill>
                            <a:srgbClr val="FFFFFF"/>
                          </a:solidFill>
                          <a:latin typeface="Apple SD Gothic Neo"/>
                          <a:ea typeface="Apple SD Gothic Neo"/>
                          <a:cs typeface="Apple SD Gothic Neo"/>
                        </a:rPr>
                        <a:t>발견 / 추가검사</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전용 모델</a:t>
                      </a:r>
                    </a:p>
                    <a:p>
                      <a:r>
                        <a:rPr sz="1875" b="1">
                          <a:solidFill>
                            <a:srgbClr val="FFFFFF"/>
                          </a:solidFill>
                          <a:latin typeface="Apple SD Gothic Neo"/>
                          <a:ea typeface="Apple SD Gothic Neo"/>
                          <a:cs typeface="Apple SD Gothic Neo"/>
                        </a:rPr>
                        <a:t>발견 / 추가검사</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선택</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최종 판단</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676275">
                <a:tc>
                  <a:txBody>
                    <a:bodyPr/>
                    <a:lstStyle/>
                    <a:p>
                      <a:r>
                        <a:rPr sz="1875" b="0">
                          <a:solidFill>
                            <a:srgbClr val="15364A"/>
                          </a:solidFill>
                          <a:latin typeface="Apple SD Gothic Neo"/>
                          <a:ea typeface="Apple SD Gothic Neo"/>
                          <a:cs typeface="Apple SD Gothic Neo"/>
                        </a:rPr>
                        <a:t>A</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95.1% / 14.3%</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87.8% / 10.9%</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공통</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공통 권고</a:t>
                      </a:r>
                    </a:p>
                  </a:txBody>
                  <a:tcPr marL="91440" marR="91440" marT="45720" marB="45720">
                    <a:lnR w="9525">
                      <a:solidFill>
                        <a:srgbClr val="D6E1E6"/>
                      </a:solidFill>
                      <a:prstDash val="solid"/>
                    </a:lnR>
                    <a:lnB w="9525">
                      <a:solidFill>
                        <a:srgbClr val="D6E1E6"/>
                      </a:solidFill>
                      <a:prstDash val="solid"/>
                    </a:lnB>
                    <a:solidFill>
                      <a:srgbClr val="FFFFFF"/>
                    </a:solidFill>
                  </a:tcPr>
                </a:tc>
              </a:tr>
              <a:tr h="676275">
                <a:tc>
                  <a:txBody>
                    <a:bodyPr/>
                    <a:lstStyle/>
                    <a:p>
                      <a:r>
                        <a:rPr sz="1875" b="0">
                          <a:solidFill>
                            <a:srgbClr val="15364A"/>
                          </a:solidFill>
                          <a:latin typeface="Apple SD Gothic Neo"/>
                          <a:ea typeface="Apple SD Gothic Neo"/>
                          <a:cs typeface="Apple SD Gothic Neo"/>
                        </a:rPr>
                        <a:t>B</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92.9% / 16.3%</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92.9% / 21.7%</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공통</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보류</a:t>
                      </a:r>
                    </a:p>
                  </a:txBody>
                  <a:tcPr marL="91440" marR="91440" marT="45720" marB="45720">
                    <a:lnR w="9525">
                      <a:solidFill>
                        <a:srgbClr val="D6E1E6"/>
                      </a:solidFill>
                      <a:prstDash val="solid"/>
                    </a:lnR>
                    <a:lnB w="9525">
                      <a:solidFill>
                        <a:srgbClr val="D6E1E6"/>
                      </a:solidFill>
                      <a:prstDash val="solid"/>
                    </a:lnB>
                    <a:solidFill>
                      <a:srgbClr val="F1F6F7"/>
                    </a:solidFill>
                  </a:tcPr>
                </a:tc>
              </a:tr>
              <a:tr h="676275">
                <a:tc>
                  <a:txBody>
                    <a:bodyPr/>
                    <a:lstStyle/>
                    <a:p>
                      <a:r>
                        <a:rPr sz="1875" b="0">
                          <a:solidFill>
                            <a:srgbClr val="15364A"/>
                          </a:solidFill>
                          <a:latin typeface="Apple SD Gothic Neo"/>
                          <a:ea typeface="Apple SD Gothic Neo"/>
                          <a:cs typeface="Apple SD Gothic Neo"/>
                        </a:rPr>
                        <a:t>C</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92.3% / 12.8%</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92.3% / 12.8%</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전용</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전용 권고</a:t>
                      </a:r>
                    </a:p>
                  </a:txBody>
                  <a:tcPr marL="91440" marR="91440" marT="45720" marB="45720">
                    <a:lnR w="9525">
                      <a:solidFill>
                        <a:srgbClr val="D6E1E6"/>
                      </a:solidFill>
                      <a:prstDash val="solid"/>
                    </a:lnR>
                    <a:lnB w="9525">
                      <a:solidFill>
                        <a:srgbClr val="D6E1E6"/>
                      </a:solidFill>
                      <a:prstDash val="solid"/>
                    </a:lnB>
                    <a:solidFill>
                      <a:srgbClr val="FFFFFF"/>
                    </a:solidFill>
                  </a:tcPr>
                </a:tc>
              </a:tr>
              <a:tr h="676275">
                <a:tc>
                  <a:txBody>
                    <a:bodyPr/>
                    <a:lstStyle/>
                    <a:p>
                      <a:r>
                        <a:rPr sz="1875" b="0">
                          <a:solidFill>
                            <a:srgbClr val="15364A"/>
                          </a:solidFill>
                          <a:latin typeface="Apple SD Gothic Neo"/>
                          <a:ea typeface="Apple SD Gothic Neo"/>
                          <a:cs typeface="Apple SD Gothic Neo"/>
                        </a:rPr>
                        <a:t>D</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100.0% / 12.9%</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91.7% / 14.3%</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공통</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보류</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4" name="">
            <a:extLst xmlns:a="http://schemas.openxmlformats.org/drawingml/2006/main">
              <a:ext uri="{FF2B5EF4-FFF2-40B4-BE49-F238E27FC236}">
                <a16:creationId xmlns:a16="http://schemas.microsoft.com/office/drawing/2014/main" id="{A67833B7-6DF0-445D-9E1A-9DB90676F938}"/>
              </a:ext>
            </a:extLst>
          </p:cNvPr>
          <p:cNvSpPr>
            <a:spLocks xmlns:a="http://schemas.openxmlformats.org/drawingml/2006/main" noGrp="1"/>
          </p:cNvSpPr>
          <p:nvPr/>
        </p:nvSpPr>
        <p:spPr>
          <a:xfrm xmlns:a="http://schemas.openxmlformats.org/drawingml/2006/main">
            <a:off x="723900" y="52387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87E83"/>
                </a:solidFill>
                <a:latin typeface="Apple SD Gothic Neo"/>
                <a:ea typeface="Apple SD Gothic Neo"/>
                <a:cs typeface="Apple SD Gothic Neo"/>
              </a:defRPr>
            </a:defPPr>
            <a:lvl1pPr>
              <a:defRPr sz="2175" b="0">
                <a:solidFill>
                  <a:srgbClr val="087E83"/>
                </a:solidFill>
                <a:latin typeface="Apple SD Gothic Neo"/>
                <a:ea typeface="Apple SD Gothic Neo"/>
                <a:cs typeface="Apple SD Gothic Neo"/>
              </a:defRPr>
            </a:lvl1pPr>
            <a:lvl2pPr>
              <a:defRPr sz="2175" b="0">
                <a:solidFill>
                  <a:srgbClr val="087E83"/>
                </a:solidFill>
                <a:latin typeface="Apple SD Gothic Neo"/>
                <a:ea typeface="Apple SD Gothic Neo"/>
                <a:cs typeface="Apple SD Gothic Neo"/>
              </a:defRPr>
            </a:lvl2pPr>
            <a:lvl3pPr>
              <a:defRPr sz="2175" b="0">
                <a:solidFill>
                  <a:srgbClr val="087E83"/>
                </a:solidFill>
                <a:latin typeface="Apple SD Gothic Neo"/>
                <a:ea typeface="Apple SD Gothic Neo"/>
                <a:cs typeface="Apple SD Gothic Neo"/>
              </a:defRPr>
            </a:lvl3pPr>
            <a:lvl4pPr>
              <a:defRPr sz="2175" b="0">
                <a:solidFill>
                  <a:srgbClr val="087E83"/>
                </a:solidFill>
                <a:latin typeface="Apple SD Gothic Neo"/>
                <a:ea typeface="Apple SD Gothic Neo"/>
                <a:cs typeface="Apple SD Gothic Neo"/>
              </a:defRPr>
            </a:lvl4pPr>
            <a:lvl5pPr>
              <a:defRPr sz="2175" b="0">
                <a:solidFill>
                  <a:srgbClr val="087E83"/>
                </a:solidFill>
                <a:latin typeface="Apple SD Gothic Neo"/>
                <a:ea typeface="Apple SD Gothic Neo"/>
                <a:cs typeface="Apple SD Gothic Neo"/>
              </a:defRPr>
            </a:lvl5pPr>
            <a:lvl6pPr>
              <a:defRPr sz="2175" b="0">
                <a:solidFill>
                  <a:srgbClr val="087E83"/>
                </a:solidFill>
                <a:latin typeface="Apple SD Gothic Neo"/>
                <a:ea typeface="Apple SD Gothic Neo"/>
                <a:cs typeface="Apple SD Gothic Neo"/>
              </a:defRPr>
            </a:lvl6pPr>
            <a:lvl7pPr>
              <a:defRPr sz="2175" b="0">
                <a:solidFill>
                  <a:srgbClr val="087E83"/>
                </a:solidFill>
                <a:latin typeface="Apple SD Gothic Neo"/>
                <a:ea typeface="Apple SD Gothic Neo"/>
                <a:cs typeface="Apple SD Gothic Neo"/>
              </a:defRPr>
            </a:lvl7pPr>
            <a:lvl8pPr>
              <a:defRPr sz="2175" b="0">
                <a:solidFill>
                  <a:srgbClr val="087E83"/>
                </a:solidFill>
                <a:latin typeface="Apple SD Gothic Neo"/>
                <a:ea typeface="Apple SD Gothic Neo"/>
                <a:cs typeface="Apple SD Gothic Neo"/>
              </a:defRPr>
            </a:lvl8pPr>
            <a:lvl9pPr>
              <a:defRPr sz="2175" b="0">
                <a:solidFill>
                  <a:srgbClr val="087E83"/>
                </a:solidFill>
                <a:latin typeface="Apple SD Gothic Neo"/>
                <a:ea typeface="Apple SD Gothic Neo"/>
                <a:cs typeface="Apple SD Gothic Neo"/>
              </a:defRPr>
            </a:lvl9pPr>
          </a:lstStyle>
          <a:p xmlns:a="http://schemas.openxmlformats.org/drawingml/2006/main">
            <a:pPr>
              <a:defRPr sz="2175" b="0">
                <a:solidFill>
                  <a:srgbClr val="087E83"/>
                </a:solidFill>
                <a:latin typeface="Apple SD Gothic Neo"/>
                <a:ea typeface="Apple SD Gothic Neo"/>
                <a:cs typeface="Apple SD Gothic Neo"/>
              </a:defRPr>
            </a:pPr>
            <a:r>
              <a:rPr sz="2175" b="0">
                <a:solidFill>
                  <a:srgbClr val="087E83"/>
                </a:solidFill>
                <a:latin typeface="Apple SD Gothic Neo"/>
                <a:ea typeface="Apple SD Gothic Neo"/>
                <a:cs typeface="Apple SD Gothic Neo"/>
              </a:rPr>
              <a:t>같은 제품의 같은 선택용 데이터에서 비교한 실측 비율</a:t>
            </a:r>
          </a:p>
          <a:p xmlns:a="http://schemas.openxmlformats.org/drawingml/2006/main">
            <a:pPr>
              <a:defRPr sz="2175" b="0">
                <a:solidFill>
                  <a:srgbClr val="087E83"/>
                </a:solidFill>
                <a:latin typeface="Apple SD Gothic Neo"/>
                <a:ea typeface="Apple SD Gothic Neo"/>
                <a:cs typeface="Apple SD Gothic Neo"/>
              </a:defRPr>
            </a:pPr>
            <a:r>
              <a:rPr sz="2175" b="0">
                <a:solidFill>
                  <a:srgbClr val="087E83"/>
                </a:solidFill>
                <a:latin typeface="Apple SD Gothic Neo"/>
                <a:ea typeface="Apple SD Gothic Neo"/>
                <a:cs typeface="Apple SD Gothic Neo"/>
              </a:rPr>
              <a:t>A는 공통, C는 전용 권고. B·D는 기준 미달로 보류</a:t>
            </a:r>
          </a:p>
        </p:txBody>
      </p:sp>
      <p:sp>
        <p:nvSpPr>
          <p:cNvPr id="5" name="">
            <a:extLst xmlns:a="http://schemas.openxmlformats.org/drawingml/2006/main">
              <a:ext uri="{FF2B5EF4-FFF2-40B4-BE49-F238E27FC236}">
                <a16:creationId xmlns:a16="http://schemas.microsoft.com/office/drawing/2014/main" id="{7B8F99CB-D874-4E2F-88C4-5881CEFA6B9E}"/>
              </a:ext>
            </a:extLst>
          </p:cNvPr>
          <p:cNvSpPr>
            <a:spLocks xmlns:a="http://schemas.openxmlformats.org/drawingml/2006/main" noGrp="1"/>
          </p:cNvSpPr>
          <p:nvPr/>
        </p:nvSpPr>
        <p:spPr>
          <a:xfrm xmlns:a="http://schemas.openxmlformats.org/drawingml/2006/main">
            <a:off x="723900" y="60960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26677"/>
                </a:solidFill>
                <a:latin typeface="Apple SD Gothic Neo"/>
                <a:ea typeface="Apple SD Gothic Neo"/>
                <a:cs typeface="Apple SD Gothic Neo"/>
              </a:defRPr>
            </a:defPPr>
            <a:lvl1pPr>
              <a:defRPr sz="1650" b="0">
                <a:solidFill>
                  <a:srgbClr val="526677"/>
                </a:solidFill>
                <a:latin typeface="Apple SD Gothic Neo"/>
                <a:ea typeface="Apple SD Gothic Neo"/>
                <a:cs typeface="Apple SD Gothic Neo"/>
              </a:defRPr>
            </a:lvl1pPr>
            <a:lvl2pPr>
              <a:defRPr sz="1650" b="0">
                <a:solidFill>
                  <a:srgbClr val="526677"/>
                </a:solidFill>
                <a:latin typeface="Apple SD Gothic Neo"/>
                <a:ea typeface="Apple SD Gothic Neo"/>
                <a:cs typeface="Apple SD Gothic Neo"/>
              </a:defRPr>
            </a:lvl2pPr>
            <a:lvl3pPr>
              <a:defRPr sz="1650" b="0">
                <a:solidFill>
                  <a:srgbClr val="526677"/>
                </a:solidFill>
                <a:latin typeface="Apple SD Gothic Neo"/>
                <a:ea typeface="Apple SD Gothic Neo"/>
                <a:cs typeface="Apple SD Gothic Neo"/>
              </a:defRPr>
            </a:lvl3pPr>
            <a:lvl4pPr>
              <a:defRPr sz="1650" b="0">
                <a:solidFill>
                  <a:srgbClr val="526677"/>
                </a:solidFill>
                <a:latin typeface="Apple SD Gothic Neo"/>
                <a:ea typeface="Apple SD Gothic Neo"/>
                <a:cs typeface="Apple SD Gothic Neo"/>
              </a:defRPr>
            </a:lvl4pPr>
            <a:lvl5pPr>
              <a:defRPr sz="1650" b="0">
                <a:solidFill>
                  <a:srgbClr val="526677"/>
                </a:solidFill>
                <a:latin typeface="Apple SD Gothic Neo"/>
                <a:ea typeface="Apple SD Gothic Neo"/>
                <a:cs typeface="Apple SD Gothic Neo"/>
              </a:defRPr>
            </a:lvl5pPr>
            <a:lvl6pPr>
              <a:defRPr sz="1650" b="0">
                <a:solidFill>
                  <a:srgbClr val="526677"/>
                </a:solidFill>
                <a:latin typeface="Apple SD Gothic Neo"/>
                <a:ea typeface="Apple SD Gothic Neo"/>
                <a:cs typeface="Apple SD Gothic Neo"/>
              </a:defRPr>
            </a:lvl6pPr>
            <a:lvl7pPr>
              <a:defRPr sz="1650" b="0">
                <a:solidFill>
                  <a:srgbClr val="526677"/>
                </a:solidFill>
                <a:latin typeface="Apple SD Gothic Neo"/>
                <a:ea typeface="Apple SD Gothic Neo"/>
                <a:cs typeface="Apple SD Gothic Neo"/>
              </a:defRPr>
            </a:lvl7pPr>
            <a:lvl8pPr>
              <a:defRPr sz="1650" b="0">
                <a:solidFill>
                  <a:srgbClr val="526677"/>
                </a:solidFill>
                <a:latin typeface="Apple SD Gothic Neo"/>
                <a:ea typeface="Apple SD Gothic Neo"/>
                <a:cs typeface="Apple SD Gothic Neo"/>
              </a:defRPr>
            </a:lvl8pPr>
            <a:lvl9pPr>
              <a:defRPr sz="1650" b="0">
                <a:solidFill>
                  <a:srgbClr val="526677"/>
                </a:solidFill>
                <a:latin typeface="Apple SD Gothic Neo"/>
                <a:ea typeface="Apple SD Gothic Neo"/>
                <a:cs typeface="Apple SD Gothic Neo"/>
              </a:defRPr>
            </a:lvl9pPr>
          </a:lstStyle>
          <a:p xmlns:a="http://schemas.openxmlformats.org/drawingml/2006/main">
            <a:pPr>
              <a:defRPr sz="1650" b="0">
                <a:solidFill>
                  <a:srgbClr val="526677"/>
                </a:solidFill>
                <a:latin typeface="Apple SD Gothic Neo"/>
                <a:ea typeface="Apple SD Gothic Neo"/>
                <a:cs typeface="Apple SD Gothic Neo"/>
              </a:defRPr>
            </a:pPr>
            <a:r>
              <a:rPr sz="1650" b="0">
                <a:solidFill>
                  <a:srgbClr val="526677"/>
                </a:solidFill>
                <a:latin typeface="Apple SD Gothic Neo"/>
                <a:ea typeface="Apple SD Gothic Neo"/>
                <a:cs typeface="Apple SD Gothic Neo"/>
              </a:rPr>
              <a:t>C의 비율 동률은 AP로 결정. 과거 배치 파일 자동 병합·운영 자동 교체 미구현</a:t>
            </a:r>
          </a:p>
        </p:txBody>
      </p:sp>
    </p:spTree>
    <p:extLst>
      <p:ext uri="{BB962C8B-B14F-4D97-AF65-F5344CB8AC3E}">
        <p14:creationId xmlns:p14="http://schemas.microsoft.com/office/powerpoint/2010/main" val="5650085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D779045-2E7B-4423-AB37-292A8DE3EDC7}"/>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실제 화면의 설명과 승인 흐름</a:t>
            </a:r>
          </a:p>
        </p:txBody>
      </p:sp>
      <p:sp>
        <p:nvSpPr>
          <p:cNvPr id="2" name="">
            <a:extLst xmlns:a="http://schemas.openxmlformats.org/drawingml/2006/main">
              <a:ext uri="{FF2B5EF4-FFF2-40B4-BE49-F238E27FC236}">
                <a16:creationId xmlns:a16="http://schemas.microsoft.com/office/drawing/2014/main" id="{8306327B-33B9-41B3-864F-F078CF71E9E8}"/>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11</a:t>
            </a:r>
          </a:p>
        </p:txBody>
      </p:sp>
      <p:pic>
        <p:nvPicPr>
          <p:cNvPr id="3" name="">
            <a:extLst xmlns:a="http://schemas.openxmlformats.org/drawingml/2006/main">
              <a:ext uri="{FF2B5EF4-FFF2-40B4-BE49-F238E27FC236}">
                <a16:creationId xmlns:a16="http://schemas.microsoft.com/office/drawing/2014/main" id="{CEF37E32-E234-4ED1-937C-68CA377EAF46}"/>
              </a:ext>
            </a:extLst>
          </p:cNvPr>
          <p:cNvPicPr>
            <a:picLocks xmlns:a="http://schemas.openxmlformats.org/drawingml/2006/main" noChangeAspect="1"/>
          </p:cNvPicPr>
          <p:nvPr/>
        </p:nvPicPr>
        <p:blipFill>
          <a:blip xmlns:r="http://schemas.openxmlformats.org/officeDocument/2006/relationships" xmlns:a="http://schemas.openxmlformats.org/drawingml/2006/main" r:embed="R57b29190ab174de4"/>
          <a:stretch xmlns:a="http://schemas.openxmlformats.org/drawingml/2006/main"/>
        </p:blipFill>
        <p:spPr>
          <a:xfrm xmlns:a="http://schemas.openxmlformats.org/drawingml/2006/main">
            <a:off x="685800" y="1736610"/>
            <a:ext cx="7334250" cy="385150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1C38351-8029-46DF-B878-5EBB95388D69}"/>
              </a:ext>
            </a:extLst>
          </p:cNvPr>
          <p:cNvSpPr>
            <a:spLocks xmlns:a="http://schemas.openxmlformats.org/drawingml/2006/main" noGrp="1"/>
          </p:cNvSpPr>
          <p:nvPr/>
        </p:nvSpPr>
        <p:spPr>
          <a:xfrm xmlns:a="http://schemas.openxmlformats.org/drawingml/2006/main">
            <a:off x="8477250" y="1857375"/>
            <a:ext cx="309562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87E83"/>
                </a:solidFill>
                <a:latin typeface="Apple SD Gothic Neo"/>
                <a:ea typeface="Apple SD Gothic Neo"/>
                <a:cs typeface="Apple SD Gothic Neo"/>
              </a:defRPr>
            </a:defPPr>
            <a:lvl1pPr>
              <a:defRPr sz="2175" b="1">
                <a:solidFill>
                  <a:srgbClr val="087E83"/>
                </a:solidFill>
                <a:latin typeface="Apple SD Gothic Neo"/>
                <a:ea typeface="Apple SD Gothic Neo"/>
                <a:cs typeface="Apple SD Gothic Neo"/>
              </a:defRPr>
            </a:lvl1pPr>
            <a:lvl2pPr>
              <a:defRPr sz="2175" b="1">
                <a:solidFill>
                  <a:srgbClr val="087E83"/>
                </a:solidFill>
                <a:latin typeface="Apple SD Gothic Neo"/>
                <a:ea typeface="Apple SD Gothic Neo"/>
                <a:cs typeface="Apple SD Gothic Neo"/>
              </a:defRPr>
            </a:lvl2pPr>
            <a:lvl3pPr>
              <a:defRPr sz="2175" b="1">
                <a:solidFill>
                  <a:srgbClr val="087E83"/>
                </a:solidFill>
                <a:latin typeface="Apple SD Gothic Neo"/>
                <a:ea typeface="Apple SD Gothic Neo"/>
                <a:cs typeface="Apple SD Gothic Neo"/>
              </a:defRPr>
            </a:lvl3pPr>
            <a:lvl4pPr>
              <a:defRPr sz="2175" b="1">
                <a:solidFill>
                  <a:srgbClr val="087E83"/>
                </a:solidFill>
                <a:latin typeface="Apple SD Gothic Neo"/>
                <a:ea typeface="Apple SD Gothic Neo"/>
                <a:cs typeface="Apple SD Gothic Neo"/>
              </a:defRPr>
            </a:lvl4pPr>
            <a:lvl5pPr>
              <a:defRPr sz="2175" b="1">
                <a:solidFill>
                  <a:srgbClr val="087E83"/>
                </a:solidFill>
                <a:latin typeface="Apple SD Gothic Neo"/>
                <a:ea typeface="Apple SD Gothic Neo"/>
                <a:cs typeface="Apple SD Gothic Neo"/>
              </a:defRPr>
            </a:lvl5pPr>
            <a:lvl6pPr>
              <a:defRPr sz="2175" b="1">
                <a:solidFill>
                  <a:srgbClr val="087E83"/>
                </a:solidFill>
                <a:latin typeface="Apple SD Gothic Neo"/>
                <a:ea typeface="Apple SD Gothic Neo"/>
                <a:cs typeface="Apple SD Gothic Neo"/>
              </a:defRPr>
            </a:lvl6pPr>
            <a:lvl7pPr>
              <a:defRPr sz="2175" b="1">
                <a:solidFill>
                  <a:srgbClr val="087E83"/>
                </a:solidFill>
                <a:latin typeface="Apple SD Gothic Neo"/>
                <a:ea typeface="Apple SD Gothic Neo"/>
                <a:cs typeface="Apple SD Gothic Neo"/>
              </a:defRPr>
            </a:lvl7pPr>
            <a:lvl8pPr>
              <a:defRPr sz="2175" b="1">
                <a:solidFill>
                  <a:srgbClr val="087E83"/>
                </a:solidFill>
                <a:latin typeface="Apple SD Gothic Neo"/>
                <a:ea typeface="Apple SD Gothic Neo"/>
                <a:cs typeface="Apple SD Gothic Neo"/>
              </a:defRPr>
            </a:lvl8pPr>
            <a:lvl9pPr>
              <a:defRPr sz="2175" b="1">
                <a:solidFill>
                  <a:srgbClr val="087E83"/>
                </a:solidFill>
                <a:latin typeface="Apple SD Gothic Neo"/>
                <a:ea typeface="Apple SD Gothic Neo"/>
                <a:cs typeface="Apple SD Gothic Neo"/>
              </a:defRPr>
            </a:lvl9pPr>
          </a:lstStyle>
          <a:p xmlns:a="http://schemas.openxmlformats.org/drawingml/2006/main">
            <a:pPr>
              <a:defRPr sz="2175" b="1">
                <a:solidFill>
                  <a:srgbClr val="087E83"/>
                </a:solidFill>
                <a:latin typeface="Apple SD Gothic Neo"/>
                <a:ea typeface="Apple SD Gothic Neo"/>
                <a:cs typeface="Apple SD Gothic Neo"/>
              </a:defRPr>
            </a:pPr>
            <a:r>
              <a:rPr sz="2175" b="1">
                <a:solidFill>
                  <a:srgbClr val="087E83"/>
                </a:solidFill>
                <a:latin typeface="Apple SD Gothic Neo"/>
                <a:ea typeface="Apple SD Gothic Neo"/>
                <a:cs typeface="Apple SD Gothic Neo"/>
              </a:rPr>
              <a:t>데이터와 모델의 연결</a:t>
            </a:r>
          </a:p>
          <a:p xmlns:a="http://schemas.openxmlformats.org/drawingml/2006/main">
            <a:pPr>
              <a:defRPr sz="2175" b="1">
                <a:solidFill>
                  <a:srgbClr val="087E83"/>
                </a:solidFill>
                <a:latin typeface="Apple SD Gothic Neo"/>
                <a:ea typeface="Apple SD Gothic Neo"/>
                <a:cs typeface="Apple SD Gothic Neo"/>
              </a:defRPr>
            </a:pPr>
            <a:r>
              <a:rPr sz="2175" b="1">
                <a:solidFill>
                  <a:srgbClr val="087E83"/>
                </a:solidFill>
                <a:latin typeface="Apple SD Gothic Neo"/>
                <a:ea typeface="Apple SD Gothic Neo"/>
                <a:cs typeface="Apple SD Gothic Neo"/>
              </a:rPr>
              <a:t>실제 전처리 이유</a:t>
            </a:r>
          </a:p>
          <a:p xmlns:a="http://schemas.openxmlformats.org/drawingml/2006/main">
            <a:pPr>
              <a:defRPr sz="2175" b="1">
                <a:solidFill>
                  <a:srgbClr val="087E83"/>
                </a:solidFill>
                <a:latin typeface="Apple SD Gothic Neo"/>
                <a:ea typeface="Apple SD Gothic Neo"/>
                <a:cs typeface="Apple SD Gothic Neo"/>
              </a:defRPr>
            </a:pPr>
            <a:r>
              <a:rPr sz="2175" b="1">
                <a:solidFill>
                  <a:srgbClr val="087E83"/>
                </a:solidFill>
                <a:latin typeface="Apple SD Gothic Neo"/>
                <a:ea typeface="Apple SD Gothic Neo"/>
                <a:cs typeface="Apple SD Gothic Neo"/>
              </a:rPr>
              <a:t>불량 부족 대책</a:t>
            </a:r>
          </a:p>
          <a:p xmlns:a="http://schemas.openxmlformats.org/drawingml/2006/main">
            <a:pPr>
              <a:defRPr sz="2175" b="1">
                <a:solidFill>
                  <a:srgbClr val="087E83"/>
                </a:solidFill>
                <a:latin typeface="Apple SD Gothic Neo"/>
                <a:ea typeface="Apple SD Gothic Neo"/>
                <a:cs typeface="Apple SD Gothic Neo"/>
              </a:defRPr>
            </a:pPr>
            <a:r>
              <a:rPr sz="2175" b="1">
                <a:solidFill>
                  <a:srgbClr val="087E83"/>
                </a:solidFill>
                <a:latin typeface="Apple SD Gothic Neo"/>
                <a:ea typeface="Apple SD Gothic Neo"/>
                <a:cs typeface="Apple SD Gothic Neo"/>
              </a:rPr>
              <a:t>선택 기준과 한계</a:t>
            </a:r>
          </a:p>
        </p:txBody>
      </p:sp>
      <p:sp>
        <p:nvSpPr>
          <p:cNvPr id="5" name="">
            <a:extLst xmlns:a="http://schemas.openxmlformats.org/drawingml/2006/main">
              <a:ext uri="{FF2B5EF4-FFF2-40B4-BE49-F238E27FC236}">
                <a16:creationId xmlns:a16="http://schemas.microsoft.com/office/drawing/2014/main" id="{9F32A79E-4A92-472D-9637-1BA379BE10E7}"/>
              </a:ext>
            </a:extLst>
          </p:cNvPr>
          <p:cNvSpPr>
            <a:spLocks xmlns:a="http://schemas.openxmlformats.org/drawingml/2006/main" noGrp="1"/>
          </p:cNvSpPr>
          <p:nvPr/>
        </p:nvSpPr>
        <p:spPr>
          <a:xfrm xmlns:a="http://schemas.openxmlformats.org/drawingml/2006/main">
            <a:off x="723900" y="5981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677"/>
                </a:solidFill>
                <a:latin typeface="Apple SD Gothic Neo"/>
                <a:ea typeface="Apple SD Gothic Neo"/>
                <a:cs typeface="Apple SD Gothic Neo"/>
              </a:defRPr>
            </a:defPPr>
            <a:lvl1pPr>
              <a:defRPr sz="1950" b="0">
                <a:solidFill>
                  <a:srgbClr val="526677"/>
                </a:solidFill>
                <a:latin typeface="Apple SD Gothic Neo"/>
                <a:ea typeface="Apple SD Gothic Neo"/>
                <a:cs typeface="Apple SD Gothic Neo"/>
              </a:defRPr>
            </a:lvl1pPr>
            <a:lvl2pPr>
              <a:defRPr sz="1950" b="0">
                <a:solidFill>
                  <a:srgbClr val="526677"/>
                </a:solidFill>
                <a:latin typeface="Apple SD Gothic Neo"/>
                <a:ea typeface="Apple SD Gothic Neo"/>
                <a:cs typeface="Apple SD Gothic Neo"/>
              </a:defRPr>
            </a:lvl2pPr>
            <a:lvl3pPr>
              <a:defRPr sz="1950" b="0">
                <a:solidFill>
                  <a:srgbClr val="526677"/>
                </a:solidFill>
                <a:latin typeface="Apple SD Gothic Neo"/>
                <a:ea typeface="Apple SD Gothic Neo"/>
                <a:cs typeface="Apple SD Gothic Neo"/>
              </a:defRPr>
            </a:lvl3pPr>
            <a:lvl4pPr>
              <a:defRPr sz="1950" b="0">
                <a:solidFill>
                  <a:srgbClr val="526677"/>
                </a:solidFill>
                <a:latin typeface="Apple SD Gothic Neo"/>
                <a:ea typeface="Apple SD Gothic Neo"/>
                <a:cs typeface="Apple SD Gothic Neo"/>
              </a:defRPr>
            </a:lvl4pPr>
            <a:lvl5pPr>
              <a:defRPr sz="1950" b="0">
                <a:solidFill>
                  <a:srgbClr val="526677"/>
                </a:solidFill>
                <a:latin typeface="Apple SD Gothic Neo"/>
                <a:ea typeface="Apple SD Gothic Neo"/>
                <a:cs typeface="Apple SD Gothic Neo"/>
              </a:defRPr>
            </a:lvl5pPr>
            <a:lvl6pPr>
              <a:defRPr sz="1950" b="0">
                <a:solidFill>
                  <a:srgbClr val="526677"/>
                </a:solidFill>
                <a:latin typeface="Apple SD Gothic Neo"/>
                <a:ea typeface="Apple SD Gothic Neo"/>
                <a:cs typeface="Apple SD Gothic Neo"/>
              </a:defRPr>
            </a:lvl6pPr>
            <a:lvl7pPr>
              <a:defRPr sz="1950" b="0">
                <a:solidFill>
                  <a:srgbClr val="526677"/>
                </a:solidFill>
                <a:latin typeface="Apple SD Gothic Neo"/>
                <a:ea typeface="Apple SD Gothic Neo"/>
                <a:cs typeface="Apple SD Gothic Neo"/>
              </a:defRPr>
            </a:lvl7pPr>
            <a:lvl8pPr>
              <a:defRPr sz="1950" b="0">
                <a:solidFill>
                  <a:srgbClr val="526677"/>
                </a:solidFill>
                <a:latin typeface="Apple SD Gothic Neo"/>
                <a:ea typeface="Apple SD Gothic Neo"/>
                <a:cs typeface="Apple SD Gothic Neo"/>
              </a:defRPr>
            </a:lvl8pPr>
            <a:lvl9pPr>
              <a:defRPr sz="1950" b="0">
                <a:solidFill>
                  <a:srgbClr val="526677"/>
                </a:solidFill>
                <a:latin typeface="Apple SD Gothic Neo"/>
                <a:ea typeface="Apple SD Gothic Neo"/>
                <a:cs typeface="Apple SD Gothic Neo"/>
              </a:defRPr>
            </a:lvl9pPr>
          </a:lstStyle>
          <a:p xmlns:a="http://schemas.openxmlformats.org/drawingml/2006/main">
            <a:pPr>
              <a:defRPr sz="1950" b="0">
                <a:solidFill>
                  <a:srgbClr val="526677"/>
                </a:solidFill>
                <a:latin typeface="Apple SD Gothic Neo"/>
                <a:ea typeface="Apple SD Gothic Neo"/>
                <a:cs typeface="Apple SD Gothic Neo"/>
              </a:defRPr>
            </a:pPr>
            <a:r>
              <a:rPr sz="1950" b="0">
                <a:solidFill>
                  <a:srgbClr val="526677"/>
                </a:solidFill>
                <a:latin typeface="Apple SD Gothic Neo"/>
                <a:ea typeface="Apple SD Gothic Neo"/>
                <a:cs typeface="Apple SD Gothic Neo"/>
              </a:rPr>
              <a:t>시연: 완료 결과 확인, 새 데이터 점검, 비교 계획과 승인</a:t>
            </a:r>
          </a:p>
        </p:txBody>
      </p:sp>
    </p:spTree>
    <p:extLst>
      <p:ext uri="{BB962C8B-B14F-4D97-AF65-F5344CB8AC3E}">
        <p14:creationId xmlns:p14="http://schemas.microsoft.com/office/powerpoint/2010/main" val="109498808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3C175B0-EA13-429C-AB0E-F63D8CAB6951}"/>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과제 기술 항목과 검증 상태</a:t>
            </a:r>
          </a:p>
        </p:txBody>
      </p:sp>
      <p:sp>
        <p:nvSpPr>
          <p:cNvPr id="2" name="">
            <a:extLst xmlns:a="http://schemas.openxmlformats.org/drawingml/2006/main">
              <a:ext uri="{FF2B5EF4-FFF2-40B4-BE49-F238E27FC236}">
                <a16:creationId xmlns:a16="http://schemas.microsoft.com/office/drawing/2014/main" id="{8454DAE7-F1AF-4722-98C0-96824B5D8281}"/>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12</a:t>
            </a:r>
          </a:p>
        </p:txBody>
      </p:sp>
      <p:graphicFrame>
        <p:nvGraphicFramePr>
          <p:cNvPr id="3" name="">
            <a:extLst xmlns:a="http://schemas.openxmlformats.org/drawingml/2006/main">
              <a:ext uri="{FF2B5EF4-FFF2-40B4-BE49-F238E27FC236}">
                <a16:creationId xmlns:a16="http://schemas.microsoft.com/office/drawing/2014/main" id="{D8730666-CD65-4615-B7EE-5A9B162AFF76}"/>
              </a:ext>
            </a:extLst>
          </p:cNvPr>
          <p:cNvGraphicFramePr/>
          <p:nvPr/>
        </p:nvGraphicFramePr>
        <p:xfrm>
          <a:off xmlns:a="http://schemas.openxmlformats.org/drawingml/2006/main" x="685800" y="1476375"/>
          <a:ext xmlns:a="http://schemas.openxmlformats.org/drawingml/2006/main" cx="10820400" cy="4000500"/>
        </p:xfrm>
        <a:graphic xmlns:a="http://schemas.openxmlformats.org/drawingml/2006/main">
          <a:graphicData uri="http://schemas.openxmlformats.org/drawingml/2006/table">
            <a:tbl>
              <a:tblPr/>
              <a:tblGrid>
                <a:gridCol w="2476500"/>
                <a:gridCol w="8343900"/>
              </a:tblGrid>
              <a:tr h="800100">
                <a:tc>
                  <a:txBody>
                    <a:bodyPr/>
                    <a:lstStyle/>
                    <a:p>
                      <a:r>
                        <a:rPr sz="1950" b="1">
                          <a:solidFill>
                            <a:srgbClr val="FFFFFF"/>
                          </a:solidFill>
                          <a:latin typeface="Apple SD Gothic Neo"/>
                          <a:ea typeface="Apple SD Gothic Neo"/>
                          <a:cs typeface="Apple SD Gothic Neo"/>
                        </a:rPr>
                        <a:t>기술 항목</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950" b="1">
                          <a:solidFill>
                            <a:srgbClr val="FFFFFF"/>
                          </a:solidFill>
                          <a:latin typeface="Apple SD Gothic Neo"/>
                          <a:ea typeface="Apple SD Gothic Neo"/>
                          <a:cs typeface="Apple SD Gothic Neo"/>
                        </a:rPr>
                        <a:t>구현과 실제 확인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800100">
                <a:tc>
                  <a:txBody>
                    <a:bodyPr/>
                    <a:lstStyle/>
                    <a:p>
                      <a:r>
                        <a:rPr sz="1950" b="0">
                          <a:solidFill>
                            <a:srgbClr val="15364A"/>
                          </a:solidFill>
                          <a:latin typeface="Apple SD Gothic Neo"/>
                          <a:ea typeface="Apple SD Gothic Neo"/>
                          <a:cs typeface="Apple SD Gothic Neo"/>
                        </a:rPr>
                        <a:t>Multi-Agent·DI</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950" b="0">
                          <a:solidFill>
                            <a:srgbClr val="15364A"/>
                          </a:solidFill>
                          <a:latin typeface="Apple SD Gothic Neo"/>
                          <a:ea typeface="Apple SD Gothic Neo"/>
                          <a:cs typeface="Apple SD Gothic Neo"/>
                        </a:rPr>
                        <a:t>로컬 LLM 역할별 판단과 LangGraph</a:t>
                      </a:r>
                    </a:p>
                    <a:p>
                      <a:r>
                        <a:rPr sz="1950" b="0">
                          <a:solidFill>
                            <a:srgbClr val="15364A"/>
                          </a:solidFill>
                          <a:latin typeface="Apple SD Gothic Neo"/>
                          <a:ea typeface="Apple SD Gothic Neo"/>
                          <a:cs typeface="Apple SD Gothic Neo"/>
                        </a:rPr>
                        <a:t>Store·Knowledge·Advisor 주입, 모듈 분리</a:t>
                      </a:r>
                    </a:p>
                  </a:txBody>
                  <a:tcPr marL="91440" marR="91440" marT="45720" marB="45720">
                    <a:lnR w="9525">
                      <a:solidFill>
                        <a:srgbClr val="D6E1E6"/>
                      </a:solidFill>
                      <a:prstDash val="solid"/>
                    </a:lnR>
                    <a:lnB w="9525">
                      <a:solidFill>
                        <a:srgbClr val="D6E1E6"/>
                      </a:solidFill>
                      <a:prstDash val="solid"/>
                    </a:lnB>
                    <a:solidFill>
                      <a:srgbClr val="FFFFFF"/>
                    </a:solidFill>
                  </a:tcPr>
                </a:tc>
              </a:tr>
              <a:tr h="800100">
                <a:tc>
                  <a:txBody>
                    <a:bodyPr/>
                    <a:lstStyle/>
                    <a:p>
                      <a:r>
                        <a:rPr sz="1950" b="0">
                          <a:solidFill>
                            <a:srgbClr val="15364A"/>
                          </a:solidFill>
                          <a:latin typeface="Apple SD Gothic Neo"/>
                          <a:ea typeface="Apple SD Gothic Neo"/>
                          <a:cs typeface="Apple SD Gothic Neo"/>
                        </a:rPr>
                        <a:t>RAG·MCP</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950" b="0">
                          <a:solidFill>
                            <a:srgbClr val="15364A"/>
                          </a:solidFill>
                          <a:latin typeface="Apple SD Gothic Neo"/>
                          <a:ea typeface="Apple SD Gothic Neo"/>
                          <a:cs typeface="Apple SD Gothic Neo"/>
                        </a:rPr>
                        <a:t>13문서 임베딩 검색과 생성 입력 연결</a:t>
                      </a:r>
                    </a:p>
                    <a:p>
                      <a:r>
                        <a:rPr sz="1950" b="0">
                          <a:solidFill>
                            <a:srgbClr val="15364A"/>
                          </a:solidFill>
                          <a:latin typeface="Apple SD Gothic Neo"/>
                          <a:ea typeface="Apple SD Gothic Neo"/>
                          <a:cs typeface="Apple SD Gothic Neo"/>
                        </a:rPr>
                        <a:t>실제 stdio 연결, 조회·제안·모델 설명 4도구</a:t>
                      </a:r>
                    </a:p>
                  </a:txBody>
                  <a:tcPr marL="91440" marR="91440" marT="45720" marB="45720">
                    <a:lnR w="9525">
                      <a:solidFill>
                        <a:srgbClr val="D6E1E6"/>
                      </a:solidFill>
                      <a:prstDash val="solid"/>
                    </a:lnR>
                    <a:lnB w="9525">
                      <a:solidFill>
                        <a:srgbClr val="D6E1E6"/>
                      </a:solidFill>
                      <a:prstDash val="solid"/>
                    </a:lnB>
                    <a:solidFill>
                      <a:srgbClr val="F1F6F7"/>
                    </a:solidFill>
                  </a:tcPr>
                </a:tc>
              </a:tr>
              <a:tr h="800100">
                <a:tc>
                  <a:txBody>
                    <a:bodyPr/>
                    <a:lstStyle/>
                    <a:p>
                      <a:r>
                        <a:rPr sz="1950" b="0">
                          <a:solidFill>
                            <a:srgbClr val="15364A"/>
                          </a:solidFill>
                          <a:latin typeface="Apple SD Gothic Neo"/>
                          <a:ea typeface="Apple SD Gothic Neo"/>
                          <a:cs typeface="Apple SD Gothic Neo"/>
                        </a:rPr>
                        <a:t>검증·한계</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950" b="0">
                          <a:solidFill>
                            <a:srgbClr val="15364A"/>
                          </a:solidFill>
                          <a:latin typeface="Apple SD Gothic Neo"/>
                          <a:ea typeface="Apple SD Gothic Neo"/>
                          <a:cs typeface="Apple SD Gothic Neo"/>
                        </a:rPr>
                        <a:t>테스트26개 통과. LLM 품질·계획 검사 통과</a:t>
                      </a:r>
                    </a:p>
                    <a:p>
                      <a:r>
                        <a:rPr sz="1950" b="0">
                          <a:solidFill>
                            <a:srgbClr val="15364A"/>
                          </a:solidFill>
                          <a:latin typeface="Apple SD Gothic Neo"/>
                          <a:ea typeface="Apple SD Gothic Neo"/>
                          <a:cs typeface="Apple SD Gothic Neo"/>
                        </a:rPr>
                        <a:t>결과 검토는 출처 검사 실패로 규칙 fallback</a:t>
                      </a:r>
                    </a:p>
                  </a:txBody>
                  <a:tcPr marL="91440" marR="91440" marT="45720" marB="45720">
                    <a:lnR w="9525">
                      <a:solidFill>
                        <a:srgbClr val="D6E1E6"/>
                      </a:solidFill>
                      <a:prstDash val="solid"/>
                    </a:lnR>
                    <a:lnB w="9525">
                      <a:solidFill>
                        <a:srgbClr val="D6E1E6"/>
                      </a:solidFill>
                      <a:prstDash val="solid"/>
                    </a:lnB>
                    <a:solidFill>
                      <a:srgbClr val="FFFFFF"/>
                    </a:solidFill>
                  </a:tcPr>
                </a:tc>
              </a:tr>
              <a:tr h="800100">
                <a:tc>
                  <a:txBody>
                    <a:bodyPr/>
                    <a:lstStyle/>
                    <a:p>
                      <a:r>
                        <a:rPr sz="1950" b="0">
                          <a:solidFill>
                            <a:srgbClr val="15364A"/>
                          </a:solidFill>
                          <a:latin typeface="Apple SD Gothic Neo"/>
                          <a:ea typeface="Apple SD Gothic Neo"/>
                          <a:cs typeface="Apple SD Gothic Neo"/>
                        </a:rPr>
                        <a:t>LangSmith</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950" b="0">
                          <a:solidFill>
                            <a:srgbClr val="15364A"/>
                          </a:solidFill>
                          <a:latin typeface="Apple SD Gothic Neo"/>
                          <a:ea typeface="Apple SD Gothic Neo"/>
                          <a:cs typeface="Apple SD Gothic Neo"/>
                        </a:rPr>
                        <a:t>계측·실제 전송 시도</a:t>
                      </a:r>
                    </a:p>
                    <a:p>
                      <a:r>
                        <a:rPr sz="1950" b="0">
                          <a:solidFill>
                            <a:srgbClr val="15364A"/>
                          </a:solidFill>
                          <a:latin typeface="Apple SD Gothic Neo"/>
                          <a:ea typeface="Apple SD Gothic Neo"/>
                          <a:cs typeface="Apple SD Gothic Neo"/>
                        </a:rPr>
                        <a:t>403 권한 오류로 원격 추적 성공 미확인</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4" name="">
            <a:extLst xmlns:a="http://schemas.openxmlformats.org/drawingml/2006/main">
              <a:ext uri="{FF2B5EF4-FFF2-40B4-BE49-F238E27FC236}">
                <a16:creationId xmlns:a16="http://schemas.microsoft.com/office/drawing/2014/main" id="{CFB5D71B-A405-4C3A-86FC-F623B1FC2B7D}"/>
              </a:ext>
            </a:extLst>
          </p:cNvPr>
          <p:cNvSpPr>
            <a:spLocks xmlns:a="http://schemas.openxmlformats.org/drawingml/2006/main" noGrp="1"/>
          </p:cNvSpPr>
          <p:nvPr/>
        </p:nvSpPr>
        <p:spPr>
          <a:xfrm xmlns:a="http://schemas.openxmlformats.org/drawingml/2006/main">
            <a:off x="723900" y="56673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677"/>
                </a:solidFill>
                <a:latin typeface="Apple SD Gothic Neo"/>
                <a:ea typeface="Apple SD Gothic Neo"/>
                <a:cs typeface="Apple SD Gothic Neo"/>
              </a:defRPr>
            </a:defPPr>
            <a:lvl1pPr>
              <a:defRPr sz="1800" b="0">
                <a:solidFill>
                  <a:srgbClr val="526677"/>
                </a:solidFill>
                <a:latin typeface="Apple SD Gothic Neo"/>
                <a:ea typeface="Apple SD Gothic Neo"/>
                <a:cs typeface="Apple SD Gothic Neo"/>
              </a:defRPr>
            </a:lvl1pPr>
            <a:lvl2pPr>
              <a:defRPr sz="1800" b="0">
                <a:solidFill>
                  <a:srgbClr val="526677"/>
                </a:solidFill>
                <a:latin typeface="Apple SD Gothic Neo"/>
                <a:ea typeface="Apple SD Gothic Neo"/>
                <a:cs typeface="Apple SD Gothic Neo"/>
              </a:defRPr>
            </a:lvl2pPr>
            <a:lvl3pPr>
              <a:defRPr sz="1800" b="0">
                <a:solidFill>
                  <a:srgbClr val="526677"/>
                </a:solidFill>
                <a:latin typeface="Apple SD Gothic Neo"/>
                <a:ea typeface="Apple SD Gothic Neo"/>
                <a:cs typeface="Apple SD Gothic Neo"/>
              </a:defRPr>
            </a:lvl3pPr>
            <a:lvl4pPr>
              <a:defRPr sz="1800" b="0">
                <a:solidFill>
                  <a:srgbClr val="526677"/>
                </a:solidFill>
                <a:latin typeface="Apple SD Gothic Neo"/>
                <a:ea typeface="Apple SD Gothic Neo"/>
                <a:cs typeface="Apple SD Gothic Neo"/>
              </a:defRPr>
            </a:lvl4pPr>
            <a:lvl5pPr>
              <a:defRPr sz="1800" b="0">
                <a:solidFill>
                  <a:srgbClr val="526677"/>
                </a:solidFill>
                <a:latin typeface="Apple SD Gothic Neo"/>
                <a:ea typeface="Apple SD Gothic Neo"/>
                <a:cs typeface="Apple SD Gothic Neo"/>
              </a:defRPr>
            </a:lvl5pPr>
            <a:lvl6pPr>
              <a:defRPr sz="1800" b="0">
                <a:solidFill>
                  <a:srgbClr val="526677"/>
                </a:solidFill>
                <a:latin typeface="Apple SD Gothic Neo"/>
                <a:ea typeface="Apple SD Gothic Neo"/>
                <a:cs typeface="Apple SD Gothic Neo"/>
              </a:defRPr>
            </a:lvl6pPr>
            <a:lvl7pPr>
              <a:defRPr sz="1800" b="0">
                <a:solidFill>
                  <a:srgbClr val="526677"/>
                </a:solidFill>
                <a:latin typeface="Apple SD Gothic Neo"/>
                <a:ea typeface="Apple SD Gothic Neo"/>
                <a:cs typeface="Apple SD Gothic Neo"/>
              </a:defRPr>
            </a:lvl7pPr>
            <a:lvl8pPr>
              <a:defRPr sz="1800" b="0">
                <a:solidFill>
                  <a:srgbClr val="526677"/>
                </a:solidFill>
                <a:latin typeface="Apple SD Gothic Neo"/>
                <a:ea typeface="Apple SD Gothic Neo"/>
                <a:cs typeface="Apple SD Gothic Neo"/>
              </a:defRPr>
            </a:lvl8pPr>
            <a:lvl9pPr>
              <a:defRPr sz="1800" b="0">
                <a:solidFill>
                  <a:srgbClr val="526677"/>
                </a:solidFill>
                <a:latin typeface="Apple SD Gothic Neo"/>
                <a:ea typeface="Apple SD Gothic Neo"/>
                <a:cs typeface="Apple SD Gothic Neo"/>
              </a:defRPr>
            </a:lvl9pPr>
          </a:lstStyle>
          <a:p xmlns:a="http://schemas.openxmlformats.org/drawingml/2006/main">
            <a:pPr>
              <a:defRPr sz="1800" b="0">
                <a:solidFill>
                  <a:srgbClr val="526677"/>
                </a:solidFill>
                <a:latin typeface="Apple SD Gothic Neo"/>
                <a:ea typeface="Apple SD Gothic Neo"/>
                <a:cs typeface="Apple SD Gothic Neo"/>
              </a:defRPr>
            </a:pPr>
            <a:r>
              <a:rPr sz="1800" b="0">
                <a:solidFill>
                  <a:srgbClr val="526677"/>
                </a:solidFill>
                <a:latin typeface="Apple SD Gothic Neo"/>
                <a:ea typeface="Apple SD Gothic Neo"/>
                <a:cs typeface="Apple SD Gothic Neo"/>
              </a:rPr>
              <a:t>고정13질문: 검색 Hit@3 동일100%, MRR@3 0.9103 → 0.9615</a:t>
            </a:r>
          </a:p>
          <a:p xmlns:a="http://schemas.openxmlformats.org/drawingml/2006/main">
            <a:pPr>
              <a:defRPr sz="1800" b="0">
                <a:solidFill>
                  <a:srgbClr val="526677"/>
                </a:solidFill>
                <a:latin typeface="Apple SD Gothic Neo"/>
                <a:ea typeface="Apple SD Gothic Neo"/>
                <a:cs typeface="Apple SD Gothic Neo"/>
              </a:defRPr>
            </a:pPr>
            <a:r>
              <a:rPr sz="1800" b="0">
                <a:solidFill>
                  <a:srgbClr val="526677"/>
                </a:solidFill>
                <a:latin typeface="Apple SD Gothic Neo"/>
                <a:ea typeface="Apple SD Gothic Neo"/>
                <a:cs typeface="Apple SD Gothic Neo"/>
              </a:rPr>
              <a:t>dense 검색은 더 느림. 자체 소규모 평가로 일반 성능 향상 보장 불가</a:t>
            </a:r>
          </a:p>
        </p:txBody>
      </p:sp>
    </p:spTree>
    <p:extLst>
      <p:ext uri="{BB962C8B-B14F-4D97-AF65-F5344CB8AC3E}">
        <p14:creationId xmlns:p14="http://schemas.microsoft.com/office/powerpoint/2010/main" val="35543810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2CFCE20-7437-4F8C-A055-2EB6DD89F22D}"/>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모델별 선택용 데이터 비교</a:t>
            </a:r>
          </a:p>
        </p:txBody>
      </p:sp>
      <p:sp>
        <p:nvSpPr>
          <p:cNvPr id="2" name="">
            <a:extLst xmlns:a="http://schemas.openxmlformats.org/drawingml/2006/main">
              <a:ext uri="{FF2B5EF4-FFF2-40B4-BE49-F238E27FC236}">
                <a16:creationId xmlns:a16="http://schemas.microsoft.com/office/drawing/2014/main" id="{B9D29DE7-53F9-4498-92F0-91EE984CC07C}"/>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13</a:t>
            </a:r>
          </a:p>
        </p:txBody>
      </p:sp>
      <p:graphicFrame>
        <p:nvGraphicFramePr>
          <p:cNvPr id="3" name="">
            <a:extLst xmlns:a="http://schemas.openxmlformats.org/drawingml/2006/main">
              <a:ext uri="{FF2B5EF4-FFF2-40B4-BE49-F238E27FC236}">
                <a16:creationId xmlns:a16="http://schemas.microsoft.com/office/drawing/2014/main" id="{D7031B09-ADF0-4C3C-B083-A68FC925C57F}"/>
              </a:ext>
            </a:extLst>
          </p:cNvPr>
          <p:cNvGraphicFramePr/>
          <p:nvPr/>
        </p:nvGraphicFramePr>
        <p:xfrm>
          <a:off xmlns:a="http://schemas.openxmlformats.org/drawingml/2006/main" x="685800" y="1666875"/>
          <a:ext xmlns:a="http://schemas.openxmlformats.org/drawingml/2006/main" cx="10820400" cy="4000500"/>
        </p:xfrm>
        <a:graphic xmlns:a="http://schemas.openxmlformats.org/drawingml/2006/main">
          <a:graphicData uri="http://schemas.openxmlformats.org/drawingml/2006/table">
            <a:tbl>
              <a:tblPr/>
              <a:tblGrid>
                <a:gridCol w="2857500"/>
                <a:gridCol w="2552700"/>
                <a:gridCol w="2857500"/>
                <a:gridCol w="2552700"/>
              </a:tblGrid>
              <a:tr h="571500">
                <a:tc>
                  <a:txBody>
                    <a:bodyPr/>
                    <a:lstStyle/>
                    <a:p>
                      <a:r>
                        <a:rPr sz="1875" b="1">
                          <a:solidFill>
                            <a:srgbClr val="FFFFFF"/>
                          </a:solidFill>
                          <a:latin typeface="Apple SD Gothic Neo"/>
                          <a:ea typeface="Apple SD Gothic Neo"/>
                          <a:cs typeface="Apple SD Gothic Neo"/>
                        </a:rPr>
                        <a:t>센서 모델</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발견 / 추가검사</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센서 모델</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발견 / 추가검사</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571500">
                <a:tc>
                  <a:txBody>
                    <a:bodyPr/>
                    <a:lstStyle/>
                    <a:p>
                      <a:r>
                        <a:rPr sz="1875" b="0">
                          <a:solidFill>
                            <a:srgbClr val="15364A"/>
                          </a:solidFill>
                          <a:latin typeface="Apple SD Gothic Neo"/>
                          <a:ea typeface="Apple SD Gothic Neo"/>
                          <a:cs typeface="Apple SD Gothic Neo"/>
                        </a:rPr>
                        <a:t>Logistic Regression</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76.5% / 12.0%</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CatBoost</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97.1% / 10.8%</a:t>
                      </a:r>
                    </a:p>
                  </a:txBody>
                  <a:tcPr marL="91440" marR="91440" marT="45720" marB="45720">
                    <a:lnR w="9525">
                      <a:solidFill>
                        <a:srgbClr val="D6E1E6"/>
                      </a:solidFill>
                      <a:prstDash val="solid"/>
                    </a:lnR>
                    <a:lnB w="9525">
                      <a:solidFill>
                        <a:srgbClr val="D6E1E6"/>
                      </a:solidFill>
                      <a:prstDash val="solid"/>
                    </a:lnB>
                    <a:solidFill>
                      <a:srgbClr val="FFFFFF"/>
                    </a:solidFill>
                  </a:tcPr>
                </a:tc>
              </a:tr>
              <a:tr h="571500">
                <a:tc>
                  <a:txBody>
                    <a:bodyPr/>
                    <a:lstStyle/>
                    <a:p>
                      <a:r>
                        <a:rPr sz="1875" b="0">
                          <a:solidFill>
                            <a:srgbClr val="15364A"/>
                          </a:solidFill>
                          <a:latin typeface="Apple SD Gothic Neo"/>
                          <a:ea typeface="Apple SD Gothic Neo"/>
                          <a:cs typeface="Apple SD Gothic Neo"/>
                        </a:rPr>
                        <a:t>Decision Tree</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76.5% / 9.5%</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KNN</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88.2% / 13.3%</a:t>
                      </a:r>
                    </a:p>
                  </a:txBody>
                  <a:tcPr marL="91440" marR="91440" marT="45720" marB="45720">
                    <a:lnR w="9525">
                      <a:solidFill>
                        <a:srgbClr val="D6E1E6"/>
                      </a:solidFill>
                      <a:prstDash val="solid"/>
                    </a:lnR>
                    <a:lnB w="9525">
                      <a:solidFill>
                        <a:srgbClr val="D6E1E6"/>
                      </a:solidFill>
                      <a:prstDash val="solid"/>
                    </a:lnB>
                    <a:solidFill>
                      <a:srgbClr val="F1F6F7"/>
                    </a:solidFill>
                  </a:tcPr>
                </a:tc>
              </a:tr>
              <a:tr h="571500">
                <a:tc>
                  <a:txBody>
                    <a:bodyPr/>
                    <a:lstStyle/>
                    <a:p>
                      <a:r>
                        <a:rPr sz="1875" b="0">
                          <a:solidFill>
                            <a:srgbClr val="15364A"/>
                          </a:solidFill>
                          <a:latin typeface="Apple SD Gothic Neo"/>
                          <a:ea typeface="Apple SD Gothic Neo"/>
                          <a:cs typeface="Apple SD Gothic Neo"/>
                        </a:rPr>
                        <a:t>Random Forest</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94.1% / 13.3%</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SVM (RBF)</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97.1% / 9.5%</a:t>
                      </a:r>
                    </a:p>
                  </a:txBody>
                  <a:tcPr marL="91440" marR="91440" marT="45720" marB="45720">
                    <a:lnR w="9525">
                      <a:solidFill>
                        <a:srgbClr val="D6E1E6"/>
                      </a:solidFill>
                      <a:prstDash val="solid"/>
                    </a:lnR>
                    <a:lnB w="9525">
                      <a:solidFill>
                        <a:srgbClr val="D6E1E6"/>
                      </a:solidFill>
                      <a:prstDash val="solid"/>
                    </a:lnB>
                    <a:solidFill>
                      <a:srgbClr val="FFFFFF"/>
                    </a:solidFill>
                  </a:tcPr>
                </a:tc>
              </a:tr>
              <a:tr h="571500">
                <a:tc>
                  <a:txBody>
                    <a:bodyPr/>
                    <a:lstStyle/>
                    <a:p>
                      <a:r>
                        <a:rPr sz="1875" b="0">
                          <a:solidFill>
                            <a:srgbClr val="15364A"/>
                          </a:solidFill>
                          <a:latin typeface="Apple SD Gothic Neo"/>
                          <a:ea typeface="Apple SD Gothic Neo"/>
                          <a:cs typeface="Apple SD Gothic Neo"/>
                        </a:rPr>
                        <a:t>Gradient Boosting</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94.1% / 13.9%</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MLP / ANN</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94.1% / 11.4%</a:t>
                      </a:r>
                    </a:p>
                  </a:txBody>
                  <a:tcPr marL="91440" marR="91440" marT="45720" marB="45720">
                    <a:lnR w="9525">
                      <a:solidFill>
                        <a:srgbClr val="D6E1E6"/>
                      </a:solidFill>
                      <a:prstDash val="solid"/>
                    </a:lnR>
                    <a:lnB w="9525">
                      <a:solidFill>
                        <a:srgbClr val="D6E1E6"/>
                      </a:solidFill>
                      <a:prstDash val="solid"/>
                    </a:lnB>
                    <a:solidFill>
                      <a:srgbClr val="F1F6F7"/>
                    </a:solidFill>
                  </a:tcPr>
                </a:tc>
              </a:tr>
              <a:tr h="571500">
                <a:tc>
                  <a:txBody>
                    <a:bodyPr/>
                    <a:lstStyle/>
                    <a:p>
                      <a:r>
                        <a:rPr sz="1875" b="0">
                          <a:solidFill>
                            <a:srgbClr val="15364A"/>
                          </a:solidFill>
                          <a:latin typeface="Apple SD Gothic Neo"/>
                          <a:ea typeface="Apple SD Gothic Neo"/>
                          <a:cs typeface="Apple SD Gothic Neo"/>
                        </a:rPr>
                        <a:t>XGBoost</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97.1% / 13.9%</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AdaBoost</a:t>
                      </a:r>
                    </a:p>
                  </a:txBody>
                  <a:tcPr marL="91440" marR="91440" marT="45720" marB="45720">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91.2% / 12.0%</a:t>
                      </a:r>
                    </a:p>
                  </a:txBody>
                  <a:tcPr marL="91440" marR="91440" marT="45720" marB="45720">
                    <a:lnR w="9525">
                      <a:solidFill>
                        <a:srgbClr val="D6E1E6"/>
                      </a:solidFill>
                      <a:prstDash val="solid"/>
                    </a:lnR>
                    <a:lnB w="9525">
                      <a:solidFill>
                        <a:srgbClr val="D6E1E6"/>
                      </a:solidFill>
                      <a:prstDash val="solid"/>
                    </a:lnB>
                    <a:solidFill>
                      <a:srgbClr val="FFFFFF"/>
                    </a:solidFill>
                  </a:tcPr>
                </a:tc>
              </a:tr>
              <a:tr h="571500">
                <a:tc>
                  <a:txBody>
                    <a:bodyPr/>
                    <a:lstStyle/>
                    <a:p>
                      <a:r>
                        <a:rPr sz="1875" b="0">
                          <a:solidFill>
                            <a:srgbClr val="15364A"/>
                          </a:solidFill>
                          <a:latin typeface="Apple SD Gothic Neo"/>
                          <a:ea typeface="Apple SD Gothic Neo"/>
                          <a:cs typeface="Apple SD Gothic Neo"/>
                        </a:rPr>
                        <a:t>LightGBM</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97.1% / 16.5%</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Hist Gradient Boosting</a:t>
                      </a:r>
                    </a:p>
                  </a:txBody>
                  <a:tcPr marL="91440" marR="91440" marT="45720" marB="45720">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97.1% / 15.2%</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4" name="">
            <a:extLst xmlns:a="http://schemas.openxmlformats.org/drawingml/2006/main">
              <a:ext uri="{FF2B5EF4-FFF2-40B4-BE49-F238E27FC236}">
                <a16:creationId xmlns:a16="http://schemas.microsoft.com/office/drawing/2014/main" id="{5B27D5FC-0B10-45B3-89B6-FDD1AD4009DC}"/>
              </a:ext>
            </a:extLst>
          </p:cNvPr>
          <p:cNvSpPr>
            <a:spLocks xmlns:a="http://schemas.openxmlformats.org/drawingml/2006/main" noGrp="1"/>
          </p:cNvSpPr>
          <p:nvPr/>
        </p:nvSpPr>
        <p:spPr>
          <a:xfrm xmlns:a="http://schemas.openxmlformats.org/drawingml/2006/main">
            <a:off x="723900" y="60483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677"/>
                </a:solidFill>
                <a:latin typeface="Apple SD Gothic Neo"/>
                <a:ea typeface="Apple SD Gothic Neo"/>
                <a:cs typeface="Apple SD Gothic Neo"/>
              </a:defRPr>
            </a:defPPr>
            <a:lvl1pPr>
              <a:defRPr sz="1725" b="0">
                <a:solidFill>
                  <a:srgbClr val="526677"/>
                </a:solidFill>
                <a:latin typeface="Apple SD Gothic Neo"/>
                <a:ea typeface="Apple SD Gothic Neo"/>
                <a:cs typeface="Apple SD Gothic Neo"/>
              </a:defRPr>
            </a:lvl1pPr>
            <a:lvl2pPr>
              <a:defRPr sz="1725" b="0">
                <a:solidFill>
                  <a:srgbClr val="526677"/>
                </a:solidFill>
                <a:latin typeface="Apple SD Gothic Neo"/>
                <a:ea typeface="Apple SD Gothic Neo"/>
                <a:cs typeface="Apple SD Gothic Neo"/>
              </a:defRPr>
            </a:lvl2pPr>
            <a:lvl3pPr>
              <a:defRPr sz="1725" b="0">
                <a:solidFill>
                  <a:srgbClr val="526677"/>
                </a:solidFill>
                <a:latin typeface="Apple SD Gothic Neo"/>
                <a:ea typeface="Apple SD Gothic Neo"/>
                <a:cs typeface="Apple SD Gothic Neo"/>
              </a:defRPr>
            </a:lvl3pPr>
            <a:lvl4pPr>
              <a:defRPr sz="1725" b="0">
                <a:solidFill>
                  <a:srgbClr val="526677"/>
                </a:solidFill>
                <a:latin typeface="Apple SD Gothic Neo"/>
                <a:ea typeface="Apple SD Gothic Neo"/>
                <a:cs typeface="Apple SD Gothic Neo"/>
              </a:defRPr>
            </a:lvl4pPr>
            <a:lvl5pPr>
              <a:defRPr sz="1725" b="0">
                <a:solidFill>
                  <a:srgbClr val="526677"/>
                </a:solidFill>
                <a:latin typeface="Apple SD Gothic Neo"/>
                <a:ea typeface="Apple SD Gothic Neo"/>
                <a:cs typeface="Apple SD Gothic Neo"/>
              </a:defRPr>
            </a:lvl5pPr>
            <a:lvl6pPr>
              <a:defRPr sz="1725" b="0">
                <a:solidFill>
                  <a:srgbClr val="526677"/>
                </a:solidFill>
                <a:latin typeface="Apple SD Gothic Neo"/>
                <a:ea typeface="Apple SD Gothic Neo"/>
                <a:cs typeface="Apple SD Gothic Neo"/>
              </a:defRPr>
            </a:lvl6pPr>
            <a:lvl7pPr>
              <a:defRPr sz="1725" b="0">
                <a:solidFill>
                  <a:srgbClr val="526677"/>
                </a:solidFill>
                <a:latin typeface="Apple SD Gothic Neo"/>
                <a:ea typeface="Apple SD Gothic Neo"/>
                <a:cs typeface="Apple SD Gothic Neo"/>
              </a:defRPr>
            </a:lvl7pPr>
            <a:lvl8pPr>
              <a:defRPr sz="1725" b="0">
                <a:solidFill>
                  <a:srgbClr val="526677"/>
                </a:solidFill>
                <a:latin typeface="Apple SD Gothic Neo"/>
                <a:ea typeface="Apple SD Gothic Neo"/>
                <a:cs typeface="Apple SD Gothic Neo"/>
              </a:defRPr>
            </a:lvl8pPr>
            <a:lvl9pPr>
              <a:defRPr sz="1725" b="0">
                <a:solidFill>
                  <a:srgbClr val="526677"/>
                </a:solidFill>
                <a:latin typeface="Apple SD Gothic Neo"/>
                <a:ea typeface="Apple SD Gothic Neo"/>
                <a:cs typeface="Apple SD Gothic Neo"/>
              </a:defRPr>
            </a:lvl9pPr>
          </a:lstStyle>
          <a:p xmlns:a="http://schemas.openxmlformats.org/drawingml/2006/main">
            <a:pPr>
              <a:defRPr sz="1725" b="0">
                <a:solidFill>
                  <a:srgbClr val="526677"/>
                </a:solidFill>
                <a:latin typeface="Apple SD Gothic Neo"/>
                <a:ea typeface="Apple SD Gothic Neo"/>
                <a:cs typeface="Apple SD Gothic Neo"/>
              </a:defRPr>
            </a:pPr>
            <a:r>
              <a:rPr sz="1725" b="0">
                <a:solidFill>
                  <a:srgbClr val="526677"/>
                </a:solidFill>
                <a:latin typeface="Apple SD Gothic Neo"/>
                <a:ea typeface="Apple SD Gothic Neo"/>
                <a:cs typeface="Apple SD Gothic Neo"/>
              </a:rPr>
              <a:t>전체 제품 학습의 validation 실측. 최종 선택은 이후 제품 조합 비교까지 포함</a:t>
            </a:r>
          </a:p>
        </p:txBody>
      </p:sp>
    </p:spTree>
    <p:extLst>
      <p:ext uri="{BB962C8B-B14F-4D97-AF65-F5344CB8AC3E}">
        <p14:creationId xmlns:p14="http://schemas.microsoft.com/office/powerpoint/2010/main" val="23833938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4ABB764-0C38-4C42-836A-E3CC24E05268}"/>
              </a:ext>
            </a:extLst>
          </p:cNvPr>
          <p:cNvSpPr>
            <a:spLocks xmlns:a="http://schemas.openxmlformats.org/drawingml/2006/main" noGrp="1"/>
          </p:cNvSpPr>
          <p:nvPr/>
        </p:nvSpPr>
        <p:spPr>
          <a:xfrm xmlns:a="http://schemas.openxmlformats.org/drawingml/2006/main">
            <a:off x="609600" y="381000"/>
            <a:ext cx="1095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5364A"/>
                </a:solidFill>
                <a:latin typeface="Apple SD Gothic Neo"/>
                <a:ea typeface="Apple SD Gothic Neo"/>
                <a:cs typeface="Apple SD Gothic Neo"/>
              </a:defRPr>
            </a:defPPr>
            <a:lvl1pPr>
              <a:defRPr sz="3000" b="1">
                <a:solidFill>
                  <a:srgbClr val="15364A"/>
                </a:solidFill>
                <a:latin typeface="Apple SD Gothic Neo"/>
                <a:ea typeface="Apple SD Gothic Neo"/>
                <a:cs typeface="Apple SD Gothic Neo"/>
              </a:defRPr>
            </a:lvl1pPr>
            <a:lvl2pPr>
              <a:defRPr sz="3000" b="1">
                <a:solidFill>
                  <a:srgbClr val="15364A"/>
                </a:solidFill>
                <a:latin typeface="Apple SD Gothic Neo"/>
                <a:ea typeface="Apple SD Gothic Neo"/>
                <a:cs typeface="Apple SD Gothic Neo"/>
              </a:defRPr>
            </a:lvl2pPr>
            <a:lvl3pPr>
              <a:defRPr sz="3000" b="1">
                <a:solidFill>
                  <a:srgbClr val="15364A"/>
                </a:solidFill>
                <a:latin typeface="Apple SD Gothic Neo"/>
                <a:ea typeface="Apple SD Gothic Neo"/>
                <a:cs typeface="Apple SD Gothic Neo"/>
              </a:defRPr>
            </a:lvl3pPr>
            <a:lvl4pPr>
              <a:defRPr sz="3000" b="1">
                <a:solidFill>
                  <a:srgbClr val="15364A"/>
                </a:solidFill>
                <a:latin typeface="Apple SD Gothic Neo"/>
                <a:ea typeface="Apple SD Gothic Neo"/>
                <a:cs typeface="Apple SD Gothic Neo"/>
              </a:defRPr>
            </a:lvl4pPr>
            <a:lvl5pPr>
              <a:defRPr sz="3000" b="1">
                <a:solidFill>
                  <a:srgbClr val="15364A"/>
                </a:solidFill>
                <a:latin typeface="Apple SD Gothic Neo"/>
                <a:ea typeface="Apple SD Gothic Neo"/>
                <a:cs typeface="Apple SD Gothic Neo"/>
              </a:defRPr>
            </a:lvl5pPr>
            <a:lvl6pPr>
              <a:defRPr sz="3000" b="1">
                <a:solidFill>
                  <a:srgbClr val="15364A"/>
                </a:solidFill>
                <a:latin typeface="Apple SD Gothic Neo"/>
                <a:ea typeface="Apple SD Gothic Neo"/>
                <a:cs typeface="Apple SD Gothic Neo"/>
              </a:defRPr>
            </a:lvl6pPr>
            <a:lvl7pPr>
              <a:defRPr sz="3000" b="1">
                <a:solidFill>
                  <a:srgbClr val="15364A"/>
                </a:solidFill>
                <a:latin typeface="Apple SD Gothic Neo"/>
                <a:ea typeface="Apple SD Gothic Neo"/>
                <a:cs typeface="Apple SD Gothic Neo"/>
              </a:defRPr>
            </a:lvl7pPr>
            <a:lvl8pPr>
              <a:defRPr sz="3000" b="1">
                <a:solidFill>
                  <a:srgbClr val="15364A"/>
                </a:solidFill>
                <a:latin typeface="Apple SD Gothic Neo"/>
                <a:ea typeface="Apple SD Gothic Neo"/>
                <a:cs typeface="Apple SD Gothic Neo"/>
              </a:defRPr>
            </a:lvl8pPr>
            <a:lvl9pPr>
              <a:defRPr sz="3000" b="1">
                <a:solidFill>
                  <a:srgbClr val="15364A"/>
                </a:solidFill>
                <a:latin typeface="Apple SD Gothic Neo"/>
                <a:ea typeface="Apple SD Gothic Neo"/>
                <a:cs typeface="Apple SD Gothic Neo"/>
              </a:defRPr>
            </a:lvl9pPr>
          </a:lstStyle>
          <a:p xmlns:a="http://schemas.openxmlformats.org/drawingml/2006/main">
            <a:pPr>
              <a:defRPr sz="3000" b="1">
                <a:solidFill>
                  <a:srgbClr val="15364A"/>
                </a:solidFill>
                <a:latin typeface="Apple SD Gothic Neo"/>
                <a:ea typeface="Apple SD Gothic Neo"/>
                <a:cs typeface="Apple SD Gothic Neo"/>
              </a:defRPr>
            </a:pPr>
            <a:r>
              <a:rPr sz="3000" b="1">
                <a:solidFill>
                  <a:srgbClr val="15364A"/>
                </a:solidFill>
                <a:latin typeface="Apple SD Gothic Neo"/>
                <a:ea typeface="Apple SD Gothic Neo"/>
                <a:cs typeface="Apple SD Gothic Neo"/>
              </a:rPr>
              <a:t>현재 한계와 확장 방향</a:t>
            </a:r>
          </a:p>
        </p:txBody>
      </p:sp>
      <p:sp>
        <p:nvSpPr>
          <p:cNvPr id="2" name="">
            <a:extLst xmlns:a="http://schemas.openxmlformats.org/drawingml/2006/main">
              <a:ext uri="{FF2B5EF4-FFF2-40B4-BE49-F238E27FC236}">
                <a16:creationId xmlns:a16="http://schemas.microsoft.com/office/drawing/2014/main" id="{C06E8083-AC3C-4482-BEFB-F2CCBB949119}"/>
              </a:ext>
            </a:extLst>
          </p:cNvPr>
          <p:cNvSpPr>
            <a:spLocks xmlns:a="http://schemas.openxmlformats.org/drawingml/2006/main" noGrp="1"/>
          </p:cNvSpPr>
          <p:nvPr/>
        </p:nvSpPr>
        <p:spPr>
          <a:xfrm xmlns:a="http://schemas.openxmlformats.org/drawingml/2006/main">
            <a:off x="10953750" y="6381750"/>
            <a:ext cx="619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677"/>
                </a:solidFill>
                <a:latin typeface="Apple SD Gothic Neo"/>
                <a:ea typeface="Apple SD Gothic Neo"/>
                <a:cs typeface="Apple SD Gothic Neo"/>
              </a:defRPr>
            </a:defPPr>
            <a:lvl1pPr>
              <a:defRPr sz="1500" b="0">
                <a:solidFill>
                  <a:srgbClr val="526677"/>
                </a:solidFill>
                <a:latin typeface="Apple SD Gothic Neo"/>
                <a:ea typeface="Apple SD Gothic Neo"/>
                <a:cs typeface="Apple SD Gothic Neo"/>
              </a:defRPr>
            </a:lvl1pPr>
            <a:lvl2pPr>
              <a:defRPr sz="1500" b="0">
                <a:solidFill>
                  <a:srgbClr val="526677"/>
                </a:solidFill>
                <a:latin typeface="Apple SD Gothic Neo"/>
                <a:ea typeface="Apple SD Gothic Neo"/>
                <a:cs typeface="Apple SD Gothic Neo"/>
              </a:defRPr>
            </a:lvl2pPr>
            <a:lvl3pPr>
              <a:defRPr sz="1500" b="0">
                <a:solidFill>
                  <a:srgbClr val="526677"/>
                </a:solidFill>
                <a:latin typeface="Apple SD Gothic Neo"/>
                <a:ea typeface="Apple SD Gothic Neo"/>
                <a:cs typeface="Apple SD Gothic Neo"/>
              </a:defRPr>
            </a:lvl3pPr>
            <a:lvl4pPr>
              <a:defRPr sz="1500" b="0">
                <a:solidFill>
                  <a:srgbClr val="526677"/>
                </a:solidFill>
                <a:latin typeface="Apple SD Gothic Neo"/>
                <a:ea typeface="Apple SD Gothic Neo"/>
                <a:cs typeface="Apple SD Gothic Neo"/>
              </a:defRPr>
            </a:lvl4pPr>
            <a:lvl5pPr>
              <a:defRPr sz="1500" b="0">
                <a:solidFill>
                  <a:srgbClr val="526677"/>
                </a:solidFill>
                <a:latin typeface="Apple SD Gothic Neo"/>
                <a:ea typeface="Apple SD Gothic Neo"/>
                <a:cs typeface="Apple SD Gothic Neo"/>
              </a:defRPr>
            </a:lvl5pPr>
            <a:lvl6pPr>
              <a:defRPr sz="1500" b="0">
                <a:solidFill>
                  <a:srgbClr val="526677"/>
                </a:solidFill>
                <a:latin typeface="Apple SD Gothic Neo"/>
                <a:ea typeface="Apple SD Gothic Neo"/>
                <a:cs typeface="Apple SD Gothic Neo"/>
              </a:defRPr>
            </a:lvl6pPr>
            <a:lvl7pPr>
              <a:defRPr sz="1500" b="0">
                <a:solidFill>
                  <a:srgbClr val="526677"/>
                </a:solidFill>
                <a:latin typeface="Apple SD Gothic Neo"/>
                <a:ea typeface="Apple SD Gothic Neo"/>
                <a:cs typeface="Apple SD Gothic Neo"/>
              </a:defRPr>
            </a:lvl7pPr>
            <a:lvl8pPr>
              <a:defRPr sz="1500" b="0">
                <a:solidFill>
                  <a:srgbClr val="526677"/>
                </a:solidFill>
                <a:latin typeface="Apple SD Gothic Neo"/>
                <a:ea typeface="Apple SD Gothic Neo"/>
                <a:cs typeface="Apple SD Gothic Neo"/>
              </a:defRPr>
            </a:lvl8pPr>
            <a:lvl9pPr>
              <a:defRPr sz="1500" b="0">
                <a:solidFill>
                  <a:srgbClr val="526677"/>
                </a:solidFill>
                <a:latin typeface="Apple SD Gothic Neo"/>
                <a:ea typeface="Apple SD Gothic Neo"/>
                <a:cs typeface="Apple SD Gothic Neo"/>
              </a:defRPr>
            </a:lvl9pPr>
          </a:lstStyle>
          <a:p xmlns:a="http://schemas.openxmlformats.org/drawingml/2006/main">
            <a:pPr>
              <a:defRPr sz="1500" b="0">
                <a:solidFill>
                  <a:srgbClr val="526677"/>
                </a:solidFill>
                <a:latin typeface="Apple SD Gothic Neo"/>
                <a:ea typeface="Apple SD Gothic Neo"/>
                <a:cs typeface="Apple SD Gothic Neo"/>
              </a:defRPr>
            </a:pPr>
            <a:r>
              <a:rPr sz="1500" b="0">
                <a:solidFill>
                  <a:srgbClr val="526677"/>
                </a:solidFill>
                <a:latin typeface="Apple SD Gothic Neo"/>
                <a:ea typeface="Apple SD Gothic Neo"/>
                <a:cs typeface="Apple SD Gothic Neo"/>
              </a:rPr>
              <a:t>14</a:t>
            </a:r>
          </a:p>
        </p:txBody>
      </p:sp>
      <p:graphicFrame>
        <p:nvGraphicFramePr>
          <p:cNvPr id="3" name="">
            <a:extLst xmlns:a="http://schemas.openxmlformats.org/drawingml/2006/main">
              <a:ext uri="{FF2B5EF4-FFF2-40B4-BE49-F238E27FC236}">
                <a16:creationId xmlns:a16="http://schemas.microsoft.com/office/drawing/2014/main" id="{CDB3BDE9-D6B0-47D7-8A5F-950ACD1B683D}"/>
              </a:ext>
            </a:extLst>
          </p:cNvPr>
          <p:cNvGraphicFramePr/>
          <p:nvPr/>
        </p:nvGraphicFramePr>
        <p:xfrm>
          <a:off xmlns:a="http://schemas.openxmlformats.org/drawingml/2006/main" x="685800" y="1409700"/>
          <a:ext xmlns:a="http://schemas.openxmlformats.org/drawingml/2006/main" cx="10820400" cy="3714750"/>
        </p:xfrm>
        <a:graphic xmlns:a="http://schemas.openxmlformats.org/drawingml/2006/main">
          <a:graphicData uri="http://schemas.openxmlformats.org/drawingml/2006/table">
            <a:tbl>
              <a:tblPr/>
              <a:tblGrid>
                <a:gridCol w="2286000"/>
                <a:gridCol w="8534400"/>
              </a:tblGrid>
              <a:tr h="742950">
                <a:tc>
                  <a:txBody>
                    <a:bodyPr/>
                    <a:lstStyle/>
                    <a:p>
                      <a:r>
                        <a:rPr sz="1875" b="1">
                          <a:solidFill>
                            <a:srgbClr val="FFFFFF"/>
                          </a:solidFill>
                          <a:latin typeface="Apple SD Gothic Neo"/>
                          <a:ea typeface="Apple SD Gothic Neo"/>
                          <a:cs typeface="Apple SD Gothic Neo"/>
                        </a:rPr>
                        <a:t>범위</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c>
                  <a:txBody>
                    <a:bodyPr/>
                    <a:lstStyle/>
                    <a:p>
                      <a:r>
                        <a:rPr sz="1875" b="1">
                          <a:solidFill>
                            <a:srgbClr val="FFFFFF"/>
                          </a:solidFill>
                          <a:latin typeface="Apple SD Gothic Neo"/>
                          <a:ea typeface="Apple SD Gothic Neo"/>
                          <a:cs typeface="Apple SD Gothic Neo"/>
                        </a:rPr>
                        <a:t>현재 상태</a:t>
                      </a:r>
                    </a:p>
                  </a:txBody>
                  <a:tcPr marL="91440" marR="91440" marT="45720" marB="45720">
                    <a:lnR w="9525">
                      <a:solidFill>
                        <a:srgbClr val="D6E1E6"/>
                      </a:solidFill>
                      <a:prstDash val="solid"/>
                    </a:lnR>
                    <a:lnT w="9525">
                      <a:solidFill>
                        <a:srgbClr val="D6E1E6"/>
                      </a:solidFill>
                      <a:prstDash val="solid"/>
                    </a:lnT>
                    <a:lnB w="9525">
                      <a:solidFill>
                        <a:srgbClr val="D6E1E6"/>
                      </a:solidFill>
                      <a:prstDash val="solid"/>
                    </a:lnB>
                    <a:solidFill>
                      <a:srgbClr val="15364A"/>
                    </a:solidFill>
                  </a:tcPr>
                </a:tc>
              </a:tr>
              <a:tr h="742950">
                <a:tc>
                  <a:txBody>
                    <a:bodyPr/>
                    <a:lstStyle/>
                    <a:p>
                      <a:r>
                        <a:rPr sz="1875" b="0">
                          <a:solidFill>
                            <a:srgbClr val="15364A"/>
                          </a:solidFill>
                          <a:latin typeface="Apple SD Gothic Neo"/>
                          <a:ea typeface="Apple SD Gothic Neo"/>
                          <a:cs typeface="Apple SD Gothic Neo"/>
                        </a:rPr>
                        <a:t>실제 학습</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센서12종 / 이미지 축소 ResNet·VGG·AE</a:t>
                      </a:r>
                    </a:p>
                    <a:p>
                      <a:r>
                        <a:rPr sz="1875" b="0">
                          <a:solidFill>
                            <a:srgbClr val="15364A"/>
                          </a:solidFill>
                          <a:latin typeface="Apple SD Gothic Neo"/>
                          <a:ea typeface="Apple SD Gothic Neo"/>
                          <a:cs typeface="Apple SD Gothic Neo"/>
                        </a:rPr>
                        <a:t>공개 SECOM과 합성 데모로 검증</a:t>
                      </a:r>
                    </a:p>
                  </a:txBody>
                  <a:tcPr marL="91440" marR="91440" marT="45720" marB="45720">
                    <a:lnR w="9525">
                      <a:solidFill>
                        <a:srgbClr val="D6E1E6"/>
                      </a:solidFill>
                      <a:prstDash val="solid"/>
                    </a:lnR>
                    <a:lnB w="9525">
                      <a:solidFill>
                        <a:srgbClr val="D6E1E6"/>
                      </a:solidFill>
                      <a:prstDash val="solid"/>
                    </a:lnB>
                    <a:solidFill>
                      <a:srgbClr val="FFFFFF"/>
                    </a:solidFill>
                  </a:tcPr>
                </a:tc>
              </a:tr>
              <a:tr h="742950">
                <a:tc>
                  <a:txBody>
                    <a:bodyPr/>
                    <a:lstStyle/>
                    <a:p>
                      <a:r>
                        <a:rPr sz="1875" b="0">
                          <a:solidFill>
                            <a:srgbClr val="15364A"/>
                          </a:solidFill>
                          <a:latin typeface="Apple SD Gothic Neo"/>
                          <a:ea typeface="Apple SD Gothic Neo"/>
                          <a:cs typeface="Apple SD Gothic Neo"/>
                        </a:rPr>
                        <a:t>확장 설계</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외부 모델 검색과 데이터 적합성 검토</a:t>
                      </a:r>
                    </a:p>
                    <a:p>
                      <a:r>
                        <a:rPr sz="1875" b="0">
                          <a:solidFill>
                            <a:srgbClr val="15364A"/>
                          </a:solidFill>
                          <a:latin typeface="Apple SD Gothic Neo"/>
                          <a:ea typeface="Apple SD Gothic Neo"/>
                          <a:cs typeface="Apple SD Gothic Neo"/>
                        </a:rPr>
                        <a:t>승인 후 비교·검증한 후보 목록 갱신</a:t>
                      </a:r>
                    </a:p>
                  </a:txBody>
                  <a:tcPr marL="91440" marR="91440" marT="45720" marB="45720">
                    <a:lnR w="9525">
                      <a:solidFill>
                        <a:srgbClr val="D6E1E6"/>
                      </a:solidFill>
                      <a:prstDash val="solid"/>
                    </a:lnR>
                    <a:lnB w="9525">
                      <a:solidFill>
                        <a:srgbClr val="D6E1E6"/>
                      </a:solidFill>
                      <a:prstDash val="solid"/>
                    </a:lnB>
                    <a:solidFill>
                      <a:srgbClr val="F1F6F7"/>
                    </a:solidFill>
                  </a:tcPr>
                </a:tc>
              </a:tr>
              <a:tr h="742950">
                <a:tc>
                  <a:txBody>
                    <a:bodyPr/>
                    <a:lstStyle/>
                    <a:p>
                      <a:r>
                        <a:rPr sz="1875" b="0">
                          <a:solidFill>
                            <a:srgbClr val="15364A"/>
                          </a:solidFill>
                          <a:latin typeface="Apple SD Gothic Neo"/>
                          <a:ea typeface="Apple SD Gothic Neo"/>
                          <a:cs typeface="Apple SD Gothic Neo"/>
                        </a:rPr>
                        <a:t>추가 입력 필요</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FFFFF"/>
                    </a:solidFill>
                  </a:tcPr>
                </a:tc>
                <a:tc>
                  <a:txBody>
                    <a:bodyPr/>
                    <a:lstStyle/>
                    <a:p>
                      <a:r>
                        <a:rPr sz="1875" b="0">
                          <a:solidFill>
                            <a:srgbClr val="15364A"/>
                          </a:solidFill>
                          <a:latin typeface="Apple SD Gothic Neo"/>
                          <a:ea typeface="Apple SD Gothic Neo"/>
                          <a:cs typeface="Apple SD Gothic Neo"/>
                        </a:rPr>
                        <a:t>로그 LSTM·BERT·GPT, 시계열 LSTM·ARIMA</a:t>
                      </a:r>
                    </a:p>
                    <a:p>
                      <a:r>
                        <a:rPr sz="1875" b="0">
                          <a:solidFill>
                            <a:srgbClr val="15364A"/>
                          </a:solidFill>
                          <a:latin typeface="Apple SD Gothic Neo"/>
                          <a:ea typeface="Apple SD Gothic Neo"/>
                          <a:cs typeface="Apple SD Gothic Neo"/>
                        </a:rPr>
                        <a:t>GAN·SEM 길이·공정 조건별 수율 예측</a:t>
                      </a:r>
                    </a:p>
                  </a:txBody>
                  <a:tcPr marL="91440" marR="91440" marT="45720" marB="45720">
                    <a:lnR w="9525">
                      <a:solidFill>
                        <a:srgbClr val="D6E1E6"/>
                      </a:solidFill>
                      <a:prstDash val="solid"/>
                    </a:lnR>
                    <a:lnB w="9525">
                      <a:solidFill>
                        <a:srgbClr val="D6E1E6"/>
                      </a:solidFill>
                      <a:prstDash val="solid"/>
                    </a:lnB>
                    <a:solidFill>
                      <a:srgbClr val="FFFFFF"/>
                    </a:solidFill>
                  </a:tcPr>
                </a:tc>
              </a:tr>
              <a:tr h="742950">
                <a:tc>
                  <a:txBody>
                    <a:bodyPr/>
                    <a:lstStyle/>
                    <a:p>
                      <a:r>
                        <a:rPr sz="1875" b="0">
                          <a:solidFill>
                            <a:srgbClr val="15364A"/>
                          </a:solidFill>
                          <a:latin typeface="Apple SD Gothic Neo"/>
                          <a:ea typeface="Apple SD Gothic Neo"/>
                          <a:cs typeface="Apple SD Gothic Neo"/>
                        </a:rPr>
                        <a:t>적용 전 필요</a:t>
                      </a:r>
                    </a:p>
                  </a:txBody>
                  <a:tcPr marL="91440" marR="91440" marT="45720" marB="45720">
                    <a:lnL w="9525">
                      <a:solidFill>
                        <a:srgbClr val="D6E1E6"/>
                      </a:solidFill>
                      <a:prstDash val="solid"/>
                    </a:lnL>
                    <a:lnR w="9525">
                      <a:solidFill>
                        <a:srgbClr val="D6E1E6"/>
                      </a:solidFill>
                      <a:prstDash val="solid"/>
                    </a:lnR>
                    <a:lnB w="9525">
                      <a:solidFill>
                        <a:srgbClr val="D6E1E6"/>
                      </a:solidFill>
                      <a:prstDash val="solid"/>
                    </a:lnB>
                    <a:solidFill>
                      <a:srgbClr val="F1F6F7"/>
                    </a:solidFill>
                  </a:tcPr>
                </a:tc>
                <a:tc>
                  <a:txBody>
                    <a:bodyPr/>
                    <a:lstStyle/>
                    <a:p>
                      <a:r>
                        <a:rPr sz="1875" b="0">
                          <a:solidFill>
                            <a:srgbClr val="15364A"/>
                          </a:solidFill>
                          <a:latin typeface="Apple SD Gothic Neo"/>
                          <a:ea typeface="Apple SD Gothic Neo"/>
                          <a:cs typeface="Apple SD Gothic Neo"/>
                        </a:rPr>
                        <a:t>독립 현장 데이터·기간별 반복 검증</a:t>
                      </a:r>
                    </a:p>
                    <a:p>
                      <a:r>
                        <a:rPr sz="1875" b="0">
                          <a:solidFill>
                            <a:srgbClr val="15364A"/>
                          </a:solidFill>
                          <a:latin typeface="Apple SD Gothic Neo"/>
                          <a:ea typeface="Apple SD Gothic Neo"/>
                          <a:cs typeface="Apple SD Gothic Neo"/>
                        </a:rPr>
                        <a:t>기업 클라우드 인증·worker·저장소 연동</a:t>
                      </a:r>
                    </a:p>
                  </a:txBody>
                  <a:tcPr marL="91440" marR="91440" marT="45720" marB="45720">
                    <a:lnR w="9525">
                      <a:solidFill>
                        <a:srgbClr val="D6E1E6"/>
                      </a:solidFill>
                      <a:prstDash val="solid"/>
                    </a:lnR>
                    <a:lnB w="9525">
                      <a:solidFill>
                        <a:srgbClr val="D6E1E6"/>
                      </a:solidFill>
                      <a:prstDash val="solid"/>
                    </a:lnB>
                    <a:solidFill>
                      <a:srgbClr val="F1F6F7"/>
                    </a:solidFill>
                  </a:tcPr>
                </a:tc>
              </a:tr>
            </a:tbl>
          </a:graphicData>
        </a:graphic>
      </p:graphicFrame>
      <p:sp>
        <p:nvSpPr>
          <p:cNvPr id="4" name="">
            <a:extLst xmlns:a="http://schemas.openxmlformats.org/drawingml/2006/main">
              <a:ext uri="{FF2B5EF4-FFF2-40B4-BE49-F238E27FC236}">
                <a16:creationId xmlns:a16="http://schemas.microsoft.com/office/drawing/2014/main" id="{7510BF33-F1E9-4882-93B3-9B6240B58366}"/>
              </a:ext>
            </a:extLst>
          </p:cNvPr>
          <p:cNvSpPr>
            <a:spLocks xmlns:a="http://schemas.openxmlformats.org/drawingml/2006/main" noGrp="1"/>
          </p:cNvSpPr>
          <p:nvPr/>
        </p:nvSpPr>
        <p:spPr>
          <a:xfrm xmlns:a="http://schemas.openxmlformats.org/drawingml/2006/main">
            <a:off x="723900" y="54102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87E83"/>
                </a:solidFill>
                <a:latin typeface="Apple SD Gothic Neo"/>
                <a:ea typeface="Apple SD Gothic Neo"/>
                <a:cs typeface="Apple SD Gothic Neo"/>
              </a:defRPr>
            </a:defPPr>
            <a:lvl1pPr>
              <a:defRPr sz="1800" b="0">
                <a:solidFill>
                  <a:srgbClr val="087E83"/>
                </a:solidFill>
                <a:latin typeface="Apple SD Gothic Neo"/>
                <a:ea typeface="Apple SD Gothic Neo"/>
                <a:cs typeface="Apple SD Gothic Neo"/>
              </a:defRPr>
            </a:lvl1pPr>
            <a:lvl2pPr>
              <a:defRPr sz="1800" b="0">
                <a:solidFill>
                  <a:srgbClr val="087E83"/>
                </a:solidFill>
                <a:latin typeface="Apple SD Gothic Neo"/>
                <a:ea typeface="Apple SD Gothic Neo"/>
                <a:cs typeface="Apple SD Gothic Neo"/>
              </a:defRPr>
            </a:lvl2pPr>
            <a:lvl3pPr>
              <a:defRPr sz="1800" b="0">
                <a:solidFill>
                  <a:srgbClr val="087E83"/>
                </a:solidFill>
                <a:latin typeface="Apple SD Gothic Neo"/>
                <a:ea typeface="Apple SD Gothic Neo"/>
                <a:cs typeface="Apple SD Gothic Neo"/>
              </a:defRPr>
            </a:lvl3pPr>
            <a:lvl4pPr>
              <a:defRPr sz="1800" b="0">
                <a:solidFill>
                  <a:srgbClr val="087E83"/>
                </a:solidFill>
                <a:latin typeface="Apple SD Gothic Neo"/>
                <a:ea typeface="Apple SD Gothic Neo"/>
                <a:cs typeface="Apple SD Gothic Neo"/>
              </a:defRPr>
            </a:lvl4pPr>
            <a:lvl5pPr>
              <a:defRPr sz="1800" b="0">
                <a:solidFill>
                  <a:srgbClr val="087E83"/>
                </a:solidFill>
                <a:latin typeface="Apple SD Gothic Neo"/>
                <a:ea typeface="Apple SD Gothic Neo"/>
                <a:cs typeface="Apple SD Gothic Neo"/>
              </a:defRPr>
            </a:lvl5pPr>
            <a:lvl6pPr>
              <a:defRPr sz="1800" b="0">
                <a:solidFill>
                  <a:srgbClr val="087E83"/>
                </a:solidFill>
                <a:latin typeface="Apple SD Gothic Neo"/>
                <a:ea typeface="Apple SD Gothic Neo"/>
                <a:cs typeface="Apple SD Gothic Neo"/>
              </a:defRPr>
            </a:lvl6pPr>
            <a:lvl7pPr>
              <a:defRPr sz="1800" b="0">
                <a:solidFill>
                  <a:srgbClr val="087E83"/>
                </a:solidFill>
                <a:latin typeface="Apple SD Gothic Neo"/>
                <a:ea typeface="Apple SD Gothic Neo"/>
                <a:cs typeface="Apple SD Gothic Neo"/>
              </a:defRPr>
            </a:lvl7pPr>
            <a:lvl8pPr>
              <a:defRPr sz="1800" b="0">
                <a:solidFill>
                  <a:srgbClr val="087E83"/>
                </a:solidFill>
                <a:latin typeface="Apple SD Gothic Neo"/>
                <a:ea typeface="Apple SD Gothic Neo"/>
                <a:cs typeface="Apple SD Gothic Neo"/>
              </a:defRPr>
            </a:lvl8pPr>
            <a:lvl9pPr>
              <a:defRPr sz="1800" b="0">
                <a:solidFill>
                  <a:srgbClr val="087E83"/>
                </a:solidFill>
                <a:latin typeface="Apple SD Gothic Neo"/>
                <a:ea typeface="Apple SD Gothic Neo"/>
                <a:cs typeface="Apple SD Gothic Neo"/>
              </a:defRPr>
            </a:lvl9pPr>
          </a:lstStyle>
          <a:p xmlns:a="http://schemas.openxmlformats.org/drawingml/2006/main">
            <a:pPr>
              <a:defRPr sz="1800" b="0">
                <a:solidFill>
                  <a:srgbClr val="087E83"/>
                </a:solidFill>
                <a:latin typeface="Apple SD Gothic Neo"/>
                <a:ea typeface="Apple SD Gothic Neo"/>
                <a:cs typeface="Apple SD Gothic Neo"/>
              </a:defRPr>
            </a:pPr>
            <a:r>
              <a:rPr sz="1800" b="0">
                <a:solidFill>
                  <a:srgbClr val="087E83"/>
                </a:solidFill>
                <a:latin typeface="Apple SD Gothic Neo"/>
                <a:ea typeface="Apple SD Gothic Neo"/>
                <a:cs typeface="Apple SD Gothic Neo"/>
              </a:rPr>
              <a:t>실행: bash start.sh     접속: http://localhost:8700</a:t>
            </a:r>
          </a:p>
          <a:p xmlns:a="http://schemas.openxmlformats.org/drawingml/2006/main">
            <a:pPr>
              <a:defRPr sz="1800" b="0">
                <a:solidFill>
                  <a:srgbClr val="087E83"/>
                </a:solidFill>
                <a:latin typeface="Apple SD Gothic Neo"/>
                <a:ea typeface="Apple SD Gothic Neo"/>
                <a:cs typeface="Apple SD Gothic Neo"/>
              </a:defRPr>
            </a:pPr>
            <a:r>
              <a:rPr sz="1800" b="0">
                <a:solidFill>
                  <a:srgbClr val="087E83"/>
                </a:solidFill>
                <a:latin typeface="Apple SD Gothic Neo"/>
                <a:ea typeface="Apple SD Gothic Neo"/>
                <a:cs typeface="Apple SD Gothic Neo"/>
              </a:rPr>
              <a:t>상세 보고서 docs/REPORT.md     대본 docs/발표대본_G045.txt</a:t>
            </a:r>
          </a:p>
          <a:p xmlns:a="http://schemas.openxmlformats.org/drawingml/2006/main">
            <a:pPr>
              <a:defRPr sz="1800" b="0">
                <a:solidFill>
                  <a:srgbClr val="087E83"/>
                </a:solidFill>
                <a:latin typeface="Apple SD Gothic Neo"/>
                <a:ea typeface="Apple SD Gothic Neo"/>
                <a:cs typeface="Apple SD Gothic Neo"/>
              </a:defRPr>
            </a:pPr>
            <a:r>
              <a:rPr sz="1800" b="0">
                <a:solidFill>
                  <a:srgbClr val="087E83"/>
                </a:solidFill>
                <a:latin typeface="Apple SD Gothic Neo"/>
                <a:ea typeface="Apple SD Gothic Neo"/>
                <a:cs typeface="Apple SD Gothic Neo"/>
              </a:rPr>
              <a:t>github.com/dragonchan95/Semiconductor-AI-Agent</a:t>
            </a:r>
          </a:p>
        </p:txBody>
      </p:sp>
    </p:spTree>
    <p:extLst>
      <p:ext uri="{BB962C8B-B14F-4D97-AF65-F5344CB8AC3E}">
        <p14:creationId xmlns:p14="http://schemas.microsoft.com/office/powerpoint/2010/main" val="719115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2026-10-20T08:48:18.4510000Z</dcterms:created>
  <dcterms:modified xsi:type="dcterms:W3CDTF">2026-10-20T08:48:18.4510000Z</dcterms:modified>
</coreProperties>
</file>