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a5cf9d253a84a04" /><Relationship Type="http://schemas.openxmlformats.org/officeDocument/2006/relationships/extended-properties" Target="/docProps/app.xml" Id="Rf0ac8452edf04060" /><Relationship Type="http://schemas.openxmlformats.org/officeDocument/2006/relationships/officeDocument" Target="/ppt/presentation.xml" Id="Rab39d73a70784b4e" /></Relationships>
</file>

<file path=ppt/presentation.xml><?xml version="1.0" encoding="utf-8"?>
<p:presentation xmlns:p="http://schemas.openxmlformats.org/presentationml/2006/main">
  <p:sldMasterIdLst>
    <p:sldMasterId xmlns:r="http://schemas.openxmlformats.org/officeDocument/2006/relationships" id="2147483648" r:id="Rffb7fb2f08e941af"/>
  </p:sldMasterIdLst>
  <p:notesMasterIdLst>
    <p:notesMasterId xmlns:r="http://schemas.openxmlformats.org/officeDocument/2006/relationships" r:id="R258fe2328ae44216"/>
  </p:notesMasterIdLst>
  <p:sldIdLst>
    <p:sldId xmlns:r="http://schemas.openxmlformats.org/officeDocument/2006/relationships" id="256" r:id="R7aacc9baab57487d"/>
    <p:sldId xmlns:r="http://schemas.openxmlformats.org/officeDocument/2006/relationships" id="257" r:id="Rc5c511e40ade4ca3"/>
    <p:sldId xmlns:r="http://schemas.openxmlformats.org/officeDocument/2006/relationships" id="258" r:id="R425e4a622e1d424e"/>
    <p:sldId xmlns:r="http://schemas.openxmlformats.org/officeDocument/2006/relationships" id="259" r:id="R6241b83016b647f0"/>
    <p:sldId xmlns:r="http://schemas.openxmlformats.org/officeDocument/2006/relationships" id="260" r:id="R925d91c417e543d5"/>
    <p:sldId xmlns:r="http://schemas.openxmlformats.org/officeDocument/2006/relationships" id="261" r:id="Rddce758ad28f4ecf"/>
    <p:sldId xmlns:r="http://schemas.openxmlformats.org/officeDocument/2006/relationships" id="262" r:id="Ref6ad35f67e64eb5"/>
    <p:sldId xmlns:r="http://schemas.openxmlformats.org/officeDocument/2006/relationships" id="263" r:id="Rdd14bbce99dc40b5"/>
    <p:sldId xmlns:r="http://schemas.openxmlformats.org/officeDocument/2006/relationships" id="264" r:id="Rd8fabae31c5b4296"/>
    <p:sldId xmlns:r="http://schemas.openxmlformats.org/officeDocument/2006/relationships" id="265" r:id="Ree58da51ac614631"/>
    <p:sldId xmlns:r="http://schemas.openxmlformats.org/officeDocument/2006/relationships" id="266" r:id="Rfdf3ad76d0b54b15"/>
    <p:sldId xmlns:r="http://schemas.openxmlformats.org/officeDocument/2006/relationships" id="267" r:id="Rcfa41cdae4cd4832"/>
    <p:sldId xmlns:r="http://schemas.openxmlformats.org/officeDocument/2006/relationships" id="268" r:id="Rac5799d49978447a"/>
    <p:sldId xmlns:r="http://schemas.openxmlformats.org/officeDocument/2006/relationships" id="269" r:id="R91c0da6a81e14e10"/>
    <p:sldId xmlns:r="http://schemas.openxmlformats.org/officeDocument/2006/relationships" id="270" r:id="R26f7d0864a5547de"/>
    <p:sldId xmlns:r="http://schemas.openxmlformats.org/officeDocument/2006/relationships" id="271" r:id="R3b988748b3fa4a88"/>
    <p:sldId xmlns:r="http://schemas.openxmlformats.org/officeDocument/2006/relationships" id="272" r:id="R55f46c76ceb54a4e"/>
  </p:sldIdLst>
  <p:sldSz cx="12191999"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b1e28bb49e94c90" /><Relationship Type="http://schemas.openxmlformats.org/officeDocument/2006/relationships/slideMaster" Target="/ppt/slideMasters/slideMaster1.xml" Id="Rffb7fb2f08e941af" /><Relationship Type="http://schemas.openxmlformats.org/officeDocument/2006/relationships/notesMaster" Target="/ppt/notesMasters/notesMaster1.xml" Id="R258fe2328ae44216" /><Relationship Type="http://schemas.openxmlformats.org/officeDocument/2006/relationships/presProps" Target="/ppt/presProps.xml" Id="R238e3cd6454c4301" /><Relationship Type="http://schemas.openxmlformats.org/officeDocument/2006/relationships/viewProps" Target="/ppt/viewProps.xml" Id="R803c5f181f8a4cc1" /><Relationship Type="http://schemas.openxmlformats.org/officeDocument/2006/relationships/tableStyles" Target="/ppt/tableStyles.xml" Id="R1cd989d356074c87" /><Relationship Type="http://schemas.openxmlformats.org/officeDocument/2006/relationships/slide" Target="/ppt/slides/slide1.xml" Id="R7aacc9baab57487d" /><Relationship Type="http://schemas.openxmlformats.org/officeDocument/2006/relationships/slide" Target="/ppt/slides/slide2.xml" Id="Rc5c511e40ade4ca3" /><Relationship Type="http://schemas.openxmlformats.org/officeDocument/2006/relationships/slide" Target="/ppt/slides/slide3.xml" Id="R425e4a622e1d424e" /><Relationship Type="http://schemas.openxmlformats.org/officeDocument/2006/relationships/slide" Target="/ppt/slides/slide4.xml" Id="R6241b83016b647f0" /><Relationship Type="http://schemas.openxmlformats.org/officeDocument/2006/relationships/slide" Target="/ppt/slides/slide5.xml" Id="R925d91c417e543d5" /><Relationship Type="http://schemas.openxmlformats.org/officeDocument/2006/relationships/slide" Target="/ppt/slides/slide6.xml" Id="Rddce758ad28f4ecf" /><Relationship Type="http://schemas.openxmlformats.org/officeDocument/2006/relationships/slide" Target="/ppt/slides/slide7.xml" Id="Ref6ad35f67e64eb5" /><Relationship Type="http://schemas.openxmlformats.org/officeDocument/2006/relationships/slide" Target="/ppt/slides/slide8.xml" Id="Rdd14bbce99dc40b5" /><Relationship Type="http://schemas.openxmlformats.org/officeDocument/2006/relationships/slide" Target="/ppt/slides/slide9.xml" Id="Rd8fabae31c5b4296" /><Relationship Type="http://schemas.openxmlformats.org/officeDocument/2006/relationships/slide" Target="/ppt/slides/slide10.xml" Id="Ree58da51ac614631" /><Relationship Type="http://schemas.openxmlformats.org/officeDocument/2006/relationships/slide" Target="/ppt/slides/slide11.xml" Id="Rfdf3ad76d0b54b15" /><Relationship Type="http://schemas.openxmlformats.org/officeDocument/2006/relationships/slide" Target="/ppt/slides/slide12.xml" Id="Rcfa41cdae4cd4832" /><Relationship Type="http://schemas.openxmlformats.org/officeDocument/2006/relationships/slide" Target="/ppt/slides/slide13.xml" Id="Rac5799d49978447a" /><Relationship Type="http://schemas.openxmlformats.org/officeDocument/2006/relationships/slide" Target="/ppt/slides/slide14.xml" Id="R91c0da6a81e14e10" /><Relationship Type="http://schemas.openxmlformats.org/officeDocument/2006/relationships/slide" Target="/ppt/slides/slide15.xml" Id="R26f7d0864a5547de" /><Relationship Type="http://schemas.openxmlformats.org/officeDocument/2006/relationships/slide" Target="/ppt/slides/slide16.xml" Id="R3b988748b3fa4a88" /><Relationship Type="http://schemas.openxmlformats.org/officeDocument/2006/relationships/slide" Target="/ppt/slides/slide17.xml" Id="R55f46c76ceb54a4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94de5ffa4047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69dcc947d3c42da" /><Relationship Type="http://schemas.openxmlformats.org/officeDocument/2006/relationships/notesMaster" Target="/ppt/notesMasters/notesMaster1.xml" Id="Rba07ccd235434d8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98a4c1835eb48af" /><Relationship Type="http://schemas.openxmlformats.org/officeDocument/2006/relationships/notesMaster" Target="/ppt/notesMasters/notesMaster1.xml" Id="R77c679ccc22546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f2ee6b0dd34392" /><Relationship Type="http://schemas.openxmlformats.org/officeDocument/2006/relationships/notesMaster" Target="/ppt/notesMasters/notesMaster1.xml" Id="Rfc844b44f7c24bf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5e180afb284911" /><Relationship Type="http://schemas.openxmlformats.org/officeDocument/2006/relationships/notesMaster" Target="/ppt/notesMasters/notesMaster1.xml" Id="R25e3e49f470b4a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623b2ec8e0c499c" /><Relationship Type="http://schemas.openxmlformats.org/officeDocument/2006/relationships/notesMaster" Target="/ppt/notesMasters/notesMaster1.xml" Id="Rd878ebfd3c974d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1de34bc5424fcf" /><Relationship Type="http://schemas.openxmlformats.org/officeDocument/2006/relationships/notesMaster" Target="/ppt/notesMasters/notesMaster1.xml" Id="Rf0be8ec65b5c49ab"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7bd6cc71e2480e" /><Relationship Type="http://schemas.openxmlformats.org/officeDocument/2006/relationships/notesMaster" Target="/ppt/notesMasters/notesMaster1.xml" Id="R67650df4a36448f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4f852a89264c08" /><Relationship Type="http://schemas.openxmlformats.org/officeDocument/2006/relationships/notesMaster" Target="/ppt/notesMasters/notesMaster1.xml" Id="Re2cedea2ddad449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46207fa5444991" /><Relationship Type="http://schemas.openxmlformats.org/officeDocument/2006/relationships/notesMaster" Target="/ppt/notesMasters/notesMaster1.xml" Id="R2b191e2c4e6a4bc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bf0a79af1e4111" /><Relationship Type="http://schemas.openxmlformats.org/officeDocument/2006/relationships/notesMaster" Target="/ppt/notesMasters/notesMaster1.xml" Id="R8edd99c507bb4ad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26f1d57eb04295" /><Relationship Type="http://schemas.openxmlformats.org/officeDocument/2006/relationships/notesMaster" Target="/ppt/notesMasters/notesMaster1.xml" Id="R1a50bc2778564ec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3c7c9ce87cf4869" /><Relationship Type="http://schemas.openxmlformats.org/officeDocument/2006/relationships/notesMaster" Target="/ppt/notesMasters/notesMaster1.xml" Id="R0494d3a0a37844d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5ceeb7f2b94eb2" /><Relationship Type="http://schemas.openxmlformats.org/officeDocument/2006/relationships/notesMaster" Target="/ppt/notesMasters/notesMaster1.xml" Id="Re76a417fcdeb4e2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8646eecdd2c4389" /><Relationship Type="http://schemas.openxmlformats.org/officeDocument/2006/relationships/notesMaster" Target="/ppt/notesMasters/notesMaster1.xml" Id="R2d2db4542b8d494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9f7315f219b4903" /><Relationship Type="http://schemas.openxmlformats.org/officeDocument/2006/relationships/notesMaster" Target="/ppt/notesMasters/notesMaster1.xml" Id="R11c49c0b7eb94a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25d4d8b73d4c16" /><Relationship Type="http://schemas.openxmlformats.org/officeDocument/2006/relationships/notesMaster" Target="/ppt/notesMasters/notesMaster1.xml" Id="R1edcabcc0b9d478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88c1baca7cb48a0" /><Relationship Type="http://schemas.openxmlformats.org/officeDocument/2006/relationships/notesMaster" Target="/ppt/notesMasters/notesMaster1.xml" Id="R832236e0b8e343f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SKALA 광주 2반 G045 김용찬입니다. 반도체 검사 모델을 비교하고, 이후 성능 점검과 재학습까지 돕는 Agent를 만들었습니다.</a:t>
            </a:r>
          </a:p>
          <a:p xmlns:a="http://schemas.openxmlformats.org/drawingml/2006/main">
            <a:r>
              <a:t/>
            </a:r>
          </a:p>
          <a:p xmlns:a="http://schemas.openxmlformats.org/drawingml/2006/main">
            <a:r>
              <a:t>출처: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검사 모델을 만드는 엔지니어는 어떤 데이터를 함께 학습할지, 어떤 모델을 쓸지 반복해서 비교합니다. 만든 뒤에도 성능을 확인해야 합니다. 이 과정을 근거 확인, 승인, 실행으로 연결했습니다.</a:t>
            </a:r>
          </a:p>
          <a:p xmlns:a="http://schemas.openxmlformats.org/drawingml/2006/main">
            <a:r>
              <a:t/>
            </a:r>
          </a:p>
          <a:p xmlns:a="http://schemas.openxmlformats.org/drawingml/2006/main">
            <a:r>
              <a:t>출처: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불량을 정상으로 놓치면 다음 공정이나 고객에게 넘어가 품질 문제를 일으킬 수 있습니다. 그래서 실제 불량 중 얼마나 찾았는지인 Recall을 우선 봅니다. 하지만 모두 불량이라고 하면 Recall은 백 퍼센트여도 정상 제품까지 전부 잘못 잡습니다. 정상 오판은 불필요한 확인이나 제품 제외로 이어질 수 있어 제한합니다. 이번에는 정상 오판 한도 안에서 Recall을 먼저, 같으면 F1을 비교합니다. 구십 퍼센트와 십오 퍼센트는 교육용 목표입니다.</a:t>
            </a:r>
          </a:p>
          <a:p xmlns:a="http://schemas.openxmlformats.org/drawingml/2006/main">
            <a:r>
              <a:t/>
            </a:r>
          </a:p>
          <a:p xmlns:a="http://schemas.openxmlformats.org/drawingml/2006/main">
            <a:r>
              <a:t>발표자 참고: 정상 오판은 FP, 불량 미검출은 FN입니다. Recall=TP/(TP+FN), 정상 오판률=FP/(FP+TN), Precision=TP/(TP+FP), F1은 Precision과 Recall의 조화평균입니다. F1은 정상 오판률 자체와 동일한 지표가 아닙니다. 검사 결과가 바로 폐기 결정이라는 뜻은 아니며 뒤의 확인·보류·제외 정책에 따라 영향이 달라집니다. 90%·15%는 회사 공통 기준이 아닙니다. 사용자 화면의 금액·수율 단정은 인용하지 않았습니다.</a:t>
            </a:r>
          </a:p>
          <a:p xmlns:a="http://schemas.openxmlformats.org/drawingml/2006/main">
            <a:r>
              <a:t/>
            </a:r>
          </a:p>
          <a:p xmlns:a="http://schemas.openxmlformats.org/drawingml/2006/main">
            <a:r>
              <a:t>출처: app/metrics.py</a:t>
            </a:r>
          </a:p>
          <a:p xmlns:a="http://schemas.openxmlformats.org/drawingml/2006/main">
            <a:r>
              <a:t>app/ensemble.py</a:t>
            </a:r>
          </a:p>
          <a:p xmlns:a="http://schemas.openxmlformats.org/drawingml/2006/main">
            <a:r>
              <a:t>https://developers.google.com/machine-learning/crash-course/classification/accuracy-precision-recall?hl=en</a:t>
            </a:r>
          </a:p>
          <a:p xmlns:a="http://schemas.openxmlformats.org/drawingml/2006/main">
            <a:r>
              <a:t>https://www.kla.com/documents/03_ProcessWatchAutomotive_2018_08.pdf</a:t>
            </a:r>
          </a:p>
          <a:p xmlns:a="http://schemas.openxmlformats.org/drawingml/2006/main">
            <a:r>
              <a:t>사용자 제공 바탕화면 스크린샷 2026-10-21 오전 11.08.43.png 및 11.08.48.png (AI 개요 화면으로, 지표 정의·산업 맥락은 공식 출처와 대조)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여러 센서 값으로 정상과 불량을 구분하는 합성 데이터 천이백팔십 건을 선택합니다. A부터 D는 가상 제품이며, 실제 공장 데이터는 아닙니다.</a:t>
            </a:r>
          </a:p>
          <a:p xmlns:a="http://schemas.openxmlformats.org/drawingml/2006/main">
            <a:r>
              <a:t/>
            </a:r>
          </a:p>
          <a:p xmlns:a="http://schemas.openxmlformats.org/drawingml/2006/main">
            <a:r>
              <a:t>출처: app/data.py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Agent가 빈값을 어떻게 채우고 숫자 크기를 맞출지 설명합니다. SVM처럼 값의 크기에 민감한 모델에는 Scaling을 씁니다. 데이터는 육십 퍼센트로 학습하고, 이십 퍼센트로 후보를 고릅니다. 마지막 이십 퍼센트는 선택한 모델의 최종 시험용으로 남깁니다. 계획을 승인하면 실제 학습합니다.</a:t>
            </a:r>
          </a:p>
          <a:p xmlns:a="http://schemas.openxmlformats.org/drawingml/2006/main">
            <a:r>
              <a:t/>
            </a:r>
          </a:p>
          <a:p xmlns:a="http://schemas.openxmlformats.org/drawingml/2006/main">
            <a:r>
              <a:t>출처: app/experiments.py</a:t>
            </a:r>
          </a:p>
          <a:p xmlns:a="http://schemas.openxmlformats.org/drawingml/2006/main">
            <a:r>
              <a:t>app/ensemble.py</a:t>
            </a:r>
          </a:p>
          <a:p xmlns:a="http://schemas.openxmlformats.org/drawingml/2006/main">
            <a:r>
              <a:t>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실험은 제품을 모두 합칠지 나눌지 비교합니다. 같은 CatBoost로 열다섯 구성을 시험했더니, 후보를 고르는 데이터에서는 ABC를 함께, D는 따로 학습한 구성이 좋았습니다. 하지만 마지막 시험의 검출률은 칠십팔 점 일 퍼센트로 목표 미달이었습니다. 그래서 비교 후보로 선택했어도 적용은 보류합니다.</a:t>
            </a:r>
          </a:p>
          <a:p xmlns:a="http://schemas.openxmlformats.org/drawingml/2006/main">
            <a:r>
              <a:t/>
            </a:r>
          </a:p>
          <a:p xmlns:a="http://schemas.openxmlformats.org/drawingml/2006/main">
            <a:r>
              <a:t>출처: app/grouping.py</a:t>
            </a:r>
          </a:p>
          <a:p xmlns:a="http://schemas.openxmlformats.org/drawingml/2006/main">
            <a:r>
              <a:t>docs/evaluation/product_partitions.json</a:t>
            </a:r>
          </a:p>
          <a:p xmlns:a="http://schemas.openxmlformats.org/drawingml/2006/main">
            <a:r>
              <a:t>docs/evaluation/grouping_browser.json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앙상블은 여러 모델의 예측 점수를 섞는 방법입니다. 두 번째 실험에서는 제품 ABCD를 합쳐 학습한 세 모델의 비율 이백서른두 개를 비교했습니다. 후보 선택용 데이터에서 CatBoost 구십, LightGBM 십 퍼센트를 골랐습니다.</a:t>
            </a:r>
          </a:p>
          <a:p xmlns:a="http://schemas.openxmlformats.org/drawingml/2006/main">
            <a:r>
              <a:t/>
            </a:r>
          </a:p>
          <a:p xmlns:a="http://schemas.openxmlformats.org/drawingml/2006/main">
            <a:r>
              <a:t>출처: docs/evaluation/weighted_ensemble.json</a:t>
            </a:r>
          </a:p>
          <a:p xmlns:a="http://schemas.openxmlformats.org/drawingml/2006/main">
            <a:r>
              <a:t>docs/evaluation/ensemble_browser.json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선택한 비율로 마지막 시험을 봤습니다. 단일 모델과 혼합 모델 모두 불량 서른두 개 중 서른 개를 찾았습니다. 정상 오판은 스물한 개에서 열아홉 개로 줄었습니다. 불량을 찾는 성능을 유지하면서 정상도 덜 잘못 잡은 사례입니다.</a:t>
            </a:r>
          </a:p>
          <a:p xmlns:a="http://schemas.openxmlformats.org/drawingml/2006/main">
            <a:r>
              <a:t/>
            </a:r>
          </a:p>
          <a:p xmlns:a="http://schemas.openxmlformats.org/drawingml/2006/main">
            <a:r>
              <a:t>출처: 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모델을 만든 뒤에는 새 데이터에서도 잘 찾는지 확인합니다. 여기서는 사람이 확인한 정답처럼 정상·불량이 표시된 별도 합성 데이터를 넣었습니다. 기존 모델을 그대로 점검하고 성능이 떨어지면 재학습 비교를 제안합니다. 표본이 부족하면 판단을 보류합니다.</a:t>
            </a:r>
          </a:p>
          <a:p xmlns:a="http://schemas.openxmlformats.org/drawingml/2006/main">
            <a:r>
              <a:t/>
            </a:r>
          </a:p>
          <a:p xmlns:a="http://schemas.openxmlformats.org/drawingml/2006/main">
            <a:r>
              <a:t>출처: app/monitoring.py</a:t>
            </a:r>
          </a:p>
          <a:p xmlns:a="http://schemas.openxmlformats.org/drawingml/2006/main">
            <a:r>
              <a:t>docs/evaluation/lifecycle_mac.json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엔지니어가 승인하면 같은 CatBoost로 새 데이터를 다시 학습합니다. 같은 마지막 시험에서 불량 발견이 백육십일곱 개 중 마흔세 개에서 백쉰세 개로 늘었습니다. 정상 오판은 아흔여섯 개에서 일흔아홉 개로 줄었습니다. 재학습 후보를 저장하고, 운영 모델 교체는 엔지니어가 별도로 판단합니다.</a:t>
            </a:r>
          </a:p>
          <a:p xmlns:a="http://schemas.openxmlformats.org/drawingml/2006/main">
            <a:r>
              <a:t/>
            </a:r>
          </a:p>
          <a:p xmlns:a="http://schemas.openxmlformats.org/drawingml/2006/main">
            <a:r>
              <a:t>출처: app/monitoring.py</a:t>
            </a:r>
          </a:p>
          <a:p xmlns:a="http://schemas.openxmlformats.org/drawingml/2006/main">
            <a:r>
              <a:t>docs/evaluation/lifecycle_mac.json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설명과 계획은 언어모델이 돕고, 학습과 숫자 계산은 코드가 담당합니다. 역할 분리와 근거 검색, 도구 연결, 실행 추적을 적용했습니다. 테스트 쉰두 개와 설명 검사 결과도 남겼습니다.</a:t>
            </a:r>
          </a:p>
          <a:p xmlns:a="http://schemas.openxmlformats.org/drawingml/2006/main">
            <a:r>
              <a:t/>
            </a:r>
          </a:p>
          <a:p xmlns:a="http://schemas.openxmlformats.org/drawingml/2006/main">
            <a:r>
              <a:t>출처: app/planner.py</a:t>
            </a:r>
          </a:p>
          <a:p xmlns:a="http://schemas.openxmlformats.org/drawingml/2006/main">
            <a:r>
              <a:t>app/ensemble.py</a:t>
            </a:r>
          </a:p>
          <a:p xmlns:a="http://schemas.openxmlformats.org/drawingml/2006/main">
            <a:r>
              <a:t>docs/evaluation/langsmith_check.json</a:t>
            </a:r>
          </a:p>
          <a:p xmlns:a="http://schemas.openxmlformats.org/drawingml/2006/main">
            <a:r>
              <a:t>docs/evaluation/llm_judge.json</a:t>
            </a:r>
          </a:p>
          <a:p xmlns:a="http://schemas.openxmlformats.org/drawingml/2006/main">
            <a:r>
              <a:t>docs/evaluation/tests-windows.txt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Agent는 모델 선택뿐 아니라 성능 점검과 승인 후 재학습까지 돕습니다. 좋은 점수만 보여 주기보다 선택 이유와 실패도 기록했습니다. 합성 데이터 결과이므로 실제 적용 전에는 새 생산 데이터와 현장 기준으로 다시 검증해야 합니다. 감사합니다.</a:t>
            </a:r>
          </a:p>
          <a:p xmlns:a="http://schemas.openxmlformats.org/drawingml/2006/main">
            <a:r>
              <a:t/>
            </a:r>
          </a:p>
          <a:p xmlns:a="http://schemas.openxmlformats.org/drawingml/2006/main">
            <a:r>
              <a:t>출처: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초기 전체 제품 비교표입니다. AdaBoost는 F1이 더 높지만 이번에는 검출률을 먼저 보는 규칙을 따랐습니다. 초기 제품 조합 탐색의 CatBoost A+B+C와 이번 전체 제품 앙상블은 별도의 실험입니다.</a:t>
            </a:r>
          </a:p>
          <a:p xmlns:a="http://schemas.openxmlformats.org/drawingml/2006/main">
            <a:r>
              <a:t/>
            </a:r>
          </a:p>
          <a:p xmlns:a="http://schemas.openxmlformats.org/drawingml/2006/main">
            <a:r>
              <a:t>출처: docs/evaluation/synthetic_process.json</a:t>
            </a:r>
          </a:p>
          <a:p xmlns:a="http://schemas.openxmlformats.org/drawingml/2006/main">
            <a:r>
              <a:t>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외부 모델 탐색에는 공식 문서를 BGE-M3로 임베딩하고 FAISS에서 관련 문장을 찾아 로컬 Qwen에 전달하는 RAG를 씁니다. 5주차 실습과 같은 검색 구조이며 이 Windows에서는 Ollama로 임베딩을 실행합니다. FAISS 벡터와 출처를 로컬에 저장하며 별도 서버형 DB는 아닙니다. 학습 연결은 검토한 ExtraTrees와 GaussianNB 두 후보이고 임의 모델 코드를 자동 설치하지 않습니다.</a:t>
            </a:r>
          </a:p>
          <a:p xmlns:a="http://schemas.openxmlformats.org/drawingml/2006/main">
            <a:r>
              <a:t/>
            </a:r>
          </a:p>
          <a:p xmlns:a="http://schemas.openxmlformats.org/drawingml/2006/main">
            <a:r>
              <a:t>출처: app/discovery.py</a:t>
            </a:r>
          </a:p>
          <a:p xmlns:a="http://schemas.openxmlformats.org/drawingml/2006/main">
            <a:r>
              <a:t>app/retrieval.py</a:t>
            </a:r>
          </a:p>
          <a:p xmlns:a="http://schemas.openxmlformats.org/drawingml/2006/main">
            <a:r>
              <a:t>docs/evaluation/vector_rag.json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최선이라는 말은 승인한 후보와 조건, Validation 범위 안에서의 선택을 뜻합니다. 제품 그룹 구성과 앙상블 비율은 별도 실험으로 비교했습니다. 둘을 모두 동시에 최적화했다고 주장하지 않습니다. 그룹 구성은 Test에서 목표 미달이었고 적용을 보류했습니다.</a:t>
            </a:r>
          </a:p>
          <a:p xmlns:a="http://schemas.openxmlformats.org/drawingml/2006/main">
            <a:r>
              <a:t/>
            </a:r>
          </a:p>
          <a:p xmlns:a="http://schemas.openxmlformats.org/drawingml/2006/main">
            <a:r>
              <a:t>출처: app/ensemble.py</a:t>
            </a:r>
          </a:p>
          <a:p xmlns:a="http://schemas.openxmlformats.org/drawingml/2006/main">
            <a:r>
              <a:t>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LLM-as-a-Judge는 설명이 맞는지 LLM에게 검사시키는 기능입니다. 실제로27개를 찾았는데30개라고 설명하면 틀렸다고 알려줘야 합니다. 실제 결과와 문장을 함께 주고 검사했고, 직접 만든 예제8개 중6개는 맞게 판단했습니다. 하지만30개라는 오류는 놓쳤습니다. 그래서 보조 검사로 쓰고 중요한 숫자는 코드로 확인합니다. 이 예시는 앙상블 추가 전의 실험 기록을 기준으로 검사했습니다.</a:t>
            </a:r>
          </a:p>
          <a:p xmlns:a="http://schemas.openxmlformats.org/drawingml/2006/main">
            <a:r>
              <a:t/>
            </a:r>
          </a:p>
          <a:p xmlns:a="http://schemas.openxmlformats.org/drawingml/2006/main">
            <a:r>
              <a:t>출처: docs/evaluation/llm_judge.json</a:t>
            </a:r>
          </a:p>
          <a:p xmlns:a="http://schemas.openxmlformats.org/drawingml/2006/main">
            <a:r>
              <a:t>docs/EVALUATION.md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기술은 이름만 붙이지 않고 코드와 실제 실행 기록에 연결했습니다. 고정 역할 그래프이며 자율 Supervisor는 미구현입니다. RAG는 로컬 FAISS 저장소입니다. LLM 평가는 소규모 개발 예제이며 일반 정확도 주장이 아닙니다. 상시 감시와 운영 모델 자동 교체는 향후 확장입니다.</a:t>
            </a:r>
          </a:p>
          <a:p xmlns:a="http://schemas.openxmlformats.org/drawingml/2006/main">
            <a:r>
              <a:t/>
            </a:r>
          </a:p>
          <a:p xmlns:a="http://schemas.openxmlformats.org/drawingml/2006/main">
            <a:r>
              <a:t>출처: docs/ASSIGNMENT_CHECKLIST.md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dcee97e7ef479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022da512171430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faf93d7ee1f4d1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7c2121a8cdc4b5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b75f630948745e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2b58696fd6d4bb1"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19f2a0044e44023"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1f1cc3c55f14c2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9adfdc799f7c4ac6"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9fdbaa681e54724"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71c8f657ada94047"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0608B88-EB73-46B4-978B-4E647ED4DC95}"/>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26491C2B-3D21-4BEC-B2DB-8F7297EAC5C5}"/>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637DAF26-6FEF-4BED-8A89-D82BECB2655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6761102-A684-4AAB-90E3-F518011EA55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A942863-E60C-4647-B846-51BEE48A51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387E1F3-C87C-4E06-BC7E-9A33EA9346F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37941E8C-8D46-4EF3-A1D9-E655CC4B823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C09D6C8-104F-4526-BF62-72180D65D22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E2C24A4-F78C-4625-8BBB-C2CAC2A18C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E416BBF-9CE6-4BD6-AE3C-AA80C89472C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76613EE-5667-4488-B94D-A61ADD448E94}"/>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972ADAF-360B-4FA0-B13B-9F6570191AF4}"/>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1680E99-8AB6-4B0A-831F-FB9E59BAF94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3A13A43-BC27-4AF6-AB00-39A139E67D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3638E4D-896C-4CD2-8BAA-A04C6AF73DC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DB65C52-AB89-435D-9897-C078CA5E3D9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81D80D6-38F2-4990-A059-DBF8F64186F4}"/>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D27DABC7-2CB6-4452-B620-A26BB041EE8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C7B2C7DD-8D51-42E3-BC8C-3E7735337F0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FE75C49-C39B-4BA2-9044-445F17BEC56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897AD4C-8FE6-44D4-8C09-E17726044E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9BB7E09-DC19-4144-90BF-6D6D0EFD927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7198A058-386D-4671-8655-D280282F6AE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EC7EB7FA-A186-4923-8158-A825C1A68798}"/>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910986FE-C461-45BC-8B34-FF3AF571F652}"/>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FA3C884F-FA22-4224-B8FE-004A0372E6D2}"/>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3FA4C610-C77C-4470-B78E-48103348E8E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E977A82F-05CB-49F0-AFE1-1A608AFECEC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5A265B49-08D6-41C0-AF2A-E148E51221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9141D79-5E25-4A0E-AAD8-073C58DDF90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13F51805-F435-440D-9B44-4539811BA26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F1149B6C-E5C4-45D2-879C-BB11B0DBC4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73AFCC92-AE54-4649-95AA-B6DA52BAEDA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50033D5-4C56-4601-B18A-DA118EC86B2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5654C3B7-0AB5-4833-AE01-2918FEC2B5F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62D1EA0-E80C-4B2B-9FFC-6FF30A590A8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B280206-A839-429D-8358-9C1969B68B19}"/>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B0D57395-CB55-4AFA-ACCE-1CDF3E0847CB}"/>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953B1634-54FF-43E0-8929-DA2B82693E58}"/>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DB90366-1468-496B-A39B-5174ADADFF2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9D31956-9B5F-41F2-B2F9-4417BEC1B22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9F03564-5311-43DC-BD07-31EC52C579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EF69E99-EE55-4039-83DC-61AF75B57EAC}"/>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60A512CA-2689-424B-B433-DB9A0F7206E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7CC96D0-6D71-4233-96D4-59984C9903D7}"/>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979C68A-8FC5-4353-A071-7AF939CAA83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413E77B8-3C52-4EF8-B8C1-7624778A77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055B090-06EF-4459-828D-54AEF2473B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464E50-A01B-467E-8183-ADFE839ED55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527C389C-E3E1-4807-81A3-11450A35A7CF}"/>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D5B4196-482F-4C33-AAE4-4180EE3B531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BB1B8E7-ED3F-473F-B1B9-1B1F927EC4F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8FDAAB4-AA0D-4B8A-9F26-108116875EF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AF506A6-F8D7-4066-AA62-BBA4C7F4129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42C291E-4AE9-4A34-960C-8C3FB59B00DE}"/>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1952113-A784-4936-9B5A-ADFECF14D1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1D03F0C2-797D-46AC-A8E9-8DE28E54465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67E6E8A-70C8-4767-96A0-E7F5027E038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2db3d3755564ffb" /><Relationship Type="http://schemas.openxmlformats.org/officeDocument/2006/relationships/slideLayout" Target="/ppt/slideLayouts/slideLayout1.xml" Id="Rf5ab9915c8dd4941" /><Relationship Type="http://schemas.openxmlformats.org/officeDocument/2006/relationships/slideLayout" Target="/ppt/slideLayouts/slideLayout2.xml" Id="R40c012d6f3dd4330" /><Relationship Type="http://schemas.openxmlformats.org/officeDocument/2006/relationships/slideLayout" Target="/ppt/slideLayouts/slideLayout3.xml" Id="R628fe837edae4572" /><Relationship Type="http://schemas.openxmlformats.org/officeDocument/2006/relationships/slideLayout" Target="/ppt/slideLayouts/slideLayout4.xml" Id="Rba8152b512c6424c" /><Relationship Type="http://schemas.openxmlformats.org/officeDocument/2006/relationships/slideLayout" Target="/ppt/slideLayouts/slideLayout5.xml" Id="Rf452d6735ab340c8" /><Relationship Type="http://schemas.openxmlformats.org/officeDocument/2006/relationships/slideLayout" Target="/ppt/slideLayouts/slideLayout6.xml" Id="R1d71c346223e4368" /><Relationship Type="http://schemas.openxmlformats.org/officeDocument/2006/relationships/slideLayout" Target="/ppt/slideLayouts/slideLayout7.xml" Id="R2c9e912d83fc491f" /><Relationship Type="http://schemas.openxmlformats.org/officeDocument/2006/relationships/slideLayout" Target="/ppt/slideLayouts/slideLayout8.xml" Id="R4aa123257f344c7c" /><Relationship Type="http://schemas.openxmlformats.org/officeDocument/2006/relationships/slideLayout" Target="/ppt/slideLayouts/slideLayout9.xml" Id="Rc953fb51866842be" /><Relationship Type="http://schemas.openxmlformats.org/officeDocument/2006/relationships/slideLayout" Target="/ppt/slideLayouts/slideLayout10.xml" Id="R6a82a63fb13445e8" /><Relationship Type="http://schemas.openxmlformats.org/officeDocument/2006/relationships/slideLayout" Target="/ppt/slideLayouts/slideLayout11.xml" Id="Rb57e0d0f0e444a7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531A5FE8-1A87-4DB8-99C5-F8B18B5C0937}"/>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0284AA19-1407-4D0D-A2BB-1341E4D6D214}"/>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99EDDA0A-DE82-4DEB-8491-C70B86FFB576}"/>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D1B8F2A-AD25-4153-91B2-753C4ECBFFCD}"/>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B610B68-B78F-44BB-B5AD-33DE9D669BB2}"/>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ab9915c8dd4941"/>
    <p:sldLayoutId xmlns:r="http://schemas.openxmlformats.org/officeDocument/2006/relationships" id="2147483650" r:id="R40c012d6f3dd4330"/>
    <p:sldLayoutId xmlns:r="http://schemas.openxmlformats.org/officeDocument/2006/relationships" id="2147483651" r:id="R628fe837edae4572"/>
    <p:sldLayoutId xmlns:r="http://schemas.openxmlformats.org/officeDocument/2006/relationships" id="2147483652" r:id="Rba8152b512c6424c"/>
    <p:sldLayoutId xmlns:r="http://schemas.openxmlformats.org/officeDocument/2006/relationships" id="2147483653" r:id="Rf452d6735ab340c8"/>
    <p:sldLayoutId xmlns:r="http://schemas.openxmlformats.org/officeDocument/2006/relationships" id="2147483654" r:id="R1d71c346223e4368"/>
    <p:sldLayoutId xmlns:r="http://schemas.openxmlformats.org/officeDocument/2006/relationships" id="2147483655" r:id="R2c9e912d83fc491f"/>
    <p:sldLayoutId xmlns:r="http://schemas.openxmlformats.org/officeDocument/2006/relationships" id="2147483656" r:id="R4aa123257f344c7c"/>
    <p:sldLayoutId xmlns:r="http://schemas.openxmlformats.org/officeDocument/2006/relationships" id="2147483657" r:id="Rc953fb51866842be"/>
    <p:sldLayoutId xmlns:r="http://schemas.openxmlformats.org/officeDocument/2006/relationships" id="2147483658" r:id="R6a82a63fb13445e8"/>
    <p:sldLayoutId xmlns:r="http://schemas.openxmlformats.org/officeDocument/2006/relationships" id="2147483659" r:id="Rb57e0d0f0e444a73"/>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a9be5a26f6e44605" /><Relationship Type="http://schemas.openxmlformats.org/officeDocument/2006/relationships/notesSlide" Target="/ppt/notesSlides/notesSlide1.xml" Id="R6231f16b2b2e4582"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df453ea24f7b4b29" /><Relationship Type="http://schemas.openxmlformats.org/officeDocument/2006/relationships/notesSlide" Target="/ppt/notesSlides/notesSlide2.xml" Id="R0c9e85fc71e1461e"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22eef901e2074a4f" /><Relationship Type="http://schemas.openxmlformats.org/officeDocument/2006/relationships/notesSlide" Target="/ppt/notesSlides/notesSlide3.xml" Id="R8b5f5f0df26c4f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9444c05a9afc4347" /><Relationship Type="http://schemas.openxmlformats.org/officeDocument/2006/relationships/image" Target="/ppt/media/image.jpeg" Id="R32c76f1760e74f4f" /><Relationship Type="http://schemas.openxmlformats.org/officeDocument/2006/relationships/notesSlide" Target="/ppt/notesSlides/notesSlide4.xml" Id="R10fa7b0155c34a51"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3e22803b9043452d" /><Relationship Type="http://schemas.openxmlformats.org/officeDocument/2006/relationships/image" Target="/ppt/media/image2.jpeg" Id="Redf3f3ca23e74f4c" /><Relationship Type="http://schemas.openxmlformats.org/officeDocument/2006/relationships/notesSlide" Target="/ppt/notesSlides/notesSlide5.xml" Id="Re79731eca98a4dab"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a1b49bb56e9b4798" /><Relationship Type="http://schemas.openxmlformats.org/officeDocument/2006/relationships/image" Target="/ppt/media/image3.jpeg" Id="R9ab6fa6f086445e6" /><Relationship Type="http://schemas.openxmlformats.org/officeDocument/2006/relationships/notesSlide" Target="/ppt/notesSlides/notesSlide6.xml" Id="Rad36710caa68443f"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1d800c44003f4f91" /><Relationship Type="http://schemas.openxmlformats.org/officeDocument/2006/relationships/image" Target="/ppt/media/image4.jpeg" Id="Ra0385764df0e42ae" /><Relationship Type="http://schemas.openxmlformats.org/officeDocument/2006/relationships/notesSlide" Target="/ppt/notesSlides/notesSlide7.xml" Id="Ra45057b314bc432c"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2d030d56428f477d" /><Relationship Type="http://schemas.openxmlformats.org/officeDocument/2006/relationships/image" Target="/ppt/media/image5.jpeg" Id="Rd58ce083c1364d0f" /><Relationship Type="http://schemas.openxmlformats.org/officeDocument/2006/relationships/notesSlide" Target="/ppt/notesSlides/notesSlide8.xml" Id="Rfeb99df58d3e48ba"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74b9f5222b5840c0" /><Relationship Type="http://schemas.openxmlformats.org/officeDocument/2006/relationships/image" Target="/ppt/media/image6.jpeg" Id="R9958178c524c42e9" /><Relationship Type="http://schemas.openxmlformats.org/officeDocument/2006/relationships/notesSlide" Target="/ppt/notesSlides/notesSlide9.xml" Id="R279971b76231456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0ef18c4bbdd2439a" /><Relationship Type="http://schemas.openxmlformats.org/officeDocument/2006/relationships/image" Target="/ppt/media/image7.jpeg" Id="R8b3430a6e76f4677" /><Relationship Type="http://schemas.openxmlformats.org/officeDocument/2006/relationships/notesSlide" Target="/ppt/notesSlides/notesSlide10.xml" Id="R2ffad54237914b7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eea9ae0057f94aeb" /><Relationship Type="http://schemas.openxmlformats.org/officeDocument/2006/relationships/notesSlide" Target="/ppt/notesSlides/notesSlide11.xml" Id="Rcc73000a33ca419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d0e76a6e69794fcb" /><Relationship Type="http://schemas.openxmlformats.org/officeDocument/2006/relationships/notesSlide" Target="/ppt/notesSlides/notesSlide12.xml" Id="R9077483ecd6946b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ada5acb450b84d83" /><Relationship Type="http://schemas.openxmlformats.org/officeDocument/2006/relationships/notesSlide" Target="/ppt/notesSlides/notesSlide13.xml" Id="Ra6962219f3874ba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7a14125140054d42" /><Relationship Type="http://schemas.openxmlformats.org/officeDocument/2006/relationships/image" Target="/ppt/media/image8.jpeg" Id="R49cd04c69c0f4590" /><Relationship Type="http://schemas.openxmlformats.org/officeDocument/2006/relationships/notesSlide" Target="/ppt/notesSlides/notesSlide14.xml" Id="Rebc7c1221961496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946093fe7eda4839" /><Relationship Type="http://schemas.openxmlformats.org/officeDocument/2006/relationships/notesSlide" Target="/ppt/notesSlides/notesSlide15.xml" Id="Re991edaf7e974e0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a59895e5559640d7" /><Relationship Type="http://schemas.openxmlformats.org/officeDocument/2006/relationships/notesSlide" Target="/ppt/notesSlides/notesSlide16.xml" Id="Ra539fab79b594b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07196d2c380543c7" /><Relationship Type="http://schemas.openxmlformats.org/officeDocument/2006/relationships/notesSlide" Target="/ppt/notesSlides/notesSlide17.xml" Id="Rf90713fac7744643" /></Relationships>
</file>

<file path=ppt/slides/slide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4DB8CBE-2096-4148-A061-AB7849F7161F}"/>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B48581ED-B52C-4726-8FB3-07FAB0BEABCA}"/>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01 · 무엇을 만드는 프로젝트인가요?</a:t>
            </a:r>
          </a:p>
        </p:txBody>
      </p:sp>
      <p:sp>
        <p:nvSpPr>
          <p:cNvPr id="4" name="TextBox 3">
            <a:extLst xmlns:a="http://schemas.openxmlformats.org/drawingml/2006/main">
              <a:ext uri="{FF2B5EF4-FFF2-40B4-BE49-F238E27FC236}">
                <a16:creationId xmlns:a16="http://schemas.microsoft.com/office/drawing/2014/main" id="{4599504A-58B5-4525-99A1-1CBEF9E8E767}"/>
              </a:ext>
            </a:extLst>
          </p:cNvPr>
          <p:cNvSpPr>
            <a:spLocks xmlns:a="http://schemas.openxmlformats.org/drawingml/2006/main" noGrp="1"/>
          </p:cNvSpPr>
          <p:nvPr/>
        </p:nvSpPr>
        <p:spPr>
          <a:xfrm xmlns:a="http://schemas.openxmlformats.org/drawingml/2006/main">
            <a:off x="594360" y="832104"/>
            <a:ext cx="10972800" cy="145857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800" b="1">
                <a:solidFill>
                  <a:srgbClr val="173A49"/>
                </a:solidFill>
                <a:latin typeface="맑은 고딕"/>
                <a:ea typeface="맑은 고딕"/>
                <a:cs typeface="맑은 고딕"/>
              </a:defRPr>
            </a:pPr>
            <a:r>
              <a:t>반도체 검사 모델</a:t>
            </a:r>
          </a:p>
          <a:p xmlns:a="http://schemas.openxmlformats.org/drawingml/2006/main">
            <a:pPr>
              <a:lnSpc>
                <a:spcPct val="114000"/>
              </a:lnSpc>
              <a:spcAft>
                <a:spcPts val="800"/>
              </a:spcAft>
              <a:buNone/>
              <a:defRPr sz="3800" b="1">
                <a:solidFill>
                  <a:srgbClr val="173A49"/>
                </a:solidFill>
                <a:latin typeface="맑은 고딕"/>
                <a:ea typeface="맑은 고딕"/>
                <a:cs typeface="맑은 고딕"/>
              </a:defRPr>
            </a:pPr>
            <a:r>
              <a:rPr sz="3800" b="1">
                <a:solidFill>
                  <a:srgbClr val="173A49"/>
                </a:solidFill>
                <a:latin typeface="맑은 고딕"/>
                <a:ea typeface="맑은 고딕"/>
                <a:cs typeface="맑은 고딕"/>
              </a:rPr>
              <a:t>실험·관리 Agent</a:t>
            </a:r>
          </a:p>
        </p:txBody>
      </p:sp>
      <p:sp>
        <p:nvSpPr>
          <p:cNvPr id="5" name="Rectangle 4">
            <a:extLst xmlns:a="http://schemas.openxmlformats.org/drawingml/2006/main">
              <a:ext uri="{FF2B5EF4-FFF2-40B4-BE49-F238E27FC236}">
                <a16:creationId xmlns:a16="http://schemas.microsoft.com/office/drawing/2014/main" id="{292BE7CD-704F-4E3B-98A8-CDE522DD1AEF}"/>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14514FA1-8CC2-4A34-ADBB-FA27EC4EA21D}"/>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F137FF83-4E0E-4DFE-B42B-55C7DEBDDF91}"/>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01 / 17</a:t>
            </a:r>
          </a:p>
        </p:txBody>
      </p:sp>
      <p:sp>
        <p:nvSpPr>
          <p:cNvPr id="8" name="TextBox 7">
            <a:extLst xmlns:a="http://schemas.openxmlformats.org/drawingml/2006/main">
              <a:ext uri="{FF2B5EF4-FFF2-40B4-BE49-F238E27FC236}">
                <a16:creationId xmlns:a16="http://schemas.microsoft.com/office/drawing/2014/main" id="{C2465A5D-0D99-4E9C-9B5C-146DCCE5EEF0}"/>
              </a:ext>
            </a:extLst>
          </p:cNvPr>
          <p:cNvSpPr>
            <a:spLocks xmlns:a="http://schemas.openxmlformats.org/drawingml/2006/main" noGrp="1"/>
          </p:cNvSpPr>
          <p:nvPr/>
        </p:nvSpPr>
        <p:spPr>
          <a:xfrm xmlns:a="http://schemas.openxmlformats.org/drawingml/2006/main">
            <a:off x="658368" y="2514600"/>
            <a:ext cx="10515600" cy="43616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300" b="0">
                <a:solidFill>
                  <a:srgbClr val="617681"/>
                </a:solidFill>
                <a:latin typeface="맑은 고딕"/>
                <a:ea typeface="맑은 고딕"/>
                <a:cs typeface="맑은 고딕"/>
              </a:defRPr>
            </a:pPr>
            <a:r>
              <a:t>모델 비교부터 성능 점검·재학습까지 다음 실험을 돕습니다.</a:t>
            </a:r>
          </a:p>
        </p:txBody>
      </p:sp>
      <p:sp>
        <p:nvSpPr>
          <p:cNvPr id="9" name="TextBox 8">
            <a:extLst xmlns:a="http://schemas.openxmlformats.org/drawingml/2006/main">
              <a:ext uri="{FF2B5EF4-FFF2-40B4-BE49-F238E27FC236}">
                <a16:creationId xmlns:a16="http://schemas.microsoft.com/office/drawing/2014/main" id="{BF593B7F-ECC8-44C4-82F3-7EE0D2A69AC5}"/>
              </a:ext>
            </a:extLst>
          </p:cNvPr>
          <p:cNvSpPr>
            <a:spLocks xmlns:a="http://schemas.openxmlformats.org/drawingml/2006/main" noGrp="1"/>
          </p:cNvSpPr>
          <p:nvPr/>
        </p:nvSpPr>
        <p:spPr>
          <a:xfrm xmlns:a="http://schemas.openxmlformats.org/drawingml/2006/main">
            <a:off x="658368" y="3447288"/>
            <a:ext cx="10515600" cy="4572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000" b="0">
                <a:solidFill>
                  <a:srgbClr val="173A49"/>
                </a:solidFill>
                <a:latin typeface="맑은 고딕"/>
                <a:ea typeface="맑은 고딕"/>
                <a:cs typeface="맑은 고딕"/>
              </a:defRPr>
            </a:pPr>
            <a:r>
              <a:t>SKALA 광주 2반 · G045 김용찬 · 2026.10.22</a:t>
            </a:r>
          </a:p>
        </p:txBody>
      </p:sp>
      <p:sp>
        <p:nvSpPr>
          <p:cNvPr id="10" name="Rounded Rectangle 9">
            <a:extLst xmlns:a="http://schemas.openxmlformats.org/drawingml/2006/main">
              <a:ext uri="{FF2B5EF4-FFF2-40B4-BE49-F238E27FC236}">
                <a16:creationId xmlns:a16="http://schemas.microsoft.com/office/drawing/2014/main" id="{6DEAF40F-BB08-4695-A749-09DFDE002D71}"/>
              </a:ext>
            </a:extLst>
          </p:cNvPr>
          <p:cNvSpPr>
            <a:spLocks xmlns:a="http://schemas.openxmlformats.org/drawingml/2006/main" noGrp="1"/>
          </p:cNvSpPr>
          <p:nvPr/>
        </p:nvSpPr>
        <p:spPr>
          <a:xfrm xmlns:a="http://schemas.openxmlformats.org/drawingml/2006/main">
            <a:off x="658368"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4383AE83-A374-44A3-9230-9AE8314B2AAE}"/>
              </a:ext>
            </a:extLst>
          </p:cNvPr>
          <p:cNvSpPr>
            <a:spLocks xmlns:a="http://schemas.openxmlformats.org/drawingml/2006/main" noGrp="1"/>
          </p:cNvSpPr>
          <p:nvPr/>
        </p:nvSpPr>
        <p:spPr>
          <a:xfrm xmlns:a="http://schemas.openxmlformats.org/drawingml/2006/main">
            <a:off x="841247"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01</a:t>
            </a:r>
          </a:p>
        </p:txBody>
      </p:sp>
      <p:sp>
        <p:nvSpPr>
          <p:cNvPr id="12" name="TextBox 11">
            <a:extLst xmlns:a="http://schemas.openxmlformats.org/drawingml/2006/main">
              <a:ext uri="{FF2B5EF4-FFF2-40B4-BE49-F238E27FC236}">
                <a16:creationId xmlns:a16="http://schemas.microsoft.com/office/drawing/2014/main" id="{0DEA6100-B176-459B-88CA-B0B9F28DD681}"/>
              </a:ext>
            </a:extLst>
          </p:cNvPr>
          <p:cNvSpPr>
            <a:spLocks xmlns:a="http://schemas.openxmlformats.org/drawingml/2006/main" noGrp="1"/>
          </p:cNvSpPr>
          <p:nvPr/>
        </p:nvSpPr>
        <p:spPr>
          <a:xfrm xmlns:a="http://schemas.openxmlformats.org/drawingml/2006/main">
            <a:off x="841247" y="5193792"/>
            <a:ext cx="219456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데이터 점검</a:t>
            </a:r>
          </a:p>
        </p:txBody>
      </p:sp>
      <p:sp>
        <p:nvSpPr>
          <p:cNvPr id="13" name="Rounded Rectangle 12">
            <a:extLst xmlns:a="http://schemas.openxmlformats.org/drawingml/2006/main">
              <a:ext uri="{FF2B5EF4-FFF2-40B4-BE49-F238E27FC236}">
                <a16:creationId xmlns:a16="http://schemas.microsoft.com/office/drawing/2014/main" id="{FA4BEEAE-87B0-4967-9A7F-2019CAE265C2}"/>
              </a:ext>
            </a:extLst>
          </p:cNvPr>
          <p:cNvSpPr>
            <a:spLocks xmlns:a="http://schemas.openxmlformats.org/drawingml/2006/main" noGrp="1"/>
          </p:cNvSpPr>
          <p:nvPr/>
        </p:nvSpPr>
        <p:spPr>
          <a:xfrm xmlns:a="http://schemas.openxmlformats.org/drawingml/2006/main">
            <a:off x="3474720"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D3BA7C2-127D-42F0-88AD-40734AA4D208}"/>
              </a:ext>
            </a:extLst>
          </p:cNvPr>
          <p:cNvSpPr>
            <a:spLocks xmlns:a="http://schemas.openxmlformats.org/drawingml/2006/main" noGrp="1"/>
          </p:cNvSpPr>
          <p:nvPr/>
        </p:nvSpPr>
        <p:spPr>
          <a:xfrm xmlns:a="http://schemas.openxmlformats.org/drawingml/2006/main">
            <a:off x="3657600"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02</a:t>
            </a:r>
          </a:p>
        </p:txBody>
      </p:sp>
      <p:sp>
        <p:nvSpPr>
          <p:cNvPr id="15" name="TextBox 14">
            <a:extLst xmlns:a="http://schemas.openxmlformats.org/drawingml/2006/main">
              <a:ext uri="{FF2B5EF4-FFF2-40B4-BE49-F238E27FC236}">
                <a16:creationId xmlns:a16="http://schemas.microsoft.com/office/drawing/2014/main" id="{78D5E374-027D-4B4F-BC6D-8CD182DB1B16}"/>
              </a:ext>
            </a:extLst>
          </p:cNvPr>
          <p:cNvSpPr>
            <a:spLocks xmlns:a="http://schemas.openxmlformats.org/drawingml/2006/main" noGrp="1"/>
          </p:cNvSpPr>
          <p:nvPr/>
        </p:nvSpPr>
        <p:spPr>
          <a:xfrm xmlns:a="http://schemas.openxmlformats.org/drawingml/2006/main">
            <a:off x="3657600" y="5193792"/>
            <a:ext cx="219456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계획 승인</a:t>
            </a:r>
          </a:p>
        </p:txBody>
      </p:sp>
      <p:sp>
        <p:nvSpPr>
          <p:cNvPr id="16" name="Rounded Rectangle 15">
            <a:extLst xmlns:a="http://schemas.openxmlformats.org/drawingml/2006/main">
              <a:ext uri="{FF2B5EF4-FFF2-40B4-BE49-F238E27FC236}">
                <a16:creationId xmlns:a16="http://schemas.microsoft.com/office/drawing/2014/main" id="{93D51925-4883-4E33-859D-41EAB4EEFB7D}"/>
              </a:ext>
            </a:extLst>
          </p:cNvPr>
          <p:cNvSpPr>
            <a:spLocks xmlns:a="http://schemas.openxmlformats.org/drawingml/2006/main" noGrp="1"/>
          </p:cNvSpPr>
          <p:nvPr/>
        </p:nvSpPr>
        <p:spPr>
          <a:xfrm xmlns:a="http://schemas.openxmlformats.org/drawingml/2006/main">
            <a:off x="6291072"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EA3EE1F3-6479-4DFE-AA44-A038CB2C3978}"/>
              </a:ext>
            </a:extLst>
          </p:cNvPr>
          <p:cNvSpPr>
            <a:spLocks xmlns:a="http://schemas.openxmlformats.org/drawingml/2006/main" noGrp="1"/>
          </p:cNvSpPr>
          <p:nvPr/>
        </p:nvSpPr>
        <p:spPr>
          <a:xfrm xmlns:a="http://schemas.openxmlformats.org/drawingml/2006/main">
            <a:off x="6473952"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03</a:t>
            </a:r>
          </a:p>
        </p:txBody>
      </p:sp>
      <p:sp>
        <p:nvSpPr>
          <p:cNvPr id="18" name="TextBox 17">
            <a:extLst xmlns:a="http://schemas.openxmlformats.org/drawingml/2006/main">
              <a:ext uri="{FF2B5EF4-FFF2-40B4-BE49-F238E27FC236}">
                <a16:creationId xmlns:a16="http://schemas.microsoft.com/office/drawing/2014/main" id="{7D5A5F97-DADF-43D2-A3E6-9C9AFE5A0BA4}"/>
              </a:ext>
            </a:extLst>
          </p:cNvPr>
          <p:cNvSpPr>
            <a:spLocks xmlns:a="http://schemas.openxmlformats.org/drawingml/2006/main" noGrp="1"/>
          </p:cNvSpPr>
          <p:nvPr/>
        </p:nvSpPr>
        <p:spPr>
          <a:xfrm xmlns:a="http://schemas.openxmlformats.org/drawingml/2006/main">
            <a:off x="6473952" y="5193792"/>
            <a:ext cx="219456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모델·비율 비교</a:t>
            </a:r>
          </a:p>
        </p:txBody>
      </p:sp>
      <p:sp>
        <p:nvSpPr>
          <p:cNvPr id="19" name="Rounded Rectangle 18">
            <a:extLst xmlns:a="http://schemas.openxmlformats.org/drawingml/2006/main">
              <a:ext uri="{FF2B5EF4-FFF2-40B4-BE49-F238E27FC236}">
                <a16:creationId xmlns:a16="http://schemas.microsoft.com/office/drawing/2014/main" id="{ACC633AE-071A-4A0E-9549-F9F55A9C43B1}"/>
              </a:ext>
            </a:extLst>
          </p:cNvPr>
          <p:cNvSpPr>
            <a:spLocks xmlns:a="http://schemas.openxmlformats.org/drawingml/2006/main" noGrp="1"/>
          </p:cNvSpPr>
          <p:nvPr/>
        </p:nvSpPr>
        <p:spPr>
          <a:xfrm xmlns:a="http://schemas.openxmlformats.org/drawingml/2006/main">
            <a:off x="9107424"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4A486BC0-D5A5-434B-9D0F-6BF5547FE936}"/>
              </a:ext>
            </a:extLst>
          </p:cNvPr>
          <p:cNvSpPr>
            <a:spLocks xmlns:a="http://schemas.openxmlformats.org/drawingml/2006/main" noGrp="1"/>
          </p:cNvSpPr>
          <p:nvPr/>
        </p:nvSpPr>
        <p:spPr>
          <a:xfrm xmlns:a="http://schemas.openxmlformats.org/drawingml/2006/main">
            <a:off x="9290304"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04</a:t>
            </a:r>
          </a:p>
        </p:txBody>
      </p:sp>
      <p:sp>
        <p:nvSpPr>
          <p:cNvPr id="21" name="TextBox 20">
            <a:extLst xmlns:a="http://schemas.openxmlformats.org/drawingml/2006/main">
              <a:ext uri="{FF2B5EF4-FFF2-40B4-BE49-F238E27FC236}">
                <a16:creationId xmlns:a16="http://schemas.microsoft.com/office/drawing/2014/main" id="{09073020-8854-4DF2-8E37-FFAF3EF5BED5}"/>
              </a:ext>
            </a:extLst>
          </p:cNvPr>
          <p:cNvSpPr>
            <a:spLocks xmlns:a="http://schemas.openxmlformats.org/drawingml/2006/main" noGrp="1"/>
          </p:cNvSpPr>
          <p:nvPr/>
        </p:nvSpPr>
        <p:spPr>
          <a:xfrm xmlns:a="http://schemas.openxmlformats.org/drawingml/2006/main">
            <a:off x="9290304" y="5193792"/>
            <a:ext cx="2194560" cy="286664"/>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defPPr>
              <a:defRPr sz="1650" b="1">
                <a:solidFill>
                  <a:srgbClr val="173A49"/>
                </a:solidFill>
                <a:latin typeface="맑은 고딕"/>
                <a:ea typeface="맑은 고딕"/>
                <a:cs typeface="맑은 고딕"/>
              </a:defRPr>
            </a:defPPr>
            <a:lvl1pPr>
              <a:buNone/>
              <a:defRPr sz="1650" b="1">
                <a:solidFill>
                  <a:srgbClr val="173A49"/>
                </a:solidFill>
                <a:latin typeface="맑은 고딕"/>
                <a:ea typeface="맑은 고딕"/>
                <a:cs typeface="맑은 고딕"/>
              </a:defRPr>
            </a:lvl1pPr>
            <a:lvl2pPr>
              <a:buNone/>
              <a:defRPr sz="1650" b="1">
                <a:solidFill>
                  <a:srgbClr val="173A49"/>
                </a:solidFill>
                <a:latin typeface="맑은 고딕"/>
                <a:ea typeface="맑은 고딕"/>
                <a:cs typeface="맑은 고딕"/>
              </a:defRPr>
            </a:lvl2pPr>
            <a:lvl3pPr>
              <a:buNone/>
              <a:defRPr sz="1650" b="1">
                <a:solidFill>
                  <a:srgbClr val="173A49"/>
                </a:solidFill>
                <a:latin typeface="맑은 고딕"/>
                <a:ea typeface="맑은 고딕"/>
                <a:cs typeface="맑은 고딕"/>
              </a:defRPr>
            </a:lvl3pPr>
            <a:lvl4pPr>
              <a:buNone/>
              <a:defRPr sz="1650" b="1">
                <a:solidFill>
                  <a:srgbClr val="173A49"/>
                </a:solidFill>
                <a:latin typeface="맑은 고딕"/>
                <a:ea typeface="맑은 고딕"/>
                <a:cs typeface="맑은 고딕"/>
              </a:defRPr>
            </a:lvl4pPr>
            <a:lvl5pPr>
              <a:buNone/>
              <a:defRPr sz="1650" b="1">
                <a:solidFill>
                  <a:srgbClr val="173A49"/>
                </a:solidFill>
                <a:latin typeface="맑은 고딕"/>
                <a:ea typeface="맑은 고딕"/>
                <a:cs typeface="맑은 고딕"/>
              </a:defRPr>
            </a:lvl5pPr>
            <a:lvl6pPr>
              <a:buNone/>
              <a:defRPr sz="1650" b="1">
                <a:solidFill>
                  <a:srgbClr val="173A49"/>
                </a:solidFill>
                <a:latin typeface="맑은 고딕"/>
                <a:ea typeface="맑은 고딕"/>
                <a:cs typeface="맑은 고딕"/>
              </a:defRPr>
            </a:lvl6pPr>
            <a:lvl7pPr>
              <a:buNone/>
              <a:defRPr sz="1650" b="1">
                <a:solidFill>
                  <a:srgbClr val="173A49"/>
                </a:solidFill>
                <a:latin typeface="맑은 고딕"/>
                <a:ea typeface="맑은 고딕"/>
                <a:cs typeface="맑은 고딕"/>
              </a:defRPr>
            </a:lvl7pPr>
            <a:lvl8pPr>
              <a:buNone/>
              <a:defRPr sz="1650" b="1">
                <a:solidFill>
                  <a:srgbClr val="173A49"/>
                </a:solidFill>
                <a:latin typeface="맑은 고딕"/>
                <a:ea typeface="맑은 고딕"/>
                <a:cs typeface="맑은 고딕"/>
              </a:defRPr>
            </a:lvl8pPr>
            <a:lvl9pPr>
              <a:buNone/>
              <a:defRPr sz="1650" b="1">
                <a:solidFill>
                  <a:srgbClr val="173A49"/>
                </a:solidFill>
                <a:latin typeface="맑은 고딕"/>
                <a:ea typeface="맑은 고딕"/>
                <a:cs typeface="맑은 고딕"/>
              </a:defRPr>
            </a:lvl9pPr>
          </a:lstStyle>
          <a:p xmlns:a="http://schemas.openxmlformats.org/drawingml/2006/main">
            <a:pPr>
              <a:lnSpc>
                <a:spcPct val="114000"/>
              </a:lnSpc>
              <a:spcAft>
                <a:spcPts val="800"/>
              </a:spcAft>
              <a:buNone/>
              <a:defRPr sz="1650" b="1">
                <a:solidFill>
                  <a:srgbClr val="173A49"/>
                </a:solidFill>
                <a:latin typeface="맑은 고딕"/>
                <a:ea typeface="맑은 고딕"/>
                <a:cs typeface="맑은 고딕"/>
              </a:defRPr>
            </a:pPr>
            <a:r>
              <a:rPr sz="1650" b="1">
                <a:solidFill>
                  <a:srgbClr val="173A49"/>
                </a:solidFill>
                <a:latin typeface="맑은 고딕"/>
                <a:ea typeface="맑은 고딕"/>
                <a:cs typeface="맑은 고딕"/>
              </a:rPr>
              <a:t>성능 점검·재학습</a:t>
            </a:r>
          </a:p>
        </p:txBody>
      </p:sp>
    </p:spTree>
    <p:extLst>
      <p:ext uri="{BB962C8B-B14F-4D97-AF65-F5344CB8AC3E}">
        <p14:creationId xmlns:p14="http://schemas.microsoft.com/office/powerpoint/2010/main" val="1331555358"/>
      </p:ext>
    </p:extLst>
  </p:cSld>
</p:sld>
</file>

<file path=ppt/slides/slide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3894E5C-1069-4884-9C38-2035AE01FB85}"/>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D6F41D8E-D844-4A35-BC4B-ADA112695C7D}"/>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02 · 신규 구현 | 프로젝트에서 설정한 업무 문제</a:t>
            </a:r>
          </a:p>
        </p:txBody>
      </p:sp>
      <p:sp>
        <p:nvSpPr>
          <p:cNvPr id="4" name="TextBox 3">
            <a:extLst xmlns:a="http://schemas.openxmlformats.org/drawingml/2006/main">
              <a:ext uri="{FF2B5EF4-FFF2-40B4-BE49-F238E27FC236}">
                <a16:creationId xmlns:a16="http://schemas.microsoft.com/office/drawing/2014/main" id="{7F197F90-B213-4886-BC33-6F3808A1015D}"/>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모델을 고를 때와 성능이 떨어졌을 때를 돕습니다</a:t>
            </a:r>
          </a:p>
        </p:txBody>
      </p:sp>
      <p:sp>
        <p:nvSpPr>
          <p:cNvPr id="5" name="Rectangle 4">
            <a:extLst xmlns:a="http://schemas.openxmlformats.org/drawingml/2006/main">
              <a:ext uri="{FF2B5EF4-FFF2-40B4-BE49-F238E27FC236}">
                <a16:creationId xmlns:a16="http://schemas.microsoft.com/office/drawing/2014/main" id="{0CD66419-033F-4716-A917-6DAD05193483}"/>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45DEE1E9-5409-4DB4-9A5A-3FA4CDF60D70}"/>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7BD6D7EC-84B8-4FBB-A77A-0CC0435EE257}"/>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02 / 17</a:t>
            </a:r>
          </a:p>
        </p:txBody>
      </p:sp>
      <p:sp>
        <p:nvSpPr>
          <p:cNvPr id="8" name="Rectangle 7">
            <a:extLst xmlns:a="http://schemas.openxmlformats.org/drawingml/2006/main">
              <a:ext uri="{FF2B5EF4-FFF2-40B4-BE49-F238E27FC236}">
                <a16:creationId xmlns:a16="http://schemas.microsoft.com/office/drawing/2014/main" id="{318C7514-2C26-46FF-9A8B-A6327883BB78}"/>
              </a:ext>
            </a:extLst>
          </p:cNvPr>
          <p:cNvSpPr>
            <a:spLocks xmlns:a="http://schemas.openxmlformats.org/drawingml/2006/main" noGrp="1"/>
          </p:cNvSpPr>
          <p:nvPr/>
        </p:nvSpPr>
        <p:spPr>
          <a:xfrm xmlns:a="http://schemas.openxmlformats.org/drawingml/2006/main">
            <a:off x="640080" y="197510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914F02C5-0BB5-475F-8905-E1B5E1F92042}"/>
              </a:ext>
            </a:extLst>
          </p:cNvPr>
          <p:cNvSpPr>
            <a:spLocks xmlns:a="http://schemas.openxmlformats.org/drawingml/2006/main" noGrp="1"/>
          </p:cNvSpPr>
          <p:nvPr/>
        </p:nvSpPr>
        <p:spPr>
          <a:xfrm xmlns:a="http://schemas.openxmlformats.org/drawingml/2006/main">
            <a:off x="868680" y="197510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사용자: 검사 모델을 만들고 점검하는 엔지니어</a:t>
            </a:r>
          </a:p>
        </p:txBody>
      </p:sp>
      <p:sp>
        <p:nvSpPr>
          <p:cNvPr id="10" name="Rectangle 9">
            <a:extLst xmlns:a="http://schemas.openxmlformats.org/drawingml/2006/main">
              <a:ext uri="{FF2B5EF4-FFF2-40B4-BE49-F238E27FC236}">
                <a16:creationId xmlns:a16="http://schemas.microsoft.com/office/drawing/2014/main" id="{322DEE66-00D5-4B89-9906-8A1EA8C920F1}"/>
              </a:ext>
            </a:extLst>
          </p:cNvPr>
          <p:cNvSpPr>
            <a:spLocks xmlns:a="http://schemas.openxmlformats.org/drawingml/2006/main" noGrp="1"/>
          </p:cNvSpPr>
          <p:nvPr/>
        </p:nvSpPr>
        <p:spPr>
          <a:xfrm xmlns:a="http://schemas.openxmlformats.org/drawingml/2006/main">
            <a:off x="640080" y="275234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B3A7C841-E561-4C0F-98B5-C3C583EBE8FC}"/>
              </a:ext>
            </a:extLst>
          </p:cNvPr>
          <p:cNvSpPr>
            <a:spLocks xmlns:a="http://schemas.openxmlformats.org/drawingml/2006/main" noGrp="1"/>
          </p:cNvSpPr>
          <p:nvPr/>
        </p:nvSpPr>
        <p:spPr>
          <a:xfrm xmlns:a="http://schemas.openxmlformats.org/drawingml/2006/main">
            <a:off x="868680" y="275234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처음: 데이터 점검·전처리 이유·모델·제품 묶음·혼합 비율 비교</a:t>
            </a:r>
          </a:p>
        </p:txBody>
      </p:sp>
      <p:sp>
        <p:nvSpPr>
          <p:cNvPr id="12" name="Rectangle 11">
            <a:extLst xmlns:a="http://schemas.openxmlformats.org/drawingml/2006/main">
              <a:ext uri="{FF2B5EF4-FFF2-40B4-BE49-F238E27FC236}">
                <a16:creationId xmlns:a16="http://schemas.microsoft.com/office/drawing/2014/main" id="{4D2FCAB7-FDB1-485E-9DDC-09ACEBB3D6F9}"/>
              </a:ext>
            </a:extLst>
          </p:cNvPr>
          <p:cNvSpPr>
            <a:spLocks xmlns:a="http://schemas.openxmlformats.org/drawingml/2006/main" noGrp="1"/>
          </p:cNvSpPr>
          <p:nvPr/>
        </p:nvSpPr>
        <p:spPr>
          <a:xfrm xmlns:a="http://schemas.openxmlformats.org/drawingml/2006/main">
            <a:off x="640080" y="352958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EC95B546-FF0B-493F-827E-261E24C6A46F}"/>
              </a:ext>
            </a:extLst>
          </p:cNvPr>
          <p:cNvSpPr>
            <a:spLocks xmlns:a="http://schemas.openxmlformats.org/drawingml/2006/main" noGrp="1"/>
          </p:cNvSpPr>
          <p:nvPr/>
        </p:nvSpPr>
        <p:spPr>
          <a:xfrm xmlns:a="http://schemas.openxmlformats.org/drawingml/2006/main">
            <a:off x="868680" y="352958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이후: 새 정답 데이터로 성능 점검·재학습 필요성 판단·전후 비교</a:t>
            </a:r>
          </a:p>
        </p:txBody>
      </p:sp>
      <p:sp>
        <p:nvSpPr>
          <p:cNvPr id="14" name="Rectangle 13">
            <a:extLst xmlns:a="http://schemas.openxmlformats.org/drawingml/2006/main">
              <a:ext uri="{FF2B5EF4-FFF2-40B4-BE49-F238E27FC236}">
                <a16:creationId xmlns:a16="http://schemas.microsoft.com/office/drawing/2014/main" id="{17FB1DF0-1AF0-4CF9-B200-9709DBE7F7C1}"/>
              </a:ext>
            </a:extLst>
          </p:cNvPr>
          <p:cNvSpPr>
            <a:spLocks xmlns:a="http://schemas.openxmlformats.org/drawingml/2006/main" noGrp="1"/>
          </p:cNvSpPr>
          <p:nvPr/>
        </p:nvSpPr>
        <p:spPr>
          <a:xfrm xmlns:a="http://schemas.openxmlformats.org/drawingml/2006/main">
            <a:off x="640080" y="430682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F35EFA3C-F77F-4B31-AAF5-46AC2A1D8429}"/>
              </a:ext>
            </a:extLst>
          </p:cNvPr>
          <p:cNvSpPr>
            <a:spLocks xmlns:a="http://schemas.openxmlformats.org/drawingml/2006/main" noGrp="1"/>
          </p:cNvSpPr>
          <p:nvPr/>
        </p:nvSpPr>
        <p:spPr>
          <a:xfrm xmlns:a="http://schemas.openxmlformats.org/drawingml/2006/main">
            <a:off x="868680" y="430682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Agent가 근거와 계획을 제시하고, 엔지니어 승인 후 학습합니다.</a:t>
            </a:r>
          </a:p>
        </p:txBody>
      </p:sp>
    </p:spTree>
    <p:extLst>
      <p:ext uri="{BB962C8B-B14F-4D97-AF65-F5344CB8AC3E}">
        <p14:creationId xmlns:p14="http://schemas.microsoft.com/office/powerpoint/2010/main" val="105559177"/>
      </p:ext>
    </p:extLst>
  </p:cSld>
</p:sld>
</file>

<file path=ppt/slides/slide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AC82034-2483-46F9-B02C-54CEB6807D67}"/>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47BD585-BDF8-466E-9920-DDF56AB1A830}"/>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03 · 모델 선택 기준 | 두 가지 실수의 영향을 함께 봅니다</a:t>
            </a:r>
          </a:p>
        </p:txBody>
      </p:sp>
      <p:sp>
        <p:nvSpPr>
          <p:cNvPr id="4" name="TextBox 3">
            <a:extLst xmlns:a="http://schemas.openxmlformats.org/drawingml/2006/main">
              <a:ext uri="{FF2B5EF4-FFF2-40B4-BE49-F238E27FC236}">
                <a16:creationId xmlns:a16="http://schemas.microsoft.com/office/drawing/2014/main" id="{6504E43C-3BBB-40A6-ABD3-7DE20C09777A}"/>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불량을 놓치지 않으면서, 정상도 지킵니다</a:t>
            </a:r>
          </a:p>
        </p:txBody>
      </p:sp>
      <p:sp>
        <p:nvSpPr>
          <p:cNvPr id="5" name="Rectangle 4">
            <a:extLst xmlns:a="http://schemas.openxmlformats.org/drawingml/2006/main">
              <a:ext uri="{FF2B5EF4-FFF2-40B4-BE49-F238E27FC236}">
                <a16:creationId xmlns:a16="http://schemas.microsoft.com/office/drawing/2014/main" id="{92027455-34D5-49BD-BD28-5874EF199F81}"/>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FF7405C4-1B5F-4B43-9D69-2CAC1BD94FB3}"/>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CB3F2025-F5E4-4086-B942-F02AD0E42570}"/>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03 / 17</a:t>
            </a:r>
          </a:p>
        </p:txBody>
      </p:sp>
      <p:sp>
        <p:nvSpPr>
          <p:cNvPr id="8" name="Rounded Rectangle 7">
            <a:extLst xmlns:a="http://schemas.openxmlformats.org/drawingml/2006/main">
              <a:ext uri="{FF2B5EF4-FFF2-40B4-BE49-F238E27FC236}">
                <a16:creationId xmlns:a16="http://schemas.microsoft.com/office/drawing/2014/main" id="{AD108B74-D2F6-44F4-A06B-7D98AA49FB8B}"/>
              </a:ext>
            </a:extLst>
          </p:cNvPr>
          <p:cNvSpPr>
            <a:spLocks xmlns:a="http://schemas.openxmlformats.org/drawingml/2006/main" noGrp="1"/>
          </p:cNvSpPr>
          <p:nvPr/>
        </p:nvSpPr>
        <p:spPr>
          <a:xfrm xmlns:a="http://schemas.openxmlformats.org/drawingml/2006/main">
            <a:off x="658368" y="1885950"/>
            <a:ext cx="5321808" cy="228600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2353597F-B2CE-4FC5-9DC7-E4464FEBBA55}"/>
              </a:ext>
            </a:extLst>
          </p:cNvPr>
          <p:cNvSpPr>
            <a:spLocks xmlns:a="http://schemas.openxmlformats.org/drawingml/2006/main" noGrp="1"/>
          </p:cNvSpPr>
          <p:nvPr/>
        </p:nvSpPr>
        <p:spPr>
          <a:xfrm xmlns:a="http://schemas.openxmlformats.org/drawingml/2006/main">
            <a:off x="859536" y="2057400"/>
            <a:ext cx="4892040" cy="45354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400" b="1">
                <a:solidFill>
                  <a:srgbClr val="147D82"/>
                </a:solidFill>
                <a:latin typeface="맑은 고딕"/>
                <a:ea typeface="맑은 고딕"/>
                <a:cs typeface="맑은 고딕"/>
              </a:defRPr>
            </a:defPPr>
            <a:lvl1pPr algn="l">
              <a:defRPr sz="2400" b="1">
                <a:solidFill>
                  <a:srgbClr val="147D82"/>
                </a:solidFill>
                <a:latin typeface="맑은 고딕"/>
                <a:ea typeface="맑은 고딕"/>
                <a:cs typeface="맑은 고딕"/>
              </a:defRPr>
            </a:lvl1pPr>
            <a:lvl2pPr algn="l">
              <a:defRPr sz="2400" b="1">
                <a:solidFill>
                  <a:srgbClr val="147D82"/>
                </a:solidFill>
                <a:latin typeface="맑은 고딕"/>
                <a:ea typeface="맑은 고딕"/>
                <a:cs typeface="맑은 고딕"/>
              </a:defRPr>
            </a:lvl2pPr>
            <a:lvl3pPr algn="l">
              <a:defRPr sz="2400" b="1">
                <a:solidFill>
                  <a:srgbClr val="147D82"/>
                </a:solidFill>
                <a:latin typeface="맑은 고딕"/>
                <a:ea typeface="맑은 고딕"/>
                <a:cs typeface="맑은 고딕"/>
              </a:defRPr>
            </a:lvl3pPr>
            <a:lvl4pPr algn="l">
              <a:defRPr sz="2400" b="1">
                <a:solidFill>
                  <a:srgbClr val="147D82"/>
                </a:solidFill>
                <a:latin typeface="맑은 고딕"/>
                <a:ea typeface="맑은 고딕"/>
                <a:cs typeface="맑은 고딕"/>
              </a:defRPr>
            </a:lvl4pPr>
            <a:lvl5pPr algn="l">
              <a:defRPr sz="2400" b="1">
                <a:solidFill>
                  <a:srgbClr val="147D82"/>
                </a:solidFill>
                <a:latin typeface="맑은 고딕"/>
                <a:ea typeface="맑은 고딕"/>
                <a:cs typeface="맑은 고딕"/>
              </a:defRPr>
            </a:lvl5pPr>
            <a:lvl6pPr algn="l">
              <a:defRPr sz="2400" b="1">
                <a:solidFill>
                  <a:srgbClr val="147D82"/>
                </a:solidFill>
                <a:latin typeface="맑은 고딕"/>
                <a:ea typeface="맑은 고딕"/>
                <a:cs typeface="맑은 고딕"/>
              </a:defRPr>
            </a:lvl6pPr>
            <a:lvl7pPr algn="l">
              <a:defRPr sz="2400" b="1">
                <a:solidFill>
                  <a:srgbClr val="147D82"/>
                </a:solidFill>
                <a:latin typeface="맑은 고딕"/>
                <a:ea typeface="맑은 고딕"/>
                <a:cs typeface="맑은 고딕"/>
              </a:defRPr>
            </a:lvl7pPr>
            <a:lvl8pPr algn="l">
              <a:defRPr sz="2400" b="1">
                <a:solidFill>
                  <a:srgbClr val="147D82"/>
                </a:solidFill>
                <a:latin typeface="맑은 고딕"/>
                <a:ea typeface="맑은 고딕"/>
                <a:cs typeface="맑은 고딕"/>
              </a:defRPr>
            </a:lvl8pPr>
            <a:lvl9pPr algn="l">
              <a:defRPr sz="24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2400" b="1">
                <a:solidFill>
                  <a:srgbClr val="147D82"/>
                </a:solidFill>
                <a:latin typeface="맑은 고딕"/>
                <a:ea typeface="맑은 고딕"/>
                <a:cs typeface="맑은 고딕"/>
              </a:defRPr>
            </a:pPr>
            <a:r>
              <a:rPr sz="2400" b="1">
                <a:solidFill>
                  <a:srgbClr val="147D82"/>
                </a:solidFill>
                <a:latin typeface="맑은 고딕"/>
                <a:ea typeface="맑은 고딕"/>
                <a:cs typeface="맑은 고딕"/>
              </a:rPr>
              <a:t>불량을 정상으로 놓침</a:t>
            </a:r>
          </a:p>
        </p:txBody>
      </p:sp>
      <p:sp>
        <p:nvSpPr>
          <p:cNvPr id="10" name="TextBox 9">
            <a:extLst xmlns:a="http://schemas.openxmlformats.org/drawingml/2006/main">
              <a:ext uri="{FF2B5EF4-FFF2-40B4-BE49-F238E27FC236}">
                <a16:creationId xmlns:a16="http://schemas.microsoft.com/office/drawing/2014/main" id="{B879DBB6-1D68-4199-B1B0-17981CE64B7B}"/>
              </a:ext>
            </a:extLst>
          </p:cNvPr>
          <p:cNvSpPr>
            <a:spLocks xmlns:a="http://schemas.openxmlformats.org/drawingml/2006/main" noGrp="1"/>
          </p:cNvSpPr>
          <p:nvPr/>
        </p:nvSpPr>
        <p:spPr>
          <a:xfrm xmlns:a="http://schemas.openxmlformats.org/drawingml/2006/main">
            <a:off x="859536" y="2609850"/>
            <a:ext cx="4892040" cy="121704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875">
                <a:solidFill>
                  <a:srgbClr val="173A49"/>
                </a:solidFill>
                <a:latin typeface="맑은 고딕"/>
                <a:ea typeface="맑은 고딕"/>
                <a:cs typeface="맑은 고딕"/>
              </a:defRPr>
            </a:defPPr>
            <a:lvl1pPr algn="l">
              <a:defRPr sz="1875">
                <a:solidFill>
                  <a:srgbClr val="173A49"/>
                </a:solidFill>
                <a:latin typeface="맑은 고딕"/>
                <a:ea typeface="맑은 고딕"/>
                <a:cs typeface="맑은 고딕"/>
              </a:defRPr>
            </a:lvl1pPr>
            <a:lvl2pPr algn="l">
              <a:defRPr sz="1875">
                <a:solidFill>
                  <a:srgbClr val="173A49"/>
                </a:solidFill>
                <a:latin typeface="맑은 고딕"/>
                <a:ea typeface="맑은 고딕"/>
                <a:cs typeface="맑은 고딕"/>
              </a:defRPr>
            </a:lvl2pPr>
            <a:lvl3pPr algn="l">
              <a:defRPr sz="1875">
                <a:solidFill>
                  <a:srgbClr val="173A49"/>
                </a:solidFill>
                <a:latin typeface="맑은 고딕"/>
                <a:ea typeface="맑은 고딕"/>
                <a:cs typeface="맑은 고딕"/>
              </a:defRPr>
            </a:lvl3pPr>
            <a:lvl4pPr algn="l">
              <a:defRPr sz="1875">
                <a:solidFill>
                  <a:srgbClr val="173A49"/>
                </a:solidFill>
                <a:latin typeface="맑은 고딕"/>
                <a:ea typeface="맑은 고딕"/>
                <a:cs typeface="맑은 고딕"/>
              </a:defRPr>
            </a:lvl4pPr>
            <a:lvl5pPr algn="l">
              <a:defRPr sz="1875">
                <a:solidFill>
                  <a:srgbClr val="173A49"/>
                </a:solidFill>
                <a:latin typeface="맑은 고딕"/>
                <a:ea typeface="맑은 고딕"/>
                <a:cs typeface="맑은 고딕"/>
              </a:defRPr>
            </a:lvl5pPr>
            <a:lvl6pPr algn="l">
              <a:defRPr sz="1875">
                <a:solidFill>
                  <a:srgbClr val="173A49"/>
                </a:solidFill>
                <a:latin typeface="맑은 고딕"/>
                <a:ea typeface="맑은 고딕"/>
                <a:cs typeface="맑은 고딕"/>
              </a:defRPr>
            </a:lvl6pPr>
            <a:lvl7pPr algn="l">
              <a:defRPr sz="1875">
                <a:solidFill>
                  <a:srgbClr val="173A49"/>
                </a:solidFill>
                <a:latin typeface="맑은 고딕"/>
                <a:ea typeface="맑은 고딕"/>
                <a:cs typeface="맑은 고딕"/>
              </a:defRPr>
            </a:lvl7pPr>
            <a:lvl8pPr algn="l">
              <a:defRPr sz="1875">
                <a:solidFill>
                  <a:srgbClr val="173A49"/>
                </a:solidFill>
                <a:latin typeface="맑은 고딕"/>
                <a:ea typeface="맑은 고딕"/>
                <a:cs typeface="맑은 고딕"/>
              </a:defRPr>
            </a:lvl8pPr>
            <a:lvl9pPr algn="l">
              <a:defRPr sz="1875">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875" b="0">
                <a:solidFill>
                  <a:srgbClr val="173A49"/>
                </a:solidFill>
                <a:latin typeface="맑은 고딕"/>
                <a:ea typeface="맑은 고딕"/>
                <a:cs typeface="맑은 고딕"/>
              </a:defRPr>
            </a:pPr>
            <a:r>
              <a:rPr sz="1875">
                <a:solidFill>
                  <a:srgbClr val="173A49"/>
                </a:solidFill>
                <a:latin typeface="맑은 고딕"/>
                <a:ea typeface="맑은 고딕"/>
                <a:cs typeface="맑은 고딕"/>
              </a:rPr>
              <a:t>불량이 다음 공정·고객으로</a:t>
            </a:r>
          </a:p>
          <a:p xmlns:a="http://schemas.openxmlformats.org/drawingml/2006/main">
            <a:pPr algn="l">
              <a:lnSpc>
                <a:spcPct val="114000"/>
              </a:lnSpc>
              <a:spcAft>
                <a:spcPts val="800"/>
              </a:spcAft>
              <a:buNone/>
              <a:defRPr sz="1875" b="0">
                <a:solidFill>
                  <a:srgbClr val="173A49"/>
                </a:solidFill>
                <a:latin typeface="맑은 고딕"/>
                <a:ea typeface="맑은 고딕"/>
                <a:cs typeface="맑은 고딕"/>
              </a:defRPr>
            </a:pPr>
            <a:r>
              <a:rPr sz="1875" b="0">
                <a:solidFill>
                  <a:srgbClr val="173A49"/>
                </a:solidFill>
                <a:latin typeface="맑은 고딕"/>
                <a:ea typeface="맑은 고딕"/>
                <a:cs typeface="맑은 고딕"/>
              </a:rPr>
              <a:t>넘어갈 위험이 있습니다.</a:t>
            </a:r>
          </a:p>
          <a:p xmlns:a="http://schemas.openxmlformats.org/drawingml/2006/main">
            <a:pPr algn="l">
              <a:lnSpc>
                <a:spcPct val="114000"/>
              </a:lnSpc>
              <a:spcAft>
                <a:spcPts val="800"/>
              </a:spcAft>
              <a:buNone/>
              <a:defRPr sz="1875" b="0">
                <a:solidFill>
                  <a:srgbClr val="173A49"/>
                </a:solidFill>
                <a:latin typeface="맑은 고딕"/>
                <a:ea typeface="맑은 고딕"/>
                <a:cs typeface="맑은 고딕"/>
              </a:defRPr>
            </a:pPr>
            <a:r>
              <a:rPr sz="1875" b="0">
                <a:solidFill>
                  <a:srgbClr val="173A49"/>
                </a:solidFill>
                <a:latin typeface="맑은 고딕"/>
                <a:ea typeface="맑은 고딕"/>
                <a:cs typeface="맑은 고딕"/>
              </a:rPr>
              <a:t>Recall: 불량100개 중 찾아낸 비율</a:t>
            </a:r>
          </a:p>
        </p:txBody>
      </p:sp>
      <p:sp>
        <p:nvSpPr>
          <p:cNvPr id="11" name="Rounded Rectangle 10">
            <a:extLst xmlns:a="http://schemas.openxmlformats.org/drawingml/2006/main">
              <a:ext uri="{FF2B5EF4-FFF2-40B4-BE49-F238E27FC236}">
                <a16:creationId xmlns:a16="http://schemas.microsoft.com/office/drawing/2014/main" id="{EF02888D-A872-4750-AA03-C55483F7EDAC}"/>
              </a:ext>
            </a:extLst>
          </p:cNvPr>
          <p:cNvSpPr>
            <a:spLocks xmlns:a="http://schemas.openxmlformats.org/drawingml/2006/main" noGrp="1"/>
          </p:cNvSpPr>
          <p:nvPr/>
        </p:nvSpPr>
        <p:spPr>
          <a:xfrm xmlns:a="http://schemas.openxmlformats.org/drawingml/2006/main">
            <a:off x="6217920" y="1885950"/>
            <a:ext cx="5321808" cy="2286000"/>
          </a:xfrm>
          <a:prstGeom xmlns:a="http://schemas.openxmlformats.org/drawingml/2006/main" prst="roundRect">
            <a:avLst>
              <a:gd name="adj" fmla="val 8000"/>
            </a:avLst>
          </a:prstGeom>
          <a:solidFill xmlns:a="http://schemas.openxmlformats.org/drawingml/2006/main">
            <a:srgbClr val="FFF0DD"/>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D938CACA-F299-4906-94B8-48BC2406EC5D}"/>
              </a:ext>
            </a:extLst>
          </p:cNvPr>
          <p:cNvSpPr>
            <a:spLocks xmlns:a="http://schemas.openxmlformats.org/drawingml/2006/main" noGrp="1"/>
          </p:cNvSpPr>
          <p:nvPr/>
        </p:nvSpPr>
        <p:spPr>
          <a:xfrm xmlns:a="http://schemas.openxmlformats.org/drawingml/2006/main">
            <a:off x="6419088" y="2057400"/>
            <a:ext cx="4892040" cy="45354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400" b="1">
                <a:solidFill>
                  <a:srgbClr val="173A49"/>
                </a:solidFill>
                <a:latin typeface="맑은 고딕"/>
                <a:ea typeface="맑은 고딕"/>
                <a:cs typeface="맑은 고딕"/>
              </a:defRPr>
            </a:defPPr>
            <a:lvl1pPr algn="l">
              <a:defRPr sz="2400" b="1">
                <a:solidFill>
                  <a:srgbClr val="173A49"/>
                </a:solidFill>
                <a:latin typeface="맑은 고딕"/>
                <a:ea typeface="맑은 고딕"/>
                <a:cs typeface="맑은 고딕"/>
              </a:defRPr>
            </a:lvl1pPr>
            <a:lvl2pPr algn="l">
              <a:defRPr sz="2400" b="1">
                <a:solidFill>
                  <a:srgbClr val="173A49"/>
                </a:solidFill>
                <a:latin typeface="맑은 고딕"/>
                <a:ea typeface="맑은 고딕"/>
                <a:cs typeface="맑은 고딕"/>
              </a:defRPr>
            </a:lvl2pPr>
            <a:lvl3pPr algn="l">
              <a:defRPr sz="2400" b="1">
                <a:solidFill>
                  <a:srgbClr val="173A49"/>
                </a:solidFill>
                <a:latin typeface="맑은 고딕"/>
                <a:ea typeface="맑은 고딕"/>
                <a:cs typeface="맑은 고딕"/>
              </a:defRPr>
            </a:lvl3pPr>
            <a:lvl4pPr algn="l">
              <a:defRPr sz="2400" b="1">
                <a:solidFill>
                  <a:srgbClr val="173A49"/>
                </a:solidFill>
                <a:latin typeface="맑은 고딕"/>
                <a:ea typeface="맑은 고딕"/>
                <a:cs typeface="맑은 고딕"/>
              </a:defRPr>
            </a:lvl4pPr>
            <a:lvl5pPr algn="l">
              <a:defRPr sz="2400" b="1">
                <a:solidFill>
                  <a:srgbClr val="173A49"/>
                </a:solidFill>
                <a:latin typeface="맑은 고딕"/>
                <a:ea typeface="맑은 고딕"/>
                <a:cs typeface="맑은 고딕"/>
              </a:defRPr>
            </a:lvl5pPr>
            <a:lvl6pPr algn="l">
              <a:defRPr sz="2400" b="1">
                <a:solidFill>
                  <a:srgbClr val="173A49"/>
                </a:solidFill>
                <a:latin typeface="맑은 고딕"/>
                <a:ea typeface="맑은 고딕"/>
                <a:cs typeface="맑은 고딕"/>
              </a:defRPr>
            </a:lvl6pPr>
            <a:lvl7pPr algn="l">
              <a:defRPr sz="2400" b="1">
                <a:solidFill>
                  <a:srgbClr val="173A49"/>
                </a:solidFill>
                <a:latin typeface="맑은 고딕"/>
                <a:ea typeface="맑은 고딕"/>
                <a:cs typeface="맑은 고딕"/>
              </a:defRPr>
            </a:lvl7pPr>
            <a:lvl8pPr algn="l">
              <a:defRPr sz="2400" b="1">
                <a:solidFill>
                  <a:srgbClr val="173A49"/>
                </a:solidFill>
                <a:latin typeface="맑은 고딕"/>
                <a:ea typeface="맑은 고딕"/>
                <a:cs typeface="맑은 고딕"/>
              </a:defRPr>
            </a:lvl8pPr>
            <a:lvl9pPr algn="l">
              <a:defRPr sz="24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2400" b="1">
                <a:solidFill>
                  <a:srgbClr val="173A49"/>
                </a:solidFill>
                <a:latin typeface="맑은 고딕"/>
                <a:ea typeface="맑은 고딕"/>
                <a:cs typeface="맑은 고딕"/>
              </a:defRPr>
            </a:pPr>
            <a:r>
              <a:rPr sz="2400" b="1">
                <a:solidFill>
                  <a:srgbClr val="173A49"/>
                </a:solidFill>
                <a:latin typeface="맑은 고딕"/>
                <a:ea typeface="맑은 고딕"/>
                <a:cs typeface="맑은 고딕"/>
              </a:rPr>
              <a:t>정상을 불량으로 오판</a:t>
            </a:r>
          </a:p>
        </p:txBody>
      </p:sp>
      <p:sp>
        <p:nvSpPr>
          <p:cNvPr id="13" name="TextBox 12">
            <a:extLst xmlns:a="http://schemas.openxmlformats.org/drawingml/2006/main">
              <a:ext uri="{FF2B5EF4-FFF2-40B4-BE49-F238E27FC236}">
                <a16:creationId xmlns:a16="http://schemas.microsoft.com/office/drawing/2014/main" id="{B53E28F2-56A9-4730-9293-76F5DD57451C}"/>
              </a:ext>
            </a:extLst>
          </p:cNvPr>
          <p:cNvSpPr>
            <a:spLocks xmlns:a="http://schemas.openxmlformats.org/drawingml/2006/main" noGrp="1"/>
          </p:cNvSpPr>
          <p:nvPr/>
        </p:nvSpPr>
        <p:spPr>
          <a:xfrm xmlns:a="http://schemas.openxmlformats.org/drawingml/2006/main">
            <a:off x="6419088" y="2609850"/>
            <a:ext cx="4892040" cy="117795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800">
                <a:solidFill>
                  <a:srgbClr val="173A49"/>
                </a:solidFill>
                <a:latin typeface="맑은 고딕"/>
                <a:ea typeface="맑은 고딕"/>
                <a:cs typeface="맑은 고딕"/>
              </a:defRPr>
            </a:defPPr>
            <a:lvl1pPr algn="l">
              <a:defRPr sz="1800">
                <a:solidFill>
                  <a:srgbClr val="173A49"/>
                </a:solidFill>
                <a:latin typeface="맑은 고딕"/>
                <a:ea typeface="맑은 고딕"/>
                <a:cs typeface="맑은 고딕"/>
              </a:defRPr>
            </a:lvl1pPr>
            <a:lvl2pPr algn="l">
              <a:defRPr sz="1800">
                <a:solidFill>
                  <a:srgbClr val="173A49"/>
                </a:solidFill>
                <a:latin typeface="맑은 고딕"/>
                <a:ea typeface="맑은 고딕"/>
                <a:cs typeface="맑은 고딕"/>
              </a:defRPr>
            </a:lvl2pPr>
            <a:lvl3pPr algn="l">
              <a:defRPr sz="1800">
                <a:solidFill>
                  <a:srgbClr val="173A49"/>
                </a:solidFill>
                <a:latin typeface="맑은 고딕"/>
                <a:ea typeface="맑은 고딕"/>
                <a:cs typeface="맑은 고딕"/>
              </a:defRPr>
            </a:lvl3pPr>
            <a:lvl4pPr algn="l">
              <a:defRPr sz="1800">
                <a:solidFill>
                  <a:srgbClr val="173A49"/>
                </a:solidFill>
                <a:latin typeface="맑은 고딕"/>
                <a:ea typeface="맑은 고딕"/>
                <a:cs typeface="맑은 고딕"/>
              </a:defRPr>
            </a:lvl4pPr>
            <a:lvl5pPr algn="l">
              <a:defRPr sz="1800">
                <a:solidFill>
                  <a:srgbClr val="173A49"/>
                </a:solidFill>
                <a:latin typeface="맑은 고딕"/>
                <a:ea typeface="맑은 고딕"/>
                <a:cs typeface="맑은 고딕"/>
              </a:defRPr>
            </a:lvl5pPr>
            <a:lvl6pPr algn="l">
              <a:defRPr sz="1800">
                <a:solidFill>
                  <a:srgbClr val="173A49"/>
                </a:solidFill>
                <a:latin typeface="맑은 고딕"/>
                <a:ea typeface="맑은 고딕"/>
                <a:cs typeface="맑은 고딕"/>
              </a:defRPr>
            </a:lvl6pPr>
            <a:lvl7pPr algn="l">
              <a:defRPr sz="1800">
                <a:solidFill>
                  <a:srgbClr val="173A49"/>
                </a:solidFill>
                <a:latin typeface="맑은 고딕"/>
                <a:ea typeface="맑은 고딕"/>
                <a:cs typeface="맑은 고딕"/>
              </a:defRPr>
            </a:lvl7pPr>
            <a:lvl8pPr algn="l">
              <a:defRPr sz="1800">
                <a:solidFill>
                  <a:srgbClr val="173A49"/>
                </a:solidFill>
                <a:latin typeface="맑은 고딕"/>
                <a:ea typeface="맑은 고딕"/>
                <a:cs typeface="맑은 고딕"/>
              </a:defRPr>
            </a:lvl8pPr>
            <a:lvl9pPr algn="l">
              <a:defRPr sz="18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800" b="0">
                <a:solidFill>
                  <a:srgbClr val="173A49"/>
                </a:solidFill>
                <a:latin typeface="맑은 고딕"/>
                <a:ea typeface="맑은 고딕"/>
                <a:cs typeface="맑은 고딕"/>
              </a:defRPr>
            </a:pPr>
            <a:r>
              <a:rPr sz="1800">
                <a:solidFill>
                  <a:srgbClr val="173A49"/>
                </a:solidFill>
                <a:latin typeface="맑은 고딕"/>
                <a:ea typeface="맑은 고딕"/>
                <a:cs typeface="맑은 고딕"/>
              </a:rPr>
              <a:t>불필요한 확인·보류가 늘고</a:t>
            </a:r>
          </a:p>
          <a:p xmlns:a="http://schemas.openxmlformats.org/drawingml/2006/main">
            <a:pPr algn="l">
              <a:lnSpc>
                <a:spcPct val="114000"/>
              </a:lnSpc>
              <a:spcAft>
                <a:spcPts val="800"/>
              </a:spcAft>
              <a:buNone/>
              <a:defRPr sz="1800" b="0">
                <a:solidFill>
                  <a:srgbClr val="173A49"/>
                </a:solidFill>
                <a:latin typeface="맑은 고딕"/>
                <a:ea typeface="맑은 고딕"/>
                <a:cs typeface="맑은 고딕"/>
              </a:defRPr>
            </a:pPr>
            <a:r>
              <a:rPr sz="1800" b="0">
                <a:solidFill>
                  <a:srgbClr val="173A49"/>
                </a:solidFill>
                <a:latin typeface="맑은 고딕"/>
                <a:ea typeface="맑은 고딕"/>
                <a:cs typeface="맑은 고딕"/>
              </a:rPr>
              <a:t>정상 제품을 제외할 위험이 있습니다.</a:t>
            </a:r>
          </a:p>
          <a:p xmlns:a="http://schemas.openxmlformats.org/drawingml/2006/main">
            <a:pPr algn="l">
              <a:lnSpc>
                <a:spcPct val="114000"/>
              </a:lnSpc>
              <a:spcAft>
                <a:spcPts val="800"/>
              </a:spcAft>
              <a:buNone/>
              <a:defRPr sz="1800" b="0">
                <a:solidFill>
                  <a:srgbClr val="173A49"/>
                </a:solidFill>
                <a:latin typeface="맑은 고딕"/>
                <a:ea typeface="맑은 고딕"/>
                <a:cs typeface="맑은 고딕"/>
              </a:defRPr>
            </a:pPr>
            <a:r>
              <a:rPr sz="1800" b="0">
                <a:solidFill>
                  <a:srgbClr val="173A49"/>
                </a:solidFill>
                <a:latin typeface="맑은 고딕"/>
                <a:ea typeface="맑은 고딕"/>
                <a:cs typeface="맑은 고딕"/>
              </a:rPr>
              <a:t>정상 오판률: 정상100개 중 잘못 잡은 비율</a:t>
            </a:r>
          </a:p>
        </p:txBody>
      </p:sp>
      <p:sp>
        <p:nvSpPr>
          <p:cNvPr id="14" name="TextBox 13">
            <a:extLst xmlns:a="http://schemas.openxmlformats.org/drawingml/2006/main">
              <a:ext uri="{FF2B5EF4-FFF2-40B4-BE49-F238E27FC236}">
                <a16:creationId xmlns:a16="http://schemas.microsoft.com/office/drawing/2014/main" id="{5D36A391-BA26-4980-8CDE-3AB17EAB27B3}"/>
              </a:ext>
            </a:extLst>
          </p:cNvPr>
          <p:cNvSpPr>
            <a:spLocks xmlns:a="http://schemas.openxmlformats.org/drawingml/2006/main" noGrp="1"/>
          </p:cNvSpPr>
          <p:nvPr/>
        </p:nvSpPr>
        <p:spPr>
          <a:xfrm xmlns:a="http://schemas.openxmlformats.org/drawingml/2006/main">
            <a:off x="731520" y="5353050"/>
            <a:ext cx="10698480" cy="3623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875" b="1">
                <a:solidFill>
                  <a:srgbClr val="173A49"/>
                </a:solidFill>
                <a:latin typeface="맑은 고딕"/>
                <a:ea typeface="맑은 고딕"/>
                <a:cs typeface="맑은 고딕"/>
              </a:defRPr>
            </a:defPPr>
            <a:lvl1pPr algn="l">
              <a:defRPr sz="1875" b="1">
                <a:solidFill>
                  <a:srgbClr val="173A49"/>
                </a:solidFill>
                <a:latin typeface="맑은 고딕"/>
                <a:ea typeface="맑은 고딕"/>
                <a:cs typeface="맑은 고딕"/>
              </a:defRPr>
            </a:lvl1pPr>
            <a:lvl2pPr algn="l">
              <a:defRPr sz="1875" b="1">
                <a:solidFill>
                  <a:srgbClr val="173A49"/>
                </a:solidFill>
                <a:latin typeface="맑은 고딕"/>
                <a:ea typeface="맑은 고딕"/>
                <a:cs typeface="맑은 고딕"/>
              </a:defRPr>
            </a:lvl2pPr>
            <a:lvl3pPr algn="l">
              <a:defRPr sz="1875" b="1">
                <a:solidFill>
                  <a:srgbClr val="173A49"/>
                </a:solidFill>
                <a:latin typeface="맑은 고딕"/>
                <a:ea typeface="맑은 고딕"/>
                <a:cs typeface="맑은 고딕"/>
              </a:defRPr>
            </a:lvl3pPr>
            <a:lvl4pPr algn="l">
              <a:defRPr sz="1875" b="1">
                <a:solidFill>
                  <a:srgbClr val="173A49"/>
                </a:solidFill>
                <a:latin typeface="맑은 고딕"/>
                <a:ea typeface="맑은 고딕"/>
                <a:cs typeface="맑은 고딕"/>
              </a:defRPr>
            </a:lvl4pPr>
            <a:lvl5pPr algn="l">
              <a:defRPr sz="1875" b="1">
                <a:solidFill>
                  <a:srgbClr val="173A49"/>
                </a:solidFill>
                <a:latin typeface="맑은 고딕"/>
                <a:ea typeface="맑은 고딕"/>
                <a:cs typeface="맑은 고딕"/>
              </a:defRPr>
            </a:lvl5pPr>
            <a:lvl6pPr algn="l">
              <a:defRPr sz="1875" b="1">
                <a:solidFill>
                  <a:srgbClr val="173A49"/>
                </a:solidFill>
                <a:latin typeface="맑은 고딕"/>
                <a:ea typeface="맑은 고딕"/>
                <a:cs typeface="맑은 고딕"/>
              </a:defRPr>
            </a:lvl6pPr>
            <a:lvl7pPr algn="l">
              <a:defRPr sz="1875" b="1">
                <a:solidFill>
                  <a:srgbClr val="173A49"/>
                </a:solidFill>
                <a:latin typeface="맑은 고딕"/>
                <a:ea typeface="맑은 고딕"/>
                <a:cs typeface="맑은 고딕"/>
              </a:defRPr>
            </a:lvl7pPr>
            <a:lvl8pPr algn="l">
              <a:defRPr sz="1875" b="1">
                <a:solidFill>
                  <a:srgbClr val="173A49"/>
                </a:solidFill>
                <a:latin typeface="맑은 고딕"/>
                <a:ea typeface="맑은 고딕"/>
                <a:cs typeface="맑은 고딕"/>
              </a:defRPr>
            </a:lvl8pPr>
            <a:lvl9pPr algn="l">
              <a:defRPr sz="1875"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875" b="1">
                <a:solidFill>
                  <a:srgbClr val="173A49"/>
                </a:solidFill>
                <a:latin typeface="맑은 고딕"/>
                <a:ea typeface="맑은 고딕"/>
                <a:cs typeface="맑은 고딕"/>
              </a:defRPr>
            </a:pPr>
            <a:r>
              <a:rPr sz="1875" b="1">
                <a:solidFill>
                  <a:srgbClr val="173A49"/>
                </a:solidFill>
                <a:latin typeface="맑은 고딕"/>
                <a:ea typeface="맑은 고딕"/>
                <a:cs typeface="맑은 고딕"/>
              </a:rPr>
              <a:t>시연 목표: Recall90% 이상 · 정상 오판률15% 이하 (교육용 수치)</a:t>
            </a:r>
          </a:p>
        </p:txBody>
      </p:sp>
      <p:sp>
        <p:nvSpPr>
          <p:cNvPr id="15" name="TextBox 14">
            <a:extLst xmlns:a="http://schemas.openxmlformats.org/drawingml/2006/main">
              <a:ext uri="{FF2B5EF4-FFF2-40B4-BE49-F238E27FC236}">
                <a16:creationId xmlns:a16="http://schemas.microsoft.com/office/drawing/2014/main" id="{50418AAC-605E-41FF-AF16-DBA9CA75A8C5}"/>
              </a:ext>
            </a:extLst>
          </p:cNvPr>
          <p:cNvSpPr>
            <a:spLocks xmlns:a="http://schemas.openxmlformats.org/drawingml/2006/main" noGrp="1"/>
          </p:cNvSpPr>
          <p:nvPr/>
        </p:nvSpPr>
        <p:spPr>
          <a:xfrm xmlns:a="http://schemas.openxmlformats.org/drawingml/2006/main">
            <a:off x="731520" y="4391025"/>
            <a:ext cx="1069848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100" b="1">
                <a:solidFill>
                  <a:srgbClr val="147D82"/>
                </a:solidFill>
                <a:latin typeface="맑은 고딕"/>
                <a:ea typeface="맑은 고딕"/>
                <a:cs typeface="맑은 고딕"/>
              </a:defRPr>
            </a:defPPr>
            <a:lvl1pPr algn="l">
              <a:defRPr sz="2100" b="1">
                <a:solidFill>
                  <a:srgbClr val="147D82"/>
                </a:solidFill>
                <a:latin typeface="맑은 고딕"/>
                <a:ea typeface="맑은 고딕"/>
                <a:cs typeface="맑은 고딕"/>
              </a:defRPr>
            </a:lvl1pPr>
            <a:lvl2pPr algn="l">
              <a:defRPr sz="2100" b="1">
                <a:solidFill>
                  <a:srgbClr val="147D82"/>
                </a:solidFill>
                <a:latin typeface="맑은 고딕"/>
                <a:ea typeface="맑은 고딕"/>
                <a:cs typeface="맑은 고딕"/>
              </a:defRPr>
            </a:lvl2pPr>
            <a:lvl3pPr algn="l">
              <a:defRPr sz="2100" b="1">
                <a:solidFill>
                  <a:srgbClr val="147D82"/>
                </a:solidFill>
                <a:latin typeface="맑은 고딕"/>
                <a:ea typeface="맑은 고딕"/>
                <a:cs typeface="맑은 고딕"/>
              </a:defRPr>
            </a:lvl3pPr>
            <a:lvl4pPr algn="l">
              <a:defRPr sz="2100" b="1">
                <a:solidFill>
                  <a:srgbClr val="147D82"/>
                </a:solidFill>
                <a:latin typeface="맑은 고딕"/>
                <a:ea typeface="맑은 고딕"/>
                <a:cs typeface="맑은 고딕"/>
              </a:defRPr>
            </a:lvl4pPr>
            <a:lvl5pPr algn="l">
              <a:defRPr sz="2100" b="1">
                <a:solidFill>
                  <a:srgbClr val="147D82"/>
                </a:solidFill>
                <a:latin typeface="맑은 고딕"/>
                <a:ea typeface="맑은 고딕"/>
                <a:cs typeface="맑은 고딕"/>
              </a:defRPr>
            </a:lvl5pPr>
            <a:lvl6pPr algn="l">
              <a:defRPr sz="2100" b="1">
                <a:solidFill>
                  <a:srgbClr val="147D82"/>
                </a:solidFill>
                <a:latin typeface="맑은 고딕"/>
                <a:ea typeface="맑은 고딕"/>
                <a:cs typeface="맑은 고딕"/>
              </a:defRPr>
            </a:lvl6pPr>
            <a:lvl7pPr algn="l">
              <a:defRPr sz="2100" b="1">
                <a:solidFill>
                  <a:srgbClr val="147D82"/>
                </a:solidFill>
                <a:latin typeface="맑은 고딕"/>
                <a:ea typeface="맑은 고딕"/>
                <a:cs typeface="맑은 고딕"/>
              </a:defRPr>
            </a:lvl7pPr>
            <a:lvl8pPr algn="l">
              <a:defRPr sz="2100" b="1">
                <a:solidFill>
                  <a:srgbClr val="147D82"/>
                </a:solidFill>
                <a:latin typeface="맑은 고딕"/>
                <a:ea typeface="맑은 고딕"/>
                <a:cs typeface="맑은 고딕"/>
              </a:defRPr>
            </a:lvl8pPr>
            <a:lvl9pPr algn="l">
              <a:defRPr sz="21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2100" b="1">
                <a:solidFill>
                  <a:srgbClr val="147D82"/>
                </a:solidFill>
                <a:latin typeface="맑은 고딕"/>
                <a:ea typeface="맑은 고딕"/>
                <a:cs typeface="맑은 고딕"/>
              </a:defRPr>
            </a:pPr>
            <a:r>
              <a:rPr sz="2100" b="1">
                <a:solidFill>
                  <a:srgbClr val="147D82"/>
                </a:solidFill>
                <a:latin typeface="맑은 고딕"/>
                <a:ea typeface="맑은 고딕"/>
                <a:cs typeface="맑은 고딕"/>
              </a:rPr>
              <a:t>정상 오판을 제한한 뒤, 불량을 가장 많이 찾는 모델 선택</a:t>
            </a:r>
          </a:p>
        </p:txBody>
      </p:sp>
      <p:sp>
        <p:nvSpPr>
          <p:cNvPr id="16" name="TextBox 15">
            <a:extLst xmlns:a="http://schemas.openxmlformats.org/drawingml/2006/main">
              <a:ext uri="{FF2B5EF4-FFF2-40B4-BE49-F238E27FC236}">
                <a16:creationId xmlns:a16="http://schemas.microsoft.com/office/drawing/2014/main" id="{9C50AF9B-0CD5-48D5-914F-A5796F3A20CB}"/>
              </a:ext>
            </a:extLst>
          </p:cNvPr>
          <p:cNvSpPr>
            <a:spLocks xmlns:a="http://schemas.openxmlformats.org/drawingml/2006/main" noGrp="1"/>
          </p:cNvSpPr>
          <p:nvPr/>
        </p:nvSpPr>
        <p:spPr>
          <a:xfrm xmlns:a="http://schemas.openxmlformats.org/drawingml/2006/main">
            <a:off x="731520" y="4886325"/>
            <a:ext cx="10698480" cy="33627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725">
                <a:solidFill>
                  <a:srgbClr val="617681"/>
                </a:solidFill>
                <a:latin typeface="맑은 고딕"/>
                <a:ea typeface="맑은 고딕"/>
                <a:cs typeface="맑은 고딕"/>
              </a:defRPr>
            </a:defPPr>
            <a:lvl1pPr algn="l">
              <a:defRPr sz="1725">
                <a:solidFill>
                  <a:srgbClr val="617681"/>
                </a:solidFill>
                <a:latin typeface="맑은 고딕"/>
                <a:ea typeface="맑은 고딕"/>
                <a:cs typeface="맑은 고딕"/>
              </a:defRPr>
            </a:lvl1pPr>
            <a:lvl2pPr algn="l">
              <a:defRPr sz="1725">
                <a:solidFill>
                  <a:srgbClr val="617681"/>
                </a:solidFill>
                <a:latin typeface="맑은 고딕"/>
                <a:ea typeface="맑은 고딕"/>
                <a:cs typeface="맑은 고딕"/>
              </a:defRPr>
            </a:lvl2pPr>
            <a:lvl3pPr algn="l">
              <a:defRPr sz="1725">
                <a:solidFill>
                  <a:srgbClr val="617681"/>
                </a:solidFill>
                <a:latin typeface="맑은 고딕"/>
                <a:ea typeface="맑은 고딕"/>
                <a:cs typeface="맑은 고딕"/>
              </a:defRPr>
            </a:lvl3pPr>
            <a:lvl4pPr algn="l">
              <a:defRPr sz="1725">
                <a:solidFill>
                  <a:srgbClr val="617681"/>
                </a:solidFill>
                <a:latin typeface="맑은 고딕"/>
                <a:ea typeface="맑은 고딕"/>
                <a:cs typeface="맑은 고딕"/>
              </a:defRPr>
            </a:lvl4pPr>
            <a:lvl5pPr algn="l">
              <a:defRPr sz="1725">
                <a:solidFill>
                  <a:srgbClr val="617681"/>
                </a:solidFill>
                <a:latin typeface="맑은 고딕"/>
                <a:ea typeface="맑은 고딕"/>
                <a:cs typeface="맑은 고딕"/>
              </a:defRPr>
            </a:lvl5pPr>
            <a:lvl6pPr algn="l">
              <a:defRPr sz="1725">
                <a:solidFill>
                  <a:srgbClr val="617681"/>
                </a:solidFill>
                <a:latin typeface="맑은 고딕"/>
                <a:ea typeface="맑은 고딕"/>
                <a:cs typeface="맑은 고딕"/>
              </a:defRPr>
            </a:lvl6pPr>
            <a:lvl7pPr algn="l">
              <a:defRPr sz="1725">
                <a:solidFill>
                  <a:srgbClr val="617681"/>
                </a:solidFill>
                <a:latin typeface="맑은 고딕"/>
                <a:ea typeface="맑은 고딕"/>
                <a:cs typeface="맑은 고딕"/>
              </a:defRPr>
            </a:lvl7pPr>
            <a:lvl8pPr algn="l">
              <a:defRPr sz="1725">
                <a:solidFill>
                  <a:srgbClr val="617681"/>
                </a:solidFill>
                <a:latin typeface="맑은 고딕"/>
                <a:ea typeface="맑은 고딕"/>
                <a:cs typeface="맑은 고딕"/>
              </a:defRPr>
            </a:lvl8pPr>
            <a:lvl9pPr algn="l">
              <a:defRPr sz="1725">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725" b="0">
                <a:solidFill>
                  <a:srgbClr val="617681"/>
                </a:solidFill>
                <a:latin typeface="맑은 고딕"/>
                <a:ea typeface="맑은 고딕"/>
                <a:cs typeface="맑은 고딕"/>
              </a:defRPr>
            </a:pPr>
            <a:r>
              <a:rPr sz="1725">
                <a:solidFill>
                  <a:srgbClr val="617681"/>
                </a:solidFill>
                <a:latin typeface="맑은 고딕"/>
                <a:ea typeface="맑은 고딕"/>
                <a:cs typeface="맑은 고딕"/>
              </a:rPr>
              <a:t>동률이면 F1: 불량을 잘 찾고, 불량 판정도 정확한지 함께 확인</a:t>
            </a:r>
          </a:p>
        </p:txBody>
      </p:sp>
      <p:sp>
        <p:nvSpPr>
          <p:cNvPr id="17" name="TextBox 16">
            <a:extLst xmlns:a="http://schemas.openxmlformats.org/drawingml/2006/main">
              <a:ext uri="{FF2B5EF4-FFF2-40B4-BE49-F238E27FC236}">
                <a16:creationId xmlns:a16="http://schemas.microsoft.com/office/drawing/2014/main" id="{7943FE2D-746C-4CC5-9AE0-D0C59DC384D3}"/>
              </a:ext>
            </a:extLst>
          </p:cNvPr>
          <p:cNvSpPr>
            <a:spLocks xmlns:a="http://schemas.openxmlformats.org/drawingml/2006/main" noGrp="1"/>
          </p:cNvSpPr>
          <p:nvPr/>
        </p:nvSpPr>
        <p:spPr>
          <a:xfrm xmlns:a="http://schemas.openxmlformats.org/drawingml/2006/main">
            <a:off x="731520" y="5800725"/>
            <a:ext cx="10698480" cy="31021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575">
                <a:solidFill>
                  <a:srgbClr val="617681"/>
                </a:solidFill>
                <a:latin typeface="맑은 고딕"/>
                <a:ea typeface="맑은 고딕"/>
                <a:cs typeface="맑은 고딕"/>
              </a:defRPr>
            </a:defPPr>
            <a:lvl1pPr algn="l">
              <a:defRPr sz="1575">
                <a:solidFill>
                  <a:srgbClr val="617681"/>
                </a:solidFill>
                <a:latin typeface="맑은 고딕"/>
                <a:ea typeface="맑은 고딕"/>
                <a:cs typeface="맑은 고딕"/>
              </a:defRPr>
            </a:lvl1pPr>
            <a:lvl2pPr algn="l">
              <a:defRPr sz="1575">
                <a:solidFill>
                  <a:srgbClr val="617681"/>
                </a:solidFill>
                <a:latin typeface="맑은 고딕"/>
                <a:ea typeface="맑은 고딕"/>
                <a:cs typeface="맑은 고딕"/>
              </a:defRPr>
            </a:lvl2pPr>
            <a:lvl3pPr algn="l">
              <a:defRPr sz="1575">
                <a:solidFill>
                  <a:srgbClr val="617681"/>
                </a:solidFill>
                <a:latin typeface="맑은 고딕"/>
                <a:ea typeface="맑은 고딕"/>
                <a:cs typeface="맑은 고딕"/>
              </a:defRPr>
            </a:lvl3pPr>
            <a:lvl4pPr algn="l">
              <a:defRPr sz="1575">
                <a:solidFill>
                  <a:srgbClr val="617681"/>
                </a:solidFill>
                <a:latin typeface="맑은 고딕"/>
                <a:ea typeface="맑은 고딕"/>
                <a:cs typeface="맑은 고딕"/>
              </a:defRPr>
            </a:lvl4pPr>
            <a:lvl5pPr algn="l">
              <a:defRPr sz="1575">
                <a:solidFill>
                  <a:srgbClr val="617681"/>
                </a:solidFill>
                <a:latin typeface="맑은 고딕"/>
                <a:ea typeface="맑은 고딕"/>
                <a:cs typeface="맑은 고딕"/>
              </a:defRPr>
            </a:lvl5pPr>
            <a:lvl6pPr algn="l">
              <a:defRPr sz="1575">
                <a:solidFill>
                  <a:srgbClr val="617681"/>
                </a:solidFill>
                <a:latin typeface="맑은 고딕"/>
                <a:ea typeface="맑은 고딕"/>
                <a:cs typeface="맑은 고딕"/>
              </a:defRPr>
            </a:lvl6pPr>
            <a:lvl7pPr algn="l">
              <a:defRPr sz="1575">
                <a:solidFill>
                  <a:srgbClr val="617681"/>
                </a:solidFill>
                <a:latin typeface="맑은 고딕"/>
                <a:ea typeface="맑은 고딕"/>
                <a:cs typeface="맑은 고딕"/>
              </a:defRPr>
            </a:lvl7pPr>
            <a:lvl8pPr algn="l">
              <a:defRPr sz="1575">
                <a:solidFill>
                  <a:srgbClr val="617681"/>
                </a:solidFill>
                <a:latin typeface="맑은 고딕"/>
                <a:ea typeface="맑은 고딕"/>
                <a:cs typeface="맑은 고딕"/>
              </a:defRPr>
            </a:lvl8pPr>
            <a:lvl9pPr algn="l">
              <a:defRPr sz="1575">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575" b="0">
                <a:solidFill>
                  <a:srgbClr val="617681"/>
                </a:solidFill>
                <a:latin typeface="맑은 고딕"/>
                <a:ea typeface="맑은 고딕"/>
                <a:cs typeface="맑은 고딕"/>
              </a:defRPr>
            </a:pPr>
            <a:r>
              <a:rPr sz="1575">
                <a:solidFill>
                  <a:srgbClr val="617681"/>
                </a:solidFill>
                <a:latin typeface="맑은 고딕"/>
                <a:ea typeface="맑은 고딕"/>
                <a:cs typeface="맑은 고딕"/>
              </a:rPr>
              <a:t>전부 불량으로 판정하면 Recall100%지만, 정상 오판도100%입니다.</a:t>
            </a:r>
          </a:p>
        </p:txBody>
      </p:sp>
    </p:spTree>
    <p:extLst>
      <p:ext uri="{BB962C8B-B14F-4D97-AF65-F5344CB8AC3E}">
        <p14:creationId xmlns:p14="http://schemas.microsoft.com/office/powerpoint/2010/main" val="1336692684"/>
      </p:ext>
    </p:extLst>
  </p:cSld>
</p:sld>
</file>

<file path=ppt/slides/slide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69F3ED5-CC64-4926-8E5D-8311DF0174BB}"/>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A8E83437-0164-47DA-89FD-8825B06D057C}"/>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04 · 실제 화면 | 이번 시연의 입력</a:t>
            </a:r>
          </a:p>
        </p:txBody>
      </p:sp>
      <p:sp>
        <p:nvSpPr>
          <p:cNvPr id="4" name="TextBox 3">
            <a:extLst xmlns:a="http://schemas.openxmlformats.org/drawingml/2006/main">
              <a:ext uri="{FF2B5EF4-FFF2-40B4-BE49-F238E27FC236}">
                <a16:creationId xmlns:a16="http://schemas.microsoft.com/office/drawing/2014/main" id="{FCD46FCC-963F-4BD9-8B41-9EF39EC93539}"/>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① 검사 데이터를 선택합니다</a:t>
            </a:r>
          </a:p>
        </p:txBody>
      </p:sp>
      <p:sp>
        <p:nvSpPr>
          <p:cNvPr id="5" name="Rectangle 4">
            <a:extLst xmlns:a="http://schemas.openxmlformats.org/drawingml/2006/main">
              <a:ext uri="{FF2B5EF4-FFF2-40B4-BE49-F238E27FC236}">
                <a16:creationId xmlns:a16="http://schemas.microsoft.com/office/drawing/2014/main" id="{9E0648B5-5C5D-46CF-8E03-E9FB2D10D175}"/>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87CD0E46-B799-4A3F-B532-A1C32865E581}"/>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BE97242E-EFB0-40D4-847D-976A977D7CE9}"/>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04 / 17</a:t>
            </a:r>
          </a:p>
        </p:txBody>
      </p:sp>
      <p:sp>
        <p:nvSpPr>
          <p:cNvPr id="8" name="TextBox 7">
            <a:extLst xmlns:a="http://schemas.openxmlformats.org/drawingml/2006/main">
              <a:ext uri="{FF2B5EF4-FFF2-40B4-BE49-F238E27FC236}">
                <a16:creationId xmlns:a16="http://schemas.microsoft.com/office/drawing/2014/main" id="{B200172B-384F-42F4-BF13-480EC16B5277}"/>
              </a:ext>
            </a:extLst>
          </p:cNvPr>
          <p:cNvSpPr>
            <a:spLocks xmlns:a="http://schemas.openxmlformats.org/drawingml/2006/main" noGrp="1"/>
          </p:cNvSpPr>
          <p:nvPr/>
        </p:nvSpPr>
        <p:spPr>
          <a:xfrm xmlns:a="http://schemas.openxmlformats.org/drawingml/2006/main">
            <a:off x="658368" y="2057400"/>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합성 센서 1,280건 · 불량 201건 · 제품 A–D는 가상 이름</a:t>
            </a:r>
          </a:p>
        </p:txBody>
      </p:sp>
      <p:sp>
        <p:nvSpPr>
          <p:cNvPr id="9" name="TextBox 8">
            <a:extLst xmlns:a="http://schemas.openxmlformats.org/drawingml/2006/main">
              <a:ext uri="{FF2B5EF4-FFF2-40B4-BE49-F238E27FC236}">
                <a16:creationId xmlns:a16="http://schemas.microsoft.com/office/drawing/2014/main" id="{07B2D0EF-0EDF-4A17-B212-3B808C4CDB9C}"/>
              </a:ext>
            </a:extLst>
          </p:cNvPr>
          <p:cNvSpPr>
            <a:spLocks xmlns:a="http://schemas.openxmlformats.org/drawingml/2006/main" noGrp="1"/>
          </p:cNvSpPr>
          <p:nvPr/>
        </p:nvSpPr>
        <p:spPr>
          <a:xfrm xmlns:a="http://schemas.openxmlformats.org/drawingml/2006/main">
            <a:off x="658368" y="2935224"/>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센서 CSV와 검사 이미지 ZIP 등록도 지원합니다.</a:t>
            </a:r>
          </a:p>
        </p:txBody>
      </p:sp>
      <p:sp>
        <p:nvSpPr>
          <p:cNvPr id="10" name="TextBox 9">
            <a:extLst xmlns:a="http://schemas.openxmlformats.org/drawingml/2006/main">
              <a:ext uri="{FF2B5EF4-FFF2-40B4-BE49-F238E27FC236}">
                <a16:creationId xmlns:a16="http://schemas.microsoft.com/office/drawing/2014/main" id="{05FD66D9-3D3A-4837-851B-7572714E21BE}"/>
              </a:ext>
            </a:extLst>
          </p:cNvPr>
          <p:cNvSpPr>
            <a:spLocks xmlns:a="http://schemas.openxmlformats.org/drawingml/2006/main" noGrp="1"/>
          </p:cNvSpPr>
          <p:nvPr/>
        </p:nvSpPr>
        <p:spPr>
          <a:xfrm xmlns:a="http://schemas.openxmlformats.org/drawingml/2006/main">
            <a:off x="658368" y="3813048"/>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오늘은 센서 예제로 모델과 혼합 비율을 비교합니다.</a:t>
            </a:r>
          </a:p>
        </p:txBody>
      </p:sp>
      <p:sp>
        <p:nvSpPr>
          <p:cNvPr id="11" name="Rounded Rectangle 10">
            <a:extLst xmlns:a="http://schemas.openxmlformats.org/drawingml/2006/main">
              <a:ext uri="{FF2B5EF4-FFF2-40B4-BE49-F238E27FC236}">
                <a16:creationId xmlns:a16="http://schemas.microsoft.com/office/drawing/2014/main" id="{3AAECB33-F074-4E7B-8BCC-36F6A6FA53F0}"/>
              </a:ext>
            </a:extLst>
          </p:cNvPr>
          <p:cNvSpPr>
            <a:spLocks xmlns:a="http://schemas.openxmlformats.org/drawingml/2006/main" noGrp="1"/>
          </p:cNvSpPr>
          <p:nvPr/>
        </p:nvSpPr>
        <p:spPr>
          <a:xfrm xmlns:a="http://schemas.openxmlformats.org/drawingml/2006/main">
            <a:off x="5413248" y="1801367"/>
            <a:ext cx="5998464"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2" name="Picture 11">
            <a:extLst xmlns:a="http://schemas.openxmlformats.org/drawingml/2006/main">
              <a:ext uri="{FF2B5EF4-FFF2-40B4-BE49-F238E27FC236}">
                <a16:creationId xmlns:a16="http://schemas.microsoft.com/office/drawing/2014/main" id="{BEE9D3B9-7F92-450D-9EF8-A8B6BA38BFEA}"/>
              </a:ext>
            </a:extLst>
          </p:cNvPr>
          <p:cNvPicPr>
            <a:picLocks xmlns:a="http://schemas.openxmlformats.org/drawingml/2006/main" noChangeAspect="1"/>
          </p:cNvPicPr>
          <p:nvPr/>
        </p:nvPicPr>
        <p:blipFill>
          <a:blip xmlns:r="http://schemas.openxmlformats.org/officeDocument/2006/relationships" xmlns:a="http://schemas.openxmlformats.org/drawingml/2006/main" r:embed="R32c76f1760e74f4f"/>
          <a:stretch xmlns:a="http://schemas.openxmlformats.org/drawingml/2006/main">
            <a:fillRect l="0" t="0" r="0" b="0"/>
          </a:stretch>
        </p:blipFill>
        <p:spPr>
          <a:xfrm xmlns:a="http://schemas.openxmlformats.org/drawingml/2006/main">
            <a:off x="5486400" y="1885029"/>
            <a:ext cx="5852160" cy="4139501"/>
          </a:xfrm>
          <a:prstGeom xmlns:a="http://schemas.openxmlformats.org/drawingml/2006/main" prst="rect">
            <a:avLst/>
          </a:prstGeom>
        </p:spPr>
      </p:pic>
    </p:spTree>
    <p:extLst>
      <p:ext uri="{BB962C8B-B14F-4D97-AF65-F5344CB8AC3E}">
        <p14:creationId xmlns:p14="http://schemas.microsoft.com/office/powerpoint/2010/main" val="179248509"/>
      </p:ext>
    </p:extLst>
  </p:cSld>
</p:sld>
</file>

<file path=ppt/slides/slide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4582340-0AF9-44A1-A9A6-3A16039CD3EE}"/>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C09E53CC-450C-416D-A748-8DB4C9374106}"/>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05 · 실제 화면 | 제품 묶음과 혼합 비율을 각각 비교</a:t>
            </a:r>
          </a:p>
        </p:txBody>
      </p:sp>
      <p:sp>
        <p:nvSpPr>
          <p:cNvPr id="4" name="TextBox 3">
            <a:extLst xmlns:a="http://schemas.openxmlformats.org/drawingml/2006/main">
              <a:ext uri="{FF2B5EF4-FFF2-40B4-BE49-F238E27FC236}">
                <a16:creationId xmlns:a16="http://schemas.microsoft.com/office/drawing/2014/main" id="{0C84C341-6A32-47D0-B21C-96998152CB42}"/>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② 비교 범위를 확인하고 승인합니다</a:t>
            </a:r>
          </a:p>
        </p:txBody>
      </p:sp>
      <p:sp>
        <p:nvSpPr>
          <p:cNvPr id="5" name="Rectangle 4">
            <a:extLst xmlns:a="http://schemas.openxmlformats.org/drawingml/2006/main">
              <a:ext uri="{FF2B5EF4-FFF2-40B4-BE49-F238E27FC236}">
                <a16:creationId xmlns:a16="http://schemas.microsoft.com/office/drawing/2014/main" id="{40A3B8EA-657B-4F4E-9ACC-F5909F2D66C6}"/>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3412200E-E621-4BD9-A1F3-0449D8678677}"/>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CD25CD3B-D308-4FD3-8A72-37A53A33A57F}"/>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05 / 17</a:t>
            </a:r>
          </a:p>
        </p:txBody>
      </p:sp>
      <p:sp>
        <p:nvSpPr>
          <p:cNvPr id="8" name="TextBox 7">
            <a:extLst xmlns:a="http://schemas.openxmlformats.org/drawingml/2006/main">
              <a:ext uri="{FF2B5EF4-FFF2-40B4-BE49-F238E27FC236}">
                <a16:creationId xmlns:a16="http://schemas.microsoft.com/office/drawing/2014/main" id="{C4714BFD-0491-4829-AEDC-807027C1C082}"/>
              </a:ext>
            </a:extLst>
          </p:cNvPr>
          <p:cNvSpPr>
            <a:spLocks xmlns:a="http://schemas.openxmlformats.org/drawingml/2006/main" noGrp="1"/>
          </p:cNvSpPr>
          <p:nvPr/>
        </p:nvSpPr>
        <p:spPr>
          <a:xfrm xmlns:a="http://schemas.openxmlformats.org/drawingml/2006/main">
            <a:off x="658368" y="2057400"/>
            <a:ext cx="4526280" cy="80101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빈값 처리·필요한 Scaling은 학습용 데이터로만 준비</a:t>
            </a:r>
          </a:p>
        </p:txBody>
      </p:sp>
      <p:sp>
        <p:nvSpPr>
          <p:cNvPr id="9" name="TextBox 8">
            <a:extLst xmlns:a="http://schemas.openxmlformats.org/drawingml/2006/main">
              <a:ext uri="{FF2B5EF4-FFF2-40B4-BE49-F238E27FC236}">
                <a16:creationId xmlns:a16="http://schemas.microsoft.com/office/drawing/2014/main" id="{DF4A656C-7AAC-4A15-BA65-0954DFEEA1D8}"/>
              </a:ext>
            </a:extLst>
          </p:cNvPr>
          <p:cNvSpPr>
            <a:spLocks xmlns:a="http://schemas.openxmlformats.org/drawingml/2006/main" noGrp="1"/>
          </p:cNvSpPr>
          <p:nvPr/>
        </p:nvSpPr>
        <p:spPr>
          <a:xfrm xmlns:a="http://schemas.openxmlformats.org/drawingml/2006/main">
            <a:off x="658368" y="2935224"/>
            <a:ext cx="4526280" cy="36667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학습60% · 후보 선택20% · 마지막 시험20%</a:t>
            </a:r>
          </a:p>
        </p:txBody>
      </p:sp>
      <p:sp>
        <p:nvSpPr>
          <p:cNvPr id="10" name="TextBox 9">
            <a:extLst xmlns:a="http://schemas.openxmlformats.org/drawingml/2006/main">
              <a:ext uri="{FF2B5EF4-FFF2-40B4-BE49-F238E27FC236}">
                <a16:creationId xmlns:a16="http://schemas.microsoft.com/office/drawing/2014/main" id="{4C975A96-8421-4510-BF8D-9678ADEC039A}"/>
              </a:ext>
            </a:extLst>
          </p:cNvPr>
          <p:cNvSpPr>
            <a:spLocks xmlns:a="http://schemas.openxmlformats.org/drawingml/2006/main" noGrp="1"/>
          </p:cNvSpPr>
          <p:nvPr/>
        </p:nvSpPr>
        <p:spPr>
          <a:xfrm xmlns:a="http://schemas.openxmlformats.org/drawingml/2006/main">
            <a:off x="658368" y="3813048"/>
            <a:ext cx="4526280" cy="696773"/>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제품 묶음15개와 예측 혼합 비율232개를 각각 비교</a:t>
            </a:r>
          </a:p>
        </p:txBody>
      </p:sp>
      <p:sp>
        <p:nvSpPr>
          <p:cNvPr id="11" name="TextBox 10">
            <a:extLst xmlns:a="http://schemas.openxmlformats.org/drawingml/2006/main">
              <a:ext uri="{FF2B5EF4-FFF2-40B4-BE49-F238E27FC236}">
                <a16:creationId xmlns:a16="http://schemas.microsoft.com/office/drawing/2014/main" id="{03930C20-AEF9-4911-947F-8B282DD4766C}"/>
              </a:ext>
            </a:extLst>
          </p:cNvPr>
          <p:cNvSpPr>
            <a:spLocks xmlns:a="http://schemas.openxmlformats.org/drawingml/2006/main" noGrp="1"/>
          </p:cNvSpPr>
          <p:nvPr/>
        </p:nvSpPr>
        <p:spPr>
          <a:xfrm xmlns:a="http://schemas.openxmlformats.org/drawingml/2006/main">
            <a:off x="658368" y="4690872"/>
            <a:ext cx="4526280" cy="36667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계획과 데이터를 확인하고 승인한 뒤 실제 학습</a:t>
            </a:r>
          </a:p>
        </p:txBody>
      </p:sp>
      <p:sp>
        <p:nvSpPr>
          <p:cNvPr id="12" name="Rounded Rectangle 11">
            <a:extLst xmlns:a="http://schemas.openxmlformats.org/drawingml/2006/main">
              <a:ext uri="{FF2B5EF4-FFF2-40B4-BE49-F238E27FC236}">
                <a16:creationId xmlns:a16="http://schemas.microsoft.com/office/drawing/2014/main" id="{5FA3B20B-4C83-4AFB-B4DE-82F176C82C79}"/>
              </a:ext>
            </a:extLst>
          </p:cNvPr>
          <p:cNvSpPr>
            <a:spLocks xmlns:a="http://schemas.openxmlformats.org/drawingml/2006/main" noGrp="1"/>
          </p:cNvSpPr>
          <p:nvPr/>
        </p:nvSpPr>
        <p:spPr>
          <a:xfrm xmlns:a="http://schemas.openxmlformats.org/drawingml/2006/main">
            <a:off x="5413248" y="1801367"/>
            <a:ext cx="5998464"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3" name="Picture 12">
            <a:extLst xmlns:a="http://schemas.openxmlformats.org/drawingml/2006/main">
              <a:ext uri="{FF2B5EF4-FFF2-40B4-BE49-F238E27FC236}">
                <a16:creationId xmlns:a16="http://schemas.microsoft.com/office/drawing/2014/main" id="{2521125F-FA25-4442-A70E-B42A94926747}"/>
              </a:ext>
            </a:extLst>
          </p:cNvPr>
          <p:cNvPicPr>
            <a:picLocks xmlns:a="http://schemas.openxmlformats.org/drawingml/2006/main" noChangeAspect="1"/>
          </p:cNvPicPr>
          <p:nvPr/>
        </p:nvPicPr>
        <p:blipFill>
          <a:blip xmlns:r="http://schemas.openxmlformats.org/officeDocument/2006/relationships" xmlns:a="http://schemas.openxmlformats.org/drawingml/2006/main" r:embed="Redf3f3ca23e74f4c"/>
          <a:stretch xmlns:a="http://schemas.openxmlformats.org/drawingml/2006/main">
            <a:fillRect l="0" t="0" r="0" b="0"/>
          </a:stretch>
        </p:blipFill>
        <p:spPr>
          <a:xfrm xmlns:a="http://schemas.openxmlformats.org/drawingml/2006/main">
            <a:off x="5848381" y="1874519"/>
            <a:ext cx="5128197" cy="4160520"/>
          </a:xfrm>
          <a:prstGeom xmlns:a="http://schemas.openxmlformats.org/drawingml/2006/main" prst="rect">
            <a:avLst/>
          </a:prstGeom>
        </p:spPr>
      </p:pic>
    </p:spTree>
    <p:extLst>
      <p:ext uri="{BB962C8B-B14F-4D97-AF65-F5344CB8AC3E}">
        <p14:creationId xmlns:p14="http://schemas.microsoft.com/office/powerpoint/2010/main" val="333259728"/>
      </p:ext>
    </p:extLst>
  </p:cSld>
</p:sld>
</file>

<file path=ppt/slides/slide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5A57F7E-7D6D-4D9A-A3CC-28F81FB5DB2A}"/>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303E4256-CD61-4DDC-A122-A77797722951}"/>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06 · 실험1 | 같은 CatBoost로 제품 묶음15개 비교</a:t>
            </a:r>
          </a:p>
        </p:txBody>
      </p:sp>
      <p:sp>
        <p:nvSpPr>
          <p:cNvPr id="4" name="TextBox 3">
            <a:extLst xmlns:a="http://schemas.openxmlformats.org/drawingml/2006/main">
              <a:ext uri="{FF2B5EF4-FFF2-40B4-BE49-F238E27FC236}">
                <a16:creationId xmlns:a16="http://schemas.microsoft.com/office/drawing/2014/main" id="{3D2F8EC6-495F-4636-A7C0-2F8B48A2F6B2}"/>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③ 제품 묶음 비교: ABC는 함께, D는 따로 학습</a:t>
            </a:r>
          </a:p>
        </p:txBody>
      </p:sp>
      <p:sp>
        <p:nvSpPr>
          <p:cNvPr id="5" name="Rectangle 4">
            <a:extLst xmlns:a="http://schemas.openxmlformats.org/drawingml/2006/main">
              <a:ext uri="{FF2B5EF4-FFF2-40B4-BE49-F238E27FC236}">
                <a16:creationId xmlns:a16="http://schemas.microsoft.com/office/drawing/2014/main" id="{1242C810-C448-48E8-9705-FFE6FA2DE308}"/>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5F98251-B7D1-4166-8BBC-D23A0309E2DF}"/>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59ECDF4A-88B6-486E-A552-F8A162A15BB0}"/>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06 / 17</a:t>
            </a:r>
          </a:p>
        </p:txBody>
      </p:sp>
      <p:sp>
        <p:nvSpPr>
          <p:cNvPr id="8" name="Rounded Rectangle 7">
            <a:extLst xmlns:a="http://schemas.openxmlformats.org/drawingml/2006/main">
              <a:ext uri="{FF2B5EF4-FFF2-40B4-BE49-F238E27FC236}">
                <a16:creationId xmlns:a16="http://schemas.microsoft.com/office/drawing/2014/main" id="{9DCECD3D-DC81-494B-9AE9-76572A6AC2AB}"/>
              </a:ext>
            </a:extLst>
          </p:cNvPr>
          <p:cNvSpPr>
            <a:spLocks xmlns:a="http://schemas.openxmlformats.org/drawingml/2006/main" noGrp="1"/>
          </p:cNvSpPr>
          <p:nvPr/>
        </p:nvSpPr>
        <p:spPr>
          <a:xfrm xmlns:a="http://schemas.openxmlformats.org/drawingml/2006/main">
            <a:off x="658368" y="1938528"/>
            <a:ext cx="10863072" cy="3639312"/>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9" name="Picture 8">
            <a:extLst xmlns:a="http://schemas.openxmlformats.org/drawingml/2006/main">
              <a:ext uri="{FF2B5EF4-FFF2-40B4-BE49-F238E27FC236}">
                <a16:creationId xmlns:a16="http://schemas.microsoft.com/office/drawing/2014/main" id="{CF713BEF-940A-4FD5-8DA0-9019120CE7C8}"/>
              </a:ext>
            </a:extLst>
          </p:cNvPr>
          <p:cNvPicPr>
            <a:picLocks xmlns:a="http://schemas.openxmlformats.org/drawingml/2006/main" noChangeAspect="1"/>
          </p:cNvPicPr>
          <p:nvPr/>
        </p:nvPicPr>
        <p:blipFill>
          <a:blip xmlns:r="http://schemas.openxmlformats.org/officeDocument/2006/relationships" xmlns:a="http://schemas.openxmlformats.org/drawingml/2006/main" r:embed="R9ab6fa6f086445e6"/>
          <a:stretch xmlns:a="http://schemas.openxmlformats.org/drawingml/2006/main">
            <a:fillRect l="0" t="0" r="0" b="0"/>
          </a:stretch>
        </p:blipFill>
        <p:spPr>
          <a:xfrm xmlns:a="http://schemas.openxmlformats.org/drawingml/2006/main">
            <a:off x="731519" y="2233816"/>
            <a:ext cx="10716768" cy="3048735"/>
          </a:xfrm>
          <a:prstGeom xmlns:a="http://schemas.openxmlformats.org/drawingml/2006/main" prst="rect">
            <a:avLst/>
          </a:prstGeom>
        </p:spPr>
      </p:pic>
      <p:sp>
        <p:nvSpPr>
          <p:cNvPr id="10" name="TextBox 9">
            <a:extLst xmlns:a="http://schemas.openxmlformats.org/drawingml/2006/main">
              <a:ext uri="{FF2B5EF4-FFF2-40B4-BE49-F238E27FC236}">
                <a16:creationId xmlns:a16="http://schemas.microsoft.com/office/drawing/2014/main" id="{3D748089-6A80-4D36-A193-9319CBAA20E2}"/>
              </a:ext>
            </a:extLst>
          </p:cNvPr>
          <p:cNvSpPr>
            <a:spLocks xmlns:a="http://schemas.openxmlformats.org/drawingml/2006/main" noGrp="1"/>
          </p:cNvSpPr>
          <p:nvPr/>
        </p:nvSpPr>
        <p:spPr>
          <a:xfrm xmlns:a="http://schemas.openxmlformats.org/drawingml/2006/main">
            <a:off x="777240" y="5596128"/>
            <a:ext cx="10698480" cy="38404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Test: Recall 78.1% (25/32) · 목표 미달 → 적용 보류</a:t>
            </a:r>
          </a:p>
        </p:txBody>
      </p:sp>
      <p:sp>
        <p:nvSpPr>
          <p:cNvPr id="11" name="TextBox 10">
            <a:extLst xmlns:a="http://schemas.openxmlformats.org/drawingml/2006/main">
              <a:ext uri="{FF2B5EF4-FFF2-40B4-BE49-F238E27FC236}">
                <a16:creationId xmlns:a16="http://schemas.microsoft.com/office/drawing/2014/main" id="{1BB6A1B2-31A4-4A18-B7E5-487D943A4C27}"/>
              </a:ext>
            </a:extLst>
          </p:cNvPr>
          <p:cNvSpPr>
            <a:spLocks xmlns:a="http://schemas.openxmlformats.org/drawingml/2006/main" noGrp="1"/>
          </p:cNvSpPr>
          <p:nvPr/>
        </p:nvSpPr>
        <p:spPr>
          <a:xfrm xmlns:a="http://schemas.openxmlformats.org/drawingml/2006/main">
            <a:off x="777240" y="6053328"/>
            <a:ext cx="10698480" cy="21945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0">
                <a:solidFill>
                  <a:srgbClr val="617681"/>
                </a:solidFill>
                <a:latin typeface="맑은 고딕"/>
                <a:ea typeface="맑은 고딕"/>
                <a:cs typeface="맑은 고딕"/>
              </a:defRPr>
            </a:pPr>
            <a:r>
              <a:t>Validation에서는 좋았지만 Test에서는 목표 미달 · 기존 Test 재사용 탐색 · 새 독립 데이터 필요</a:t>
            </a:r>
          </a:p>
        </p:txBody>
      </p:sp>
    </p:spTree>
    <p:extLst>
      <p:ext uri="{BB962C8B-B14F-4D97-AF65-F5344CB8AC3E}">
        <p14:creationId xmlns:p14="http://schemas.microsoft.com/office/powerpoint/2010/main" val="1776490428"/>
      </p:ext>
    </p:extLst>
  </p:cSld>
</p:sld>
</file>

<file path=ppt/slides/slide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A36D466-B592-459A-800A-DCAA4EB3717C}"/>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4BB62C7-7D50-4676-AD67-216133ECD98E}"/>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07 · 실험2 | 학습 제품ABCD 고정 · 후보 선택용 데이터에서 비율 선택</a:t>
            </a:r>
          </a:p>
        </p:txBody>
      </p:sp>
      <p:sp>
        <p:nvSpPr>
          <p:cNvPr id="4" name="TextBox 3">
            <a:extLst xmlns:a="http://schemas.openxmlformats.org/drawingml/2006/main">
              <a:ext uri="{FF2B5EF4-FFF2-40B4-BE49-F238E27FC236}">
                <a16:creationId xmlns:a16="http://schemas.microsoft.com/office/drawing/2014/main" id="{B3241754-BEC2-49EA-8836-CF9811D5E268}"/>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④ 선택 비율: CatBoost 90% + LightGBM 10%</a:t>
            </a:r>
          </a:p>
        </p:txBody>
      </p:sp>
      <p:sp>
        <p:nvSpPr>
          <p:cNvPr id="5" name="Rectangle 4">
            <a:extLst xmlns:a="http://schemas.openxmlformats.org/drawingml/2006/main">
              <a:ext uri="{FF2B5EF4-FFF2-40B4-BE49-F238E27FC236}">
                <a16:creationId xmlns:a16="http://schemas.microsoft.com/office/drawing/2014/main" id="{EE23AFF4-04FA-4C5B-A025-A62B1A3CC3B3}"/>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14BD71F-43A0-45EF-9B96-A870543D20EE}"/>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1C328AED-8E5C-433E-9270-BA57F3275486}"/>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07 / 17</a:t>
            </a:r>
          </a:p>
        </p:txBody>
      </p:sp>
      <p:sp>
        <p:nvSpPr>
          <p:cNvPr id="8" name="Rounded Rectangle 7">
            <a:extLst xmlns:a="http://schemas.openxmlformats.org/drawingml/2006/main">
              <a:ext uri="{FF2B5EF4-FFF2-40B4-BE49-F238E27FC236}">
                <a16:creationId xmlns:a16="http://schemas.microsoft.com/office/drawing/2014/main" id="{8BD92648-0D3E-4286-99F5-CFBF3A7DDF63}"/>
              </a:ext>
            </a:extLst>
          </p:cNvPr>
          <p:cNvSpPr>
            <a:spLocks xmlns:a="http://schemas.openxmlformats.org/drawingml/2006/main" noGrp="1"/>
          </p:cNvSpPr>
          <p:nvPr/>
        </p:nvSpPr>
        <p:spPr>
          <a:xfrm xmlns:a="http://schemas.openxmlformats.org/drawingml/2006/main">
            <a:off x="658368" y="1938528"/>
            <a:ext cx="10863072" cy="3639312"/>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9" name="Picture 8">
            <a:extLst xmlns:a="http://schemas.openxmlformats.org/drawingml/2006/main">
              <a:ext uri="{FF2B5EF4-FFF2-40B4-BE49-F238E27FC236}">
                <a16:creationId xmlns:a16="http://schemas.microsoft.com/office/drawing/2014/main" id="{EEC958AD-FDB8-4618-8845-5613FEFB7DFA}"/>
              </a:ext>
            </a:extLst>
          </p:cNvPr>
          <p:cNvPicPr>
            <a:picLocks xmlns:a="http://schemas.openxmlformats.org/drawingml/2006/main" noChangeAspect="1"/>
          </p:cNvPicPr>
          <p:nvPr/>
        </p:nvPicPr>
        <p:blipFill>
          <a:blip xmlns:r="http://schemas.openxmlformats.org/officeDocument/2006/relationships" xmlns:a="http://schemas.openxmlformats.org/drawingml/2006/main" r:embed="Ra0385764df0e42ae"/>
          <a:stretch xmlns:a="http://schemas.openxmlformats.org/drawingml/2006/main">
            <a:fillRect l="0" t="0" r="0" b="0"/>
          </a:stretch>
        </p:blipFill>
        <p:spPr>
          <a:xfrm xmlns:a="http://schemas.openxmlformats.org/drawingml/2006/main">
            <a:off x="731520" y="2157137"/>
            <a:ext cx="10716768" cy="3202092"/>
          </a:xfrm>
          <a:prstGeom xmlns:a="http://schemas.openxmlformats.org/drawingml/2006/main" prst="rect">
            <a:avLst/>
          </a:prstGeom>
        </p:spPr>
      </p:pic>
      <p:sp>
        <p:nvSpPr>
          <p:cNvPr id="10" name="TextBox 9">
            <a:extLst xmlns:a="http://schemas.openxmlformats.org/drawingml/2006/main">
              <a:ext uri="{FF2B5EF4-FFF2-40B4-BE49-F238E27FC236}">
                <a16:creationId xmlns:a16="http://schemas.microsoft.com/office/drawing/2014/main" id="{C3B4EC59-B467-4A4F-8DE1-A0C76413629F}"/>
              </a:ext>
            </a:extLst>
          </p:cNvPr>
          <p:cNvSpPr>
            <a:spLocks xmlns:a="http://schemas.openxmlformats.org/drawingml/2006/main" noGrp="1"/>
          </p:cNvSpPr>
          <p:nvPr/>
        </p:nvSpPr>
        <p:spPr>
          <a:xfrm xmlns:a="http://schemas.openxmlformats.org/drawingml/2006/main">
            <a:off x="777240" y="5596128"/>
            <a:ext cx="1069848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000" b="1">
                <a:solidFill>
                  <a:srgbClr val="147D82"/>
                </a:solidFill>
                <a:latin typeface="맑은 고딕"/>
                <a:ea typeface="맑은 고딕"/>
                <a:cs typeface="맑은 고딕"/>
              </a:defRPr>
            </a:pPr>
            <a:r>
              <a:t>검출률 100.0% 유지 · F1 0.808 → 0.816</a:t>
            </a:r>
          </a:p>
        </p:txBody>
      </p:sp>
      <p:sp>
        <p:nvSpPr>
          <p:cNvPr id="11" name="TextBox 10">
            <a:extLst xmlns:a="http://schemas.openxmlformats.org/drawingml/2006/main">
              <a:ext uri="{FF2B5EF4-FFF2-40B4-BE49-F238E27FC236}">
                <a16:creationId xmlns:a16="http://schemas.microsoft.com/office/drawing/2014/main" id="{1B84AF9D-5C52-4C2D-B1F9-6EE1AE8BBFC5}"/>
              </a:ext>
            </a:extLst>
          </p:cNvPr>
          <p:cNvSpPr>
            <a:spLocks xmlns:a="http://schemas.openxmlformats.org/drawingml/2006/main" noGrp="1"/>
          </p:cNvSpPr>
          <p:nvPr/>
        </p:nvSpPr>
        <p:spPr>
          <a:xfrm xmlns:a="http://schemas.openxmlformats.org/drawingml/2006/main">
            <a:off x="777240" y="6053328"/>
            <a:ext cx="10698480" cy="21945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0">
                <a:solidFill>
                  <a:srgbClr val="617681"/>
                </a:solidFill>
                <a:latin typeface="맑은 고딕"/>
                <a:ea typeface="맑은 고딕"/>
                <a:cs typeface="맑은 고딕"/>
              </a:defRPr>
            </a:pPr>
            <a:r>
              <a:t>5% 간격과 균등 비율의 232개 비교 · 이 탐색 범위 안의 최선 · Test로 비율 선택하지 않음</a:t>
            </a:r>
          </a:p>
        </p:txBody>
      </p:sp>
    </p:spTree>
    <p:extLst>
      <p:ext uri="{BB962C8B-B14F-4D97-AF65-F5344CB8AC3E}">
        <p14:creationId xmlns:p14="http://schemas.microsoft.com/office/powerpoint/2010/main" val="1337536770"/>
      </p:ext>
    </p:extLst>
  </p:cSld>
</p:sld>
</file>

<file path=ppt/slides/slide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B02EEA-ED07-4299-AD2D-869B89D5717C}"/>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1E924065-E83F-4EA8-B66D-78EB33C74D55}"/>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08 · 실험2의 마지막 시험(Test) | 불량32개 · 정상224개</a:t>
            </a:r>
          </a:p>
        </p:txBody>
      </p:sp>
      <p:sp>
        <p:nvSpPr>
          <p:cNvPr id="4" name="TextBox 3">
            <a:extLst xmlns:a="http://schemas.openxmlformats.org/drawingml/2006/main">
              <a:ext uri="{FF2B5EF4-FFF2-40B4-BE49-F238E27FC236}">
                <a16:creationId xmlns:a16="http://schemas.microsoft.com/office/drawing/2014/main" id="{1B2689DF-4DB8-48B6-AF3B-709D65354F9E}"/>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⑤ 같은 검출률을 유지하며 정상 오판을 줄였습니다</a:t>
            </a:r>
          </a:p>
        </p:txBody>
      </p:sp>
      <p:sp>
        <p:nvSpPr>
          <p:cNvPr id="5" name="Rectangle 4">
            <a:extLst xmlns:a="http://schemas.openxmlformats.org/drawingml/2006/main">
              <a:ext uri="{FF2B5EF4-FFF2-40B4-BE49-F238E27FC236}">
                <a16:creationId xmlns:a16="http://schemas.microsoft.com/office/drawing/2014/main" id="{EFE139E8-4B43-451B-B664-78B544FE319E}"/>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6003D320-B168-4B75-9742-41CB731F6192}"/>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0C615CFE-054E-4AA2-912D-7E3EDE844E47}"/>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08 / 17</a:t>
            </a:r>
          </a:p>
        </p:txBody>
      </p:sp>
      <p:sp>
        <p:nvSpPr>
          <p:cNvPr id="8" name="TextBox 7">
            <a:extLst xmlns:a="http://schemas.openxmlformats.org/drawingml/2006/main">
              <a:ext uri="{FF2B5EF4-FFF2-40B4-BE49-F238E27FC236}">
                <a16:creationId xmlns:a16="http://schemas.microsoft.com/office/drawing/2014/main" id="{47FBF872-6A5D-4511-B854-82B367146833}"/>
              </a:ext>
            </a:extLst>
          </p:cNvPr>
          <p:cNvSpPr>
            <a:spLocks xmlns:a="http://schemas.openxmlformats.org/drawingml/2006/main" noGrp="1"/>
          </p:cNvSpPr>
          <p:nvPr/>
        </p:nvSpPr>
        <p:spPr>
          <a:xfrm xmlns:a="http://schemas.openxmlformats.org/drawingml/2006/main">
            <a:off x="713232" y="2103120"/>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400" b="1">
                <a:solidFill>
                  <a:srgbClr val="147D82"/>
                </a:solidFill>
                <a:latin typeface="맑은 고딕"/>
                <a:ea typeface="맑은 고딕"/>
                <a:cs typeface="맑은 고딕"/>
              </a:defRPr>
            </a:pPr>
            <a:r>
              <a:t>불량 발견 30 → 30개</a:t>
            </a:r>
          </a:p>
        </p:txBody>
      </p:sp>
      <p:sp>
        <p:nvSpPr>
          <p:cNvPr id="9" name="TextBox 8">
            <a:extLst xmlns:a="http://schemas.openxmlformats.org/drawingml/2006/main">
              <a:ext uri="{FF2B5EF4-FFF2-40B4-BE49-F238E27FC236}">
                <a16:creationId xmlns:a16="http://schemas.microsoft.com/office/drawing/2014/main" id="{A10D893A-0738-4BF6-91AE-E4B90691DD1C}"/>
              </a:ext>
            </a:extLst>
          </p:cNvPr>
          <p:cNvSpPr>
            <a:spLocks xmlns:a="http://schemas.openxmlformats.org/drawingml/2006/main" noGrp="1"/>
          </p:cNvSpPr>
          <p:nvPr/>
        </p:nvSpPr>
        <p:spPr>
          <a:xfrm xmlns:a="http://schemas.openxmlformats.org/drawingml/2006/main">
            <a:off x="713232" y="3054096"/>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400" b="1">
                <a:solidFill>
                  <a:srgbClr val="147D82"/>
                </a:solidFill>
                <a:latin typeface="맑은 고딕"/>
                <a:ea typeface="맑은 고딕"/>
                <a:cs typeface="맑은 고딕"/>
              </a:defRPr>
            </a:pPr>
            <a:r>
              <a:t>정상 오판 21 → 19개</a:t>
            </a:r>
          </a:p>
        </p:txBody>
      </p:sp>
      <p:sp>
        <p:nvSpPr>
          <p:cNvPr id="10" name="TextBox 9">
            <a:extLst xmlns:a="http://schemas.openxmlformats.org/drawingml/2006/main">
              <a:ext uri="{FF2B5EF4-FFF2-40B4-BE49-F238E27FC236}">
                <a16:creationId xmlns:a16="http://schemas.microsoft.com/office/drawing/2014/main" id="{D7B0EDD1-5733-4AF4-817B-A8A3288A7ED1}"/>
              </a:ext>
            </a:extLst>
          </p:cNvPr>
          <p:cNvSpPr>
            <a:spLocks xmlns:a="http://schemas.openxmlformats.org/drawingml/2006/main" noGrp="1"/>
          </p:cNvSpPr>
          <p:nvPr/>
        </p:nvSpPr>
        <p:spPr>
          <a:xfrm xmlns:a="http://schemas.openxmlformats.org/drawingml/2006/main">
            <a:off x="713232" y="4005072"/>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73A49"/>
                </a:solidFill>
                <a:latin typeface="맑은 고딕"/>
                <a:ea typeface="맑은 고딕"/>
                <a:cs typeface="맑은 고딕"/>
              </a:defRPr>
            </a:pPr>
            <a:r>
              <a:t>Test F1 0.723 → 0.741</a:t>
            </a:r>
          </a:p>
        </p:txBody>
      </p:sp>
      <p:sp>
        <p:nvSpPr>
          <p:cNvPr id="11" name="TextBox 10">
            <a:extLst xmlns:a="http://schemas.openxmlformats.org/drawingml/2006/main">
              <a:ext uri="{FF2B5EF4-FFF2-40B4-BE49-F238E27FC236}">
                <a16:creationId xmlns:a16="http://schemas.microsoft.com/office/drawing/2014/main" id="{ABF6CB90-5787-49F6-B5DF-3081E45AB1D0}"/>
              </a:ext>
            </a:extLst>
          </p:cNvPr>
          <p:cNvSpPr>
            <a:spLocks xmlns:a="http://schemas.openxmlformats.org/drawingml/2006/main" noGrp="1"/>
          </p:cNvSpPr>
          <p:nvPr/>
        </p:nvSpPr>
        <p:spPr>
          <a:xfrm xmlns:a="http://schemas.openxmlformats.org/drawingml/2006/main">
            <a:off x="713232" y="4956048"/>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73A49"/>
                </a:solidFill>
                <a:latin typeface="맑은 고딕"/>
                <a:ea typeface="맑은 고딕"/>
                <a:cs typeface="맑은 고딕"/>
              </a:defRPr>
            </a:pPr>
            <a:r>
              <a:t>검출률 93.8% · 시연 목표 충족</a:t>
            </a:r>
          </a:p>
          <a:p xmlns:a="http://schemas.openxmlformats.org/drawingml/2006/main">
            <a:pPr>
              <a:lnSpc>
                <a:spcPct val="114000"/>
              </a:lnSpc>
              <a:spcAft>
                <a:spcPts val="800"/>
              </a:spcAft>
              <a:buNone/>
              <a:defRPr sz="2100" b="1">
                <a:solidFill>
                  <a:srgbClr val="173A49"/>
                </a:solidFill>
                <a:latin typeface="맑은 고딕"/>
                <a:ea typeface="맑은 고딕"/>
                <a:cs typeface="맑은 고딕"/>
              </a:defRPr>
            </a:pPr>
            <a:r>
              <a:t>새 독립 데이터 검증 필요</a:t>
            </a:r>
          </a:p>
        </p:txBody>
      </p:sp>
      <p:sp>
        <p:nvSpPr>
          <p:cNvPr id="12" name="Rounded Rectangle 11">
            <a:extLst xmlns:a="http://schemas.openxmlformats.org/drawingml/2006/main">
              <a:ext uri="{FF2B5EF4-FFF2-40B4-BE49-F238E27FC236}">
                <a16:creationId xmlns:a16="http://schemas.microsoft.com/office/drawing/2014/main" id="{12CCB0B0-72FB-4196-AD20-2597C4BD1A00}"/>
              </a:ext>
            </a:extLst>
          </p:cNvPr>
          <p:cNvSpPr>
            <a:spLocks xmlns:a="http://schemas.openxmlformats.org/drawingml/2006/main" noGrp="1"/>
          </p:cNvSpPr>
          <p:nvPr/>
        </p:nvSpPr>
        <p:spPr>
          <a:xfrm xmlns:a="http://schemas.openxmlformats.org/drawingml/2006/main">
            <a:off x="4910328" y="1847088"/>
            <a:ext cx="6574536"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3" name="Picture 12">
            <a:extLst xmlns:a="http://schemas.openxmlformats.org/drawingml/2006/main">
              <a:ext uri="{FF2B5EF4-FFF2-40B4-BE49-F238E27FC236}">
                <a16:creationId xmlns:a16="http://schemas.microsoft.com/office/drawing/2014/main" id="{D76D33B3-B52E-47E1-9BEC-097AC874EDF1}"/>
              </a:ext>
            </a:extLst>
          </p:cNvPr>
          <p:cNvPicPr>
            <a:picLocks xmlns:a="http://schemas.openxmlformats.org/drawingml/2006/main" noChangeAspect="1"/>
          </p:cNvPicPr>
          <p:nvPr/>
        </p:nvPicPr>
        <p:blipFill>
          <a:blip xmlns:r="http://schemas.openxmlformats.org/officeDocument/2006/relationships" xmlns:a="http://schemas.openxmlformats.org/drawingml/2006/main" r:embed="Rd58ce083c1364d0f"/>
          <a:stretch xmlns:a="http://schemas.openxmlformats.org/drawingml/2006/main">
            <a:fillRect l="0" t="0" r="0" b="0"/>
          </a:stretch>
        </p:blipFill>
        <p:spPr>
          <a:xfrm xmlns:a="http://schemas.openxmlformats.org/drawingml/2006/main">
            <a:off x="4983480" y="2167095"/>
            <a:ext cx="6428232" cy="3666808"/>
          </a:xfrm>
          <a:prstGeom xmlns:a="http://schemas.openxmlformats.org/drawingml/2006/main" prst="rect">
            <a:avLst/>
          </a:prstGeom>
        </p:spPr>
      </p:pic>
    </p:spTree>
    <p:extLst>
      <p:ext uri="{BB962C8B-B14F-4D97-AF65-F5344CB8AC3E}">
        <p14:creationId xmlns:p14="http://schemas.microsoft.com/office/powerpoint/2010/main" val="1738191865"/>
      </p:ext>
    </p:extLst>
  </p:cSld>
</p:sld>
</file>

<file path=ppt/slides/slide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10" name="09 · 모델 관리 | 별도 변화 합성 배치의 성능 점검">
            <a:extLst xmlns:a="http://schemas.openxmlformats.org/drawingml/2006/main">
              <a:ext uri="{FF2B5EF4-FFF2-40B4-BE49-F238E27FC236}">
                <a16:creationId xmlns:a16="http://schemas.microsoft.com/office/drawing/2014/main" id="{4A0EE040-B55E-4CD9-A87D-0D68F0038089}"/>
              </a:ext>
            </a:extLst>
          </p:cNvPr>
          <p:cNvSpPr>
            <a:spLocks xmlns:a="http://schemas.openxmlformats.org/drawingml/2006/main" noGrp="1"/>
          </p:cNvSpPr>
          <p:nvPr/>
        </p:nvSpPr>
        <p:spPr>
          <a:xfrm xmlns:a="http://schemas.openxmlformats.org/drawingml/2006/main">
            <a:off x="609600" y="2952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b="1">
                <a:solidFill>
                  <a:srgbClr val="147D82"/>
                </a:solidFill>
                <a:latin typeface="맑은 고딕"/>
                <a:ea typeface="맑은 고딕"/>
                <a:cs typeface="맑은 고딕"/>
              </a:defRPr>
            </a:defPPr>
            <a:lvl1pPr>
              <a:buNone/>
              <a:defRPr sz="1200" b="1">
                <a:solidFill>
                  <a:srgbClr val="147D82"/>
                </a:solidFill>
                <a:latin typeface="맑은 고딕"/>
                <a:ea typeface="맑은 고딕"/>
                <a:cs typeface="맑은 고딕"/>
              </a:defRPr>
            </a:lvl1pPr>
            <a:lvl2pPr>
              <a:buNone/>
              <a:defRPr sz="1200" b="1">
                <a:solidFill>
                  <a:srgbClr val="147D82"/>
                </a:solidFill>
                <a:latin typeface="맑은 고딕"/>
                <a:ea typeface="맑은 고딕"/>
                <a:cs typeface="맑은 고딕"/>
              </a:defRPr>
            </a:lvl2pPr>
            <a:lvl3pPr>
              <a:buNone/>
              <a:defRPr sz="1200" b="1">
                <a:solidFill>
                  <a:srgbClr val="147D82"/>
                </a:solidFill>
                <a:latin typeface="맑은 고딕"/>
                <a:ea typeface="맑은 고딕"/>
                <a:cs typeface="맑은 고딕"/>
              </a:defRPr>
            </a:lvl3pPr>
            <a:lvl4pPr>
              <a:buNone/>
              <a:defRPr sz="1200" b="1">
                <a:solidFill>
                  <a:srgbClr val="147D82"/>
                </a:solidFill>
                <a:latin typeface="맑은 고딕"/>
                <a:ea typeface="맑은 고딕"/>
                <a:cs typeface="맑은 고딕"/>
              </a:defRPr>
            </a:lvl4pPr>
            <a:lvl5pPr>
              <a:buNone/>
              <a:defRPr sz="1200" b="1">
                <a:solidFill>
                  <a:srgbClr val="147D82"/>
                </a:solidFill>
                <a:latin typeface="맑은 고딕"/>
                <a:ea typeface="맑은 고딕"/>
                <a:cs typeface="맑은 고딕"/>
              </a:defRPr>
            </a:lvl5pPr>
            <a:lvl6pPr>
              <a:buNone/>
              <a:defRPr sz="1200" b="1">
                <a:solidFill>
                  <a:srgbClr val="147D82"/>
                </a:solidFill>
                <a:latin typeface="맑은 고딕"/>
                <a:ea typeface="맑은 고딕"/>
                <a:cs typeface="맑은 고딕"/>
              </a:defRPr>
            </a:lvl6pPr>
            <a:lvl7pPr>
              <a:buNone/>
              <a:defRPr sz="1200" b="1">
                <a:solidFill>
                  <a:srgbClr val="147D82"/>
                </a:solidFill>
                <a:latin typeface="맑은 고딕"/>
                <a:ea typeface="맑은 고딕"/>
                <a:cs typeface="맑은 고딕"/>
              </a:defRPr>
            </a:lvl7pPr>
            <a:lvl8pPr>
              <a:buNone/>
              <a:defRPr sz="1200" b="1">
                <a:solidFill>
                  <a:srgbClr val="147D82"/>
                </a:solidFill>
                <a:latin typeface="맑은 고딕"/>
                <a:ea typeface="맑은 고딕"/>
                <a:cs typeface="맑은 고딕"/>
              </a:defRPr>
            </a:lvl8pPr>
            <a:lvl9pPr>
              <a:buNone/>
              <a:defRPr sz="1200" b="1">
                <a:solidFill>
                  <a:srgbClr val="147D82"/>
                </a:solidFill>
                <a:latin typeface="맑은 고딕"/>
                <a:ea typeface="맑은 고딕"/>
                <a:cs typeface="맑은 고딕"/>
              </a:defRPr>
            </a:lvl9pPr>
          </a:lstStyle>
          <a:p xmlns:a="http://schemas.openxmlformats.org/drawingml/2006/main">
            <a:pPr>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09 · 모델 관리 | 다른 합성 데이터에서 기존 성능 점검</a:t>
            </a:r>
          </a:p>
        </p:txBody>
      </p:sp>
      <p:sp>
        <p:nvSpPr>
          <p:cNvPr id="2" name="⑥ 새 정답 데이터로 기존 모델을 점검합니다">
            <a:extLst xmlns:a="http://schemas.openxmlformats.org/drawingml/2006/main">
              <a:ext uri="{FF2B5EF4-FFF2-40B4-BE49-F238E27FC236}">
                <a16:creationId xmlns:a16="http://schemas.microsoft.com/office/drawing/2014/main" id="{48303A7B-EFB5-448F-8958-02A7EA4FD428}"/>
              </a:ext>
            </a:extLst>
          </p:cNvPr>
          <p:cNvSpPr>
            <a:spLocks xmlns:a="http://schemas.openxmlformats.org/drawingml/2006/main" noGrp="1"/>
          </p:cNvSpPr>
          <p:nvPr/>
        </p:nvSpPr>
        <p:spPr>
          <a:xfrm xmlns:a="http://schemas.openxmlformats.org/drawingml/2006/main">
            <a:off x="609600" y="838200"/>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925" b="1">
                <a:solidFill>
                  <a:srgbClr val="173A49"/>
                </a:solidFill>
                <a:latin typeface="맑은 고딕"/>
                <a:ea typeface="맑은 고딕"/>
                <a:cs typeface="맑은 고딕"/>
              </a:defRPr>
            </a:defPPr>
            <a:lvl1pPr>
              <a:buNone/>
              <a:defRPr sz="2925" b="1">
                <a:solidFill>
                  <a:srgbClr val="173A49"/>
                </a:solidFill>
                <a:latin typeface="맑은 고딕"/>
                <a:ea typeface="맑은 고딕"/>
                <a:cs typeface="맑은 고딕"/>
              </a:defRPr>
            </a:lvl1pPr>
            <a:lvl2pPr>
              <a:buNone/>
              <a:defRPr sz="2925" b="1">
                <a:solidFill>
                  <a:srgbClr val="173A49"/>
                </a:solidFill>
                <a:latin typeface="맑은 고딕"/>
                <a:ea typeface="맑은 고딕"/>
                <a:cs typeface="맑은 고딕"/>
              </a:defRPr>
            </a:lvl2pPr>
            <a:lvl3pPr>
              <a:buNone/>
              <a:defRPr sz="2925" b="1">
                <a:solidFill>
                  <a:srgbClr val="173A49"/>
                </a:solidFill>
                <a:latin typeface="맑은 고딕"/>
                <a:ea typeface="맑은 고딕"/>
                <a:cs typeface="맑은 고딕"/>
              </a:defRPr>
            </a:lvl3pPr>
            <a:lvl4pPr>
              <a:buNone/>
              <a:defRPr sz="2925" b="1">
                <a:solidFill>
                  <a:srgbClr val="173A49"/>
                </a:solidFill>
                <a:latin typeface="맑은 고딕"/>
                <a:ea typeface="맑은 고딕"/>
                <a:cs typeface="맑은 고딕"/>
              </a:defRPr>
            </a:lvl4pPr>
            <a:lvl5pPr>
              <a:buNone/>
              <a:defRPr sz="2925" b="1">
                <a:solidFill>
                  <a:srgbClr val="173A49"/>
                </a:solidFill>
                <a:latin typeface="맑은 고딕"/>
                <a:ea typeface="맑은 고딕"/>
                <a:cs typeface="맑은 고딕"/>
              </a:defRPr>
            </a:lvl5pPr>
            <a:lvl6pPr>
              <a:buNone/>
              <a:defRPr sz="2925" b="1">
                <a:solidFill>
                  <a:srgbClr val="173A49"/>
                </a:solidFill>
                <a:latin typeface="맑은 고딕"/>
                <a:ea typeface="맑은 고딕"/>
                <a:cs typeface="맑은 고딕"/>
              </a:defRPr>
            </a:lvl6pPr>
            <a:lvl7pPr>
              <a:buNone/>
              <a:defRPr sz="2925" b="1">
                <a:solidFill>
                  <a:srgbClr val="173A49"/>
                </a:solidFill>
                <a:latin typeface="맑은 고딕"/>
                <a:ea typeface="맑은 고딕"/>
                <a:cs typeface="맑은 고딕"/>
              </a:defRPr>
            </a:lvl7pPr>
            <a:lvl8pPr>
              <a:buNone/>
              <a:defRPr sz="2925" b="1">
                <a:solidFill>
                  <a:srgbClr val="173A49"/>
                </a:solidFill>
                <a:latin typeface="맑은 고딕"/>
                <a:ea typeface="맑은 고딕"/>
                <a:cs typeface="맑은 고딕"/>
              </a:defRPr>
            </a:lvl8pPr>
            <a:lvl9pPr>
              <a:buNone/>
              <a:defRPr sz="2925" b="1">
                <a:solidFill>
                  <a:srgbClr val="173A49"/>
                </a:solidFill>
                <a:latin typeface="맑은 고딕"/>
                <a:ea typeface="맑은 고딕"/>
                <a:cs typeface="맑은 고딕"/>
              </a:defRPr>
            </a:lvl9pPr>
          </a:lstStyle>
          <a:p xmlns:a="http://schemas.openxmlformats.org/drawingml/2006/main">
            <a:pPr>
              <a:buNone/>
              <a:defRPr sz="2925" b="1">
                <a:solidFill>
                  <a:srgbClr val="173A49"/>
                </a:solidFill>
                <a:latin typeface="맑은 고딕"/>
                <a:ea typeface="맑은 고딕"/>
                <a:cs typeface="맑은 고딕"/>
              </a:defRPr>
            </a:pPr>
            <a:r>
              <a:rPr sz="2925" b="1">
                <a:solidFill>
                  <a:srgbClr val="173A49"/>
                </a:solidFill>
                <a:latin typeface="맑은 고딕"/>
                <a:ea typeface="맑은 고딕"/>
                <a:cs typeface="맑은 고딕"/>
              </a:rPr>
              <a:t>⑥ 새 정답 데이터로 기존 모델을 점검합니다</a:t>
            </a:r>
          </a:p>
        </p:txBody>
      </p:sp>
      <p:sp>
        <p:nvSpPr>
          <p:cNvPr id="3" name="SKALA 광주 2반 · G045 김용찬">
            <a:extLst xmlns:a="http://schemas.openxmlformats.org/drawingml/2006/main">
              <a:ext uri="{FF2B5EF4-FFF2-40B4-BE49-F238E27FC236}">
                <a16:creationId xmlns:a16="http://schemas.microsoft.com/office/drawing/2014/main" id="{58A97200-8471-46DC-B659-799EAC2176EA}"/>
              </a:ext>
            </a:extLst>
          </p:cNvPr>
          <p:cNvSpPr>
            <a:spLocks xmlns:a="http://schemas.openxmlformats.org/drawingml/2006/main" noGrp="1"/>
          </p:cNvSpPr>
          <p:nvPr/>
        </p:nvSpPr>
        <p:spPr>
          <a:xfrm xmlns:a="http://schemas.openxmlformats.org/drawingml/2006/main">
            <a:off x="609600" y="641985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buNone/>
              <a:defRPr sz="975" b="0">
                <a:solidFill>
                  <a:srgbClr val="617681"/>
                </a:solidFill>
                <a:latin typeface="맑은 고딕"/>
                <a:ea typeface="맑은 고딕"/>
                <a:cs typeface="맑은 고딕"/>
              </a:defRPr>
            </a:lvl1pPr>
            <a:lvl2pPr>
              <a:buNone/>
              <a:defRPr sz="975" b="0">
                <a:solidFill>
                  <a:srgbClr val="617681"/>
                </a:solidFill>
                <a:latin typeface="맑은 고딕"/>
                <a:ea typeface="맑은 고딕"/>
                <a:cs typeface="맑은 고딕"/>
              </a:defRPr>
            </a:lvl2pPr>
            <a:lvl3pPr>
              <a:buNone/>
              <a:defRPr sz="975" b="0">
                <a:solidFill>
                  <a:srgbClr val="617681"/>
                </a:solidFill>
                <a:latin typeface="맑은 고딕"/>
                <a:ea typeface="맑은 고딕"/>
                <a:cs typeface="맑은 고딕"/>
              </a:defRPr>
            </a:lvl3pPr>
            <a:lvl4pPr>
              <a:buNone/>
              <a:defRPr sz="975" b="0">
                <a:solidFill>
                  <a:srgbClr val="617681"/>
                </a:solidFill>
                <a:latin typeface="맑은 고딕"/>
                <a:ea typeface="맑은 고딕"/>
                <a:cs typeface="맑은 고딕"/>
              </a:defRPr>
            </a:lvl4pPr>
            <a:lvl5pPr>
              <a:buNone/>
              <a:defRPr sz="975" b="0">
                <a:solidFill>
                  <a:srgbClr val="617681"/>
                </a:solidFill>
                <a:latin typeface="맑은 고딕"/>
                <a:ea typeface="맑은 고딕"/>
                <a:cs typeface="맑은 고딕"/>
              </a:defRPr>
            </a:lvl5pPr>
            <a:lvl6pPr>
              <a:buNone/>
              <a:defRPr sz="975" b="0">
                <a:solidFill>
                  <a:srgbClr val="617681"/>
                </a:solidFill>
                <a:latin typeface="맑은 고딕"/>
                <a:ea typeface="맑은 고딕"/>
                <a:cs typeface="맑은 고딕"/>
              </a:defRPr>
            </a:lvl6pPr>
            <a:lvl7pPr>
              <a:buNone/>
              <a:defRPr sz="975" b="0">
                <a:solidFill>
                  <a:srgbClr val="617681"/>
                </a:solidFill>
                <a:latin typeface="맑은 고딕"/>
                <a:ea typeface="맑은 고딕"/>
                <a:cs typeface="맑은 고딕"/>
              </a:defRPr>
            </a:lvl7pPr>
            <a:lvl8pPr>
              <a:buNone/>
              <a:defRPr sz="975" b="0">
                <a:solidFill>
                  <a:srgbClr val="617681"/>
                </a:solidFill>
                <a:latin typeface="맑은 고딕"/>
                <a:ea typeface="맑은 고딕"/>
                <a:cs typeface="맑은 고딕"/>
              </a:defRPr>
            </a:lvl8pPr>
            <a:lvl9pPr>
              <a:buNone/>
              <a:defRPr sz="975" b="0">
                <a:solidFill>
                  <a:srgbClr val="617681"/>
                </a:solidFill>
                <a:latin typeface="맑은 고딕"/>
                <a:ea typeface="맑은 고딕"/>
                <a:cs typeface="맑은 고딕"/>
              </a:defRPr>
            </a:lvl9pPr>
          </a:lstStyle>
          <a:p xmlns:a="http://schemas.openxmlformats.org/drawingml/2006/main">
            <a:pPr>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SKALA 광주 2반 · G045 김용찬</a:t>
            </a:r>
          </a:p>
        </p:txBody>
      </p:sp>
      <p:sp>
        <p:nvSpPr>
          <p:cNvPr id="4" name="09 / 17">
            <a:extLst xmlns:a="http://schemas.openxmlformats.org/drawingml/2006/main">
              <a:ext uri="{FF2B5EF4-FFF2-40B4-BE49-F238E27FC236}">
                <a16:creationId xmlns:a16="http://schemas.microsoft.com/office/drawing/2014/main" id="{A15BD2DD-3076-45A7-9D2A-B96B6F70FC28}"/>
              </a:ext>
            </a:extLst>
          </p:cNvPr>
          <p:cNvSpPr>
            <a:spLocks xmlns:a="http://schemas.openxmlformats.org/drawingml/2006/main" noGrp="1"/>
          </p:cNvSpPr>
          <p:nvPr/>
        </p:nvSpPr>
        <p:spPr>
          <a:xfrm xmlns:a="http://schemas.openxmlformats.org/drawingml/2006/main">
            <a:off x="10153650" y="64198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buNone/>
              <a:defRPr sz="975" b="0">
                <a:solidFill>
                  <a:srgbClr val="617681"/>
                </a:solidFill>
                <a:latin typeface="맑은 고딕"/>
                <a:ea typeface="맑은 고딕"/>
                <a:cs typeface="맑은 고딕"/>
              </a:defRPr>
            </a:lvl1pPr>
            <a:lvl2pPr>
              <a:buNone/>
              <a:defRPr sz="975" b="0">
                <a:solidFill>
                  <a:srgbClr val="617681"/>
                </a:solidFill>
                <a:latin typeface="맑은 고딕"/>
                <a:ea typeface="맑은 고딕"/>
                <a:cs typeface="맑은 고딕"/>
              </a:defRPr>
            </a:lvl2pPr>
            <a:lvl3pPr>
              <a:buNone/>
              <a:defRPr sz="975" b="0">
                <a:solidFill>
                  <a:srgbClr val="617681"/>
                </a:solidFill>
                <a:latin typeface="맑은 고딕"/>
                <a:ea typeface="맑은 고딕"/>
                <a:cs typeface="맑은 고딕"/>
              </a:defRPr>
            </a:lvl3pPr>
            <a:lvl4pPr>
              <a:buNone/>
              <a:defRPr sz="975" b="0">
                <a:solidFill>
                  <a:srgbClr val="617681"/>
                </a:solidFill>
                <a:latin typeface="맑은 고딕"/>
                <a:ea typeface="맑은 고딕"/>
                <a:cs typeface="맑은 고딕"/>
              </a:defRPr>
            </a:lvl4pPr>
            <a:lvl5pPr>
              <a:buNone/>
              <a:defRPr sz="975" b="0">
                <a:solidFill>
                  <a:srgbClr val="617681"/>
                </a:solidFill>
                <a:latin typeface="맑은 고딕"/>
                <a:ea typeface="맑은 고딕"/>
                <a:cs typeface="맑은 고딕"/>
              </a:defRPr>
            </a:lvl5pPr>
            <a:lvl6pPr>
              <a:buNone/>
              <a:defRPr sz="975" b="0">
                <a:solidFill>
                  <a:srgbClr val="617681"/>
                </a:solidFill>
                <a:latin typeface="맑은 고딕"/>
                <a:ea typeface="맑은 고딕"/>
                <a:cs typeface="맑은 고딕"/>
              </a:defRPr>
            </a:lvl6pPr>
            <a:lvl7pPr>
              <a:buNone/>
              <a:defRPr sz="975" b="0">
                <a:solidFill>
                  <a:srgbClr val="617681"/>
                </a:solidFill>
                <a:latin typeface="맑은 고딕"/>
                <a:ea typeface="맑은 고딕"/>
                <a:cs typeface="맑은 고딕"/>
              </a:defRPr>
            </a:lvl7pPr>
            <a:lvl8pPr>
              <a:buNone/>
              <a:defRPr sz="975" b="0">
                <a:solidFill>
                  <a:srgbClr val="617681"/>
                </a:solidFill>
                <a:latin typeface="맑은 고딕"/>
                <a:ea typeface="맑은 고딕"/>
                <a:cs typeface="맑은 고딕"/>
              </a:defRPr>
            </a:lvl8pPr>
            <a:lvl9pPr>
              <a:buNone/>
              <a:defRPr sz="975" b="0">
                <a:solidFill>
                  <a:srgbClr val="617681"/>
                </a:solidFill>
                <a:latin typeface="맑은 고딕"/>
                <a:ea typeface="맑은 고딕"/>
                <a:cs typeface="맑은 고딕"/>
              </a:defRPr>
            </a:lvl9pPr>
          </a:lstStyle>
          <a:p xmlns:a="http://schemas.openxmlformats.org/drawingml/2006/main">
            <a:pPr>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09 / 17</a:t>
            </a:r>
          </a:p>
        </p:txBody>
      </p:sp>
      <p:pic>
        <p:nvPicPr>
          <p:cNvPr id="5" name="">
            <a:extLst xmlns:a="http://schemas.openxmlformats.org/drawingml/2006/main">
              <a:ext uri="{FF2B5EF4-FFF2-40B4-BE49-F238E27FC236}">
                <a16:creationId xmlns:a16="http://schemas.microsoft.com/office/drawing/2014/main" id="{33457954-2839-42D8-B22D-7197AA3D1514}"/>
              </a:ext>
            </a:extLst>
          </p:cNvPr>
          <p:cNvPicPr>
            <a:picLocks xmlns:a="http://schemas.openxmlformats.org/drawingml/2006/main" noChangeAspect="1"/>
          </p:cNvPicPr>
          <p:nvPr/>
        </p:nvPicPr>
        <p:blipFill>
          <a:blip xmlns:r="http://schemas.openxmlformats.org/officeDocument/2006/relationships" xmlns:a="http://schemas.openxmlformats.org/drawingml/2006/main" r:embed="R9958178c524c42e9"/>
          <a:stretch xmlns:a="http://schemas.openxmlformats.org/drawingml/2006/main"/>
        </p:blipFill>
        <p:spPr>
          <a:xfrm xmlns:a="http://schemas.openxmlformats.org/drawingml/2006/main">
            <a:off x="609600" y="2019300"/>
            <a:ext cx="7239000" cy="3780224"/>
          </a:xfrm>
          <a:prstGeom xmlns:a="http://schemas.openxmlformats.org/drawingml/2006/main" prst="rect">
            <a:avLst/>
          </a:prstGeom>
        </p:spPr>
      </p:pic>
      <p:sp>
        <p:nvSpPr>
          <p:cNvPr id="6" name="새 배치의 정답으로&#10;기존 모델 그대로 점검">
            <a:extLst xmlns:a="http://schemas.openxmlformats.org/drawingml/2006/main">
              <a:ext uri="{FF2B5EF4-FFF2-40B4-BE49-F238E27FC236}">
                <a16:creationId xmlns:a16="http://schemas.microsoft.com/office/drawing/2014/main" id="{9DFB19CC-081D-4735-8D3F-BB37D92E6150}"/>
              </a:ext>
            </a:extLst>
          </p:cNvPr>
          <p:cNvSpPr>
            <a:spLocks xmlns:a="http://schemas.openxmlformats.org/drawingml/2006/main" noGrp="1"/>
          </p:cNvSpPr>
          <p:nvPr/>
        </p:nvSpPr>
        <p:spPr>
          <a:xfrm xmlns:a="http://schemas.openxmlformats.org/drawingml/2006/main">
            <a:off x="8210550" y="2047875"/>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1">
                <a:solidFill>
                  <a:srgbClr val="173A49"/>
                </a:solidFill>
                <a:latin typeface="맑은 고딕"/>
                <a:ea typeface="맑은 고딕"/>
                <a:cs typeface="맑은 고딕"/>
              </a:defRPr>
            </a:defPPr>
            <a:lvl1pPr>
              <a:buNone/>
              <a:defRPr sz="2175" b="1">
                <a:solidFill>
                  <a:srgbClr val="173A49"/>
                </a:solidFill>
                <a:latin typeface="맑은 고딕"/>
                <a:ea typeface="맑은 고딕"/>
                <a:cs typeface="맑은 고딕"/>
              </a:defRPr>
            </a:lvl1pPr>
            <a:lvl2pPr>
              <a:buNone/>
              <a:defRPr sz="2175" b="1">
                <a:solidFill>
                  <a:srgbClr val="173A49"/>
                </a:solidFill>
                <a:latin typeface="맑은 고딕"/>
                <a:ea typeface="맑은 고딕"/>
                <a:cs typeface="맑은 고딕"/>
              </a:defRPr>
            </a:lvl2pPr>
            <a:lvl3pPr>
              <a:buNone/>
              <a:defRPr sz="2175" b="1">
                <a:solidFill>
                  <a:srgbClr val="173A49"/>
                </a:solidFill>
                <a:latin typeface="맑은 고딕"/>
                <a:ea typeface="맑은 고딕"/>
                <a:cs typeface="맑은 고딕"/>
              </a:defRPr>
            </a:lvl3pPr>
            <a:lvl4pPr>
              <a:buNone/>
              <a:defRPr sz="2175" b="1">
                <a:solidFill>
                  <a:srgbClr val="173A49"/>
                </a:solidFill>
                <a:latin typeface="맑은 고딕"/>
                <a:ea typeface="맑은 고딕"/>
                <a:cs typeface="맑은 고딕"/>
              </a:defRPr>
            </a:lvl4pPr>
            <a:lvl5pPr>
              <a:buNone/>
              <a:defRPr sz="2175" b="1">
                <a:solidFill>
                  <a:srgbClr val="173A49"/>
                </a:solidFill>
                <a:latin typeface="맑은 고딕"/>
                <a:ea typeface="맑은 고딕"/>
                <a:cs typeface="맑은 고딕"/>
              </a:defRPr>
            </a:lvl5pPr>
            <a:lvl6pPr>
              <a:buNone/>
              <a:defRPr sz="2175" b="1">
                <a:solidFill>
                  <a:srgbClr val="173A49"/>
                </a:solidFill>
                <a:latin typeface="맑은 고딕"/>
                <a:ea typeface="맑은 고딕"/>
                <a:cs typeface="맑은 고딕"/>
              </a:defRPr>
            </a:lvl6pPr>
            <a:lvl7pPr>
              <a:buNone/>
              <a:defRPr sz="2175" b="1">
                <a:solidFill>
                  <a:srgbClr val="173A49"/>
                </a:solidFill>
                <a:latin typeface="맑은 고딕"/>
                <a:ea typeface="맑은 고딕"/>
                <a:cs typeface="맑은 고딕"/>
              </a:defRPr>
            </a:lvl7pPr>
            <a:lvl8pPr>
              <a:buNone/>
              <a:defRPr sz="2175" b="1">
                <a:solidFill>
                  <a:srgbClr val="173A49"/>
                </a:solidFill>
                <a:latin typeface="맑은 고딕"/>
                <a:ea typeface="맑은 고딕"/>
                <a:cs typeface="맑은 고딕"/>
              </a:defRPr>
            </a:lvl8pPr>
            <a:lvl9pPr>
              <a:buNone/>
              <a:defRPr sz="2175" b="1">
                <a:solidFill>
                  <a:srgbClr val="173A49"/>
                </a:solidFill>
                <a:latin typeface="맑은 고딕"/>
                <a:ea typeface="맑은 고딕"/>
                <a:cs typeface="맑은 고딕"/>
              </a:defRPr>
            </a:lvl9pPr>
          </a:lstStyle>
          <a:p xmlns:a="http://schemas.openxmlformats.org/drawingml/2006/main">
            <a:pPr>
              <a:buNone/>
              <a:defRPr sz="2175" b="1">
                <a:solidFill>
                  <a:srgbClr val="173A49"/>
                </a:solidFill>
                <a:latin typeface="맑은 고딕"/>
                <a:ea typeface="맑은 고딕"/>
                <a:cs typeface="맑은 고딕"/>
              </a:defRPr>
            </a:pPr>
            <a:r>
              <a:rPr sz="2175" b="1">
                <a:solidFill>
                  <a:srgbClr val="173A49"/>
                </a:solidFill>
                <a:latin typeface="맑은 고딕"/>
                <a:ea typeface="맑은 고딕"/>
                <a:cs typeface="맑은 고딕"/>
              </a:rPr>
              <a:t>새 배치의 정답으로</a:t>
            </a:r>
          </a:p>
          <a:p xmlns:a="http://schemas.openxmlformats.org/drawingml/2006/main">
            <a:pPr>
              <a:buNone/>
              <a:defRPr sz="2175" b="1">
                <a:solidFill>
                  <a:srgbClr val="173A49"/>
                </a:solidFill>
                <a:latin typeface="맑은 고딕"/>
                <a:ea typeface="맑은 고딕"/>
                <a:cs typeface="맑은 고딕"/>
              </a:defRPr>
            </a:pPr>
            <a:r>
              <a:rPr sz="2175" b="1">
                <a:solidFill>
                  <a:srgbClr val="173A49"/>
                </a:solidFill>
                <a:latin typeface="맑은 고딕"/>
                <a:ea typeface="맑은 고딕"/>
                <a:cs typeface="맑은 고딕"/>
              </a:rPr>
              <a:t>기존 모델 그대로 점검</a:t>
            </a:r>
          </a:p>
        </p:txBody>
      </p:sp>
      <p:sp>
        <p:nvSpPr>
          <p:cNvPr id="7" name="검출 목표 미달&#10;재학습 비교 제안">
            <a:extLst xmlns:a="http://schemas.openxmlformats.org/drawingml/2006/main">
              <a:ext uri="{FF2B5EF4-FFF2-40B4-BE49-F238E27FC236}">
                <a16:creationId xmlns:a16="http://schemas.microsoft.com/office/drawing/2014/main" id="{422F52E2-A5B9-427C-8E29-C8A7EF548477}"/>
              </a:ext>
            </a:extLst>
          </p:cNvPr>
          <p:cNvSpPr>
            <a:spLocks xmlns:a="http://schemas.openxmlformats.org/drawingml/2006/main" noGrp="1"/>
          </p:cNvSpPr>
          <p:nvPr/>
        </p:nvSpPr>
        <p:spPr>
          <a:xfrm xmlns:a="http://schemas.openxmlformats.org/drawingml/2006/main">
            <a:off x="8210550" y="3190875"/>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b="0">
                <a:solidFill>
                  <a:srgbClr val="147D82"/>
                </a:solidFill>
                <a:latin typeface="맑은 고딕"/>
                <a:ea typeface="맑은 고딕"/>
                <a:cs typeface="맑은 고딕"/>
              </a:defRPr>
            </a:defPPr>
            <a:lvl1pPr>
              <a:buNone/>
              <a:defRPr sz="2100" b="0">
                <a:solidFill>
                  <a:srgbClr val="147D82"/>
                </a:solidFill>
                <a:latin typeface="맑은 고딕"/>
                <a:ea typeface="맑은 고딕"/>
                <a:cs typeface="맑은 고딕"/>
              </a:defRPr>
            </a:lvl1pPr>
            <a:lvl2pPr>
              <a:buNone/>
              <a:defRPr sz="2100" b="0">
                <a:solidFill>
                  <a:srgbClr val="147D82"/>
                </a:solidFill>
                <a:latin typeface="맑은 고딕"/>
                <a:ea typeface="맑은 고딕"/>
                <a:cs typeface="맑은 고딕"/>
              </a:defRPr>
            </a:lvl2pPr>
            <a:lvl3pPr>
              <a:buNone/>
              <a:defRPr sz="2100" b="0">
                <a:solidFill>
                  <a:srgbClr val="147D82"/>
                </a:solidFill>
                <a:latin typeface="맑은 고딕"/>
                <a:ea typeface="맑은 고딕"/>
                <a:cs typeface="맑은 고딕"/>
              </a:defRPr>
            </a:lvl3pPr>
            <a:lvl4pPr>
              <a:buNone/>
              <a:defRPr sz="2100" b="0">
                <a:solidFill>
                  <a:srgbClr val="147D82"/>
                </a:solidFill>
                <a:latin typeface="맑은 고딕"/>
                <a:ea typeface="맑은 고딕"/>
                <a:cs typeface="맑은 고딕"/>
              </a:defRPr>
            </a:lvl4pPr>
            <a:lvl5pPr>
              <a:buNone/>
              <a:defRPr sz="2100" b="0">
                <a:solidFill>
                  <a:srgbClr val="147D82"/>
                </a:solidFill>
                <a:latin typeface="맑은 고딕"/>
                <a:ea typeface="맑은 고딕"/>
                <a:cs typeface="맑은 고딕"/>
              </a:defRPr>
            </a:lvl5pPr>
            <a:lvl6pPr>
              <a:buNone/>
              <a:defRPr sz="2100" b="0">
                <a:solidFill>
                  <a:srgbClr val="147D82"/>
                </a:solidFill>
                <a:latin typeface="맑은 고딕"/>
                <a:ea typeface="맑은 고딕"/>
                <a:cs typeface="맑은 고딕"/>
              </a:defRPr>
            </a:lvl6pPr>
            <a:lvl7pPr>
              <a:buNone/>
              <a:defRPr sz="2100" b="0">
                <a:solidFill>
                  <a:srgbClr val="147D82"/>
                </a:solidFill>
                <a:latin typeface="맑은 고딕"/>
                <a:ea typeface="맑은 고딕"/>
                <a:cs typeface="맑은 고딕"/>
              </a:defRPr>
            </a:lvl7pPr>
            <a:lvl8pPr>
              <a:buNone/>
              <a:defRPr sz="2100" b="0">
                <a:solidFill>
                  <a:srgbClr val="147D82"/>
                </a:solidFill>
                <a:latin typeface="맑은 고딕"/>
                <a:ea typeface="맑은 고딕"/>
                <a:cs typeface="맑은 고딕"/>
              </a:defRPr>
            </a:lvl8pPr>
            <a:lvl9pPr>
              <a:buNone/>
              <a:defRPr sz="2100" b="0">
                <a:solidFill>
                  <a:srgbClr val="147D82"/>
                </a:solidFill>
                <a:latin typeface="맑은 고딕"/>
                <a:ea typeface="맑은 고딕"/>
                <a:cs typeface="맑은 고딕"/>
              </a:defRPr>
            </a:lvl9pPr>
          </a:lstStyle>
          <a:p xmlns:a="http://schemas.openxmlformats.org/drawingml/2006/main">
            <a:pPr>
              <a:buNone/>
              <a:defRPr sz="2100" b="0">
                <a:solidFill>
                  <a:srgbClr val="147D82"/>
                </a:solidFill>
                <a:latin typeface="맑은 고딕"/>
                <a:ea typeface="맑은 고딕"/>
                <a:cs typeface="맑은 고딕"/>
              </a:defRPr>
            </a:pPr>
            <a:r>
              <a:rPr sz="2100" b="0">
                <a:solidFill>
                  <a:srgbClr val="147D82"/>
                </a:solidFill>
                <a:latin typeface="맑은 고딕"/>
                <a:ea typeface="맑은 고딕"/>
                <a:cs typeface="맑은 고딕"/>
              </a:rPr>
              <a:t>검출 목표 미달</a:t>
            </a:r>
          </a:p>
          <a:p xmlns:a="http://schemas.openxmlformats.org/drawingml/2006/main">
            <a:pPr>
              <a:buNone/>
              <a:defRPr sz="2100" b="0">
                <a:solidFill>
                  <a:srgbClr val="147D82"/>
                </a:solidFill>
                <a:latin typeface="맑은 고딕"/>
                <a:ea typeface="맑은 고딕"/>
                <a:cs typeface="맑은 고딕"/>
              </a:defRPr>
            </a:pPr>
            <a:r>
              <a:rPr sz="2100" b="0">
                <a:solidFill>
                  <a:srgbClr val="147D82"/>
                </a:solidFill>
                <a:latin typeface="맑은 고딕"/>
                <a:ea typeface="맑은 고딕"/>
                <a:cs typeface="맑은 고딕"/>
              </a:rPr>
              <a:t>재학습 비교 제안</a:t>
            </a:r>
          </a:p>
        </p:txBody>
      </p:sp>
      <p:sp>
        <p:nvSpPr>
          <p:cNvPr id="8" name="표본이 부족하면&#10;판단 보류">
            <a:extLst xmlns:a="http://schemas.openxmlformats.org/drawingml/2006/main">
              <a:ext uri="{FF2B5EF4-FFF2-40B4-BE49-F238E27FC236}">
                <a16:creationId xmlns:a16="http://schemas.microsoft.com/office/drawing/2014/main" id="{3D88C06E-A7A9-4803-A754-9AEAB9442BB4}"/>
              </a:ext>
            </a:extLst>
          </p:cNvPr>
          <p:cNvSpPr>
            <a:spLocks xmlns:a="http://schemas.openxmlformats.org/drawingml/2006/main" noGrp="1"/>
          </p:cNvSpPr>
          <p:nvPr/>
        </p:nvSpPr>
        <p:spPr>
          <a:xfrm xmlns:a="http://schemas.openxmlformats.org/drawingml/2006/main">
            <a:off x="8210550" y="438150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b="0">
                <a:solidFill>
                  <a:srgbClr val="173A49"/>
                </a:solidFill>
                <a:latin typeface="맑은 고딕"/>
                <a:ea typeface="맑은 고딕"/>
                <a:cs typeface="맑은 고딕"/>
              </a:defRPr>
            </a:defPPr>
            <a:lvl1pPr>
              <a:buNone/>
              <a:defRPr sz="1950" b="0">
                <a:solidFill>
                  <a:srgbClr val="173A49"/>
                </a:solidFill>
                <a:latin typeface="맑은 고딕"/>
                <a:ea typeface="맑은 고딕"/>
                <a:cs typeface="맑은 고딕"/>
              </a:defRPr>
            </a:lvl1pPr>
            <a:lvl2pPr>
              <a:buNone/>
              <a:defRPr sz="1950" b="0">
                <a:solidFill>
                  <a:srgbClr val="173A49"/>
                </a:solidFill>
                <a:latin typeface="맑은 고딕"/>
                <a:ea typeface="맑은 고딕"/>
                <a:cs typeface="맑은 고딕"/>
              </a:defRPr>
            </a:lvl2pPr>
            <a:lvl3pPr>
              <a:buNone/>
              <a:defRPr sz="1950" b="0">
                <a:solidFill>
                  <a:srgbClr val="173A49"/>
                </a:solidFill>
                <a:latin typeface="맑은 고딕"/>
                <a:ea typeface="맑은 고딕"/>
                <a:cs typeface="맑은 고딕"/>
              </a:defRPr>
            </a:lvl3pPr>
            <a:lvl4pPr>
              <a:buNone/>
              <a:defRPr sz="1950" b="0">
                <a:solidFill>
                  <a:srgbClr val="173A49"/>
                </a:solidFill>
                <a:latin typeface="맑은 고딕"/>
                <a:ea typeface="맑은 고딕"/>
                <a:cs typeface="맑은 고딕"/>
              </a:defRPr>
            </a:lvl4pPr>
            <a:lvl5pPr>
              <a:buNone/>
              <a:defRPr sz="1950" b="0">
                <a:solidFill>
                  <a:srgbClr val="173A49"/>
                </a:solidFill>
                <a:latin typeface="맑은 고딕"/>
                <a:ea typeface="맑은 고딕"/>
                <a:cs typeface="맑은 고딕"/>
              </a:defRPr>
            </a:lvl5pPr>
            <a:lvl6pPr>
              <a:buNone/>
              <a:defRPr sz="1950" b="0">
                <a:solidFill>
                  <a:srgbClr val="173A49"/>
                </a:solidFill>
                <a:latin typeface="맑은 고딕"/>
                <a:ea typeface="맑은 고딕"/>
                <a:cs typeface="맑은 고딕"/>
              </a:defRPr>
            </a:lvl6pPr>
            <a:lvl7pPr>
              <a:buNone/>
              <a:defRPr sz="1950" b="0">
                <a:solidFill>
                  <a:srgbClr val="173A49"/>
                </a:solidFill>
                <a:latin typeface="맑은 고딕"/>
                <a:ea typeface="맑은 고딕"/>
                <a:cs typeface="맑은 고딕"/>
              </a:defRPr>
            </a:lvl7pPr>
            <a:lvl8pPr>
              <a:buNone/>
              <a:defRPr sz="1950" b="0">
                <a:solidFill>
                  <a:srgbClr val="173A49"/>
                </a:solidFill>
                <a:latin typeface="맑은 고딕"/>
                <a:ea typeface="맑은 고딕"/>
                <a:cs typeface="맑은 고딕"/>
              </a:defRPr>
            </a:lvl8pPr>
            <a:lvl9pPr>
              <a:buNone/>
              <a:defRPr sz="1950" b="0">
                <a:solidFill>
                  <a:srgbClr val="173A49"/>
                </a:solidFill>
                <a:latin typeface="맑은 고딕"/>
                <a:ea typeface="맑은 고딕"/>
                <a:cs typeface="맑은 고딕"/>
              </a:defRPr>
            </a:lvl9pPr>
          </a:lstStyle>
          <a:p xmlns:a="http://schemas.openxmlformats.org/drawingml/2006/main">
            <a:pPr>
              <a:buNone/>
              <a:defRPr sz="1950" b="0">
                <a:solidFill>
                  <a:srgbClr val="173A49"/>
                </a:solidFill>
                <a:latin typeface="맑은 고딕"/>
                <a:ea typeface="맑은 고딕"/>
                <a:cs typeface="맑은 고딕"/>
              </a:defRPr>
            </a:pPr>
            <a:r>
              <a:rPr sz="1950" b="0">
                <a:solidFill>
                  <a:srgbClr val="173A49"/>
                </a:solidFill>
                <a:latin typeface="맑은 고딕"/>
                <a:ea typeface="맑은 고딕"/>
                <a:cs typeface="맑은 고딕"/>
              </a:rPr>
              <a:t>표본이 부족하면</a:t>
            </a:r>
          </a:p>
          <a:p xmlns:a="http://schemas.openxmlformats.org/drawingml/2006/main">
            <a:pPr>
              <a:buNone/>
              <a:defRPr sz="1950" b="0">
                <a:solidFill>
                  <a:srgbClr val="173A49"/>
                </a:solidFill>
                <a:latin typeface="맑은 고딕"/>
                <a:ea typeface="맑은 고딕"/>
                <a:cs typeface="맑은 고딕"/>
              </a:defRPr>
            </a:pPr>
            <a:r>
              <a:rPr sz="1950" b="0">
                <a:solidFill>
                  <a:srgbClr val="173A49"/>
                </a:solidFill>
                <a:latin typeface="맑은 고딕"/>
                <a:ea typeface="맑은 고딕"/>
                <a:cs typeface="맑은 고딕"/>
              </a:rPr>
              <a:t>판단 보류</a:t>
            </a:r>
          </a:p>
        </p:txBody>
      </p:sp>
      <p:sp>
        <p:nvSpPr>
          <p:cNvPr id="9" name="판단 근거를 확인한 뒤 학습 계획을 승인합니다. 입력 변화">
            <a:extLst xmlns:a="http://schemas.openxmlformats.org/drawingml/2006/main">
              <a:ext uri="{FF2B5EF4-FFF2-40B4-BE49-F238E27FC236}">
                <a16:creationId xmlns:a16="http://schemas.microsoft.com/office/drawing/2014/main" id="{2942D95F-DD08-4A69-A47A-83D20D1ED87D}"/>
              </a:ext>
            </a:extLst>
          </p:cNvPr>
          <p:cNvSpPr>
            <a:spLocks xmlns:a="http://schemas.openxmlformats.org/drawingml/2006/main" noGrp="1"/>
          </p:cNvSpPr>
          <p:nvPr/>
        </p:nvSpPr>
        <p:spPr>
          <a:xfrm xmlns:a="http://schemas.openxmlformats.org/drawingml/2006/main">
            <a:off x="609600" y="5962650"/>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425" b="0">
                <a:solidFill>
                  <a:srgbClr val="617681"/>
                </a:solidFill>
                <a:latin typeface="맑은 고딕"/>
                <a:ea typeface="맑은 고딕"/>
                <a:cs typeface="맑은 고딕"/>
              </a:defRPr>
            </a:defPPr>
            <a:lvl1pPr>
              <a:buNone/>
              <a:defRPr sz="1425" b="0">
                <a:solidFill>
                  <a:srgbClr val="617681"/>
                </a:solidFill>
                <a:latin typeface="맑은 고딕"/>
                <a:ea typeface="맑은 고딕"/>
                <a:cs typeface="맑은 고딕"/>
              </a:defRPr>
            </a:lvl1pPr>
            <a:lvl2pPr>
              <a:buNone/>
              <a:defRPr sz="1425" b="0">
                <a:solidFill>
                  <a:srgbClr val="617681"/>
                </a:solidFill>
                <a:latin typeface="맑은 고딕"/>
                <a:ea typeface="맑은 고딕"/>
                <a:cs typeface="맑은 고딕"/>
              </a:defRPr>
            </a:lvl2pPr>
            <a:lvl3pPr>
              <a:buNone/>
              <a:defRPr sz="1425" b="0">
                <a:solidFill>
                  <a:srgbClr val="617681"/>
                </a:solidFill>
                <a:latin typeface="맑은 고딕"/>
                <a:ea typeface="맑은 고딕"/>
                <a:cs typeface="맑은 고딕"/>
              </a:defRPr>
            </a:lvl3pPr>
            <a:lvl4pPr>
              <a:buNone/>
              <a:defRPr sz="1425" b="0">
                <a:solidFill>
                  <a:srgbClr val="617681"/>
                </a:solidFill>
                <a:latin typeface="맑은 고딕"/>
                <a:ea typeface="맑은 고딕"/>
                <a:cs typeface="맑은 고딕"/>
              </a:defRPr>
            </a:lvl4pPr>
            <a:lvl5pPr>
              <a:buNone/>
              <a:defRPr sz="1425" b="0">
                <a:solidFill>
                  <a:srgbClr val="617681"/>
                </a:solidFill>
                <a:latin typeface="맑은 고딕"/>
                <a:ea typeface="맑은 고딕"/>
                <a:cs typeface="맑은 고딕"/>
              </a:defRPr>
            </a:lvl5pPr>
            <a:lvl6pPr>
              <a:buNone/>
              <a:defRPr sz="1425" b="0">
                <a:solidFill>
                  <a:srgbClr val="617681"/>
                </a:solidFill>
                <a:latin typeface="맑은 고딕"/>
                <a:ea typeface="맑은 고딕"/>
                <a:cs typeface="맑은 고딕"/>
              </a:defRPr>
            </a:lvl6pPr>
            <a:lvl7pPr>
              <a:buNone/>
              <a:defRPr sz="1425" b="0">
                <a:solidFill>
                  <a:srgbClr val="617681"/>
                </a:solidFill>
                <a:latin typeface="맑은 고딕"/>
                <a:ea typeface="맑은 고딕"/>
                <a:cs typeface="맑은 고딕"/>
              </a:defRPr>
            </a:lvl7pPr>
            <a:lvl8pPr>
              <a:buNone/>
              <a:defRPr sz="1425" b="0">
                <a:solidFill>
                  <a:srgbClr val="617681"/>
                </a:solidFill>
                <a:latin typeface="맑은 고딕"/>
                <a:ea typeface="맑은 고딕"/>
                <a:cs typeface="맑은 고딕"/>
              </a:defRPr>
            </a:lvl8pPr>
            <a:lvl9pPr>
              <a:buNone/>
              <a:defRPr sz="1425" b="0">
                <a:solidFill>
                  <a:srgbClr val="617681"/>
                </a:solidFill>
                <a:latin typeface="맑은 고딕"/>
                <a:ea typeface="맑은 고딕"/>
                <a:cs typeface="맑은 고딕"/>
              </a:defRPr>
            </a:lvl9pPr>
          </a:lstStyle>
          <a:p xmlns:a="http://schemas.openxmlformats.org/drawingml/2006/main">
            <a:pPr>
              <a:buNone/>
              <a:defRPr sz="1425" b="0">
                <a:solidFill>
                  <a:srgbClr val="617681"/>
                </a:solidFill>
                <a:latin typeface="맑은 고딕"/>
                <a:ea typeface="맑은 고딕"/>
                <a:cs typeface="맑은 고딕"/>
              </a:defRPr>
            </a:pPr>
            <a:r>
              <a:rPr sz="1425" b="0">
                <a:solidFill>
                  <a:srgbClr val="617681"/>
                </a:solidFill>
                <a:latin typeface="맑은 고딕"/>
                <a:ea typeface="맑은 고딕"/>
                <a:cs typeface="맑은 고딕"/>
              </a:rPr>
              <a:t>판단 근거를 확인한 뒤 학습 계획을 승인합니다. 입력 변화만으로 즉시 교체하지 않습니다.</a:t>
            </a:r>
          </a:p>
        </p:txBody>
      </p:sp>
    </p:spTree>
    <p:extLst>
      <p:ext uri="{BB962C8B-B14F-4D97-AF65-F5344CB8AC3E}">
        <p14:creationId xmlns:p14="http://schemas.microsoft.com/office/powerpoint/2010/main" val="1009507618"/>
      </p:ext>
    </p:extLst>
  </p:cSld>
</p:sld>
</file>

<file path=ppt/slides/slide10.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10" name="10 · 모델 관리 | 새 배치 Test 768건 · 불량">
            <a:extLst xmlns:a="http://schemas.openxmlformats.org/drawingml/2006/main">
              <a:ext uri="{FF2B5EF4-FFF2-40B4-BE49-F238E27FC236}">
                <a16:creationId xmlns:a16="http://schemas.microsoft.com/office/drawing/2014/main" id="{5E603880-7688-424B-AA33-744891AFEAF7}"/>
              </a:ext>
            </a:extLst>
          </p:cNvPr>
          <p:cNvSpPr>
            <a:spLocks xmlns:a="http://schemas.openxmlformats.org/drawingml/2006/main" noGrp="1"/>
          </p:cNvSpPr>
          <p:nvPr/>
        </p:nvSpPr>
        <p:spPr>
          <a:xfrm xmlns:a="http://schemas.openxmlformats.org/drawingml/2006/main">
            <a:off x="609600" y="2952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b="1">
                <a:solidFill>
                  <a:srgbClr val="147D82"/>
                </a:solidFill>
                <a:latin typeface="맑은 고딕"/>
                <a:ea typeface="맑은 고딕"/>
                <a:cs typeface="맑은 고딕"/>
              </a:defRPr>
            </a:defPPr>
            <a:lvl1pPr>
              <a:buNone/>
              <a:defRPr sz="1200" b="1">
                <a:solidFill>
                  <a:srgbClr val="147D82"/>
                </a:solidFill>
                <a:latin typeface="맑은 고딕"/>
                <a:ea typeface="맑은 고딕"/>
                <a:cs typeface="맑은 고딕"/>
              </a:defRPr>
            </a:lvl1pPr>
            <a:lvl2pPr>
              <a:buNone/>
              <a:defRPr sz="1200" b="1">
                <a:solidFill>
                  <a:srgbClr val="147D82"/>
                </a:solidFill>
                <a:latin typeface="맑은 고딕"/>
                <a:ea typeface="맑은 고딕"/>
                <a:cs typeface="맑은 고딕"/>
              </a:defRPr>
            </a:lvl2pPr>
            <a:lvl3pPr>
              <a:buNone/>
              <a:defRPr sz="1200" b="1">
                <a:solidFill>
                  <a:srgbClr val="147D82"/>
                </a:solidFill>
                <a:latin typeface="맑은 고딕"/>
                <a:ea typeface="맑은 고딕"/>
                <a:cs typeface="맑은 고딕"/>
              </a:defRPr>
            </a:lvl3pPr>
            <a:lvl4pPr>
              <a:buNone/>
              <a:defRPr sz="1200" b="1">
                <a:solidFill>
                  <a:srgbClr val="147D82"/>
                </a:solidFill>
                <a:latin typeface="맑은 고딕"/>
                <a:ea typeface="맑은 고딕"/>
                <a:cs typeface="맑은 고딕"/>
              </a:defRPr>
            </a:lvl4pPr>
            <a:lvl5pPr>
              <a:buNone/>
              <a:defRPr sz="1200" b="1">
                <a:solidFill>
                  <a:srgbClr val="147D82"/>
                </a:solidFill>
                <a:latin typeface="맑은 고딕"/>
                <a:ea typeface="맑은 고딕"/>
                <a:cs typeface="맑은 고딕"/>
              </a:defRPr>
            </a:lvl5pPr>
            <a:lvl6pPr>
              <a:buNone/>
              <a:defRPr sz="1200" b="1">
                <a:solidFill>
                  <a:srgbClr val="147D82"/>
                </a:solidFill>
                <a:latin typeface="맑은 고딕"/>
                <a:ea typeface="맑은 고딕"/>
                <a:cs typeface="맑은 고딕"/>
              </a:defRPr>
            </a:lvl6pPr>
            <a:lvl7pPr>
              <a:buNone/>
              <a:defRPr sz="1200" b="1">
                <a:solidFill>
                  <a:srgbClr val="147D82"/>
                </a:solidFill>
                <a:latin typeface="맑은 고딕"/>
                <a:ea typeface="맑은 고딕"/>
                <a:cs typeface="맑은 고딕"/>
              </a:defRPr>
            </a:lvl7pPr>
            <a:lvl8pPr>
              <a:buNone/>
              <a:defRPr sz="1200" b="1">
                <a:solidFill>
                  <a:srgbClr val="147D82"/>
                </a:solidFill>
                <a:latin typeface="맑은 고딕"/>
                <a:ea typeface="맑은 고딕"/>
                <a:cs typeface="맑은 고딕"/>
              </a:defRPr>
            </a:lvl8pPr>
            <a:lvl9pPr>
              <a:buNone/>
              <a:defRPr sz="1200" b="1">
                <a:solidFill>
                  <a:srgbClr val="147D82"/>
                </a:solidFill>
                <a:latin typeface="맑은 고딕"/>
                <a:ea typeface="맑은 고딕"/>
                <a:cs typeface="맑은 고딕"/>
              </a:defRPr>
            </a:lvl9pPr>
          </a:lstStyle>
          <a:p xmlns:a="http://schemas.openxmlformats.org/drawingml/2006/main">
            <a:pPr>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10 · 재학습의 마지막 시험(Test) | 불량167개 · 정상601개</a:t>
            </a:r>
          </a:p>
        </p:txBody>
      </p:sp>
      <p:sp>
        <p:nvSpPr>
          <p:cNvPr id="2" name="⑦ 승인 후 재학습하고, 같은 Test에서 비교합니다">
            <a:extLst xmlns:a="http://schemas.openxmlformats.org/drawingml/2006/main">
              <a:ext uri="{FF2B5EF4-FFF2-40B4-BE49-F238E27FC236}">
                <a16:creationId xmlns:a16="http://schemas.microsoft.com/office/drawing/2014/main" id="{0D3DDDA7-FEBF-434B-8027-B5CB3A5B77DA}"/>
              </a:ext>
            </a:extLst>
          </p:cNvPr>
          <p:cNvSpPr>
            <a:spLocks xmlns:a="http://schemas.openxmlformats.org/drawingml/2006/main" noGrp="1"/>
          </p:cNvSpPr>
          <p:nvPr/>
        </p:nvSpPr>
        <p:spPr>
          <a:xfrm xmlns:a="http://schemas.openxmlformats.org/drawingml/2006/main">
            <a:off x="609600" y="838200"/>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925" b="1">
                <a:solidFill>
                  <a:srgbClr val="173A49"/>
                </a:solidFill>
                <a:latin typeface="맑은 고딕"/>
                <a:ea typeface="맑은 고딕"/>
                <a:cs typeface="맑은 고딕"/>
              </a:defRPr>
            </a:defPPr>
            <a:lvl1pPr>
              <a:buNone/>
              <a:defRPr sz="2925" b="1">
                <a:solidFill>
                  <a:srgbClr val="173A49"/>
                </a:solidFill>
                <a:latin typeface="맑은 고딕"/>
                <a:ea typeface="맑은 고딕"/>
                <a:cs typeface="맑은 고딕"/>
              </a:defRPr>
            </a:lvl1pPr>
            <a:lvl2pPr>
              <a:buNone/>
              <a:defRPr sz="2925" b="1">
                <a:solidFill>
                  <a:srgbClr val="173A49"/>
                </a:solidFill>
                <a:latin typeface="맑은 고딕"/>
                <a:ea typeface="맑은 고딕"/>
                <a:cs typeface="맑은 고딕"/>
              </a:defRPr>
            </a:lvl2pPr>
            <a:lvl3pPr>
              <a:buNone/>
              <a:defRPr sz="2925" b="1">
                <a:solidFill>
                  <a:srgbClr val="173A49"/>
                </a:solidFill>
                <a:latin typeface="맑은 고딕"/>
                <a:ea typeface="맑은 고딕"/>
                <a:cs typeface="맑은 고딕"/>
              </a:defRPr>
            </a:lvl3pPr>
            <a:lvl4pPr>
              <a:buNone/>
              <a:defRPr sz="2925" b="1">
                <a:solidFill>
                  <a:srgbClr val="173A49"/>
                </a:solidFill>
                <a:latin typeface="맑은 고딕"/>
                <a:ea typeface="맑은 고딕"/>
                <a:cs typeface="맑은 고딕"/>
              </a:defRPr>
            </a:lvl4pPr>
            <a:lvl5pPr>
              <a:buNone/>
              <a:defRPr sz="2925" b="1">
                <a:solidFill>
                  <a:srgbClr val="173A49"/>
                </a:solidFill>
                <a:latin typeface="맑은 고딕"/>
                <a:ea typeface="맑은 고딕"/>
                <a:cs typeface="맑은 고딕"/>
              </a:defRPr>
            </a:lvl5pPr>
            <a:lvl6pPr>
              <a:buNone/>
              <a:defRPr sz="2925" b="1">
                <a:solidFill>
                  <a:srgbClr val="173A49"/>
                </a:solidFill>
                <a:latin typeface="맑은 고딕"/>
                <a:ea typeface="맑은 고딕"/>
                <a:cs typeface="맑은 고딕"/>
              </a:defRPr>
            </a:lvl6pPr>
            <a:lvl7pPr>
              <a:buNone/>
              <a:defRPr sz="2925" b="1">
                <a:solidFill>
                  <a:srgbClr val="173A49"/>
                </a:solidFill>
                <a:latin typeface="맑은 고딕"/>
                <a:ea typeface="맑은 고딕"/>
                <a:cs typeface="맑은 고딕"/>
              </a:defRPr>
            </a:lvl7pPr>
            <a:lvl8pPr>
              <a:buNone/>
              <a:defRPr sz="2925" b="1">
                <a:solidFill>
                  <a:srgbClr val="173A49"/>
                </a:solidFill>
                <a:latin typeface="맑은 고딕"/>
                <a:ea typeface="맑은 고딕"/>
                <a:cs typeface="맑은 고딕"/>
              </a:defRPr>
            </a:lvl8pPr>
            <a:lvl9pPr>
              <a:buNone/>
              <a:defRPr sz="2925" b="1">
                <a:solidFill>
                  <a:srgbClr val="173A49"/>
                </a:solidFill>
                <a:latin typeface="맑은 고딕"/>
                <a:ea typeface="맑은 고딕"/>
                <a:cs typeface="맑은 고딕"/>
              </a:defRPr>
            </a:lvl9pPr>
          </a:lstStyle>
          <a:p xmlns:a="http://schemas.openxmlformats.org/drawingml/2006/main">
            <a:pPr>
              <a:buNone/>
              <a:defRPr sz="2925" b="1">
                <a:solidFill>
                  <a:srgbClr val="173A49"/>
                </a:solidFill>
                <a:latin typeface="맑은 고딕"/>
                <a:ea typeface="맑은 고딕"/>
                <a:cs typeface="맑은 고딕"/>
              </a:defRPr>
            </a:pPr>
            <a:r>
              <a:rPr sz="2925" b="1">
                <a:solidFill>
                  <a:srgbClr val="173A49"/>
                </a:solidFill>
                <a:latin typeface="맑은 고딕"/>
                <a:ea typeface="맑은 고딕"/>
                <a:cs typeface="맑은 고딕"/>
              </a:rPr>
              <a:t>⑦ 승인 후 재학습하고, 같은 Test에서 비교합니다</a:t>
            </a:r>
          </a:p>
        </p:txBody>
      </p:sp>
      <p:sp>
        <p:nvSpPr>
          <p:cNvPr id="3" name="SKALA 광주 2반 · G045 김용찬">
            <a:extLst xmlns:a="http://schemas.openxmlformats.org/drawingml/2006/main">
              <a:ext uri="{FF2B5EF4-FFF2-40B4-BE49-F238E27FC236}">
                <a16:creationId xmlns:a16="http://schemas.microsoft.com/office/drawing/2014/main" id="{5A1C37D7-A9A3-42F7-BE96-E1F7B4499DFC}"/>
              </a:ext>
            </a:extLst>
          </p:cNvPr>
          <p:cNvSpPr>
            <a:spLocks xmlns:a="http://schemas.openxmlformats.org/drawingml/2006/main" noGrp="1"/>
          </p:cNvSpPr>
          <p:nvPr/>
        </p:nvSpPr>
        <p:spPr>
          <a:xfrm xmlns:a="http://schemas.openxmlformats.org/drawingml/2006/main">
            <a:off x="609600" y="641985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buNone/>
              <a:defRPr sz="975" b="0">
                <a:solidFill>
                  <a:srgbClr val="617681"/>
                </a:solidFill>
                <a:latin typeface="맑은 고딕"/>
                <a:ea typeface="맑은 고딕"/>
                <a:cs typeface="맑은 고딕"/>
              </a:defRPr>
            </a:lvl1pPr>
            <a:lvl2pPr>
              <a:buNone/>
              <a:defRPr sz="975" b="0">
                <a:solidFill>
                  <a:srgbClr val="617681"/>
                </a:solidFill>
                <a:latin typeface="맑은 고딕"/>
                <a:ea typeface="맑은 고딕"/>
                <a:cs typeface="맑은 고딕"/>
              </a:defRPr>
            </a:lvl2pPr>
            <a:lvl3pPr>
              <a:buNone/>
              <a:defRPr sz="975" b="0">
                <a:solidFill>
                  <a:srgbClr val="617681"/>
                </a:solidFill>
                <a:latin typeface="맑은 고딕"/>
                <a:ea typeface="맑은 고딕"/>
                <a:cs typeface="맑은 고딕"/>
              </a:defRPr>
            </a:lvl3pPr>
            <a:lvl4pPr>
              <a:buNone/>
              <a:defRPr sz="975" b="0">
                <a:solidFill>
                  <a:srgbClr val="617681"/>
                </a:solidFill>
                <a:latin typeface="맑은 고딕"/>
                <a:ea typeface="맑은 고딕"/>
                <a:cs typeface="맑은 고딕"/>
              </a:defRPr>
            </a:lvl4pPr>
            <a:lvl5pPr>
              <a:buNone/>
              <a:defRPr sz="975" b="0">
                <a:solidFill>
                  <a:srgbClr val="617681"/>
                </a:solidFill>
                <a:latin typeface="맑은 고딕"/>
                <a:ea typeface="맑은 고딕"/>
                <a:cs typeface="맑은 고딕"/>
              </a:defRPr>
            </a:lvl5pPr>
            <a:lvl6pPr>
              <a:buNone/>
              <a:defRPr sz="975" b="0">
                <a:solidFill>
                  <a:srgbClr val="617681"/>
                </a:solidFill>
                <a:latin typeface="맑은 고딕"/>
                <a:ea typeface="맑은 고딕"/>
                <a:cs typeface="맑은 고딕"/>
              </a:defRPr>
            </a:lvl6pPr>
            <a:lvl7pPr>
              <a:buNone/>
              <a:defRPr sz="975" b="0">
                <a:solidFill>
                  <a:srgbClr val="617681"/>
                </a:solidFill>
                <a:latin typeface="맑은 고딕"/>
                <a:ea typeface="맑은 고딕"/>
                <a:cs typeface="맑은 고딕"/>
              </a:defRPr>
            </a:lvl7pPr>
            <a:lvl8pPr>
              <a:buNone/>
              <a:defRPr sz="975" b="0">
                <a:solidFill>
                  <a:srgbClr val="617681"/>
                </a:solidFill>
                <a:latin typeface="맑은 고딕"/>
                <a:ea typeface="맑은 고딕"/>
                <a:cs typeface="맑은 고딕"/>
              </a:defRPr>
            </a:lvl8pPr>
            <a:lvl9pPr>
              <a:buNone/>
              <a:defRPr sz="975" b="0">
                <a:solidFill>
                  <a:srgbClr val="617681"/>
                </a:solidFill>
                <a:latin typeface="맑은 고딕"/>
                <a:ea typeface="맑은 고딕"/>
                <a:cs typeface="맑은 고딕"/>
              </a:defRPr>
            </a:lvl9pPr>
          </a:lstStyle>
          <a:p xmlns:a="http://schemas.openxmlformats.org/drawingml/2006/main">
            <a:pPr>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SKALA 광주 2반 · G045 김용찬</a:t>
            </a:r>
          </a:p>
        </p:txBody>
      </p:sp>
      <p:sp>
        <p:nvSpPr>
          <p:cNvPr id="4" name="10 / 17">
            <a:extLst xmlns:a="http://schemas.openxmlformats.org/drawingml/2006/main">
              <a:ext uri="{FF2B5EF4-FFF2-40B4-BE49-F238E27FC236}">
                <a16:creationId xmlns:a16="http://schemas.microsoft.com/office/drawing/2014/main" id="{AACE3CD1-746C-4B28-91DB-67EEBD0A9030}"/>
              </a:ext>
            </a:extLst>
          </p:cNvPr>
          <p:cNvSpPr>
            <a:spLocks xmlns:a="http://schemas.openxmlformats.org/drawingml/2006/main" noGrp="1"/>
          </p:cNvSpPr>
          <p:nvPr/>
        </p:nvSpPr>
        <p:spPr>
          <a:xfrm xmlns:a="http://schemas.openxmlformats.org/drawingml/2006/main">
            <a:off x="10153650" y="64198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buNone/>
              <a:defRPr sz="975" b="0">
                <a:solidFill>
                  <a:srgbClr val="617681"/>
                </a:solidFill>
                <a:latin typeface="맑은 고딕"/>
                <a:ea typeface="맑은 고딕"/>
                <a:cs typeface="맑은 고딕"/>
              </a:defRPr>
            </a:lvl1pPr>
            <a:lvl2pPr>
              <a:buNone/>
              <a:defRPr sz="975" b="0">
                <a:solidFill>
                  <a:srgbClr val="617681"/>
                </a:solidFill>
                <a:latin typeface="맑은 고딕"/>
                <a:ea typeface="맑은 고딕"/>
                <a:cs typeface="맑은 고딕"/>
              </a:defRPr>
            </a:lvl2pPr>
            <a:lvl3pPr>
              <a:buNone/>
              <a:defRPr sz="975" b="0">
                <a:solidFill>
                  <a:srgbClr val="617681"/>
                </a:solidFill>
                <a:latin typeface="맑은 고딕"/>
                <a:ea typeface="맑은 고딕"/>
                <a:cs typeface="맑은 고딕"/>
              </a:defRPr>
            </a:lvl3pPr>
            <a:lvl4pPr>
              <a:buNone/>
              <a:defRPr sz="975" b="0">
                <a:solidFill>
                  <a:srgbClr val="617681"/>
                </a:solidFill>
                <a:latin typeface="맑은 고딕"/>
                <a:ea typeface="맑은 고딕"/>
                <a:cs typeface="맑은 고딕"/>
              </a:defRPr>
            </a:lvl4pPr>
            <a:lvl5pPr>
              <a:buNone/>
              <a:defRPr sz="975" b="0">
                <a:solidFill>
                  <a:srgbClr val="617681"/>
                </a:solidFill>
                <a:latin typeface="맑은 고딕"/>
                <a:ea typeface="맑은 고딕"/>
                <a:cs typeface="맑은 고딕"/>
              </a:defRPr>
            </a:lvl5pPr>
            <a:lvl6pPr>
              <a:buNone/>
              <a:defRPr sz="975" b="0">
                <a:solidFill>
                  <a:srgbClr val="617681"/>
                </a:solidFill>
                <a:latin typeface="맑은 고딕"/>
                <a:ea typeface="맑은 고딕"/>
                <a:cs typeface="맑은 고딕"/>
              </a:defRPr>
            </a:lvl6pPr>
            <a:lvl7pPr>
              <a:buNone/>
              <a:defRPr sz="975" b="0">
                <a:solidFill>
                  <a:srgbClr val="617681"/>
                </a:solidFill>
                <a:latin typeface="맑은 고딕"/>
                <a:ea typeface="맑은 고딕"/>
                <a:cs typeface="맑은 고딕"/>
              </a:defRPr>
            </a:lvl7pPr>
            <a:lvl8pPr>
              <a:buNone/>
              <a:defRPr sz="975" b="0">
                <a:solidFill>
                  <a:srgbClr val="617681"/>
                </a:solidFill>
                <a:latin typeface="맑은 고딕"/>
                <a:ea typeface="맑은 고딕"/>
                <a:cs typeface="맑은 고딕"/>
              </a:defRPr>
            </a:lvl8pPr>
            <a:lvl9pPr>
              <a:buNone/>
              <a:defRPr sz="975" b="0">
                <a:solidFill>
                  <a:srgbClr val="617681"/>
                </a:solidFill>
                <a:latin typeface="맑은 고딕"/>
                <a:ea typeface="맑은 고딕"/>
                <a:cs typeface="맑은 고딕"/>
              </a:defRPr>
            </a:lvl9pPr>
          </a:lstStyle>
          <a:p xmlns:a="http://schemas.openxmlformats.org/drawingml/2006/main">
            <a:pPr>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10 / 17</a:t>
            </a:r>
          </a:p>
        </p:txBody>
      </p:sp>
      <p:pic>
        <p:nvPicPr>
          <p:cNvPr id="5" name="">
            <a:extLst xmlns:a="http://schemas.openxmlformats.org/drawingml/2006/main">
              <a:ext uri="{FF2B5EF4-FFF2-40B4-BE49-F238E27FC236}">
                <a16:creationId xmlns:a16="http://schemas.microsoft.com/office/drawing/2014/main" id="{100717AF-CC0F-46E7-A1A7-50C283B51698}"/>
              </a:ext>
            </a:extLst>
          </p:cNvPr>
          <p:cNvPicPr>
            <a:picLocks xmlns:a="http://schemas.openxmlformats.org/drawingml/2006/main" noChangeAspect="1"/>
          </p:cNvPicPr>
          <p:nvPr/>
        </p:nvPicPr>
        <p:blipFill>
          <a:blip xmlns:r="http://schemas.openxmlformats.org/officeDocument/2006/relationships" xmlns:a="http://schemas.openxmlformats.org/drawingml/2006/main" r:embed="R8b3430a6e76f4677"/>
          <a:stretch xmlns:a="http://schemas.openxmlformats.org/drawingml/2006/main"/>
        </p:blipFill>
        <p:spPr>
          <a:xfrm xmlns:a="http://schemas.openxmlformats.org/drawingml/2006/main">
            <a:off x="609600" y="2019300"/>
            <a:ext cx="7239000" cy="3780224"/>
          </a:xfrm>
          <a:prstGeom xmlns:a="http://schemas.openxmlformats.org/drawingml/2006/main" prst="rect">
            <a:avLst/>
          </a:prstGeom>
        </p:spPr>
      </p:pic>
      <p:sp>
        <p:nvSpPr>
          <p:cNvPr id="6" name="불량 발견&#10;43 → 153 / 167개">
            <a:extLst xmlns:a="http://schemas.openxmlformats.org/drawingml/2006/main">
              <a:ext uri="{FF2B5EF4-FFF2-40B4-BE49-F238E27FC236}">
                <a16:creationId xmlns:a16="http://schemas.microsoft.com/office/drawing/2014/main" id="{EBF45F6E-0A49-4135-868E-BB09E32C7324}"/>
              </a:ext>
            </a:extLst>
          </p:cNvPr>
          <p:cNvSpPr>
            <a:spLocks xmlns:a="http://schemas.openxmlformats.org/drawingml/2006/main" noGrp="1"/>
          </p:cNvSpPr>
          <p:nvPr/>
        </p:nvSpPr>
        <p:spPr>
          <a:xfrm xmlns:a="http://schemas.openxmlformats.org/drawingml/2006/main">
            <a:off x="8210550" y="2019300"/>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b="1">
                <a:solidFill>
                  <a:srgbClr val="173A49"/>
                </a:solidFill>
                <a:latin typeface="맑은 고딕"/>
                <a:ea typeface="맑은 고딕"/>
                <a:cs typeface="맑은 고딕"/>
              </a:defRPr>
            </a:defPPr>
            <a:lvl1pPr>
              <a:buNone/>
              <a:defRPr sz="2325" b="1">
                <a:solidFill>
                  <a:srgbClr val="173A49"/>
                </a:solidFill>
                <a:latin typeface="맑은 고딕"/>
                <a:ea typeface="맑은 고딕"/>
                <a:cs typeface="맑은 고딕"/>
              </a:defRPr>
            </a:lvl1pPr>
            <a:lvl2pPr>
              <a:buNone/>
              <a:defRPr sz="2325" b="1">
                <a:solidFill>
                  <a:srgbClr val="173A49"/>
                </a:solidFill>
                <a:latin typeface="맑은 고딕"/>
                <a:ea typeface="맑은 고딕"/>
                <a:cs typeface="맑은 고딕"/>
              </a:defRPr>
            </a:lvl2pPr>
            <a:lvl3pPr>
              <a:buNone/>
              <a:defRPr sz="2325" b="1">
                <a:solidFill>
                  <a:srgbClr val="173A49"/>
                </a:solidFill>
                <a:latin typeface="맑은 고딕"/>
                <a:ea typeface="맑은 고딕"/>
                <a:cs typeface="맑은 고딕"/>
              </a:defRPr>
            </a:lvl3pPr>
            <a:lvl4pPr>
              <a:buNone/>
              <a:defRPr sz="2325" b="1">
                <a:solidFill>
                  <a:srgbClr val="173A49"/>
                </a:solidFill>
                <a:latin typeface="맑은 고딕"/>
                <a:ea typeface="맑은 고딕"/>
                <a:cs typeface="맑은 고딕"/>
              </a:defRPr>
            </a:lvl4pPr>
            <a:lvl5pPr>
              <a:buNone/>
              <a:defRPr sz="2325" b="1">
                <a:solidFill>
                  <a:srgbClr val="173A49"/>
                </a:solidFill>
                <a:latin typeface="맑은 고딕"/>
                <a:ea typeface="맑은 고딕"/>
                <a:cs typeface="맑은 고딕"/>
              </a:defRPr>
            </a:lvl5pPr>
            <a:lvl6pPr>
              <a:buNone/>
              <a:defRPr sz="2325" b="1">
                <a:solidFill>
                  <a:srgbClr val="173A49"/>
                </a:solidFill>
                <a:latin typeface="맑은 고딕"/>
                <a:ea typeface="맑은 고딕"/>
                <a:cs typeface="맑은 고딕"/>
              </a:defRPr>
            </a:lvl6pPr>
            <a:lvl7pPr>
              <a:buNone/>
              <a:defRPr sz="2325" b="1">
                <a:solidFill>
                  <a:srgbClr val="173A49"/>
                </a:solidFill>
                <a:latin typeface="맑은 고딕"/>
                <a:ea typeface="맑은 고딕"/>
                <a:cs typeface="맑은 고딕"/>
              </a:defRPr>
            </a:lvl7pPr>
            <a:lvl8pPr>
              <a:buNone/>
              <a:defRPr sz="2325" b="1">
                <a:solidFill>
                  <a:srgbClr val="173A49"/>
                </a:solidFill>
                <a:latin typeface="맑은 고딕"/>
                <a:ea typeface="맑은 고딕"/>
                <a:cs typeface="맑은 고딕"/>
              </a:defRPr>
            </a:lvl8pPr>
            <a:lvl9pPr>
              <a:buNone/>
              <a:defRPr sz="2325" b="1">
                <a:solidFill>
                  <a:srgbClr val="173A49"/>
                </a:solidFill>
                <a:latin typeface="맑은 고딕"/>
                <a:ea typeface="맑은 고딕"/>
                <a:cs typeface="맑은 고딕"/>
              </a:defRPr>
            </a:lvl9pPr>
          </a:lstStyle>
          <a:p xmlns:a="http://schemas.openxmlformats.org/drawingml/2006/main">
            <a:pPr>
              <a:buNone/>
              <a:defRPr sz="2325" b="1">
                <a:solidFill>
                  <a:srgbClr val="173A49"/>
                </a:solidFill>
                <a:latin typeface="맑은 고딕"/>
                <a:ea typeface="맑은 고딕"/>
                <a:cs typeface="맑은 고딕"/>
              </a:defRPr>
            </a:pPr>
            <a:r>
              <a:rPr sz="2325" b="1">
                <a:solidFill>
                  <a:srgbClr val="173A49"/>
                </a:solidFill>
                <a:latin typeface="맑은 고딕"/>
                <a:ea typeface="맑은 고딕"/>
                <a:cs typeface="맑은 고딕"/>
              </a:rPr>
              <a:t>불량 발견</a:t>
            </a:r>
          </a:p>
          <a:p xmlns:a="http://schemas.openxmlformats.org/drawingml/2006/main">
            <a:pPr>
              <a:buNone/>
              <a:defRPr sz="2325" b="1">
                <a:solidFill>
                  <a:srgbClr val="173A49"/>
                </a:solidFill>
                <a:latin typeface="맑은 고딕"/>
                <a:ea typeface="맑은 고딕"/>
                <a:cs typeface="맑은 고딕"/>
              </a:defRPr>
            </a:pPr>
            <a:r>
              <a:rPr sz="2325" b="1">
                <a:solidFill>
                  <a:srgbClr val="173A49"/>
                </a:solidFill>
                <a:latin typeface="맑은 고딕"/>
                <a:ea typeface="맑은 고딕"/>
                <a:cs typeface="맑은 고딕"/>
              </a:rPr>
              <a:t>43 → 153 / 167개</a:t>
            </a:r>
          </a:p>
        </p:txBody>
      </p:sp>
      <p:sp>
        <p:nvSpPr>
          <p:cNvPr id="7" name="Recall&#10;25.7% → 91.6%">
            <a:extLst xmlns:a="http://schemas.openxmlformats.org/drawingml/2006/main">
              <a:ext uri="{FF2B5EF4-FFF2-40B4-BE49-F238E27FC236}">
                <a16:creationId xmlns:a16="http://schemas.microsoft.com/office/drawing/2014/main" id="{3473846B-BC3F-4BEB-B82A-F8D5DE6635B4}"/>
              </a:ext>
            </a:extLst>
          </p:cNvPr>
          <p:cNvSpPr>
            <a:spLocks xmlns:a="http://schemas.openxmlformats.org/drawingml/2006/main" noGrp="1"/>
          </p:cNvSpPr>
          <p:nvPr/>
        </p:nvSpPr>
        <p:spPr>
          <a:xfrm xmlns:a="http://schemas.openxmlformats.org/drawingml/2006/main">
            <a:off x="8210550" y="325755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1">
                <a:solidFill>
                  <a:srgbClr val="147D82"/>
                </a:solidFill>
                <a:latin typeface="맑은 고딕"/>
                <a:ea typeface="맑은 고딕"/>
                <a:cs typeface="맑은 고딕"/>
              </a:defRPr>
            </a:defPPr>
            <a:lvl1pPr>
              <a:buNone/>
              <a:defRPr sz="2175" b="1">
                <a:solidFill>
                  <a:srgbClr val="147D82"/>
                </a:solidFill>
                <a:latin typeface="맑은 고딕"/>
                <a:ea typeface="맑은 고딕"/>
                <a:cs typeface="맑은 고딕"/>
              </a:defRPr>
            </a:lvl1pPr>
            <a:lvl2pPr>
              <a:buNone/>
              <a:defRPr sz="2175" b="1">
                <a:solidFill>
                  <a:srgbClr val="147D82"/>
                </a:solidFill>
                <a:latin typeface="맑은 고딕"/>
                <a:ea typeface="맑은 고딕"/>
                <a:cs typeface="맑은 고딕"/>
              </a:defRPr>
            </a:lvl2pPr>
            <a:lvl3pPr>
              <a:buNone/>
              <a:defRPr sz="2175" b="1">
                <a:solidFill>
                  <a:srgbClr val="147D82"/>
                </a:solidFill>
                <a:latin typeface="맑은 고딕"/>
                <a:ea typeface="맑은 고딕"/>
                <a:cs typeface="맑은 고딕"/>
              </a:defRPr>
            </a:lvl3pPr>
            <a:lvl4pPr>
              <a:buNone/>
              <a:defRPr sz="2175" b="1">
                <a:solidFill>
                  <a:srgbClr val="147D82"/>
                </a:solidFill>
                <a:latin typeface="맑은 고딕"/>
                <a:ea typeface="맑은 고딕"/>
                <a:cs typeface="맑은 고딕"/>
              </a:defRPr>
            </a:lvl4pPr>
            <a:lvl5pPr>
              <a:buNone/>
              <a:defRPr sz="2175" b="1">
                <a:solidFill>
                  <a:srgbClr val="147D82"/>
                </a:solidFill>
                <a:latin typeface="맑은 고딕"/>
                <a:ea typeface="맑은 고딕"/>
                <a:cs typeface="맑은 고딕"/>
              </a:defRPr>
            </a:lvl5pPr>
            <a:lvl6pPr>
              <a:buNone/>
              <a:defRPr sz="2175" b="1">
                <a:solidFill>
                  <a:srgbClr val="147D82"/>
                </a:solidFill>
                <a:latin typeface="맑은 고딕"/>
                <a:ea typeface="맑은 고딕"/>
                <a:cs typeface="맑은 고딕"/>
              </a:defRPr>
            </a:lvl6pPr>
            <a:lvl7pPr>
              <a:buNone/>
              <a:defRPr sz="2175" b="1">
                <a:solidFill>
                  <a:srgbClr val="147D82"/>
                </a:solidFill>
                <a:latin typeface="맑은 고딕"/>
                <a:ea typeface="맑은 고딕"/>
                <a:cs typeface="맑은 고딕"/>
              </a:defRPr>
            </a:lvl7pPr>
            <a:lvl8pPr>
              <a:buNone/>
              <a:defRPr sz="2175" b="1">
                <a:solidFill>
                  <a:srgbClr val="147D82"/>
                </a:solidFill>
                <a:latin typeface="맑은 고딕"/>
                <a:ea typeface="맑은 고딕"/>
                <a:cs typeface="맑은 고딕"/>
              </a:defRPr>
            </a:lvl8pPr>
            <a:lvl9pPr>
              <a:buNone/>
              <a:defRPr sz="2175" b="1">
                <a:solidFill>
                  <a:srgbClr val="147D82"/>
                </a:solidFill>
                <a:latin typeface="맑은 고딕"/>
                <a:ea typeface="맑은 고딕"/>
                <a:cs typeface="맑은 고딕"/>
              </a:defRPr>
            </a:lvl9pPr>
          </a:lstStyle>
          <a:p xmlns:a="http://schemas.openxmlformats.org/drawingml/2006/main">
            <a:pPr>
              <a:buNone/>
              <a:defRPr sz="2175" b="1">
                <a:solidFill>
                  <a:srgbClr val="147D82"/>
                </a:solidFill>
                <a:latin typeface="맑은 고딕"/>
                <a:ea typeface="맑은 고딕"/>
                <a:cs typeface="맑은 고딕"/>
              </a:defRPr>
            </a:pPr>
            <a:r>
              <a:rPr sz="2175" b="1">
                <a:solidFill>
                  <a:srgbClr val="147D82"/>
                </a:solidFill>
                <a:latin typeface="맑은 고딕"/>
                <a:ea typeface="맑은 고딕"/>
                <a:cs typeface="맑은 고딕"/>
              </a:rPr>
              <a:t>Recall</a:t>
            </a:r>
          </a:p>
          <a:p xmlns:a="http://schemas.openxmlformats.org/drawingml/2006/main">
            <a:pPr>
              <a:buNone/>
              <a:defRPr sz="2175" b="1">
                <a:solidFill>
                  <a:srgbClr val="147D82"/>
                </a:solidFill>
                <a:latin typeface="맑은 고딕"/>
                <a:ea typeface="맑은 고딕"/>
                <a:cs typeface="맑은 고딕"/>
              </a:defRPr>
            </a:pPr>
            <a:r>
              <a:rPr sz="2175" b="1">
                <a:solidFill>
                  <a:srgbClr val="147D82"/>
                </a:solidFill>
                <a:latin typeface="맑은 고딕"/>
                <a:ea typeface="맑은 고딕"/>
                <a:cs typeface="맑은 고딕"/>
              </a:rPr>
              <a:t>25.7% → 91.6%</a:t>
            </a:r>
          </a:p>
        </p:txBody>
      </p:sp>
      <p:sp>
        <p:nvSpPr>
          <p:cNvPr id="8" name="정상 오판&#10;96 → 79개">
            <a:extLst xmlns:a="http://schemas.openxmlformats.org/drawingml/2006/main">
              <a:ext uri="{FF2B5EF4-FFF2-40B4-BE49-F238E27FC236}">
                <a16:creationId xmlns:a16="http://schemas.microsoft.com/office/drawing/2014/main" id="{7620BBC7-FDA5-4B62-86FB-804F2DBB3C16}"/>
              </a:ext>
            </a:extLst>
          </p:cNvPr>
          <p:cNvSpPr>
            <a:spLocks xmlns:a="http://schemas.openxmlformats.org/drawingml/2006/main" noGrp="1"/>
          </p:cNvSpPr>
          <p:nvPr/>
        </p:nvSpPr>
        <p:spPr>
          <a:xfrm xmlns:a="http://schemas.openxmlformats.org/drawingml/2006/main">
            <a:off x="8210550" y="447675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b="0">
                <a:solidFill>
                  <a:srgbClr val="173A49"/>
                </a:solidFill>
                <a:latin typeface="맑은 고딕"/>
                <a:ea typeface="맑은 고딕"/>
                <a:cs typeface="맑은 고딕"/>
              </a:defRPr>
            </a:defPPr>
            <a:lvl1pPr>
              <a:buNone/>
              <a:defRPr sz="2100" b="0">
                <a:solidFill>
                  <a:srgbClr val="173A49"/>
                </a:solidFill>
                <a:latin typeface="맑은 고딕"/>
                <a:ea typeface="맑은 고딕"/>
                <a:cs typeface="맑은 고딕"/>
              </a:defRPr>
            </a:lvl1pPr>
            <a:lvl2pPr>
              <a:buNone/>
              <a:defRPr sz="2100" b="0">
                <a:solidFill>
                  <a:srgbClr val="173A49"/>
                </a:solidFill>
                <a:latin typeface="맑은 고딕"/>
                <a:ea typeface="맑은 고딕"/>
                <a:cs typeface="맑은 고딕"/>
              </a:defRPr>
            </a:lvl2pPr>
            <a:lvl3pPr>
              <a:buNone/>
              <a:defRPr sz="2100" b="0">
                <a:solidFill>
                  <a:srgbClr val="173A49"/>
                </a:solidFill>
                <a:latin typeface="맑은 고딕"/>
                <a:ea typeface="맑은 고딕"/>
                <a:cs typeface="맑은 고딕"/>
              </a:defRPr>
            </a:lvl3pPr>
            <a:lvl4pPr>
              <a:buNone/>
              <a:defRPr sz="2100" b="0">
                <a:solidFill>
                  <a:srgbClr val="173A49"/>
                </a:solidFill>
                <a:latin typeface="맑은 고딕"/>
                <a:ea typeface="맑은 고딕"/>
                <a:cs typeface="맑은 고딕"/>
              </a:defRPr>
            </a:lvl4pPr>
            <a:lvl5pPr>
              <a:buNone/>
              <a:defRPr sz="2100" b="0">
                <a:solidFill>
                  <a:srgbClr val="173A49"/>
                </a:solidFill>
                <a:latin typeface="맑은 고딕"/>
                <a:ea typeface="맑은 고딕"/>
                <a:cs typeface="맑은 고딕"/>
              </a:defRPr>
            </a:lvl5pPr>
            <a:lvl6pPr>
              <a:buNone/>
              <a:defRPr sz="2100" b="0">
                <a:solidFill>
                  <a:srgbClr val="173A49"/>
                </a:solidFill>
                <a:latin typeface="맑은 고딕"/>
                <a:ea typeface="맑은 고딕"/>
                <a:cs typeface="맑은 고딕"/>
              </a:defRPr>
            </a:lvl6pPr>
            <a:lvl7pPr>
              <a:buNone/>
              <a:defRPr sz="2100" b="0">
                <a:solidFill>
                  <a:srgbClr val="173A49"/>
                </a:solidFill>
                <a:latin typeface="맑은 고딕"/>
                <a:ea typeface="맑은 고딕"/>
                <a:cs typeface="맑은 고딕"/>
              </a:defRPr>
            </a:lvl7pPr>
            <a:lvl8pPr>
              <a:buNone/>
              <a:defRPr sz="2100" b="0">
                <a:solidFill>
                  <a:srgbClr val="173A49"/>
                </a:solidFill>
                <a:latin typeface="맑은 고딕"/>
                <a:ea typeface="맑은 고딕"/>
                <a:cs typeface="맑은 고딕"/>
              </a:defRPr>
            </a:lvl8pPr>
            <a:lvl9pPr>
              <a:buNone/>
              <a:defRPr sz="2100" b="0">
                <a:solidFill>
                  <a:srgbClr val="173A49"/>
                </a:solidFill>
                <a:latin typeface="맑은 고딕"/>
                <a:ea typeface="맑은 고딕"/>
                <a:cs typeface="맑은 고딕"/>
              </a:defRPr>
            </a:lvl9pPr>
          </a:lstStyle>
          <a:p xmlns:a="http://schemas.openxmlformats.org/drawingml/2006/main">
            <a:pPr>
              <a:buNone/>
              <a:defRPr sz="2100" b="0">
                <a:solidFill>
                  <a:srgbClr val="173A49"/>
                </a:solidFill>
                <a:latin typeface="맑은 고딕"/>
                <a:ea typeface="맑은 고딕"/>
                <a:cs typeface="맑은 고딕"/>
              </a:defRPr>
            </a:pPr>
            <a:r>
              <a:rPr sz="2100" b="0">
                <a:solidFill>
                  <a:srgbClr val="173A49"/>
                </a:solidFill>
                <a:latin typeface="맑은 고딕"/>
                <a:ea typeface="맑은 고딕"/>
                <a:cs typeface="맑은 고딕"/>
              </a:rPr>
              <a:t>정상 오판</a:t>
            </a:r>
          </a:p>
          <a:p xmlns:a="http://schemas.openxmlformats.org/drawingml/2006/main">
            <a:pPr>
              <a:buNone/>
              <a:defRPr sz="2100" b="0">
                <a:solidFill>
                  <a:srgbClr val="173A49"/>
                </a:solidFill>
                <a:latin typeface="맑은 고딕"/>
                <a:ea typeface="맑은 고딕"/>
                <a:cs typeface="맑은 고딕"/>
              </a:defRPr>
            </a:pPr>
            <a:r>
              <a:rPr sz="2100" b="0">
                <a:solidFill>
                  <a:srgbClr val="173A49"/>
                </a:solidFill>
                <a:latin typeface="맑은 고딕"/>
                <a:ea typeface="맑은 고딕"/>
                <a:cs typeface="맑은 고딕"/>
              </a:rPr>
              <a:t>96 → 79개</a:t>
            </a:r>
          </a:p>
        </p:txBody>
      </p:sp>
      <p:sp>
        <p:nvSpPr>
          <p:cNvPr id="9" name="같은 CatBoost·새 배치의 같은 Test에서 비교했습">
            <a:extLst xmlns:a="http://schemas.openxmlformats.org/drawingml/2006/main">
              <a:ext uri="{FF2B5EF4-FFF2-40B4-BE49-F238E27FC236}">
                <a16:creationId xmlns:a16="http://schemas.microsoft.com/office/drawing/2014/main" id="{950DF6C5-EB2D-4640-B24E-7D155A29D2E6}"/>
              </a:ext>
            </a:extLst>
          </p:cNvPr>
          <p:cNvSpPr>
            <a:spLocks xmlns:a="http://schemas.openxmlformats.org/drawingml/2006/main" noGrp="1"/>
          </p:cNvSpPr>
          <p:nvPr/>
        </p:nvSpPr>
        <p:spPr>
          <a:xfrm xmlns:a="http://schemas.openxmlformats.org/drawingml/2006/main">
            <a:off x="609600" y="5962650"/>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425" b="0">
                <a:solidFill>
                  <a:srgbClr val="617681"/>
                </a:solidFill>
                <a:latin typeface="맑은 고딕"/>
                <a:ea typeface="맑은 고딕"/>
                <a:cs typeface="맑은 고딕"/>
              </a:defRPr>
            </a:defPPr>
            <a:lvl1pPr>
              <a:buNone/>
              <a:defRPr sz="1425" b="0">
                <a:solidFill>
                  <a:srgbClr val="617681"/>
                </a:solidFill>
                <a:latin typeface="맑은 고딕"/>
                <a:ea typeface="맑은 고딕"/>
                <a:cs typeface="맑은 고딕"/>
              </a:defRPr>
            </a:lvl1pPr>
            <a:lvl2pPr>
              <a:buNone/>
              <a:defRPr sz="1425" b="0">
                <a:solidFill>
                  <a:srgbClr val="617681"/>
                </a:solidFill>
                <a:latin typeface="맑은 고딕"/>
                <a:ea typeface="맑은 고딕"/>
                <a:cs typeface="맑은 고딕"/>
              </a:defRPr>
            </a:lvl2pPr>
            <a:lvl3pPr>
              <a:buNone/>
              <a:defRPr sz="1425" b="0">
                <a:solidFill>
                  <a:srgbClr val="617681"/>
                </a:solidFill>
                <a:latin typeface="맑은 고딕"/>
                <a:ea typeface="맑은 고딕"/>
                <a:cs typeface="맑은 고딕"/>
              </a:defRPr>
            </a:lvl3pPr>
            <a:lvl4pPr>
              <a:buNone/>
              <a:defRPr sz="1425" b="0">
                <a:solidFill>
                  <a:srgbClr val="617681"/>
                </a:solidFill>
                <a:latin typeface="맑은 고딕"/>
                <a:ea typeface="맑은 고딕"/>
                <a:cs typeface="맑은 고딕"/>
              </a:defRPr>
            </a:lvl4pPr>
            <a:lvl5pPr>
              <a:buNone/>
              <a:defRPr sz="1425" b="0">
                <a:solidFill>
                  <a:srgbClr val="617681"/>
                </a:solidFill>
                <a:latin typeface="맑은 고딕"/>
                <a:ea typeface="맑은 고딕"/>
                <a:cs typeface="맑은 고딕"/>
              </a:defRPr>
            </a:lvl5pPr>
            <a:lvl6pPr>
              <a:buNone/>
              <a:defRPr sz="1425" b="0">
                <a:solidFill>
                  <a:srgbClr val="617681"/>
                </a:solidFill>
                <a:latin typeface="맑은 고딕"/>
                <a:ea typeface="맑은 고딕"/>
                <a:cs typeface="맑은 고딕"/>
              </a:defRPr>
            </a:lvl6pPr>
            <a:lvl7pPr>
              <a:buNone/>
              <a:defRPr sz="1425" b="0">
                <a:solidFill>
                  <a:srgbClr val="617681"/>
                </a:solidFill>
                <a:latin typeface="맑은 고딕"/>
                <a:ea typeface="맑은 고딕"/>
                <a:cs typeface="맑은 고딕"/>
              </a:defRPr>
            </a:lvl7pPr>
            <a:lvl8pPr>
              <a:buNone/>
              <a:defRPr sz="1425" b="0">
                <a:solidFill>
                  <a:srgbClr val="617681"/>
                </a:solidFill>
                <a:latin typeface="맑은 고딕"/>
                <a:ea typeface="맑은 고딕"/>
                <a:cs typeface="맑은 고딕"/>
              </a:defRPr>
            </a:lvl8pPr>
            <a:lvl9pPr>
              <a:buNone/>
              <a:defRPr sz="1425" b="0">
                <a:solidFill>
                  <a:srgbClr val="617681"/>
                </a:solidFill>
                <a:latin typeface="맑은 고딕"/>
                <a:ea typeface="맑은 고딕"/>
                <a:cs typeface="맑은 고딕"/>
              </a:defRPr>
            </a:lvl9pPr>
          </a:lstStyle>
          <a:p xmlns:a="http://schemas.openxmlformats.org/drawingml/2006/main">
            <a:pPr>
              <a:buNone/>
              <a:defRPr sz="1425" b="0">
                <a:solidFill>
                  <a:srgbClr val="617681"/>
                </a:solidFill>
                <a:latin typeface="맑은 고딕"/>
                <a:ea typeface="맑은 고딕"/>
                <a:cs typeface="맑은 고딕"/>
              </a:defRPr>
            </a:pPr>
            <a:r>
              <a:rPr sz="1425" b="0">
                <a:solidFill>
                  <a:srgbClr val="617681"/>
                </a:solidFill>
                <a:latin typeface="맑은 고딕"/>
                <a:ea typeface="맑은 고딕"/>
                <a:cs typeface="맑은 고딕"/>
              </a:rPr>
              <a:t>같은 CatBoost·새 배치의 같은 Test에서 비교했습니다. 후보를 저장하고 운영 모델은 유지합니다.</a:t>
            </a:r>
          </a:p>
        </p:txBody>
      </p:sp>
    </p:spTree>
    <p:extLst>
      <p:ext uri="{BB962C8B-B14F-4D97-AF65-F5344CB8AC3E}">
        <p14:creationId xmlns:p14="http://schemas.microsoft.com/office/powerpoint/2010/main" val="1048044630"/>
      </p:ext>
    </p:extLst>
  </p:cSld>
</p:sld>
</file>

<file path=ppt/slides/slide1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AFB03A3-E885-47EE-8B54-9968235F1D12}"/>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B50E709F-ED35-406E-827E-BC7851B5706B}"/>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11 · 구현 구조와 검증</a:t>
            </a:r>
          </a:p>
        </p:txBody>
      </p:sp>
      <p:sp>
        <p:nvSpPr>
          <p:cNvPr id="4" name="TextBox 3">
            <a:extLst xmlns:a="http://schemas.openxmlformats.org/drawingml/2006/main">
              <a:ext uri="{FF2B5EF4-FFF2-40B4-BE49-F238E27FC236}">
                <a16:creationId xmlns:a16="http://schemas.microsoft.com/office/drawing/2014/main" id="{D88E7816-BADA-4D97-A921-D708CC133D53}"/>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역할을 나누고, 실행과 답변을 검증했습니다</a:t>
            </a:r>
          </a:p>
        </p:txBody>
      </p:sp>
      <p:sp>
        <p:nvSpPr>
          <p:cNvPr id="5" name="Rectangle 4">
            <a:extLst xmlns:a="http://schemas.openxmlformats.org/drawingml/2006/main">
              <a:ext uri="{FF2B5EF4-FFF2-40B4-BE49-F238E27FC236}">
                <a16:creationId xmlns:a16="http://schemas.microsoft.com/office/drawing/2014/main" id="{81E45781-1448-4E21-BD6A-C3C54EE200BA}"/>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5E6652FF-5A71-40A9-A2FE-87B9E2406F52}"/>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66F78188-0669-4D72-B5F9-58285EA26CBA}"/>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11 / 17</a:t>
            </a:r>
          </a:p>
        </p:txBody>
      </p:sp>
      <p:sp>
        <p:nvSpPr>
          <p:cNvPr id="8" name="TextBox 7">
            <a:extLst xmlns:a="http://schemas.openxmlformats.org/drawingml/2006/main">
              <a:ext uri="{FF2B5EF4-FFF2-40B4-BE49-F238E27FC236}">
                <a16:creationId xmlns:a16="http://schemas.microsoft.com/office/drawing/2014/main" id="{BBE5EBC7-FBB5-4E1F-B90E-80F6AB56CB1E}"/>
              </a:ext>
            </a:extLst>
          </p:cNvPr>
          <p:cNvSpPr>
            <a:spLocks xmlns:a="http://schemas.openxmlformats.org/drawingml/2006/main" noGrp="1"/>
          </p:cNvSpPr>
          <p:nvPr/>
        </p:nvSpPr>
        <p:spPr>
          <a:xfrm xmlns:a="http://schemas.openxmlformats.org/drawingml/2006/main">
            <a:off x="621792" y="1920240"/>
            <a:ext cx="10972800" cy="4114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617681"/>
                </a:solidFill>
                <a:latin typeface="맑은 고딕"/>
                <a:ea typeface="맑은 고딕"/>
                <a:cs typeface="맑은 고딕"/>
              </a:defRPr>
            </a:pPr>
            <a:r>
              <a:t>LangGraph 역할 연결 · 로컬 Qwen 설명 · MCP 조회·계획 도구</a:t>
            </a:r>
          </a:p>
        </p:txBody>
      </p:sp>
      <p:sp>
        <p:nvSpPr>
          <p:cNvPr id="9" name="TextBox 8">
            <a:extLst xmlns:a="http://schemas.openxmlformats.org/drawingml/2006/main">
              <a:ext uri="{FF2B5EF4-FFF2-40B4-BE49-F238E27FC236}">
                <a16:creationId xmlns:a16="http://schemas.microsoft.com/office/drawing/2014/main" id="{BB365BC9-B8EE-4794-A1DB-87BEE313765B}"/>
              </a:ext>
            </a:extLst>
          </p:cNvPr>
          <p:cNvSpPr>
            <a:spLocks xmlns:a="http://schemas.openxmlformats.org/drawingml/2006/main" noGrp="1"/>
          </p:cNvSpPr>
          <p:nvPr/>
        </p:nvSpPr>
        <p:spPr>
          <a:xfrm xmlns:a="http://schemas.openxmlformats.org/drawingml/2006/main">
            <a:off x="658368" y="2359152"/>
            <a:ext cx="1088136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147D82"/>
                </a:solidFill>
                <a:latin typeface="맑은 고딕"/>
                <a:ea typeface="맑은 고딕"/>
                <a:cs typeface="맑은 고딕"/>
              </a:defRPr>
            </a:pPr>
            <a:r>
              <a:t>RAG: 내부 근거·공식 문서 → BGE-M3 임베딩 → FAISS 검색 → Qwen에 근거 전달</a:t>
            </a:r>
          </a:p>
        </p:txBody>
      </p:sp>
      <p:sp>
        <p:nvSpPr>
          <p:cNvPr id="10" name="Rounded Rectangle 9">
            <a:extLst xmlns:a="http://schemas.openxmlformats.org/drawingml/2006/main">
              <a:ext uri="{FF2B5EF4-FFF2-40B4-BE49-F238E27FC236}">
                <a16:creationId xmlns:a16="http://schemas.microsoft.com/office/drawing/2014/main" id="{2990982D-9191-43ED-8D60-9F71A93D134C}"/>
              </a:ext>
            </a:extLst>
          </p:cNvPr>
          <p:cNvSpPr>
            <a:spLocks xmlns:a="http://schemas.openxmlformats.org/drawingml/2006/main" noGrp="1"/>
          </p:cNvSpPr>
          <p:nvPr/>
        </p:nvSpPr>
        <p:spPr>
          <a:xfrm xmlns:a="http://schemas.openxmlformats.org/drawingml/2006/main">
            <a:off x="640080"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9F24024C-18AA-4A2F-9533-60E48DE6E577}"/>
              </a:ext>
            </a:extLst>
          </p:cNvPr>
          <p:cNvSpPr>
            <a:spLocks xmlns:a="http://schemas.openxmlformats.org/drawingml/2006/main" noGrp="1"/>
          </p:cNvSpPr>
          <p:nvPr/>
        </p:nvSpPr>
        <p:spPr>
          <a:xfrm xmlns:a="http://schemas.openxmlformats.org/drawingml/2006/main">
            <a:off x="777240"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데이터 점검</a:t>
            </a:r>
          </a:p>
        </p:txBody>
      </p:sp>
      <p:sp>
        <p:nvSpPr>
          <p:cNvPr id="12" name="TextBox 11">
            <a:extLst xmlns:a="http://schemas.openxmlformats.org/drawingml/2006/main">
              <a:ext uri="{FF2B5EF4-FFF2-40B4-BE49-F238E27FC236}">
                <a16:creationId xmlns:a16="http://schemas.microsoft.com/office/drawing/2014/main" id="{AA197765-7238-4FA6-A13A-1210C66D2005}"/>
              </a:ext>
            </a:extLst>
          </p:cNvPr>
          <p:cNvSpPr>
            <a:spLocks xmlns:a="http://schemas.openxmlformats.org/drawingml/2006/main" noGrp="1"/>
          </p:cNvSpPr>
          <p:nvPr/>
        </p:nvSpPr>
        <p:spPr>
          <a:xfrm xmlns:a="http://schemas.openxmlformats.org/drawingml/2006/main">
            <a:off x="777240"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행·결측·라벨</a:t>
            </a:r>
          </a:p>
        </p:txBody>
      </p:sp>
      <p:sp>
        <p:nvSpPr>
          <p:cNvPr id="13" name="TextBox 12">
            <a:extLst xmlns:a="http://schemas.openxmlformats.org/drawingml/2006/main">
              <a:ext uri="{FF2B5EF4-FFF2-40B4-BE49-F238E27FC236}">
                <a16:creationId xmlns:a16="http://schemas.microsoft.com/office/drawing/2014/main" id="{B17A8A9B-F20F-40DF-8570-7E41E5660D75}"/>
              </a:ext>
            </a:extLst>
          </p:cNvPr>
          <p:cNvSpPr>
            <a:spLocks xmlns:a="http://schemas.openxmlformats.org/drawingml/2006/main" noGrp="1"/>
          </p:cNvSpPr>
          <p:nvPr/>
        </p:nvSpPr>
        <p:spPr>
          <a:xfrm xmlns:a="http://schemas.openxmlformats.org/drawingml/2006/main">
            <a:off x="3200400" y="2944368"/>
            <a:ext cx="25603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a:t>
            </a:r>
          </a:p>
        </p:txBody>
      </p:sp>
      <p:sp>
        <p:nvSpPr>
          <p:cNvPr id="14" name="Rounded Rectangle 13">
            <a:extLst xmlns:a="http://schemas.openxmlformats.org/drawingml/2006/main">
              <a:ext uri="{FF2B5EF4-FFF2-40B4-BE49-F238E27FC236}">
                <a16:creationId xmlns:a16="http://schemas.microsoft.com/office/drawing/2014/main" id="{CB52D390-A333-4036-A047-890604A322CF}"/>
              </a:ext>
            </a:extLst>
          </p:cNvPr>
          <p:cNvSpPr>
            <a:spLocks xmlns:a="http://schemas.openxmlformats.org/drawingml/2006/main" noGrp="1"/>
          </p:cNvSpPr>
          <p:nvPr/>
        </p:nvSpPr>
        <p:spPr>
          <a:xfrm xmlns:a="http://schemas.openxmlformats.org/drawingml/2006/main">
            <a:off x="3456432"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4E35B6B3-32DB-4989-9FE0-092322DA99CA}"/>
              </a:ext>
            </a:extLst>
          </p:cNvPr>
          <p:cNvSpPr>
            <a:spLocks xmlns:a="http://schemas.openxmlformats.org/drawingml/2006/main" noGrp="1"/>
          </p:cNvSpPr>
          <p:nvPr/>
        </p:nvSpPr>
        <p:spPr>
          <a:xfrm xmlns:a="http://schemas.openxmlformats.org/drawingml/2006/main">
            <a:off x="3593592"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근거 검색</a:t>
            </a:r>
          </a:p>
        </p:txBody>
      </p:sp>
      <p:sp>
        <p:nvSpPr>
          <p:cNvPr id="16" name="TextBox 15">
            <a:extLst xmlns:a="http://schemas.openxmlformats.org/drawingml/2006/main">
              <a:ext uri="{FF2B5EF4-FFF2-40B4-BE49-F238E27FC236}">
                <a16:creationId xmlns:a16="http://schemas.microsoft.com/office/drawing/2014/main" id="{32171B62-A986-455D-9628-7FA399E5DE59}"/>
              </a:ext>
            </a:extLst>
          </p:cNvPr>
          <p:cNvSpPr>
            <a:spLocks xmlns:a="http://schemas.openxmlformats.org/drawingml/2006/main" noGrp="1"/>
          </p:cNvSpPr>
          <p:nvPr/>
        </p:nvSpPr>
        <p:spPr>
          <a:xfrm xmlns:a="http://schemas.openxmlformats.org/drawingml/2006/main">
            <a:off x="3593592"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BGE-M3 · FAISS</a:t>
            </a:r>
          </a:p>
        </p:txBody>
      </p:sp>
      <p:sp>
        <p:nvSpPr>
          <p:cNvPr id="17" name="TextBox 16">
            <a:extLst xmlns:a="http://schemas.openxmlformats.org/drawingml/2006/main">
              <a:ext uri="{FF2B5EF4-FFF2-40B4-BE49-F238E27FC236}">
                <a16:creationId xmlns:a16="http://schemas.microsoft.com/office/drawing/2014/main" id="{AABCB691-97D2-41DF-8B7A-6ABE8432027D}"/>
              </a:ext>
            </a:extLst>
          </p:cNvPr>
          <p:cNvSpPr>
            <a:spLocks xmlns:a="http://schemas.openxmlformats.org/drawingml/2006/main" noGrp="1"/>
          </p:cNvSpPr>
          <p:nvPr/>
        </p:nvSpPr>
        <p:spPr>
          <a:xfrm xmlns:a="http://schemas.openxmlformats.org/drawingml/2006/main">
            <a:off x="6016752" y="2944368"/>
            <a:ext cx="25603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a:t>
            </a:r>
          </a:p>
        </p:txBody>
      </p:sp>
      <p:sp>
        <p:nvSpPr>
          <p:cNvPr id="18" name="Rounded Rectangle 17">
            <a:extLst xmlns:a="http://schemas.openxmlformats.org/drawingml/2006/main">
              <a:ext uri="{FF2B5EF4-FFF2-40B4-BE49-F238E27FC236}">
                <a16:creationId xmlns:a16="http://schemas.microsoft.com/office/drawing/2014/main" id="{36635B22-4CB0-46FD-BED0-EBDFCA0BE403}"/>
              </a:ext>
            </a:extLst>
          </p:cNvPr>
          <p:cNvSpPr>
            <a:spLocks xmlns:a="http://schemas.openxmlformats.org/drawingml/2006/main" noGrp="1"/>
          </p:cNvSpPr>
          <p:nvPr/>
        </p:nvSpPr>
        <p:spPr>
          <a:xfrm xmlns:a="http://schemas.openxmlformats.org/drawingml/2006/main">
            <a:off x="6272784"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82809637-DDD6-4803-8541-88AEE69DFDC0}"/>
              </a:ext>
            </a:extLst>
          </p:cNvPr>
          <p:cNvSpPr>
            <a:spLocks xmlns:a="http://schemas.openxmlformats.org/drawingml/2006/main" noGrp="1"/>
          </p:cNvSpPr>
          <p:nvPr/>
        </p:nvSpPr>
        <p:spPr>
          <a:xfrm xmlns:a="http://schemas.openxmlformats.org/drawingml/2006/main">
            <a:off x="6409944"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실험 계획</a:t>
            </a:r>
          </a:p>
        </p:txBody>
      </p:sp>
      <p:sp>
        <p:nvSpPr>
          <p:cNvPr id="20" name="TextBox 19">
            <a:extLst xmlns:a="http://schemas.openxmlformats.org/drawingml/2006/main">
              <a:ext uri="{FF2B5EF4-FFF2-40B4-BE49-F238E27FC236}">
                <a16:creationId xmlns:a16="http://schemas.microsoft.com/office/drawing/2014/main" id="{E49C6FC8-40C6-44D8-9E4C-7412A48C19D1}"/>
              </a:ext>
            </a:extLst>
          </p:cNvPr>
          <p:cNvSpPr>
            <a:spLocks xmlns:a="http://schemas.openxmlformats.org/drawingml/2006/main" noGrp="1"/>
          </p:cNvSpPr>
          <p:nvPr/>
        </p:nvSpPr>
        <p:spPr>
          <a:xfrm xmlns:a="http://schemas.openxmlformats.org/drawingml/2006/main">
            <a:off x="6409944"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모델·전처리·비교 범위</a:t>
            </a:r>
          </a:p>
        </p:txBody>
      </p:sp>
      <p:sp>
        <p:nvSpPr>
          <p:cNvPr id="21" name="TextBox 20">
            <a:extLst xmlns:a="http://schemas.openxmlformats.org/drawingml/2006/main">
              <a:ext uri="{FF2B5EF4-FFF2-40B4-BE49-F238E27FC236}">
                <a16:creationId xmlns:a16="http://schemas.microsoft.com/office/drawing/2014/main" id="{10B019B8-1D31-4976-9BFE-AD2E91D85A20}"/>
              </a:ext>
            </a:extLst>
          </p:cNvPr>
          <p:cNvSpPr>
            <a:spLocks xmlns:a="http://schemas.openxmlformats.org/drawingml/2006/main" noGrp="1"/>
          </p:cNvSpPr>
          <p:nvPr/>
        </p:nvSpPr>
        <p:spPr>
          <a:xfrm xmlns:a="http://schemas.openxmlformats.org/drawingml/2006/main">
            <a:off x="8833104" y="2944368"/>
            <a:ext cx="25603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a:t>
            </a:r>
          </a:p>
        </p:txBody>
      </p:sp>
      <p:sp>
        <p:nvSpPr>
          <p:cNvPr id="22" name="Rounded Rectangle 21">
            <a:extLst xmlns:a="http://schemas.openxmlformats.org/drawingml/2006/main">
              <a:ext uri="{FF2B5EF4-FFF2-40B4-BE49-F238E27FC236}">
                <a16:creationId xmlns:a16="http://schemas.microsoft.com/office/drawing/2014/main" id="{07A430CD-ECCF-4A95-8572-11399F960695}"/>
              </a:ext>
            </a:extLst>
          </p:cNvPr>
          <p:cNvSpPr>
            <a:spLocks xmlns:a="http://schemas.openxmlformats.org/drawingml/2006/main" noGrp="1"/>
          </p:cNvSpPr>
          <p:nvPr/>
        </p:nvSpPr>
        <p:spPr>
          <a:xfrm xmlns:a="http://schemas.openxmlformats.org/drawingml/2006/main">
            <a:off x="9089136"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C657BD9C-DF1C-43F9-A916-0ACB5CDD8BDE}"/>
              </a:ext>
            </a:extLst>
          </p:cNvPr>
          <p:cNvSpPr>
            <a:spLocks xmlns:a="http://schemas.openxmlformats.org/drawingml/2006/main" noGrp="1"/>
          </p:cNvSpPr>
          <p:nvPr/>
        </p:nvSpPr>
        <p:spPr>
          <a:xfrm xmlns:a="http://schemas.openxmlformats.org/drawingml/2006/main">
            <a:off x="9226296"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엔지니어 승인</a:t>
            </a:r>
          </a:p>
        </p:txBody>
      </p:sp>
      <p:sp>
        <p:nvSpPr>
          <p:cNvPr id="24" name="TextBox 23">
            <a:extLst xmlns:a="http://schemas.openxmlformats.org/drawingml/2006/main">
              <a:ext uri="{FF2B5EF4-FFF2-40B4-BE49-F238E27FC236}">
                <a16:creationId xmlns:a16="http://schemas.microsoft.com/office/drawing/2014/main" id="{F70CDB97-246A-4E91-9DDD-9F433BA792B1}"/>
              </a:ext>
            </a:extLst>
          </p:cNvPr>
          <p:cNvSpPr>
            <a:spLocks xmlns:a="http://schemas.openxmlformats.org/drawingml/2006/main" noGrp="1"/>
          </p:cNvSpPr>
          <p:nvPr/>
        </p:nvSpPr>
        <p:spPr>
          <a:xfrm xmlns:a="http://schemas.openxmlformats.org/drawingml/2006/main">
            <a:off x="9226296"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확인 후 실행 허용</a:t>
            </a:r>
          </a:p>
        </p:txBody>
      </p:sp>
      <p:sp>
        <p:nvSpPr>
          <p:cNvPr id="25" name="Rounded Rectangle 24">
            <a:extLst xmlns:a="http://schemas.openxmlformats.org/drawingml/2006/main">
              <a:ext uri="{FF2B5EF4-FFF2-40B4-BE49-F238E27FC236}">
                <a16:creationId xmlns:a16="http://schemas.microsoft.com/office/drawing/2014/main" id="{066CD0AD-AA06-415C-A3DF-844502773F73}"/>
              </a:ext>
            </a:extLst>
          </p:cNvPr>
          <p:cNvSpPr>
            <a:spLocks xmlns:a="http://schemas.openxmlformats.org/drawingml/2006/main" noGrp="1"/>
          </p:cNvSpPr>
          <p:nvPr/>
        </p:nvSpPr>
        <p:spPr>
          <a:xfrm xmlns:a="http://schemas.openxmlformats.org/drawingml/2006/main">
            <a:off x="640080" y="3986784"/>
            <a:ext cx="10927080" cy="77724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CA6E0F58-F3D7-411E-A991-DEE49954A440}"/>
              </a:ext>
            </a:extLst>
          </p:cNvPr>
          <p:cNvSpPr>
            <a:spLocks xmlns:a="http://schemas.openxmlformats.org/drawingml/2006/main" noGrp="1"/>
          </p:cNvSpPr>
          <p:nvPr/>
        </p:nvSpPr>
        <p:spPr>
          <a:xfrm xmlns:a="http://schemas.openxmlformats.org/drawingml/2006/main">
            <a:off x="841248" y="4169663"/>
            <a:ext cx="10515600" cy="418795"/>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실험·재학습 엔진 학습·지표·후보 버전 기록</a:t>
            </a:r>
            <a:r>
              <a:t> → 결과 검토 역할이 근거 정리</a:t>
            </a:r>
          </a:p>
        </p:txBody>
      </p:sp>
      <p:sp>
        <p:nvSpPr>
          <p:cNvPr id="27" name="TextBox 26">
            <a:extLst xmlns:a="http://schemas.openxmlformats.org/drawingml/2006/main">
              <a:ext uri="{FF2B5EF4-FFF2-40B4-BE49-F238E27FC236}">
                <a16:creationId xmlns:a16="http://schemas.microsoft.com/office/drawing/2014/main" id="{70B64ED7-D6EB-464A-A56A-30D5794773FF}"/>
              </a:ext>
            </a:extLst>
          </p:cNvPr>
          <p:cNvSpPr>
            <a:spLocks xmlns:a="http://schemas.openxmlformats.org/drawingml/2006/main" noGrp="1"/>
          </p:cNvSpPr>
          <p:nvPr/>
        </p:nvSpPr>
        <p:spPr>
          <a:xfrm xmlns:a="http://schemas.openxmlformats.org/drawingml/2006/main">
            <a:off x="731520" y="5084064"/>
            <a:ext cx="1069848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LangSmith: 실제 실행 추적 · API 재조회 확인</a:t>
            </a:r>
          </a:p>
        </p:txBody>
      </p:sp>
      <p:sp>
        <p:nvSpPr>
          <p:cNvPr id="28" name="TextBox 27">
            <a:extLst xmlns:a="http://schemas.openxmlformats.org/drawingml/2006/main">
              <a:ext uri="{FF2B5EF4-FFF2-40B4-BE49-F238E27FC236}">
                <a16:creationId xmlns:a16="http://schemas.microsoft.com/office/drawing/2014/main" id="{7070177E-1789-4AD8-A789-33CF1D14832F}"/>
              </a:ext>
            </a:extLst>
          </p:cNvPr>
          <p:cNvSpPr>
            <a:spLocks xmlns:a="http://schemas.openxmlformats.org/drawingml/2006/main" noGrp="1"/>
          </p:cNvSpPr>
          <p:nvPr/>
        </p:nvSpPr>
        <p:spPr>
          <a:xfrm xmlns:a="http://schemas.openxmlformats.org/drawingml/2006/main">
            <a:off x="731520" y="5632704"/>
            <a:ext cx="10698480" cy="34930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설명 검사(LLM-as-a-Judge): 6/8개 올바른 판단 · </a:t>
            </a:r>
            <a:r>
              <a:t>코드 테스트 52개</a:t>
            </a:r>
            <a:r>
              <a:t> 통과</a:t>
            </a:r>
          </a:p>
        </p:txBody>
      </p:sp>
    </p:spTree>
    <p:extLst>
      <p:ext uri="{BB962C8B-B14F-4D97-AF65-F5344CB8AC3E}">
        <p14:creationId xmlns:p14="http://schemas.microsoft.com/office/powerpoint/2010/main" val="438004987"/>
      </p:ext>
    </p:extLst>
  </p:cSld>
</p:sld>
</file>

<file path=ppt/slides/slide1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8D5490F-7A4A-4DCD-805B-D755D024A2C7}"/>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A0EB6151-2AC6-478A-AC16-B9870407255C}"/>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12 · 성과와 교훈</a:t>
            </a:r>
          </a:p>
        </p:txBody>
      </p:sp>
      <p:sp>
        <p:nvSpPr>
          <p:cNvPr id="4" name="TextBox 3">
            <a:extLst xmlns:a="http://schemas.openxmlformats.org/drawingml/2006/main">
              <a:ext uri="{FF2B5EF4-FFF2-40B4-BE49-F238E27FC236}">
                <a16:creationId xmlns:a16="http://schemas.microsoft.com/office/drawing/2014/main" id="{D03010FF-9A75-4E0F-997D-04346836D3EA}"/>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선택 근거와 검증 실패를 함께 남깁니다</a:t>
            </a:r>
          </a:p>
        </p:txBody>
      </p:sp>
      <p:sp>
        <p:nvSpPr>
          <p:cNvPr id="5" name="Rectangle 4">
            <a:extLst xmlns:a="http://schemas.openxmlformats.org/drawingml/2006/main">
              <a:ext uri="{FF2B5EF4-FFF2-40B4-BE49-F238E27FC236}">
                <a16:creationId xmlns:a16="http://schemas.microsoft.com/office/drawing/2014/main" id="{DA7BBDCF-8BED-44EC-AE7B-7553F456E346}"/>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C0D684D-7A4A-4491-98AE-555C2458DB2F}"/>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62BFB274-1C5E-4F00-A416-821264BCEEFA}"/>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12 / 17</a:t>
            </a:r>
          </a:p>
        </p:txBody>
      </p:sp>
      <p:sp>
        <p:nvSpPr>
          <p:cNvPr id="8" name="Rectangle 7">
            <a:extLst xmlns:a="http://schemas.openxmlformats.org/drawingml/2006/main">
              <a:ext uri="{FF2B5EF4-FFF2-40B4-BE49-F238E27FC236}">
                <a16:creationId xmlns:a16="http://schemas.microsoft.com/office/drawing/2014/main" id="{93F49116-D40E-448B-8CF5-6A491CD54AC9}"/>
              </a:ext>
            </a:extLst>
          </p:cNvPr>
          <p:cNvSpPr>
            <a:spLocks xmlns:a="http://schemas.openxmlformats.org/drawingml/2006/main" noGrp="1"/>
          </p:cNvSpPr>
          <p:nvPr/>
        </p:nvSpPr>
        <p:spPr>
          <a:xfrm xmlns:a="http://schemas.openxmlformats.org/drawingml/2006/main">
            <a:off x="640080" y="197510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19053FE-654B-4CA4-A3BD-1A9CAE88E573}"/>
              </a:ext>
            </a:extLst>
          </p:cNvPr>
          <p:cNvSpPr>
            <a:spLocks xmlns:a="http://schemas.openxmlformats.org/drawingml/2006/main" noGrp="1"/>
          </p:cNvSpPr>
          <p:nvPr/>
        </p:nvSpPr>
        <p:spPr>
          <a:xfrm xmlns:a="http://schemas.openxmlformats.org/drawingml/2006/main">
            <a:off x="868680" y="197510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성과: 모델 실험과 기존 모델 점검·승인 후 재학습을 연결</a:t>
            </a:r>
          </a:p>
        </p:txBody>
      </p:sp>
      <p:sp>
        <p:nvSpPr>
          <p:cNvPr id="10" name="Rectangle 9">
            <a:extLst xmlns:a="http://schemas.openxmlformats.org/drawingml/2006/main">
              <a:ext uri="{FF2B5EF4-FFF2-40B4-BE49-F238E27FC236}">
                <a16:creationId xmlns:a16="http://schemas.microsoft.com/office/drawing/2014/main" id="{AED4C7C4-AADA-4F2C-941D-153B22272718}"/>
              </a:ext>
            </a:extLst>
          </p:cNvPr>
          <p:cNvSpPr>
            <a:spLocks xmlns:a="http://schemas.openxmlformats.org/drawingml/2006/main" noGrp="1"/>
          </p:cNvSpPr>
          <p:nvPr/>
        </p:nvSpPr>
        <p:spPr>
          <a:xfrm xmlns:a="http://schemas.openxmlformats.org/drawingml/2006/main">
            <a:off x="640080" y="275234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0B49D7C2-A64E-420E-B707-D067EAFF04AC}"/>
              </a:ext>
            </a:extLst>
          </p:cNvPr>
          <p:cNvSpPr>
            <a:spLocks xmlns:a="http://schemas.openxmlformats.org/drawingml/2006/main" noGrp="1"/>
          </p:cNvSpPr>
          <p:nvPr/>
        </p:nvSpPr>
        <p:spPr>
          <a:xfrm xmlns:a="http://schemas.openxmlformats.org/drawingml/2006/main">
            <a:off x="868680" y="275234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교훈: 후보 선택 때 좋아도, 마지막 시험에서는 실패할 수 있습니다.</a:t>
            </a:r>
          </a:p>
        </p:txBody>
      </p:sp>
      <p:sp>
        <p:nvSpPr>
          <p:cNvPr id="12" name="Rectangle 11">
            <a:extLst xmlns:a="http://schemas.openxmlformats.org/drawingml/2006/main">
              <a:ext uri="{FF2B5EF4-FFF2-40B4-BE49-F238E27FC236}">
                <a16:creationId xmlns:a16="http://schemas.microsoft.com/office/drawing/2014/main" id="{D6D6147D-6DA5-4522-AF8E-2EEFD433D5F5}"/>
              </a:ext>
            </a:extLst>
          </p:cNvPr>
          <p:cNvSpPr>
            <a:spLocks xmlns:a="http://schemas.openxmlformats.org/drawingml/2006/main" noGrp="1"/>
          </p:cNvSpPr>
          <p:nvPr/>
        </p:nvSpPr>
        <p:spPr>
          <a:xfrm xmlns:a="http://schemas.openxmlformats.org/drawingml/2006/main">
            <a:off x="640080" y="352958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DD02B6D5-5AD6-446B-AB74-01408633F276}"/>
              </a:ext>
            </a:extLst>
          </p:cNvPr>
          <p:cNvSpPr>
            <a:spLocks xmlns:a="http://schemas.openxmlformats.org/drawingml/2006/main" noGrp="1"/>
          </p:cNvSpPr>
          <p:nvPr/>
        </p:nvSpPr>
        <p:spPr>
          <a:xfrm xmlns:a="http://schemas.openxmlformats.org/drawingml/2006/main">
            <a:off x="868680" y="352958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한계: 합성 데이터·작은 불량 표본·반복 비교 → 현장 효과 미측정</a:t>
            </a:r>
          </a:p>
        </p:txBody>
      </p:sp>
      <p:sp>
        <p:nvSpPr>
          <p:cNvPr id="14" name="Rectangle 13">
            <a:extLst xmlns:a="http://schemas.openxmlformats.org/drawingml/2006/main">
              <a:ext uri="{FF2B5EF4-FFF2-40B4-BE49-F238E27FC236}">
                <a16:creationId xmlns:a16="http://schemas.microsoft.com/office/drawing/2014/main" id="{837271A1-A679-42B0-8EF1-EC723898F12D}"/>
              </a:ext>
            </a:extLst>
          </p:cNvPr>
          <p:cNvSpPr>
            <a:spLocks xmlns:a="http://schemas.openxmlformats.org/drawingml/2006/main" noGrp="1"/>
          </p:cNvSpPr>
          <p:nvPr/>
        </p:nvSpPr>
        <p:spPr>
          <a:xfrm xmlns:a="http://schemas.openxmlformats.org/drawingml/2006/main">
            <a:off x="640080" y="430682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3932AE80-C77C-4F2D-BC24-78C8F92EB13A}"/>
              </a:ext>
            </a:extLst>
          </p:cNvPr>
          <p:cNvSpPr>
            <a:spLocks xmlns:a="http://schemas.openxmlformats.org/drawingml/2006/main" noGrp="1"/>
          </p:cNvSpPr>
          <p:nvPr/>
        </p:nvSpPr>
        <p:spPr>
          <a:xfrm xmlns:a="http://schemas.openxmlformats.org/drawingml/2006/main">
            <a:off x="868680" y="430682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개선: 독립 기간 검증 · 상시 데이터 감시 · 운영 버전 전환·복구</a:t>
            </a:r>
          </a:p>
        </p:txBody>
      </p:sp>
    </p:spTree>
    <p:extLst>
      <p:ext uri="{BB962C8B-B14F-4D97-AF65-F5344CB8AC3E}">
        <p14:creationId xmlns:p14="http://schemas.microsoft.com/office/powerpoint/2010/main" val="942092300"/>
      </p:ext>
    </p:extLst>
  </p:cSld>
</p:sld>
</file>

<file path=ppt/slides/slide1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8CCA7B4-0661-4BBA-AB68-49C7DF03844A}"/>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2BFFB8EE-D562-401E-8DA3-063B67BDE997}"/>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부록 A · 초기 전체 제품 Validation 비교</a:t>
            </a:r>
          </a:p>
        </p:txBody>
      </p:sp>
      <p:sp>
        <p:nvSpPr>
          <p:cNvPr id="4" name="TextBox 3">
            <a:extLst xmlns:a="http://schemas.openxmlformats.org/drawingml/2006/main">
              <a:ext uri="{FF2B5EF4-FFF2-40B4-BE49-F238E27FC236}">
                <a16:creationId xmlns:a16="http://schemas.microsoft.com/office/drawing/2014/main" id="{79D3FDCC-55AB-4477-BB0F-1DB57BBD86C2}"/>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비율을 섞기 전, 개별 모델 비교</a:t>
            </a:r>
          </a:p>
        </p:txBody>
      </p:sp>
      <p:sp>
        <p:nvSpPr>
          <p:cNvPr id="5" name="Rectangle 4">
            <a:extLst xmlns:a="http://schemas.openxmlformats.org/drawingml/2006/main">
              <a:ext uri="{FF2B5EF4-FFF2-40B4-BE49-F238E27FC236}">
                <a16:creationId xmlns:a16="http://schemas.microsoft.com/office/drawing/2014/main" id="{E9D160E6-C2BF-4C95-A67F-5371908FD295}"/>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5A4A4DE1-060C-4613-8736-E6EBE854185A}"/>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8754380A-30BD-429D-B357-E17A77FADD44}"/>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13 / 17 부록</a:t>
            </a:r>
          </a:p>
        </p:txBody>
      </p:sp>
      <p:sp>
        <p:nvSpPr>
          <p:cNvPr id="8" name="TextBox 7">
            <a:extLst xmlns:a="http://schemas.openxmlformats.org/drawingml/2006/main">
              <a:ext uri="{FF2B5EF4-FFF2-40B4-BE49-F238E27FC236}">
                <a16:creationId xmlns:a16="http://schemas.microsoft.com/office/drawing/2014/main" id="{608CF49A-056E-4A9F-95CE-C982F060FBDD}"/>
              </a:ext>
            </a:extLst>
          </p:cNvPr>
          <p:cNvSpPr>
            <a:spLocks xmlns:a="http://schemas.openxmlformats.org/drawingml/2006/main" noGrp="1"/>
          </p:cNvSpPr>
          <p:nvPr/>
        </p:nvSpPr>
        <p:spPr>
          <a:xfrm xmlns:a="http://schemas.openxmlformats.org/drawingml/2006/main">
            <a:off x="640080" y="1847088"/>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500" b="0">
                <a:solidFill>
                  <a:srgbClr val="617681"/>
                </a:solidFill>
                <a:latin typeface="맑은 고딕"/>
                <a:ea typeface="맑은 고딕"/>
                <a:cs typeface="맑은 고딕"/>
              </a:defRPr>
            </a:pPr>
            <a:r>
              <a:t>전체 제품 Train의 24조건에서 알고리즘별 최선 불균형 설정을 표시합니다.</a:t>
            </a:r>
          </a:p>
        </p:txBody>
      </p:sp>
      <p:sp>
        <p:nvSpPr>
          <p:cNvPr id="9" name="TextBox 8">
            <a:extLst xmlns:a="http://schemas.openxmlformats.org/drawingml/2006/main">
              <a:ext uri="{FF2B5EF4-FFF2-40B4-BE49-F238E27FC236}">
                <a16:creationId xmlns:a16="http://schemas.microsoft.com/office/drawing/2014/main" id="{28D31DDD-2549-4A59-A3DF-1DD9972E0869}"/>
              </a:ext>
            </a:extLst>
          </p:cNvPr>
          <p:cNvSpPr>
            <a:spLocks xmlns:a="http://schemas.openxmlformats.org/drawingml/2006/main" noGrp="1"/>
          </p:cNvSpPr>
          <p:nvPr/>
        </p:nvSpPr>
        <p:spPr>
          <a:xfrm xmlns:a="http://schemas.openxmlformats.org/drawingml/2006/main">
            <a:off x="640080" y="2267712"/>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500" b="0">
                <a:solidFill>
                  <a:srgbClr val="617681"/>
                </a:solidFill>
                <a:latin typeface="맑은 고딕"/>
                <a:ea typeface="맑은 고딕"/>
                <a:cs typeface="맑은 고딕"/>
              </a:defRPr>
            </a:pPr>
            <a:r>
              <a:t>앙상블은 같은 학습 범위의 CatBoost·HistGradientBoosting·LightGBM으로 비교했습니다.</a:t>
            </a:r>
          </a:p>
        </p:txBody>
      </p:sp>
      <p:graphicFrame>
        <p:nvGraphicFramePr>
          <p:cNvPr id="10" name="Table 9">
            <a:extLst xmlns:a="http://schemas.openxmlformats.org/drawingml/2006/main">
              <a:ext uri="{FF2B5EF4-FFF2-40B4-BE49-F238E27FC236}">
                <a16:creationId xmlns:a16="http://schemas.microsoft.com/office/drawing/2014/main" id="{12FEF8F8-1C47-4B43-B348-2F1B5E1A446E}"/>
              </a:ext>
            </a:extLst>
          </p:cNvPr>
          <p:cNvGraphicFramePr/>
          <p:nvPr/>
        </p:nvGraphicFramePr>
        <p:xfrm>
          <a:off xmlns:a="http://schemas.openxmlformats.org/drawingml/2006/main" x="594360" y="2926080"/>
          <a:ext xmlns:a="http://schemas.openxmlformats.org/drawingml/2006/main" cx="11000231" cy="3145535"/>
        </p:xfrm>
        <a:graphic xmlns:a="http://schemas.openxmlformats.org/drawingml/2006/main">
          <a:graphicData uri="http://schemas.openxmlformats.org/drawingml/2006/table">
            <a:tbl>
              <a:tblPr firstRow="1" bandRow="1">
                <a:tableStyleId>{5C22544A-7EE6-4342-B048-85BDC9FD1C3A}</a:tableStyleId>
              </a:tblPr>
              <a:tblGrid>
                <a:gridCol w="4050791"/>
                <a:gridCol w="1737360"/>
                <a:gridCol w="1737360"/>
                <a:gridCol w="1737360"/>
                <a:gridCol w="1737360"/>
              </a:tblGrid>
              <a:tr h="247650">
                <a:tc>
                  <a:txBody>
                    <a:bodyPr lIns="47625" tIns="47625" rIns="47625" bIns="47625"/>
                    <a:lstStyle/>
                    <a:p>
                      <a:pPr>
                        <a:buNone/>
                      </a:pPr>
                      <a:r>
                        <a:rPr sz="1200" b="1">
                          <a:solidFill>
                            <a:srgbClr val="FFFFFF"/>
                          </a:solidFill>
                          <a:latin typeface="맑은 고딕"/>
                          <a:ea typeface="맑은 고딕"/>
                          <a:cs typeface="맑은 고딕"/>
                        </a:rPr>
                        <a:t>모델 · 전체 제품 학습</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불균형 설정</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검출률</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정상 오판률</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F1</a:t>
                      </a:r>
                    </a:p>
                  </a:txBody>
                  <a:tcPr marL="95250" marR="76200" marT="19050" marB="19050" anchor="ctr">
                    <a:solidFill>
                      <a:srgbClr val="147D82"/>
                    </a:solidFill>
                  </a:tcPr>
                </a:tc>
              </a:tr>
              <a:tr h="247650">
                <a:tc>
                  <a:txBody>
                    <a:bodyPr lIns="47625" tIns="47625" rIns="47625" bIns="47625"/>
                    <a:lstStyle/>
                    <a:p>
                      <a:pPr>
                        <a:buNone/>
                      </a:pPr>
                      <a:r>
                        <a:rPr sz="1200" b="0">
                          <a:solidFill>
                            <a:srgbClr val="173A49"/>
                          </a:solidFill>
                          <a:latin typeface="맑은 고딕"/>
                          <a:ea typeface="맑은 고딕"/>
                          <a:cs typeface="맑은 고딕"/>
                        </a:rPr>
                        <a:t>CatBoost</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9.3%</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80.8%</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HistGradientBoosting</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10.3%</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79.2%</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LightGBM</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10.7%</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78.5%</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XGBoost</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11.2%</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77.8%</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Random Forest</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13.1%</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75.0%</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AdaBoost</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6.1%</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85.4%</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SVM (RBF)</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weighted</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10.7%</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77.4%</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Gradient Boosting</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11.7%</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75.9%</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MLP / ANN</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14.5%</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71.9%</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Decision Tree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92.9%</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8.4%</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78.8%</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KNN</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92.9%</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11.2%</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74.3%</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Logistic Regression</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weighted</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90.5%</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18.7%</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63.3%</a:t>
                      </a:r>
                    </a:p>
                  </a:txBody>
                  <a:tcPr marL="95250" marR="76200" marT="19050" marB="19050" anchor="ctr">
                    <a:solidFill>
                      <a:srgbClr val="E8F3F3"/>
                    </a:solidFill>
                  </a:tcPr>
                </a:tc>
              </a:tr>
            </a:tbl>
          </a:graphicData>
        </a:graphic>
      </p:graphicFrame>
    </p:spTree>
    <p:extLst>
      <p:ext uri="{BB962C8B-B14F-4D97-AF65-F5344CB8AC3E}">
        <p14:creationId xmlns:p14="http://schemas.microsoft.com/office/powerpoint/2010/main" val="792576924"/>
      </p:ext>
    </p:extLst>
  </p:cSld>
</p:sld>
</file>

<file path=ppt/slides/slide1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3383110-19E2-428E-B746-8D9A4D1E67BD}"/>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3758B0CD-2366-49D5-A52D-ED99C1536E08}"/>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부록 B · 공식 문서 근거 | 저장된 실제 검색 기록의 UI 재현</a:t>
            </a:r>
          </a:p>
        </p:txBody>
      </p:sp>
      <p:sp>
        <p:nvSpPr>
          <p:cNvPr id="4" name="TextBox 3">
            <a:extLst xmlns:a="http://schemas.openxmlformats.org/drawingml/2006/main">
              <a:ext uri="{FF2B5EF4-FFF2-40B4-BE49-F238E27FC236}">
                <a16:creationId xmlns:a16="http://schemas.microsoft.com/office/drawing/2014/main" id="{ED5145F0-EE31-446C-8C47-9C06568D8A58}"/>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공식 문서에서 비교 후보를 추가할 수 있습니다</a:t>
            </a:r>
          </a:p>
        </p:txBody>
      </p:sp>
      <p:sp>
        <p:nvSpPr>
          <p:cNvPr id="5" name="Rectangle 4">
            <a:extLst xmlns:a="http://schemas.openxmlformats.org/drawingml/2006/main">
              <a:ext uri="{FF2B5EF4-FFF2-40B4-BE49-F238E27FC236}">
                <a16:creationId xmlns:a16="http://schemas.microsoft.com/office/drawing/2014/main" id="{48B8BF16-E378-4B3F-86AA-6A8A5461ABCE}"/>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F962C1C1-45D9-47D9-BD89-E8CC3CFBBD94}"/>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D0B34036-653D-4AF8-BE6B-2254954236C9}"/>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14 / 17 부록</a:t>
            </a:r>
          </a:p>
        </p:txBody>
      </p:sp>
      <p:sp>
        <p:nvSpPr>
          <p:cNvPr id="8" name="TextBox 7">
            <a:extLst xmlns:a="http://schemas.openxmlformats.org/drawingml/2006/main">
              <a:ext uri="{FF2B5EF4-FFF2-40B4-BE49-F238E27FC236}">
                <a16:creationId xmlns:a16="http://schemas.microsoft.com/office/drawing/2014/main" id="{D2295E22-3023-46C1-BE1B-9E6AC3931498}"/>
              </a:ext>
            </a:extLst>
          </p:cNvPr>
          <p:cNvSpPr>
            <a:spLocks xmlns:a="http://schemas.openxmlformats.org/drawingml/2006/main" noGrp="1"/>
          </p:cNvSpPr>
          <p:nvPr/>
        </p:nvSpPr>
        <p:spPr>
          <a:xfrm xmlns:a="http://schemas.openxmlformats.org/drawingml/2006/main">
            <a:off x="658368" y="2057400"/>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공식 문서 검색 → 근거를 Qwen에 전달</a:t>
            </a:r>
          </a:p>
        </p:txBody>
      </p:sp>
      <p:sp>
        <p:nvSpPr>
          <p:cNvPr id="9" name="TextBox 8">
            <a:extLst xmlns:a="http://schemas.openxmlformats.org/drawingml/2006/main">
              <a:ext uri="{FF2B5EF4-FFF2-40B4-BE49-F238E27FC236}">
                <a16:creationId xmlns:a16="http://schemas.microsoft.com/office/drawing/2014/main" id="{48630EC7-6C06-416B-893C-E16D00073AEE}"/>
              </a:ext>
            </a:extLst>
          </p:cNvPr>
          <p:cNvSpPr>
            <a:spLocks xmlns:a="http://schemas.openxmlformats.org/drawingml/2006/main" noGrp="1"/>
          </p:cNvSpPr>
          <p:nvPr/>
        </p:nvSpPr>
        <p:spPr>
          <a:xfrm xmlns:a="http://schemas.openxmlformats.org/drawingml/2006/main">
            <a:off x="658368" y="2935224"/>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BGE-M3 임베딩 + FAISS 벡터 저장·검색</a:t>
            </a:r>
          </a:p>
        </p:txBody>
      </p:sp>
      <p:sp>
        <p:nvSpPr>
          <p:cNvPr id="10" name="TextBox 9">
            <a:extLst xmlns:a="http://schemas.openxmlformats.org/drawingml/2006/main">
              <a:ext uri="{FF2B5EF4-FFF2-40B4-BE49-F238E27FC236}">
                <a16:creationId xmlns:a16="http://schemas.microsoft.com/office/drawing/2014/main" id="{C88CBAE4-31F1-4EEC-B1BE-A8BA659342AA}"/>
              </a:ext>
            </a:extLst>
          </p:cNvPr>
          <p:cNvSpPr>
            <a:spLocks xmlns:a="http://schemas.openxmlformats.org/drawingml/2006/main" noGrp="1"/>
          </p:cNvSpPr>
          <p:nvPr/>
        </p:nvSpPr>
        <p:spPr>
          <a:xfrm xmlns:a="http://schemas.openxmlformats.org/drawingml/2006/main">
            <a:off x="658368" y="3813048"/>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실제 학습 연결: ExtraTrees·GaussianNB 두 후보 · 계획 승인 후 비교</a:t>
            </a:r>
          </a:p>
        </p:txBody>
      </p:sp>
      <p:sp>
        <p:nvSpPr>
          <p:cNvPr id="11" name="Rounded Rectangle 10">
            <a:extLst xmlns:a="http://schemas.openxmlformats.org/drawingml/2006/main">
              <a:ext uri="{FF2B5EF4-FFF2-40B4-BE49-F238E27FC236}">
                <a16:creationId xmlns:a16="http://schemas.microsoft.com/office/drawing/2014/main" id="{2D900824-8476-4E55-A2F2-23121560CA5A}"/>
              </a:ext>
            </a:extLst>
          </p:cNvPr>
          <p:cNvSpPr>
            <a:spLocks xmlns:a="http://schemas.openxmlformats.org/drawingml/2006/main" noGrp="1"/>
          </p:cNvSpPr>
          <p:nvPr/>
        </p:nvSpPr>
        <p:spPr>
          <a:xfrm xmlns:a="http://schemas.openxmlformats.org/drawingml/2006/main">
            <a:off x="5413248" y="1801367"/>
            <a:ext cx="5998464"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2" name="Picture 11">
            <a:extLst xmlns:a="http://schemas.openxmlformats.org/drawingml/2006/main">
              <a:ext uri="{FF2B5EF4-FFF2-40B4-BE49-F238E27FC236}">
                <a16:creationId xmlns:a16="http://schemas.microsoft.com/office/drawing/2014/main" id="{474A136D-86D5-419C-9040-18A02C5ADB2F}"/>
              </a:ext>
            </a:extLst>
          </p:cNvPr>
          <p:cNvPicPr>
            <a:picLocks xmlns:a="http://schemas.openxmlformats.org/drawingml/2006/main" noChangeAspect="1"/>
          </p:cNvPicPr>
          <p:nvPr/>
        </p:nvPicPr>
        <p:blipFill>
          <a:blip xmlns:r="http://schemas.openxmlformats.org/officeDocument/2006/relationships" xmlns:a="http://schemas.openxmlformats.org/drawingml/2006/main" r:embed="R49cd04c69c0f4590"/>
          <a:stretch xmlns:a="http://schemas.openxmlformats.org/drawingml/2006/main">
            <a:fillRect l="0" t="0" r="0" b="0"/>
          </a:stretch>
        </p:blipFill>
        <p:spPr>
          <a:xfrm xmlns:a="http://schemas.openxmlformats.org/drawingml/2006/main">
            <a:off x="6231627" y="1874519"/>
            <a:ext cx="4361705" cy="4160520"/>
          </a:xfrm>
          <a:prstGeom xmlns:a="http://schemas.openxmlformats.org/drawingml/2006/main" prst="rect">
            <a:avLst/>
          </a:prstGeom>
        </p:spPr>
      </p:pic>
    </p:spTree>
    <p:extLst>
      <p:ext uri="{BB962C8B-B14F-4D97-AF65-F5344CB8AC3E}">
        <p14:creationId xmlns:p14="http://schemas.microsoft.com/office/powerpoint/2010/main" val="1404280902"/>
      </p:ext>
    </p:extLst>
  </p:cSld>
</p:sld>
</file>

<file path=ppt/slides/slide1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A4D165B-5C38-45CE-9848-FA87932611B7}"/>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9C5FA78-B446-46B7-BBD1-F77D58DD3D80}"/>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부록 C · 앙상블 선택 근거와 범위</a:t>
            </a:r>
          </a:p>
        </p:txBody>
      </p:sp>
      <p:sp>
        <p:nvSpPr>
          <p:cNvPr id="4" name="TextBox 3">
            <a:extLst xmlns:a="http://schemas.openxmlformats.org/drawingml/2006/main">
              <a:ext uri="{FF2B5EF4-FFF2-40B4-BE49-F238E27FC236}">
                <a16:creationId xmlns:a16="http://schemas.microsoft.com/office/drawing/2014/main" id="{889498A0-B71D-4013-A2D5-517E9B0139A0}"/>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선택이 최적이라는 말은 어디까지인가요?</a:t>
            </a:r>
          </a:p>
        </p:txBody>
      </p:sp>
      <p:sp>
        <p:nvSpPr>
          <p:cNvPr id="5" name="Rectangle 4">
            <a:extLst xmlns:a="http://schemas.openxmlformats.org/drawingml/2006/main">
              <a:ext uri="{FF2B5EF4-FFF2-40B4-BE49-F238E27FC236}">
                <a16:creationId xmlns:a16="http://schemas.microsoft.com/office/drawing/2014/main" id="{B9C998ED-5A2D-4473-86F4-84D2A07C4C3A}"/>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9E057D70-7353-430E-9336-D2FA04370504}"/>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B77BDA83-E13C-4CFC-837C-DD1FF98A27B5}"/>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15 / 17 부록</a:t>
            </a:r>
          </a:p>
        </p:txBody>
      </p:sp>
      <p:sp>
        <p:nvSpPr>
          <p:cNvPr id="8" name="Rectangle 7">
            <a:extLst xmlns:a="http://schemas.openxmlformats.org/drawingml/2006/main">
              <a:ext uri="{FF2B5EF4-FFF2-40B4-BE49-F238E27FC236}">
                <a16:creationId xmlns:a16="http://schemas.microsoft.com/office/drawing/2014/main" id="{DE47B701-171C-4B63-BD00-D7A22C2F6C92}"/>
              </a:ext>
            </a:extLst>
          </p:cNvPr>
          <p:cNvSpPr>
            <a:spLocks xmlns:a="http://schemas.openxmlformats.org/drawingml/2006/main" noGrp="1"/>
          </p:cNvSpPr>
          <p:nvPr/>
        </p:nvSpPr>
        <p:spPr>
          <a:xfrm xmlns:a="http://schemas.openxmlformats.org/drawingml/2006/main">
            <a:off x="640080" y="197510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9B87B24-2B45-4470-8C24-184F72C15DBA}"/>
              </a:ext>
            </a:extLst>
          </p:cNvPr>
          <p:cNvSpPr>
            <a:spLocks xmlns:a="http://schemas.openxmlformats.org/drawingml/2006/main" noGrp="1"/>
          </p:cNvSpPr>
          <p:nvPr/>
        </p:nvSpPr>
        <p:spPr>
          <a:xfrm xmlns:a="http://schemas.openxmlformats.org/drawingml/2006/main">
            <a:off x="868680" y="197510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실험1: 알고리즘·설정 고정 → 제품 그룹15개 구성 비교</a:t>
            </a:r>
          </a:p>
        </p:txBody>
      </p:sp>
      <p:sp>
        <p:nvSpPr>
          <p:cNvPr id="10" name="Rectangle 9">
            <a:extLst xmlns:a="http://schemas.openxmlformats.org/drawingml/2006/main">
              <a:ext uri="{FF2B5EF4-FFF2-40B4-BE49-F238E27FC236}">
                <a16:creationId xmlns:a16="http://schemas.microsoft.com/office/drawing/2014/main" id="{AF8766F4-C191-4C5C-B0D2-0795BF83207E}"/>
              </a:ext>
            </a:extLst>
          </p:cNvPr>
          <p:cNvSpPr>
            <a:spLocks xmlns:a="http://schemas.openxmlformats.org/drawingml/2006/main" noGrp="1"/>
          </p:cNvSpPr>
          <p:nvPr/>
        </p:nvSpPr>
        <p:spPr>
          <a:xfrm xmlns:a="http://schemas.openxmlformats.org/drawingml/2006/main">
            <a:off x="640080" y="275234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02CAD1E-C75B-4EB7-9D3B-7FDFCE11D2ED}"/>
              </a:ext>
            </a:extLst>
          </p:cNvPr>
          <p:cNvSpPr>
            <a:spLocks xmlns:a="http://schemas.openxmlformats.org/drawingml/2006/main" noGrp="1"/>
          </p:cNvSpPr>
          <p:nvPr/>
        </p:nvSpPr>
        <p:spPr>
          <a:xfrm xmlns:a="http://schemas.openxmlformats.org/drawingml/2006/main">
            <a:off x="868680" y="275234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실험2: 학습 제품ABCD 고정 → 세 모델의 혼합 비율232개 비교</a:t>
            </a:r>
          </a:p>
        </p:txBody>
      </p:sp>
      <p:sp>
        <p:nvSpPr>
          <p:cNvPr id="12" name="Rectangle 11">
            <a:extLst xmlns:a="http://schemas.openxmlformats.org/drawingml/2006/main">
              <a:ext uri="{FF2B5EF4-FFF2-40B4-BE49-F238E27FC236}">
                <a16:creationId xmlns:a16="http://schemas.microsoft.com/office/drawing/2014/main" id="{D7823874-8A08-4D38-98BB-02C0FEC9D8BF}"/>
              </a:ext>
            </a:extLst>
          </p:cNvPr>
          <p:cNvSpPr>
            <a:spLocks xmlns:a="http://schemas.openxmlformats.org/drawingml/2006/main" noGrp="1"/>
          </p:cNvSpPr>
          <p:nvPr/>
        </p:nvSpPr>
        <p:spPr>
          <a:xfrm xmlns:a="http://schemas.openxmlformats.org/drawingml/2006/main">
            <a:off x="640080" y="352958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2528CCF3-2194-411F-AE88-2AD042CC7EA2}"/>
              </a:ext>
            </a:extLst>
          </p:cNvPr>
          <p:cNvSpPr>
            <a:spLocks xmlns:a="http://schemas.openxmlformats.org/drawingml/2006/main" noGrp="1"/>
          </p:cNvSpPr>
          <p:nvPr/>
        </p:nvSpPr>
        <p:spPr>
          <a:xfrm xmlns:a="http://schemas.openxmlformats.org/drawingml/2006/main">
            <a:off x="868680" y="352958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두 실험은 각각 조건을 통제했습니다. 그룹과 비율의 공동 전역 최적화가 아닙니다.</a:t>
            </a:r>
          </a:p>
        </p:txBody>
      </p:sp>
      <p:sp>
        <p:nvSpPr>
          <p:cNvPr id="14" name="Rectangle 13">
            <a:extLst xmlns:a="http://schemas.openxmlformats.org/drawingml/2006/main">
              <a:ext uri="{FF2B5EF4-FFF2-40B4-BE49-F238E27FC236}">
                <a16:creationId xmlns:a16="http://schemas.microsoft.com/office/drawing/2014/main" id="{6AA557E4-D352-400C-8E63-4496940EF2A2}"/>
              </a:ext>
            </a:extLst>
          </p:cNvPr>
          <p:cNvSpPr>
            <a:spLocks xmlns:a="http://schemas.openxmlformats.org/drawingml/2006/main" noGrp="1"/>
          </p:cNvSpPr>
          <p:nvPr/>
        </p:nvSpPr>
        <p:spPr>
          <a:xfrm xmlns:a="http://schemas.openxmlformats.org/drawingml/2006/main">
            <a:off x="640080" y="430682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260E85B5-8595-41C5-A6E2-6CC572884BC3}"/>
              </a:ext>
            </a:extLst>
          </p:cNvPr>
          <p:cNvSpPr>
            <a:spLocks xmlns:a="http://schemas.openxmlformats.org/drawingml/2006/main" noGrp="1"/>
          </p:cNvSpPr>
          <p:nvPr/>
        </p:nvSpPr>
        <p:spPr>
          <a:xfrm xmlns:a="http://schemas.openxmlformats.org/drawingml/2006/main">
            <a:off x="868680" y="430682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선택은 Validation에서, 선택 후 확인은 Test에서 수행했습니다.</a:t>
            </a:r>
          </a:p>
        </p:txBody>
      </p:sp>
      <p:sp>
        <p:nvSpPr>
          <p:cNvPr id="16" name="Rectangle 15">
            <a:extLst xmlns:a="http://schemas.openxmlformats.org/drawingml/2006/main">
              <a:ext uri="{FF2B5EF4-FFF2-40B4-BE49-F238E27FC236}">
                <a16:creationId xmlns:a16="http://schemas.microsoft.com/office/drawing/2014/main" id="{BAD54B5F-F6DF-4FB3-8A0A-0D08BDFF1826}"/>
              </a:ext>
            </a:extLst>
          </p:cNvPr>
          <p:cNvSpPr>
            <a:spLocks xmlns:a="http://schemas.openxmlformats.org/drawingml/2006/main" noGrp="1"/>
          </p:cNvSpPr>
          <p:nvPr/>
        </p:nvSpPr>
        <p:spPr>
          <a:xfrm xmlns:a="http://schemas.openxmlformats.org/drawingml/2006/main">
            <a:off x="640080" y="508406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69B98A1-1CF7-4F0B-A6EE-78604729ABCB}"/>
              </a:ext>
            </a:extLst>
          </p:cNvPr>
          <p:cNvSpPr>
            <a:spLocks xmlns:a="http://schemas.openxmlformats.org/drawingml/2006/main" noGrp="1"/>
          </p:cNvSpPr>
          <p:nvPr/>
        </p:nvSpPr>
        <p:spPr>
          <a:xfrm xmlns:a="http://schemas.openxmlformats.org/drawingml/2006/main">
            <a:off x="868680" y="508406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기존 Test 재사용·작은 제품별 불량 표본 → 새 독립 기간 검증 필요</a:t>
            </a:r>
          </a:p>
        </p:txBody>
      </p:sp>
    </p:spTree>
    <p:extLst>
      <p:ext uri="{BB962C8B-B14F-4D97-AF65-F5344CB8AC3E}">
        <p14:creationId xmlns:p14="http://schemas.microsoft.com/office/powerpoint/2010/main" val="1612687798"/>
      </p:ext>
    </p:extLst>
  </p:cSld>
</p:sld>
</file>

<file path=ppt/slides/slide1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D7A3B75-9F59-4B82-BE30-92675959AEED}"/>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674DB6B3-69E9-4D66-A24D-CDDF5D1FCC57}"/>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부록 D · 실제 예시로 이해하기</a:t>
            </a:r>
          </a:p>
        </p:txBody>
      </p:sp>
      <p:sp>
        <p:nvSpPr>
          <p:cNvPr id="4" name="TextBox 3">
            <a:extLst xmlns:a="http://schemas.openxmlformats.org/drawingml/2006/main">
              <a:ext uri="{FF2B5EF4-FFF2-40B4-BE49-F238E27FC236}">
                <a16:creationId xmlns:a16="http://schemas.microsoft.com/office/drawing/2014/main" id="{6BD52DAE-EEA3-4BE7-B2CF-D217D036C192}"/>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LLM-as-a-Judge: 설명이 맞는지 LLM이 검사합니다</a:t>
            </a:r>
          </a:p>
        </p:txBody>
      </p:sp>
      <p:sp>
        <p:nvSpPr>
          <p:cNvPr id="5" name="Rectangle 4">
            <a:extLst xmlns:a="http://schemas.openxmlformats.org/drawingml/2006/main">
              <a:ext uri="{FF2B5EF4-FFF2-40B4-BE49-F238E27FC236}">
                <a16:creationId xmlns:a16="http://schemas.microsoft.com/office/drawing/2014/main" id="{4B21C6AB-1ED3-4649-BD7A-E30DF550A949}"/>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CC4BC5A-1C36-485A-B9BB-B8293149471C}"/>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DF4259A3-B4A6-4CD4-B5EC-4EC95DDF6C2D}"/>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16 / 17 부록</a:t>
            </a:r>
          </a:p>
        </p:txBody>
      </p:sp>
      <p:sp>
        <p:nvSpPr>
          <p:cNvPr id="8" name="TextBox 7">
            <a:extLst xmlns:a="http://schemas.openxmlformats.org/drawingml/2006/main">
              <a:ext uri="{FF2B5EF4-FFF2-40B4-BE49-F238E27FC236}">
                <a16:creationId xmlns:a16="http://schemas.microsoft.com/office/drawing/2014/main" id="{C3C3E9DF-4857-41F9-972B-C8DD5B3B41C9}"/>
              </a:ext>
            </a:extLst>
          </p:cNvPr>
          <p:cNvSpPr>
            <a:spLocks xmlns:a="http://schemas.openxmlformats.org/drawingml/2006/main" noGrp="1"/>
          </p:cNvSpPr>
          <p:nvPr/>
        </p:nvSpPr>
        <p:spPr>
          <a:xfrm xmlns:a="http://schemas.openxmlformats.org/drawingml/2006/main">
            <a:off x="640080" y="1847088"/>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검사용 기준: 이전 실험에서 불량27/32개 발견 · 목표90%에는 미달</a:t>
            </a:r>
          </a:p>
        </p:txBody>
      </p:sp>
      <p:sp>
        <p:nvSpPr>
          <p:cNvPr id="9" name="TextBox 8">
            <a:extLst xmlns:a="http://schemas.openxmlformats.org/drawingml/2006/main">
              <a:ext uri="{FF2B5EF4-FFF2-40B4-BE49-F238E27FC236}">
                <a16:creationId xmlns:a16="http://schemas.microsoft.com/office/drawing/2014/main" id="{AFDA5592-F701-442D-A8F3-640DA5EBD872}"/>
              </a:ext>
            </a:extLst>
          </p:cNvPr>
          <p:cNvSpPr>
            <a:spLocks xmlns:a="http://schemas.openxmlformats.org/drawingml/2006/main" noGrp="1"/>
          </p:cNvSpPr>
          <p:nvPr/>
        </p:nvSpPr>
        <p:spPr>
          <a:xfrm xmlns:a="http://schemas.openxmlformats.org/drawingml/2006/main">
            <a:off x="640080" y="2267712"/>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실제 결과와 설명 문장을 주고 “맞는 설명인가?”를 물었습니다.</a:t>
            </a:r>
          </a:p>
        </p:txBody>
      </p:sp>
      <p:sp>
        <p:nvSpPr>
          <p:cNvPr id="10" name="TextBox 9">
            <a:extLst xmlns:a="http://schemas.openxmlformats.org/drawingml/2006/main">
              <a:ext uri="{FF2B5EF4-FFF2-40B4-BE49-F238E27FC236}">
                <a16:creationId xmlns:a16="http://schemas.microsoft.com/office/drawing/2014/main" id="{A6524D8A-0521-46E8-8E21-505569599F6A}"/>
              </a:ext>
            </a:extLst>
          </p:cNvPr>
          <p:cNvSpPr>
            <a:spLocks xmlns:a="http://schemas.openxmlformats.org/drawingml/2006/main" noGrp="1"/>
          </p:cNvSpPr>
          <p:nvPr/>
        </p:nvSpPr>
        <p:spPr>
          <a:xfrm xmlns:a="http://schemas.openxmlformats.org/drawingml/2006/main">
            <a:off x="640080" y="2688336"/>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직접 만든 예제 8개 중 6개는 맞게 검사했고, 2개는 틀렸습니다.</a:t>
            </a:r>
          </a:p>
        </p:txBody>
      </p:sp>
      <p:graphicFrame>
        <p:nvGraphicFramePr>
          <p:cNvPr id="11" name="Table 10">
            <a:extLst xmlns:a="http://schemas.openxmlformats.org/drawingml/2006/main">
              <a:ext uri="{FF2B5EF4-FFF2-40B4-BE49-F238E27FC236}">
                <a16:creationId xmlns:a16="http://schemas.microsoft.com/office/drawing/2014/main" id="{4BFF90A9-01CF-4CBF-857B-DB4BA20353DB}"/>
              </a:ext>
            </a:extLst>
          </p:cNvPr>
          <p:cNvGraphicFramePr/>
          <p:nvPr/>
        </p:nvGraphicFramePr>
        <p:xfrm>
          <a:off xmlns:a="http://schemas.openxmlformats.org/drawingml/2006/main" x="594360" y="3346704"/>
          <a:ext xmlns:a="http://schemas.openxmlformats.org/drawingml/2006/main" cx="11000232" cy="2724911"/>
        </p:xfrm>
        <a:graphic xmlns:a="http://schemas.openxmlformats.org/drawingml/2006/main">
          <a:graphicData uri="http://schemas.openxmlformats.org/drawingml/2006/table">
            <a:tbl>
              <a:tblPr firstRow="1" bandRow="1">
                <a:tableStyleId>{5C22544A-7EE6-4342-B048-85BDC9FD1C3A}</a:tableStyleId>
              </a:tblPr>
              <a:tblGrid>
                <a:gridCol w="4846320"/>
                <a:gridCol w="3017520"/>
                <a:gridCol w="3136392"/>
              </a:tblGrid>
              <a:tr h="681227">
                <a:tc>
                  <a:txBody>
                    <a:bodyPr/>
                    <a:lstStyle/>
                    <a:p>
                      <a:pPr>
                        <a:buNone/>
                      </a:pPr>
                      <a:r>
                        <a:rPr sz="1500" b="1">
                          <a:solidFill>
                            <a:srgbClr val="FFFFFF"/>
                          </a:solidFill>
                          <a:latin typeface="맑은 고딕"/>
                          <a:ea typeface="맑은 고딕"/>
                          <a:cs typeface="맑은 고딕"/>
                        </a:rPr>
                        <a:t>검사할 설명</a:t>
                      </a:r>
                    </a:p>
                  </a:txBody>
                  <a:tcPr marL="118872" marR="91440" marT="64008" marB="54864" anchor="ctr">
                    <a:solidFill>
                      <a:srgbClr val="147D82"/>
                    </a:solidFill>
                  </a:tcPr>
                </a:tc>
                <a:tc>
                  <a:txBody>
                    <a:bodyPr/>
                    <a:lstStyle/>
                    <a:p>
                      <a:pPr>
                        <a:buNone/>
                      </a:pPr>
                      <a:r>
                        <a:rPr sz="1500" b="1">
                          <a:solidFill>
                            <a:srgbClr val="FFFFFF"/>
                          </a:solidFill>
                          <a:latin typeface="맑은 고딕"/>
                          <a:ea typeface="맑은 고딕"/>
                          <a:cs typeface="맑은 고딕"/>
                        </a:rPr>
                        <a:t>맞는 판단</a:t>
                      </a:r>
                    </a:p>
                  </a:txBody>
                  <a:tcPr marL="118872" marR="91440" marT="64008" marB="54864" anchor="ctr">
                    <a:solidFill>
                      <a:srgbClr val="147D82"/>
                    </a:solidFill>
                  </a:tcPr>
                </a:tc>
                <a:tc>
                  <a:txBody>
                    <a:bodyPr/>
                    <a:lstStyle/>
                    <a:p>
                      <a:pPr>
                        <a:buNone/>
                      </a:pPr>
                      <a:r>
                        <a:rPr sz="1500" b="1">
                          <a:solidFill>
                            <a:srgbClr val="FFFFFF"/>
                          </a:solidFill>
                          <a:latin typeface="맑은 고딕"/>
                          <a:ea typeface="맑은 고딕"/>
                          <a:cs typeface="맑은 고딕"/>
                        </a:rPr>
                        <a:t>LLM의 실제 답</a:t>
                      </a:r>
                    </a:p>
                  </a:txBody>
                  <a:tcPr marL="118872" marR="91440" marT="64008" marB="54864" anchor="ctr">
                    <a:solidFill>
                      <a:srgbClr val="147D82"/>
                    </a:solidFill>
                  </a:tcPr>
                </a:tc>
              </a:tr>
              <a:tr h="681227">
                <a:tc>
                  <a:txBody>
                    <a:bodyPr/>
                    <a:lstStyle/>
                    <a:p>
                      <a:pPr>
                        <a:buNone/>
                      </a:pPr>
                      <a:r>
                        <a:rPr sz="1500" b="0">
                          <a:solidFill>
                            <a:srgbClr val="173A49"/>
                          </a:solidFill>
                          <a:latin typeface="맑은 고딕"/>
                          <a:ea typeface="맑은 고딕"/>
                          <a:cs typeface="맑은 고딕"/>
                        </a:rPr>
                        <a:t>“불량27개를 찾았고 목표에는 미달했다”</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맞는 설명</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맞다 · 올바른 검사</a:t>
                      </a:r>
                    </a:p>
                  </a:txBody>
                  <a:tcPr marL="118872" marR="91440" marT="64008" marB="54864" anchor="ctr">
                    <a:solidFill>
                      <a:srgbClr val="FFFFFF"/>
                    </a:solidFill>
                  </a:tcPr>
                </a:tc>
              </a:tr>
              <a:tr h="681227">
                <a:tc>
                  <a:txBody>
                    <a:bodyPr/>
                    <a:lstStyle/>
                    <a:p>
                      <a:pPr>
                        <a:buNone/>
                      </a:pPr>
                      <a:r>
                        <a:rPr sz="1500" b="0">
                          <a:solidFill>
                            <a:srgbClr val="173A49"/>
                          </a:solidFill>
                          <a:latin typeface="맑은 고딕"/>
                          <a:ea typeface="맑은 고딕"/>
                          <a:cs typeface="맑은 고딕"/>
                        </a:rPr>
                        <a:t>“실제 공장 수율 증가가 입증됐다”</a:t>
                      </a:r>
                    </a:p>
                  </a:txBody>
                  <a:tcPr marL="118872" marR="91440" marT="64008" marB="54864" anchor="ctr">
                    <a:solidFill>
                      <a:srgbClr val="E8F3F3"/>
                    </a:solidFill>
                  </a:tcPr>
                </a:tc>
                <a:tc>
                  <a:txBody>
                    <a:bodyPr/>
                    <a:lstStyle/>
                    <a:p>
                      <a:pPr>
                        <a:buNone/>
                      </a:pPr>
                      <a:r>
                        <a:rPr sz="1500" b="0">
                          <a:solidFill>
                            <a:srgbClr val="173A49"/>
                          </a:solidFill>
                          <a:latin typeface="맑은 고딕"/>
                          <a:ea typeface="맑은 고딕"/>
                          <a:cs typeface="맑은 고딕"/>
                        </a:rPr>
                        <a:t>근거 없는 설명</a:t>
                      </a:r>
                    </a:p>
                  </a:txBody>
                  <a:tcPr marL="118872" marR="91440" marT="64008" marB="54864" anchor="ctr">
                    <a:solidFill>
                      <a:srgbClr val="E8F3F3"/>
                    </a:solidFill>
                  </a:tcPr>
                </a:tc>
                <a:tc>
                  <a:txBody>
                    <a:bodyPr/>
                    <a:lstStyle/>
                    <a:p>
                      <a:pPr>
                        <a:buNone/>
                      </a:pPr>
                      <a:r>
                        <a:rPr sz="1500" b="0">
                          <a:solidFill>
                            <a:srgbClr val="173A49"/>
                          </a:solidFill>
                          <a:latin typeface="맑은 고딕"/>
                          <a:ea typeface="맑은 고딕"/>
                          <a:cs typeface="맑은 고딕"/>
                        </a:rPr>
                        <a:t>틀리다 · 올바른 검사</a:t>
                      </a:r>
                    </a:p>
                  </a:txBody>
                  <a:tcPr marL="118872" marR="91440" marT="64008" marB="54864" anchor="ctr">
                    <a:solidFill>
                      <a:srgbClr val="E8F3F3"/>
                    </a:solidFill>
                  </a:tcPr>
                </a:tc>
              </a:tr>
              <a:tr h="681230">
                <a:tc>
                  <a:txBody>
                    <a:bodyPr/>
                    <a:lstStyle/>
                    <a:p>
                      <a:pPr>
                        <a:buNone/>
                      </a:pPr>
                      <a:r>
                        <a:rPr sz="1500" b="0">
                          <a:solidFill>
                            <a:srgbClr val="173A49"/>
                          </a:solidFill>
                          <a:latin typeface="맑은 고딕"/>
                          <a:ea typeface="맑은 고딕"/>
                          <a:cs typeface="맑은 고딕"/>
                        </a:rPr>
                        <a:t>“불량30개를 발견했다”</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실제는27개 → 틀림</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맞다 · 검사가 틀림</a:t>
                      </a:r>
                    </a:p>
                  </a:txBody>
                  <a:tcPr marL="118872" marR="91440" marT="64008" marB="54864" anchor="ctr">
                    <a:solidFill>
                      <a:srgbClr val="FFFFFF"/>
                    </a:solidFill>
                  </a:tcPr>
                </a:tc>
              </a:tr>
            </a:tbl>
          </a:graphicData>
        </a:graphic>
      </p:graphicFrame>
    </p:spTree>
    <p:extLst>
      <p:ext uri="{BB962C8B-B14F-4D97-AF65-F5344CB8AC3E}">
        <p14:creationId xmlns:p14="http://schemas.microsoft.com/office/powerpoint/2010/main" val="298067316"/>
      </p:ext>
    </p:extLst>
  </p:cSld>
</p:sld>
</file>

<file path=ppt/slides/slide1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부록 E · 기술 대응표">
            <a:extLst xmlns:a="http://schemas.openxmlformats.org/drawingml/2006/main">
              <a:ext uri="{FF2B5EF4-FFF2-40B4-BE49-F238E27FC236}">
                <a16:creationId xmlns:a16="http://schemas.microsoft.com/office/drawing/2014/main" id="{75D3BFB4-8DEE-4A30-8CE9-781721C4D458}"/>
              </a:ext>
            </a:extLst>
          </p:cNvPr>
          <p:cNvSpPr>
            <a:spLocks xmlns:a="http://schemas.openxmlformats.org/drawingml/2006/main" noGrp="1"/>
          </p:cNvSpPr>
          <p:nvPr/>
        </p:nvSpPr>
        <p:spPr>
          <a:xfrm xmlns:a="http://schemas.openxmlformats.org/drawingml/2006/main">
            <a:off x="609600" y="2952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b="1">
                <a:solidFill>
                  <a:srgbClr val="147D82"/>
                </a:solidFill>
                <a:latin typeface="맑은 고딕"/>
                <a:ea typeface="맑은 고딕"/>
                <a:cs typeface="맑은 고딕"/>
              </a:defRPr>
            </a:defPPr>
            <a:lvl1pPr>
              <a:buNone/>
              <a:defRPr sz="1200" b="1">
                <a:solidFill>
                  <a:srgbClr val="147D82"/>
                </a:solidFill>
                <a:latin typeface="맑은 고딕"/>
                <a:ea typeface="맑은 고딕"/>
                <a:cs typeface="맑은 고딕"/>
              </a:defRPr>
            </a:lvl1pPr>
            <a:lvl2pPr>
              <a:buNone/>
              <a:defRPr sz="1200" b="1">
                <a:solidFill>
                  <a:srgbClr val="147D82"/>
                </a:solidFill>
                <a:latin typeface="맑은 고딕"/>
                <a:ea typeface="맑은 고딕"/>
                <a:cs typeface="맑은 고딕"/>
              </a:defRPr>
            </a:lvl2pPr>
            <a:lvl3pPr>
              <a:buNone/>
              <a:defRPr sz="1200" b="1">
                <a:solidFill>
                  <a:srgbClr val="147D82"/>
                </a:solidFill>
                <a:latin typeface="맑은 고딕"/>
                <a:ea typeface="맑은 고딕"/>
                <a:cs typeface="맑은 고딕"/>
              </a:defRPr>
            </a:lvl3pPr>
            <a:lvl4pPr>
              <a:buNone/>
              <a:defRPr sz="1200" b="1">
                <a:solidFill>
                  <a:srgbClr val="147D82"/>
                </a:solidFill>
                <a:latin typeface="맑은 고딕"/>
                <a:ea typeface="맑은 고딕"/>
                <a:cs typeface="맑은 고딕"/>
              </a:defRPr>
            </a:lvl4pPr>
            <a:lvl5pPr>
              <a:buNone/>
              <a:defRPr sz="1200" b="1">
                <a:solidFill>
                  <a:srgbClr val="147D82"/>
                </a:solidFill>
                <a:latin typeface="맑은 고딕"/>
                <a:ea typeface="맑은 고딕"/>
                <a:cs typeface="맑은 고딕"/>
              </a:defRPr>
            </a:lvl5pPr>
            <a:lvl6pPr>
              <a:buNone/>
              <a:defRPr sz="1200" b="1">
                <a:solidFill>
                  <a:srgbClr val="147D82"/>
                </a:solidFill>
                <a:latin typeface="맑은 고딕"/>
                <a:ea typeface="맑은 고딕"/>
                <a:cs typeface="맑은 고딕"/>
              </a:defRPr>
            </a:lvl6pPr>
            <a:lvl7pPr>
              <a:buNone/>
              <a:defRPr sz="1200" b="1">
                <a:solidFill>
                  <a:srgbClr val="147D82"/>
                </a:solidFill>
                <a:latin typeface="맑은 고딕"/>
                <a:ea typeface="맑은 고딕"/>
                <a:cs typeface="맑은 고딕"/>
              </a:defRPr>
            </a:lvl7pPr>
            <a:lvl8pPr>
              <a:buNone/>
              <a:defRPr sz="1200" b="1">
                <a:solidFill>
                  <a:srgbClr val="147D82"/>
                </a:solidFill>
                <a:latin typeface="맑은 고딕"/>
                <a:ea typeface="맑은 고딕"/>
                <a:cs typeface="맑은 고딕"/>
              </a:defRPr>
            </a:lvl8pPr>
            <a:lvl9pPr>
              <a:buNone/>
              <a:defRPr sz="1200" b="1">
                <a:solidFill>
                  <a:srgbClr val="147D82"/>
                </a:solidFill>
                <a:latin typeface="맑은 고딕"/>
                <a:ea typeface="맑은 고딕"/>
                <a:cs typeface="맑은 고딕"/>
              </a:defRPr>
            </a:lvl9pPr>
          </a:lstStyle>
          <a:p xmlns:a="http://schemas.openxmlformats.org/drawingml/2006/main">
            <a:pPr>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부록 E · 기술 대응표</a:t>
            </a:r>
          </a:p>
        </p:txBody>
      </p:sp>
      <p:sp>
        <p:nvSpPr>
          <p:cNvPr id="2" name="과제 기술 요소와 실제 구현 위치">
            <a:extLst xmlns:a="http://schemas.openxmlformats.org/drawingml/2006/main">
              <a:ext uri="{FF2B5EF4-FFF2-40B4-BE49-F238E27FC236}">
                <a16:creationId xmlns:a16="http://schemas.microsoft.com/office/drawing/2014/main" id="{1A440EB7-5E26-4C67-BCAB-862211493C2E}"/>
              </a:ext>
            </a:extLst>
          </p:cNvPr>
          <p:cNvSpPr>
            <a:spLocks xmlns:a="http://schemas.openxmlformats.org/drawingml/2006/main" noGrp="1"/>
          </p:cNvSpPr>
          <p:nvPr/>
        </p:nvSpPr>
        <p:spPr>
          <a:xfrm xmlns:a="http://schemas.openxmlformats.org/drawingml/2006/main">
            <a:off x="609600" y="838200"/>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925" b="1">
                <a:solidFill>
                  <a:srgbClr val="173A49"/>
                </a:solidFill>
                <a:latin typeface="맑은 고딕"/>
                <a:ea typeface="맑은 고딕"/>
                <a:cs typeface="맑은 고딕"/>
              </a:defRPr>
            </a:defPPr>
            <a:lvl1pPr>
              <a:buNone/>
              <a:defRPr sz="2925" b="1">
                <a:solidFill>
                  <a:srgbClr val="173A49"/>
                </a:solidFill>
                <a:latin typeface="맑은 고딕"/>
                <a:ea typeface="맑은 고딕"/>
                <a:cs typeface="맑은 고딕"/>
              </a:defRPr>
            </a:lvl1pPr>
            <a:lvl2pPr>
              <a:buNone/>
              <a:defRPr sz="2925" b="1">
                <a:solidFill>
                  <a:srgbClr val="173A49"/>
                </a:solidFill>
                <a:latin typeface="맑은 고딕"/>
                <a:ea typeface="맑은 고딕"/>
                <a:cs typeface="맑은 고딕"/>
              </a:defRPr>
            </a:lvl2pPr>
            <a:lvl3pPr>
              <a:buNone/>
              <a:defRPr sz="2925" b="1">
                <a:solidFill>
                  <a:srgbClr val="173A49"/>
                </a:solidFill>
                <a:latin typeface="맑은 고딕"/>
                <a:ea typeface="맑은 고딕"/>
                <a:cs typeface="맑은 고딕"/>
              </a:defRPr>
            </a:lvl3pPr>
            <a:lvl4pPr>
              <a:buNone/>
              <a:defRPr sz="2925" b="1">
                <a:solidFill>
                  <a:srgbClr val="173A49"/>
                </a:solidFill>
                <a:latin typeface="맑은 고딕"/>
                <a:ea typeface="맑은 고딕"/>
                <a:cs typeface="맑은 고딕"/>
              </a:defRPr>
            </a:lvl4pPr>
            <a:lvl5pPr>
              <a:buNone/>
              <a:defRPr sz="2925" b="1">
                <a:solidFill>
                  <a:srgbClr val="173A49"/>
                </a:solidFill>
                <a:latin typeface="맑은 고딕"/>
                <a:ea typeface="맑은 고딕"/>
                <a:cs typeface="맑은 고딕"/>
              </a:defRPr>
            </a:lvl5pPr>
            <a:lvl6pPr>
              <a:buNone/>
              <a:defRPr sz="2925" b="1">
                <a:solidFill>
                  <a:srgbClr val="173A49"/>
                </a:solidFill>
                <a:latin typeface="맑은 고딕"/>
                <a:ea typeface="맑은 고딕"/>
                <a:cs typeface="맑은 고딕"/>
              </a:defRPr>
            </a:lvl6pPr>
            <a:lvl7pPr>
              <a:buNone/>
              <a:defRPr sz="2925" b="1">
                <a:solidFill>
                  <a:srgbClr val="173A49"/>
                </a:solidFill>
                <a:latin typeface="맑은 고딕"/>
                <a:ea typeface="맑은 고딕"/>
                <a:cs typeface="맑은 고딕"/>
              </a:defRPr>
            </a:lvl7pPr>
            <a:lvl8pPr>
              <a:buNone/>
              <a:defRPr sz="2925" b="1">
                <a:solidFill>
                  <a:srgbClr val="173A49"/>
                </a:solidFill>
                <a:latin typeface="맑은 고딕"/>
                <a:ea typeface="맑은 고딕"/>
                <a:cs typeface="맑은 고딕"/>
              </a:defRPr>
            </a:lvl8pPr>
            <a:lvl9pPr>
              <a:buNone/>
              <a:defRPr sz="2925" b="1">
                <a:solidFill>
                  <a:srgbClr val="173A49"/>
                </a:solidFill>
                <a:latin typeface="맑은 고딕"/>
                <a:ea typeface="맑은 고딕"/>
                <a:cs typeface="맑은 고딕"/>
              </a:defRPr>
            </a:lvl9pPr>
          </a:lstStyle>
          <a:p xmlns:a="http://schemas.openxmlformats.org/drawingml/2006/main">
            <a:pPr>
              <a:buNone/>
              <a:defRPr sz="2925" b="1">
                <a:solidFill>
                  <a:srgbClr val="173A49"/>
                </a:solidFill>
                <a:latin typeface="맑은 고딕"/>
                <a:ea typeface="맑은 고딕"/>
                <a:cs typeface="맑은 고딕"/>
              </a:defRPr>
            </a:pPr>
            <a:r>
              <a:rPr sz="2925" b="1">
                <a:solidFill>
                  <a:srgbClr val="173A49"/>
                </a:solidFill>
                <a:latin typeface="맑은 고딕"/>
                <a:ea typeface="맑은 고딕"/>
                <a:cs typeface="맑은 고딕"/>
              </a:rPr>
              <a:t>과제 기술 요소와 실제 구현 위치</a:t>
            </a:r>
          </a:p>
        </p:txBody>
      </p:sp>
      <p:sp>
        <p:nvSpPr>
          <p:cNvPr id="3" name="SKALA 광주 2반 · G045 김용찬">
            <a:extLst xmlns:a="http://schemas.openxmlformats.org/drawingml/2006/main">
              <a:ext uri="{FF2B5EF4-FFF2-40B4-BE49-F238E27FC236}">
                <a16:creationId xmlns:a16="http://schemas.microsoft.com/office/drawing/2014/main" id="{DDDD07EF-D7EE-4D4A-9722-298E6FAA1D8E}"/>
              </a:ext>
            </a:extLst>
          </p:cNvPr>
          <p:cNvSpPr>
            <a:spLocks xmlns:a="http://schemas.openxmlformats.org/drawingml/2006/main" noGrp="1"/>
          </p:cNvSpPr>
          <p:nvPr/>
        </p:nvSpPr>
        <p:spPr>
          <a:xfrm xmlns:a="http://schemas.openxmlformats.org/drawingml/2006/main">
            <a:off x="609600" y="641985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buNone/>
              <a:defRPr sz="975" b="0">
                <a:solidFill>
                  <a:srgbClr val="617681"/>
                </a:solidFill>
                <a:latin typeface="맑은 고딕"/>
                <a:ea typeface="맑은 고딕"/>
                <a:cs typeface="맑은 고딕"/>
              </a:defRPr>
            </a:lvl1pPr>
            <a:lvl2pPr>
              <a:buNone/>
              <a:defRPr sz="975" b="0">
                <a:solidFill>
                  <a:srgbClr val="617681"/>
                </a:solidFill>
                <a:latin typeface="맑은 고딕"/>
                <a:ea typeface="맑은 고딕"/>
                <a:cs typeface="맑은 고딕"/>
              </a:defRPr>
            </a:lvl2pPr>
            <a:lvl3pPr>
              <a:buNone/>
              <a:defRPr sz="975" b="0">
                <a:solidFill>
                  <a:srgbClr val="617681"/>
                </a:solidFill>
                <a:latin typeface="맑은 고딕"/>
                <a:ea typeface="맑은 고딕"/>
                <a:cs typeface="맑은 고딕"/>
              </a:defRPr>
            </a:lvl3pPr>
            <a:lvl4pPr>
              <a:buNone/>
              <a:defRPr sz="975" b="0">
                <a:solidFill>
                  <a:srgbClr val="617681"/>
                </a:solidFill>
                <a:latin typeface="맑은 고딕"/>
                <a:ea typeface="맑은 고딕"/>
                <a:cs typeface="맑은 고딕"/>
              </a:defRPr>
            </a:lvl4pPr>
            <a:lvl5pPr>
              <a:buNone/>
              <a:defRPr sz="975" b="0">
                <a:solidFill>
                  <a:srgbClr val="617681"/>
                </a:solidFill>
                <a:latin typeface="맑은 고딕"/>
                <a:ea typeface="맑은 고딕"/>
                <a:cs typeface="맑은 고딕"/>
              </a:defRPr>
            </a:lvl5pPr>
            <a:lvl6pPr>
              <a:buNone/>
              <a:defRPr sz="975" b="0">
                <a:solidFill>
                  <a:srgbClr val="617681"/>
                </a:solidFill>
                <a:latin typeface="맑은 고딕"/>
                <a:ea typeface="맑은 고딕"/>
                <a:cs typeface="맑은 고딕"/>
              </a:defRPr>
            </a:lvl6pPr>
            <a:lvl7pPr>
              <a:buNone/>
              <a:defRPr sz="975" b="0">
                <a:solidFill>
                  <a:srgbClr val="617681"/>
                </a:solidFill>
                <a:latin typeface="맑은 고딕"/>
                <a:ea typeface="맑은 고딕"/>
                <a:cs typeface="맑은 고딕"/>
              </a:defRPr>
            </a:lvl7pPr>
            <a:lvl8pPr>
              <a:buNone/>
              <a:defRPr sz="975" b="0">
                <a:solidFill>
                  <a:srgbClr val="617681"/>
                </a:solidFill>
                <a:latin typeface="맑은 고딕"/>
                <a:ea typeface="맑은 고딕"/>
                <a:cs typeface="맑은 고딕"/>
              </a:defRPr>
            </a:lvl8pPr>
            <a:lvl9pPr>
              <a:buNone/>
              <a:defRPr sz="975" b="0">
                <a:solidFill>
                  <a:srgbClr val="617681"/>
                </a:solidFill>
                <a:latin typeface="맑은 고딕"/>
                <a:ea typeface="맑은 고딕"/>
                <a:cs typeface="맑은 고딕"/>
              </a:defRPr>
            </a:lvl9pPr>
          </a:lstStyle>
          <a:p xmlns:a="http://schemas.openxmlformats.org/drawingml/2006/main">
            <a:pPr>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SKALA 광주 2반 · G045 김용찬</a:t>
            </a:r>
          </a:p>
        </p:txBody>
      </p:sp>
      <p:sp>
        <p:nvSpPr>
          <p:cNvPr id="4" name="17 / 17">
            <a:extLst xmlns:a="http://schemas.openxmlformats.org/drawingml/2006/main">
              <a:ext uri="{FF2B5EF4-FFF2-40B4-BE49-F238E27FC236}">
                <a16:creationId xmlns:a16="http://schemas.microsoft.com/office/drawing/2014/main" id="{3CE15498-F13E-4191-98A0-7EB500DFE716}"/>
              </a:ext>
            </a:extLst>
          </p:cNvPr>
          <p:cNvSpPr>
            <a:spLocks xmlns:a="http://schemas.openxmlformats.org/drawingml/2006/main" noGrp="1"/>
          </p:cNvSpPr>
          <p:nvPr/>
        </p:nvSpPr>
        <p:spPr>
          <a:xfrm xmlns:a="http://schemas.openxmlformats.org/drawingml/2006/main">
            <a:off x="10153650" y="64198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buNone/>
              <a:defRPr sz="975" b="0">
                <a:solidFill>
                  <a:srgbClr val="617681"/>
                </a:solidFill>
                <a:latin typeface="맑은 고딕"/>
                <a:ea typeface="맑은 고딕"/>
                <a:cs typeface="맑은 고딕"/>
              </a:defRPr>
            </a:lvl1pPr>
            <a:lvl2pPr>
              <a:buNone/>
              <a:defRPr sz="975" b="0">
                <a:solidFill>
                  <a:srgbClr val="617681"/>
                </a:solidFill>
                <a:latin typeface="맑은 고딕"/>
                <a:ea typeface="맑은 고딕"/>
                <a:cs typeface="맑은 고딕"/>
              </a:defRPr>
            </a:lvl2pPr>
            <a:lvl3pPr>
              <a:buNone/>
              <a:defRPr sz="975" b="0">
                <a:solidFill>
                  <a:srgbClr val="617681"/>
                </a:solidFill>
                <a:latin typeface="맑은 고딕"/>
                <a:ea typeface="맑은 고딕"/>
                <a:cs typeface="맑은 고딕"/>
              </a:defRPr>
            </a:lvl3pPr>
            <a:lvl4pPr>
              <a:buNone/>
              <a:defRPr sz="975" b="0">
                <a:solidFill>
                  <a:srgbClr val="617681"/>
                </a:solidFill>
                <a:latin typeface="맑은 고딕"/>
                <a:ea typeface="맑은 고딕"/>
                <a:cs typeface="맑은 고딕"/>
              </a:defRPr>
            </a:lvl4pPr>
            <a:lvl5pPr>
              <a:buNone/>
              <a:defRPr sz="975" b="0">
                <a:solidFill>
                  <a:srgbClr val="617681"/>
                </a:solidFill>
                <a:latin typeface="맑은 고딕"/>
                <a:ea typeface="맑은 고딕"/>
                <a:cs typeface="맑은 고딕"/>
              </a:defRPr>
            </a:lvl5pPr>
            <a:lvl6pPr>
              <a:buNone/>
              <a:defRPr sz="975" b="0">
                <a:solidFill>
                  <a:srgbClr val="617681"/>
                </a:solidFill>
                <a:latin typeface="맑은 고딕"/>
                <a:ea typeface="맑은 고딕"/>
                <a:cs typeface="맑은 고딕"/>
              </a:defRPr>
            </a:lvl6pPr>
            <a:lvl7pPr>
              <a:buNone/>
              <a:defRPr sz="975" b="0">
                <a:solidFill>
                  <a:srgbClr val="617681"/>
                </a:solidFill>
                <a:latin typeface="맑은 고딕"/>
                <a:ea typeface="맑은 고딕"/>
                <a:cs typeface="맑은 고딕"/>
              </a:defRPr>
            </a:lvl7pPr>
            <a:lvl8pPr>
              <a:buNone/>
              <a:defRPr sz="975" b="0">
                <a:solidFill>
                  <a:srgbClr val="617681"/>
                </a:solidFill>
                <a:latin typeface="맑은 고딕"/>
                <a:ea typeface="맑은 고딕"/>
                <a:cs typeface="맑은 고딕"/>
              </a:defRPr>
            </a:lvl8pPr>
            <a:lvl9pPr>
              <a:buNone/>
              <a:defRPr sz="975" b="0">
                <a:solidFill>
                  <a:srgbClr val="617681"/>
                </a:solidFill>
                <a:latin typeface="맑은 고딕"/>
                <a:ea typeface="맑은 고딕"/>
                <a:cs typeface="맑은 고딕"/>
              </a:defRPr>
            </a:lvl9pPr>
          </a:lstStyle>
          <a:p xmlns:a="http://schemas.openxmlformats.org/drawingml/2006/main">
            <a:pPr>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17 / 17</a:t>
            </a:r>
          </a:p>
        </p:txBody>
      </p:sp>
      <p:graphicFrame>
        <p:nvGraphicFramePr>
          <p:cNvPr id="5" name="">
            <a:extLst xmlns:a="http://schemas.openxmlformats.org/drawingml/2006/main">
              <a:ext uri="{FF2B5EF4-FFF2-40B4-BE49-F238E27FC236}">
                <a16:creationId xmlns:a16="http://schemas.microsoft.com/office/drawing/2014/main" id="{6F802FA7-0EE7-452E-B2AB-A518857F0AF6}"/>
              </a:ext>
            </a:extLst>
          </p:cNvPr>
          <p:cNvGraphicFramePr/>
          <p:nvPr/>
        </p:nvGraphicFramePr>
        <p:xfrm>
          <a:off xmlns:a="http://schemas.openxmlformats.org/drawingml/2006/main" x="609600" y="2095500"/>
          <a:ext xmlns:a="http://schemas.openxmlformats.org/drawingml/2006/main" cx="10953750" cy="3714750"/>
        </p:xfrm>
        <a:graphic xmlns:a="http://schemas.openxmlformats.org/drawingml/2006/main">
          <a:graphicData uri="http://schemas.openxmlformats.org/drawingml/2006/table">
            <a:tbl>
              <a:tblPr/>
              <a:tblGrid>
                <a:gridCol w="2857500"/>
                <a:gridCol w="8096250"/>
              </a:tblGrid>
              <a:tr h="464344">
                <a:tc>
                  <a:txBody>
                    <a:bodyPr lIns="95250" tIns="95250" rIns="95250" bIns="95250"/>
                    <a:lstStyle/>
                    <a:p>
                      <a:r>
                        <a:rPr sz="1575" b="1">
                          <a:solidFill>
                            <a:srgbClr val="FFFFFF"/>
                          </a:solidFill>
                          <a:latin typeface="맑은 고딕"/>
                          <a:ea typeface="맑은 고딕"/>
                          <a:cs typeface="맑은 고딕"/>
                        </a:rPr>
                        <a:t>기술 요소</a:t>
                      </a:r>
                    </a:p>
                  </a:txBody>
                  <a:tcPr marL="91440" marR="91440" marT="45720" marB="45720" anchor="ctr">
                    <a:lnL w="9525">
                      <a:solidFill>
                        <a:srgbClr val="D8E3E7"/>
                      </a:solidFill>
                      <a:prstDash val="solid"/>
                    </a:lnL>
                    <a:lnR w="9525">
                      <a:solidFill>
                        <a:srgbClr val="D8E3E7"/>
                      </a:solidFill>
                      <a:prstDash val="solid"/>
                    </a:lnR>
                    <a:lnT w="9525">
                      <a:solidFill>
                        <a:srgbClr val="D8E3E7"/>
                      </a:solidFill>
                      <a:prstDash val="solid"/>
                    </a:lnT>
                    <a:lnB w="9525">
                      <a:solidFill>
                        <a:srgbClr val="D8E3E7"/>
                      </a:solidFill>
                      <a:prstDash val="solid"/>
                    </a:lnB>
                    <a:solidFill>
                      <a:srgbClr val="147D82"/>
                    </a:solidFill>
                  </a:tcPr>
                </a:tc>
                <a:tc>
                  <a:txBody>
                    <a:bodyPr lIns="95250" tIns="95250" rIns="95250" bIns="95250"/>
                    <a:lstStyle/>
                    <a:p>
                      <a:r>
                        <a:rPr sz="1575" b="1">
                          <a:solidFill>
                            <a:srgbClr val="FFFFFF"/>
                          </a:solidFill>
                          <a:latin typeface="맑은 고딕"/>
                          <a:ea typeface="맑은 고딕"/>
                          <a:cs typeface="맑은 고딕"/>
                        </a:rPr>
                        <a:t>구현과 확인</a:t>
                      </a:r>
                    </a:p>
                  </a:txBody>
                  <a:tcPr marL="91440" marR="91440" marT="45720" marB="45720" anchor="ctr">
                    <a:lnR w="9525">
                      <a:solidFill>
                        <a:srgbClr val="D8E3E7"/>
                      </a:solidFill>
                      <a:prstDash val="solid"/>
                    </a:lnR>
                    <a:lnT w="9525">
                      <a:solidFill>
                        <a:srgbClr val="D8E3E7"/>
                      </a:solidFill>
                      <a:prstDash val="solid"/>
                    </a:lnT>
                    <a:lnB w="9525">
                      <a:solidFill>
                        <a:srgbClr val="D8E3E7"/>
                      </a:solidFill>
                      <a:prstDash val="solid"/>
                    </a:lnB>
                    <a:solidFill>
                      <a:srgbClr val="147D82"/>
                    </a:solidFill>
                  </a:tcPr>
                </a:tc>
              </a:tr>
              <a:tr h="464344">
                <a:tc>
                  <a:txBody>
                    <a:bodyPr lIns="95250" tIns="95250" rIns="95250" bIns="95250"/>
                    <a:lstStyle/>
                    <a:p>
                      <a:r>
                        <a:rPr sz="1575" b="0">
                          <a:solidFill>
                            <a:srgbClr val="173A49"/>
                          </a:solidFill>
                          <a:latin typeface="맑은 고딕"/>
                          <a:ea typeface="맑은 고딕"/>
                          <a:cs typeface="맑은 고딕"/>
                        </a:rPr>
                        <a:t>Multi-Agent · LangGraph</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점검·검색·계획 역할 연결 / 로컬 Qwen 설명</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r h="464344">
                <a:tc>
                  <a:txBody>
                    <a:bodyPr lIns="95250" tIns="95250" rIns="95250" bIns="95250"/>
                    <a:lstStyle/>
                    <a:p>
                      <a:r>
                        <a:rPr sz="1575" b="0">
                          <a:solidFill>
                            <a:srgbClr val="173A49"/>
                          </a:solidFill>
                          <a:latin typeface="맑은 고딕"/>
                          <a:ea typeface="맑은 고딕"/>
                          <a:cs typeface="맑은 고딕"/>
                        </a:rPr>
                        <a:t>MCP</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E8F3F3"/>
                    </a:solidFill>
                  </a:tcPr>
                </a:tc>
                <a:tc>
                  <a:txBody>
                    <a:bodyPr lIns="95250" tIns="95250" rIns="95250" bIns="95250"/>
                    <a:lstStyle/>
                    <a:p>
                      <a:r>
                        <a:rPr sz="1575" b="0">
                          <a:solidFill>
                            <a:srgbClr val="173A49"/>
                          </a:solidFill>
                          <a:latin typeface="맑은 고딕"/>
                          <a:ea typeface="맑은 고딕"/>
                          <a:cs typeface="맑은 고딕"/>
                        </a:rPr>
                        <a:t>조회·계획 4개 도구와 지식 Resource</a:t>
                      </a:r>
                    </a:p>
                  </a:txBody>
                  <a:tcPr marL="91440" marR="91440" marT="45720" marB="45720" anchor="ctr">
                    <a:lnR w="9525">
                      <a:solidFill>
                        <a:srgbClr val="D8E3E7"/>
                      </a:solidFill>
                      <a:prstDash val="solid"/>
                    </a:lnR>
                    <a:lnB w="9525">
                      <a:solidFill>
                        <a:srgbClr val="D8E3E7"/>
                      </a:solidFill>
                      <a:prstDash val="solid"/>
                    </a:lnB>
                    <a:solidFill>
                      <a:srgbClr val="E8F3F3"/>
                    </a:solidFill>
                  </a:tcPr>
                </a:tc>
              </a:tr>
              <a:tr h="464344">
                <a:tc>
                  <a:txBody>
                    <a:bodyPr lIns="95250" tIns="95250" rIns="95250" bIns="95250"/>
                    <a:lstStyle/>
                    <a:p>
                      <a:r>
                        <a:rPr sz="1575" b="0">
                          <a:solidFill>
                            <a:srgbClr val="173A49"/>
                          </a:solidFill>
                          <a:latin typeface="맑은 고딕"/>
                          <a:ea typeface="맑은 고딕"/>
                          <a:cs typeface="맑은 고딕"/>
                        </a:rPr>
                        <a:t>RAG</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BGE-M3 임베딩 / FAISS 검색 / Qwen에 근거 전달</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r h="464344">
                <a:tc>
                  <a:txBody>
                    <a:bodyPr lIns="95250" tIns="95250" rIns="95250" bIns="95250"/>
                    <a:lstStyle/>
                    <a:p>
                      <a:r>
                        <a:rPr sz="1575" b="0">
                          <a:solidFill>
                            <a:srgbClr val="173A49"/>
                          </a:solidFill>
                          <a:latin typeface="맑은 고딕"/>
                          <a:ea typeface="맑은 고딕"/>
                          <a:cs typeface="맑은 고딕"/>
                        </a:rPr>
                        <a:t>모듈화 · DI · 단위/API 테스트</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E8F3F3"/>
                    </a:solidFill>
                  </a:tcPr>
                </a:tc>
                <a:tc>
                  <a:txBody>
                    <a:bodyPr lIns="95250" tIns="95250" rIns="95250" bIns="95250"/>
                    <a:lstStyle/>
                    <a:p>
                      <a:r>
                        <a:rPr sz="1575" b="0">
                          <a:solidFill>
                            <a:srgbClr val="173A49"/>
                          </a:solidFill>
                          <a:latin typeface="맑은 고딕"/>
                          <a:ea typeface="맑은 고딕"/>
                          <a:cs typeface="맑은 고딕"/>
                        </a:rPr>
                        <a:t>학습·점검·저장 분리 / 의존성 주입 / 52개 통과</a:t>
                      </a:r>
                    </a:p>
                  </a:txBody>
                  <a:tcPr marL="91440" marR="91440" marT="45720" marB="45720" anchor="ctr">
                    <a:lnR w="9525">
                      <a:solidFill>
                        <a:srgbClr val="D8E3E7"/>
                      </a:solidFill>
                      <a:prstDash val="solid"/>
                    </a:lnR>
                    <a:lnB w="9525">
                      <a:solidFill>
                        <a:srgbClr val="D8E3E7"/>
                      </a:solidFill>
                      <a:prstDash val="solid"/>
                    </a:lnB>
                    <a:solidFill>
                      <a:srgbClr val="E8F3F3"/>
                    </a:solidFill>
                  </a:tcPr>
                </a:tc>
              </a:tr>
              <a:tr h="464344">
                <a:tc>
                  <a:txBody>
                    <a:bodyPr lIns="95250" tIns="95250" rIns="95250" bIns="95250"/>
                    <a:lstStyle/>
                    <a:p>
                      <a:r>
                        <a:rPr sz="1575" b="0">
                          <a:solidFill>
                            <a:srgbClr val="173A49"/>
                          </a:solidFill>
                          <a:latin typeface="맑은 고딕"/>
                          <a:ea typeface="맑은 고딕"/>
                          <a:cs typeface="맑은 고딕"/>
                        </a:rPr>
                        <a:t>LangSmith</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APAC 실제 계획 생성·하위 실행 API 재조회</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r h="464344">
                <a:tc>
                  <a:txBody>
                    <a:bodyPr lIns="95250" tIns="95250" rIns="95250" bIns="95250"/>
                    <a:lstStyle/>
                    <a:p>
                      <a:r>
                        <a:rPr sz="1575" b="0">
                          <a:solidFill>
                            <a:srgbClr val="173A49"/>
                          </a:solidFill>
                          <a:latin typeface="맑은 고딕"/>
                          <a:ea typeface="맑은 고딕"/>
                          <a:cs typeface="맑은 고딕"/>
                        </a:rPr>
                        <a:t>LLM-as-a-Judge</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E8F3F3"/>
                    </a:solidFill>
                  </a:tcPr>
                </a:tc>
                <a:tc>
                  <a:txBody>
                    <a:bodyPr lIns="95250" tIns="95250" rIns="95250" bIns="95250"/>
                    <a:lstStyle/>
                    <a:p>
                      <a:r>
                        <a:rPr sz="1575" b="0">
                          <a:solidFill>
                            <a:srgbClr val="173A49"/>
                          </a:solidFill>
                          <a:latin typeface="맑은 고딕"/>
                          <a:ea typeface="맑은 고딕"/>
                          <a:cs typeface="맑은 고딕"/>
                        </a:rPr>
                        <a:t>개발 예제 8개 중 6개 판정 일치 / 오판 보존</a:t>
                      </a:r>
                    </a:p>
                  </a:txBody>
                  <a:tcPr marL="91440" marR="91440" marT="45720" marB="45720" anchor="ctr">
                    <a:lnR w="9525">
                      <a:solidFill>
                        <a:srgbClr val="D8E3E7"/>
                      </a:solidFill>
                      <a:prstDash val="solid"/>
                    </a:lnR>
                    <a:lnB w="9525">
                      <a:solidFill>
                        <a:srgbClr val="D8E3E7"/>
                      </a:solidFill>
                      <a:prstDash val="solid"/>
                    </a:lnB>
                    <a:solidFill>
                      <a:srgbClr val="E8F3F3"/>
                    </a:solidFill>
                  </a:tcPr>
                </a:tc>
              </a:tr>
              <a:tr h="464344">
                <a:tc>
                  <a:txBody>
                    <a:bodyPr lIns="95250" tIns="95250" rIns="95250" bIns="95250"/>
                    <a:lstStyle/>
                    <a:p>
                      <a:r>
                        <a:rPr sz="1575" b="0">
                          <a:solidFill>
                            <a:srgbClr val="173A49"/>
                          </a:solidFill>
                          <a:latin typeface="맑은 고딕"/>
                          <a:ea typeface="맑은 고딕"/>
                          <a:cs typeface="맑은 고딕"/>
                        </a:rPr>
                        <a:t>모델 성능 관리</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새 정답 배치 점검 / 승인 재학습 / 전후 비교·후보 저장</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bl>
          </a:graphicData>
        </a:graphic>
      </p:graphicFrame>
    </p:spTree>
    <p:extLst>
      <p:ext uri="{BB962C8B-B14F-4D97-AF65-F5344CB8AC3E}">
        <p14:creationId xmlns:p14="http://schemas.microsoft.com/office/powerpoint/2010/main" val="44289130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2026-10-22T02:00:59.5140000Z</dcterms:created>
  <dcterms:modified xsi:type="dcterms:W3CDTF">2026-10-22T02:00:59.5140000Z</dcterms:modified>
</coreProperties>
</file>