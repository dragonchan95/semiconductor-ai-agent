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김용찬입니다. 검사 데이터를 넣으면 모델 비교 계획을 세우고, 승인 후 실제로 학습해서 선택 이유와 결과를 보여 주는 Agent를 만들었습니다.</a:t>
            </a:r>
          </a:p>
          <a:p/>
          <a:p>
            <a:r>
              <a:t>출처: </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대상은 검사 모델을 만드는 엔지니어입니다. 데이터가 바뀔 때마다 전처리와 모델을 비교하고 이유를 기록해야 합니다. 이 반복 작업을 하나로 연결했습니다. 스칼라에서 배운 모델과 반도체 자료의 후보를 함께 넣었고, 오늘은 센서 사례 하나를 따라가겠습니다.</a:t>
            </a:r>
          </a:p>
          <a:p/>
          <a:p>
            <a:r>
              <a:t>출처: </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비교 기준입니다. 불량 검출률은 실제 불량 중 찾아낸 비율이고, 정상 오판률은 정상을 불량으로 잘못 본 비율입니다. 불량을 많이 찾는 것과 정상 오판을 줄이는 것을 함께 봐야 합니다. 이번에는 교육용 목표를 먼저 정하고, 목표를 충족한 후보 중 검출률을 우선하도록 했습니다.</a:t>
            </a:r>
          </a:p>
          <a:p/>
          <a:p>
            <a:r>
              <a:t>출처: app/metrics.py; docs/evaluation/synthetic_process.json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앱 화면입니다. 제품 A부터 D의 합성 센서 천이백팔십 건을 선택합니다. 이 중 불량 정답은 이백한 건입니다. 직접 만든 예제로, 실제 공장 데이터는 아닙니다. 내 센서 CSV나 검사 이미지 ZIP을 등록하는 기능도 있습니다.</a:t>
            </a:r>
          </a:p>
          <a:p/>
          <a:p>
            <a:r>
              <a:t>출처: app/data.py; docs/assets/app-data.jpg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계획을 요청하면 데이터 점검과 전처리 이유가 나옵니다. 학습, 후보 선택, 마지막 확인 데이터를 육 대 이 대 이로 나누고, 같은 생산 묶음은 섞지 않습니다. 여러 모델과 제품 조합의 비교 범위를 확인한 다음 엔지니어가 승인해야 실제 학습을 시작합니다.</a:t>
            </a:r>
          </a:p>
          <a:p/>
          <a:p>
            <a:r>
              <a:t>출처: app/planner.py; app/workbench.py; docs/assets/app-plan.jpg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학습이 끝나면 후보 선택용 데이터인 Validation에서 비교합니다. 화면처럼 검출률과 정상 오판률을 나란히 보여 줍니다. 같은 검출률에서는 정상 오판이 적은 CatBoost가 앞섰습니다. 상위 후보의 학습 제품 조합도 비교해 최종적으로 A B C로 학습한 CatBoost를 골랐습니다. 마지막 확인용 Test로 순위를 바꾸지는 않습니다.</a:t>
            </a:r>
          </a:p>
          <a:p/>
          <a:p>
            <a:r>
              <a:t>출처: docs/evaluation/synthetic_process.json; docs/evaluation/presentation_screenshots.json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남겨 둔 Test에서 기본 Logistic과 선택 후보를 비교합니다. 불량 서른두 개 중 발견은 스무 개에서 스물일곱 개로 늘었습니다. 대신 정상 오판도 한 개에서 열네 개로 늘었습니다. 후보 검출률 팔십사 점 사 퍼센트는 목표 구십 퍼센트에 못 미칩니다. 그래서 최고 모델이라고 끝내지 않고, 추가 검증이 필요하다는 판단까지 보여 줍니다.</a:t>
            </a:r>
          </a:p>
          <a:p/>
          <a:p>
            <a:r>
              <a:t>출처: docs/evaluation/windows_llm_synthetic.json; docs/evaluation/presentation_screenshots.json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후보를 더 비교하고 싶으면 공식 문서를 검색합니다. 실제 저장된 검색 기록을 현재 화면에서 다시 보여 드립니다. 관련 근거와 제안 이유를 연결하는 것이 RAG입니다. 현재는 두 모델을 추가할 수 있습니다. 승인 후 비교한 기록에서는 CatBoost가 유지됐습니다.</a:t>
            </a:r>
          </a:p>
          <a:p/>
          <a:p>
            <a:r>
              <a:t>출처: app/discovery.py; docs/evaluation/model_discovery.json; docs/evaluation/presentation_screenshots.json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본 흐름의 내부입니다. LangGraph로 점검, 검색, 계획 역할을 연결하고 로컬 Qwen이 설명을 돕습니다. 승인은 사람, 학습과 수치 계산은 실험 엔진이 담당합니다. MCP는 조회와 계획 도구를 제공합니다. LangSmith로 실행 경로를 확인했고, 별도 LLM 평가자는 자체 예제 여덟 개 중 여섯 개를 맞혔습니다. 오판이 있어 중요한 수치와 승인은 코드로 검사합니다.</a:t>
            </a:r>
          </a:p>
          <a:p/>
          <a:p>
            <a:r>
              <a:t>출처: app/planner.py; app/advisors.py; app/workbench.py; mcp_server.py; docs/evaluation/langsmith_check.json; docs/evaluation/llm_judge.json; docs/evaluation/tests-windows.txt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성과는 데이터 입력부터 승인, 모델 비교와 선택 근거를 한 흐름으로 연결한 점입니다. 불량을 더 찾는 만큼 정상 오판도 늘 수 있다는 것을 배웠습니다. 합성 데이터와 작은 표본이 한계이며, 다음에는 현장 기준과 새로운 독립 데이터로 검증하겠습니다. 감사합니다.</a:t>
            </a:r>
          </a:p>
          <a:p/>
          <a:p>
            <a:r>
              <a:t>출처: </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본문 6장에서는 앱의 상위 네 행만 보여 줍니다. 이 표는 제품 조합 확장 전 비교입니다. F1은 Precision과 Recall의 조화평균이며 업무 비용을 자동으로 반영하지 않습니다. 목표가 다르면 선택 기준도 바뀝니다.</a:t>
            </a:r>
          </a:p>
          <a:p/>
          <a:p>
            <a:r>
              <a:t>출처: docs/evaluation/synthetic_process.json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SECOM은 1,567건 중 불합격104건입니다. 제조사·제품ID는 제공되지 않습니다. 이미지 Test의 불량15건은 작은 표본입니다.</a:t>
            </a:r>
          </a:p>
          <a:p/>
          <a:p>
            <a:r>
              <a:t>출처: docs/evaluation/summary.json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6대2대2는 사전에 정한 재현 조건이며 모든 데이터의 최적 비율은 아닙니다. 생산 묶음·날짜 크기에 따라 실제 행 비율이 달라집니다. 후보 추가 탐색에 기존 Test를 다시 사용했으므로 독립 기간 검증이 필요합니다.</a:t>
            </a:r>
          </a:p>
          <a:p/>
          <a:p>
            <a:r>
              <a:t>출처: app/data.py; docs/MODEL_DISCOVERY_DESIGN.md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현재는 제한된 역할 구조입니다. 코드와 근거 연결 검사는 일반적인 사실성 보증이 아닙니다. LangSmith 추적을 켜면 기록이 외부로 전송되므로 로컬 추론과 별개로 관리해야 합니다.</a:t>
            </a:r>
          </a:p>
          <a:p/>
          <a:p>
            <a:r>
              <a:t>출처: docs/ASSIGNMENT_CHECKLIST.md; docs/EVALUATION.md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올바른 설명2개와 오류 설명6개를 평가했습니다. 라벨은 모델에 보내지 않았습니다. 생성자와 평가자가 같은 모델 계열이므로 유사 오류를 낼 수 있고, 수치·승인 코드 검사를 대체하지 않습니다.</a:t>
            </a:r>
          </a:p>
          <a:p/>
          <a:p>
            <a:r>
              <a:t>출처: docs/evaluation/llm_judge.json; docs/evaluation/llm_judge_initial.json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발표는 1~10장만 진행합니다. 부록은 질문 때만 엽니다. 모델 학습은 새로 기다리지 않고 실제 기록의 화면을 설명합니다. 교육자료 원본·제출 명단·API 키는 공개 저장소에 포함하지 않습니다.</a:t>
            </a:r>
          </a:p>
          <a:p/>
          <a:p>
            <a:r>
              <a:t>출처: docs/DEMO.md; docs/CURRICULUM_MODELS.md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5.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01 · 무엇을 만드는 프로젝트인가요?</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800" b="1">
                <a:solidFill>
                  <a:srgbClr val="173A49"/>
                </a:solidFill>
                <a:latin typeface="맑은 고딕"/>
              </a:defRPr>
            </a:pPr>
            <a:r>
              <a:t>반도체 검사 모델</a:t>
            </a:r>
          </a:p>
          <a:p>
            <a:pPr>
              <a:lnSpc>
                <a:spcPct val="114000"/>
              </a:lnSpc>
              <a:spcAft>
                <a:spcPts val="800"/>
              </a:spcAft>
              <a:defRPr sz="3800" b="1">
                <a:solidFill>
                  <a:srgbClr val="173A49"/>
                </a:solidFill>
                <a:latin typeface="맑은 고딕"/>
              </a:defRPr>
            </a:pPr>
            <a:r>
              <a:t>실험 도우미</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01 / 16</a:t>
            </a:r>
          </a:p>
        </p:txBody>
      </p:sp>
      <p:sp>
        <p:nvSpPr>
          <p:cNvPr id="8" name="TextBox 7"/>
          <p:cNvSpPr txBox="1"/>
          <p:nvPr/>
        </p:nvSpPr>
        <p:spPr>
          <a:xfrm>
            <a:off x="658368" y="2514600"/>
            <a:ext cx="10515600" cy="731520"/>
          </a:xfrm>
          <a:prstGeom prst="rect">
            <a:avLst/>
          </a:prstGeom>
          <a:noFill/>
        </p:spPr>
        <p:txBody>
          <a:bodyPr wrap="square" lIns="18288" rIns="18288" tIns="18288" bIns="18288">
            <a:spAutoFit/>
          </a:bodyPr>
          <a:lstStyle/>
          <a:p>
            <a:pPr>
              <a:lnSpc>
                <a:spcPct val="114000"/>
              </a:lnSpc>
              <a:spcAft>
                <a:spcPts val="800"/>
              </a:spcAft>
              <a:defRPr sz="2300" b="0">
                <a:solidFill>
                  <a:srgbClr val="617681"/>
                </a:solidFill>
                <a:latin typeface="맑은 고딕"/>
              </a:defRPr>
            </a:pPr>
            <a:r>
              <a:t>검사 데이터를 넣으면, 비교 계획과 모델 선택 근거를 보여 주는 Agent</a:t>
            </a:r>
          </a:p>
        </p:txBody>
      </p:sp>
      <p:sp>
        <p:nvSpPr>
          <p:cNvPr id="9" name="TextBox 8"/>
          <p:cNvSpPr txBox="1"/>
          <p:nvPr/>
        </p:nvSpPr>
        <p:spPr>
          <a:xfrm>
            <a:off x="658368" y="3447288"/>
            <a:ext cx="10515600" cy="457200"/>
          </a:xfrm>
          <a:prstGeom prst="rect">
            <a:avLst/>
          </a:prstGeom>
          <a:noFill/>
        </p:spPr>
        <p:txBody>
          <a:bodyPr wrap="square" lIns="18288" rIns="18288" tIns="18288" bIns="18288">
            <a:spAutoFit/>
          </a:bodyPr>
          <a:lstStyle/>
          <a:p>
            <a:pPr>
              <a:lnSpc>
                <a:spcPct val="114000"/>
              </a:lnSpc>
              <a:spcAft>
                <a:spcPts val="800"/>
              </a:spcAft>
              <a:defRPr sz="2000" b="0">
                <a:solidFill>
                  <a:srgbClr val="173A49"/>
                </a:solidFill>
                <a:latin typeface="맑은 고딕"/>
              </a:defRPr>
            </a:pPr>
            <a:r>
              <a:t>SKALA 광주 2반 · G045 김용찬 · 2026.10.22</a:t>
            </a:r>
          </a:p>
        </p:txBody>
      </p:sp>
      <p:sp>
        <p:nvSpPr>
          <p:cNvPr id="10" name="Rounded Rectangle 9"/>
          <p:cNvSpPr/>
          <p:nvPr/>
        </p:nvSpPr>
        <p:spPr>
          <a:xfrm>
            <a:off x="658368" y="4709160"/>
            <a:ext cx="2542032" cy="960120"/>
          </a:xfrm>
          <a:prstGeom prst="roundRect">
            <a:avLst>
              <a:gd name="adj" fmla="val 8000"/>
            </a:avLst>
          </a:prstGeom>
          <a:solidFill>
            <a:srgbClr val="E8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7" y="4818888"/>
            <a:ext cx="457200" cy="292608"/>
          </a:xfrm>
          <a:prstGeom prst="rect">
            <a:avLst/>
          </a:prstGeom>
          <a:noFill/>
        </p:spPr>
        <p:txBody>
          <a:bodyPr wrap="square" lIns="18288" rIns="18288" tIns="18288" bIns="18288">
            <a:spAutoFit/>
          </a:bodyPr>
          <a:lstStyle/>
          <a:p>
            <a:pPr>
              <a:lnSpc>
                <a:spcPct val="114000"/>
              </a:lnSpc>
              <a:spcAft>
                <a:spcPts val="800"/>
              </a:spcAft>
              <a:defRPr sz="1400" b="1">
                <a:solidFill>
                  <a:srgbClr val="147D82"/>
                </a:solidFill>
                <a:latin typeface="맑은 고딕"/>
              </a:defRPr>
            </a:pPr>
            <a:r>
              <a:t>01</a:t>
            </a:r>
          </a:p>
        </p:txBody>
      </p:sp>
      <p:sp>
        <p:nvSpPr>
          <p:cNvPr id="12" name="TextBox 11"/>
          <p:cNvSpPr txBox="1"/>
          <p:nvPr/>
        </p:nvSpPr>
        <p:spPr>
          <a:xfrm>
            <a:off x="841247" y="5193792"/>
            <a:ext cx="2194560" cy="365760"/>
          </a:xfrm>
          <a:prstGeom prst="rect">
            <a:avLst/>
          </a:prstGeom>
          <a:noFill/>
        </p:spPr>
        <p:txBody>
          <a:bodyPr wrap="square" lIns="18288" rIns="18288" tIns="18288" bIns="18288">
            <a:spAutoFit/>
          </a:bodyPr>
          <a:lstStyle/>
          <a:p>
            <a:pPr>
              <a:lnSpc>
                <a:spcPct val="114000"/>
              </a:lnSpc>
              <a:spcAft>
                <a:spcPts val="800"/>
              </a:spcAft>
              <a:defRPr sz="1900" b="1">
                <a:solidFill>
                  <a:srgbClr val="173A49"/>
                </a:solidFill>
                <a:latin typeface="맑은 고딕"/>
              </a:defRPr>
            </a:pPr>
            <a:r>
              <a:t>데이터 점검</a:t>
            </a:r>
          </a:p>
        </p:txBody>
      </p:sp>
      <p:sp>
        <p:nvSpPr>
          <p:cNvPr id="13" name="Rounded Rectangle 12"/>
          <p:cNvSpPr/>
          <p:nvPr/>
        </p:nvSpPr>
        <p:spPr>
          <a:xfrm>
            <a:off x="3474720" y="4709160"/>
            <a:ext cx="2542032" cy="960120"/>
          </a:xfrm>
          <a:prstGeom prst="roundRect">
            <a:avLst>
              <a:gd name="adj" fmla="val 8000"/>
            </a:avLst>
          </a:prstGeom>
          <a:solidFill>
            <a:srgbClr val="E8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0" y="4818888"/>
            <a:ext cx="457200" cy="292608"/>
          </a:xfrm>
          <a:prstGeom prst="rect">
            <a:avLst/>
          </a:prstGeom>
          <a:noFill/>
        </p:spPr>
        <p:txBody>
          <a:bodyPr wrap="square" lIns="18288" rIns="18288" tIns="18288" bIns="18288">
            <a:spAutoFit/>
          </a:bodyPr>
          <a:lstStyle/>
          <a:p>
            <a:pPr>
              <a:lnSpc>
                <a:spcPct val="114000"/>
              </a:lnSpc>
              <a:spcAft>
                <a:spcPts val="800"/>
              </a:spcAft>
              <a:defRPr sz="1400" b="1">
                <a:solidFill>
                  <a:srgbClr val="147D82"/>
                </a:solidFill>
                <a:latin typeface="맑은 고딕"/>
              </a:defRPr>
            </a:pPr>
            <a:r>
              <a:t>02</a:t>
            </a:r>
          </a:p>
        </p:txBody>
      </p:sp>
      <p:sp>
        <p:nvSpPr>
          <p:cNvPr id="15" name="TextBox 14"/>
          <p:cNvSpPr txBox="1"/>
          <p:nvPr/>
        </p:nvSpPr>
        <p:spPr>
          <a:xfrm>
            <a:off x="3657600" y="5193792"/>
            <a:ext cx="2194560" cy="365760"/>
          </a:xfrm>
          <a:prstGeom prst="rect">
            <a:avLst/>
          </a:prstGeom>
          <a:noFill/>
        </p:spPr>
        <p:txBody>
          <a:bodyPr wrap="square" lIns="18288" rIns="18288" tIns="18288" bIns="18288">
            <a:spAutoFit/>
          </a:bodyPr>
          <a:lstStyle/>
          <a:p>
            <a:pPr>
              <a:lnSpc>
                <a:spcPct val="114000"/>
              </a:lnSpc>
              <a:spcAft>
                <a:spcPts val="800"/>
              </a:spcAft>
              <a:defRPr sz="1900" b="1">
                <a:solidFill>
                  <a:srgbClr val="173A49"/>
                </a:solidFill>
                <a:latin typeface="맑은 고딕"/>
              </a:defRPr>
            </a:pPr>
            <a:r>
              <a:t>계획 승인</a:t>
            </a:r>
          </a:p>
        </p:txBody>
      </p:sp>
      <p:sp>
        <p:nvSpPr>
          <p:cNvPr id="16" name="Rounded Rectangle 15"/>
          <p:cNvSpPr/>
          <p:nvPr/>
        </p:nvSpPr>
        <p:spPr>
          <a:xfrm>
            <a:off x="6291072" y="4709160"/>
            <a:ext cx="2542032" cy="960120"/>
          </a:xfrm>
          <a:prstGeom prst="roundRect">
            <a:avLst>
              <a:gd name="adj" fmla="val 8000"/>
            </a:avLst>
          </a:prstGeom>
          <a:solidFill>
            <a:srgbClr val="E8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73952" y="4818888"/>
            <a:ext cx="457200" cy="292608"/>
          </a:xfrm>
          <a:prstGeom prst="rect">
            <a:avLst/>
          </a:prstGeom>
          <a:noFill/>
        </p:spPr>
        <p:txBody>
          <a:bodyPr wrap="square" lIns="18288" rIns="18288" tIns="18288" bIns="18288">
            <a:spAutoFit/>
          </a:bodyPr>
          <a:lstStyle/>
          <a:p>
            <a:pPr>
              <a:lnSpc>
                <a:spcPct val="114000"/>
              </a:lnSpc>
              <a:spcAft>
                <a:spcPts val="800"/>
              </a:spcAft>
              <a:defRPr sz="1400" b="1">
                <a:solidFill>
                  <a:srgbClr val="147D82"/>
                </a:solidFill>
                <a:latin typeface="맑은 고딕"/>
              </a:defRPr>
            </a:pPr>
            <a:r>
              <a:t>03</a:t>
            </a:r>
          </a:p>
        </p:txBody>
      </p:sp>
      <p:sp>
        <p:nvSpPr>
          <p:cNvPr id="18" name="TextBox 17"/>
          <p:cNvSpPr txBox="1"/>
          <p:nvPr/>
        </p:nvSpPr>
        <p:spPr>
          <a:xfrm>
            <a:off x="6473952" y="5193792"/>
            <a:ext cx="2194560" cy="365760"/>
          </a:xfrm>
          <a:prstGeom prst="rect">
            <a:avLst/>
          </a:prstGeom>
          <a:noFill/>
        </p:spPr>
        <p:txBody>
          <a:bodyPr wrap="square" lIns="18288" rIns="18288" tIns="18288" bIns="18288">
            <a:spAutoFit/>
          </a:bodyPr>
          <a:lstStyle/>
          <a:p>
            <a:pPr>
              <a:lnSpc>
                <a:spcPct val="114000"/>
              </a:lnSpc>
              <a:spcAft>
                <a:spcPts val="800"/>
              </a:spcAft>
              <a:defRPr sz="1900" b="1">
                <a:solidFill>
                  <a:srgbClr val="173A49"/>
                </a:solidFill>
                <a:latin typeface="맑은 고딕"/>
              </a:defRPr>
            </a:pPr>
            <a:r>
              <a:t>실제 비교</a:t>
            </a:r>
          </a:p>
        </p:txBody>
      </p:sp>
      <p:sp>
        <p:nvSpPr>
          <p:cNvPr id="19" name="Rounded Rectangle 18"/>
          <p:cNvSpPr/>
          <p:nvPr/>
        </p:nvSpPr>
        <p:spPr>
          <a:xfrm>
            <a:off x="9107424" y="4709160"/>
            <a:ext cx="2542032" cy="960120"/>
          </a:xfrm>
          <a:prstGeom prst="roundRect">
            <a:avLst>
              <a:gd name="adj" fmla="val 8000"/>
            </a:avLst>
          </a:prstGeom>
          <a:solidFill>
            <a:srgbClr val="E8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90304" y="4818888"/>
            <a:ext cx="457200" cy="292608"/>
          </a:xfrm>
          <a:prstGeom prst="rect">
            <a:avLst/>
          </a:prstGeom>
          <a:noFill/>
        </p:spPr>
        <p:txBody>
          <a:bodyPr wrap="square" lIns="18288" rIns="18288" tIns="18288" bIns="18288">
            <a:spAutoFit/>
          </a:bodyPr>
          <a:lstStyle/>
          <a:p>
            <a:pPr>
              <a:lnSpc>
                <a:spcPct val="114000"/>
              </a:lnSpc>
              <a:spcAft>
                <a:spcPts val="800"/>
              </a:spcAft>
              <a:defRPr sz="1400" b="1">
                <a:solidFill>
                  <a:srgbClr val="147D82"/>
                </a:solidFill>
                <a:latin typeface="맑은 고딕"/>
              </a:defRPr>
            </a:pPr>
            <a:r>
              <a:t>04</a:t>
            </a:r>
          </a:p>
        </p:txBody>
      </p:sp>
      <p:sp>
        <p:nvSpPr>
          <p:cNvPr id="21" name="TextBox 20"/>
          <p:cNvSpPr txBox="1"/>
          <p:nvPr/>
        </p:nvSpPr>
        <p:spPr>
          <a:xfrm>
            <a:off x="9290304" y="5193792"/>
            <a:ext cx="2194560" cy="365760"/>
          </a:xfrm>
          <a:prstGeom prst="rect">
            <a:avLst/>
          </a:prstGeom>
          <a:noFill/>
        </p:spPr>
        <p:txBody>
          <a:bodyPr wrap="square" lIns="18288" rIns="18288" tIns="18288" bIns="18288">
            <a:spAutoFit/>
          </a:bodyPr>
          <a:lstStyle/>
          <a:p>
            <a:pPr>
              <a:lnSpc>
                <a:spcPct val="114000"/>
              </a:lnSpc>
              <a:spcAft>
                <a:spcPts val="800"/>
              </a:spcAft>
              <a:defRPr sz="1900" b="1">
                <a:solidFill>
                  <a:srgbClr val="173A49"/>
                </a:solidFill>
                <a:latin typeface="맑은 고딕"/>
              </a:defRPr>
            </a:pPr>
            <a:r>
              <a:t>선택 근거</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02 · 사용자와 해결할 문제</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반복하던 모델 비교와 기록을 한 흐름으로</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02 / 16</a:t>
            </a:r>
          </a:p>
        </p:txBody>
      </p:sp>
      <p:sp>
        <p:nvSpPr>
          <p:cNvPr id="8" name="Rectangle 7"/>
          <p:cNvSpPr/>
          <p:nvPr/>
        </p:nvSpPr>
        <p:spPr>
          <a:xfrm>
            <a:off x="640080" y="197510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975104"/>
            <a:ext cx="10607040" cy="640080"/>
          </a:xfrm>
          <a:prstGeom prst="rect">
            <a:avLst/>
          </a:prstGeom>
          <a:noFill/>
        </p:spPr>
        <p:txBody>
          <a:bodyPr wrap="square" lIns="18288" rIns="18288" tIns="18288" bIns="18288">
            <a:spAutoFit/>
          </a:bodyPr>
          <a:lstStyle/>
          <a:p>
            <a:pPr>
              <a:lnSpc>
                <a:spcPct val="114000"/>
              </a:lnSpc>
              <a:spcAft>
                <a:spcPts val="800"/>
              </a:spcAft>
              <a:defRPr sz="2100" b="0">
                <a:solidFill>
                  <a:srgbClr val="173A49"/>
                </a:solidFill>
                <a:latin typeface="맑은 고딕"/>
              </a:defRPr>
            </a:pPr>
            <a:r>
              <a:t>사용자: 새 검사 데이터로 정상·불량 분류 모델을 만드는 엔지니어</a:t>
            </a:r>
          </a:p>
        </p:txBody>
      </p:sp>
      <p:sp>
        <p:nvSpPr>
          <p:cNvPr id="10" name="Rectangle 9"/>
          <p:cNvSpPr/>
          <p:nvPr/>
        </p:nvSpPr>
        <p:spPr>
          <a:xfrm>
            <a:off x="640080" y="275234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752344"/>
            <a:ext cx="10607040" cy="640080"/>
          </a:xfrm>
          <a:prstGeom prst="rect">
            <a:avLst/>
          </a:prstGeom>
          <a:noFill/>
        </p:spPr>
        <p:txBody>
          <a:bodyPr wrap="square" lIns="18288" rIns="18288" tIns="18288" bIns="18288">
            <a:spAutoFit/>
          </a:bodyPr>
          <a:lstStyle/>
          <a:p>
            <a:pPr>
              <a:lnSpc>
                <a:spcPct val="114000"/>
              </a:lnSpc>
              <a:spcAft>
                <a:spcPts val="800"/>
              </a:spcAft>
              <a:defRPr sz="2100" b="0">
                <a:solidFill>
                  <a:srgbClr val="173A49"/>
                </a:solidFill>
                <a:latin typeface="맑은 고딕"/>
              </a:defRPr>
            </a:pPr>
            <a:r>
              <a:t>반복 업무: 데이터 확인 → 전처리 선택 → 여러 모델 학습 → 비교·기록</a:t>
            </a:r>
          </a:p>
        </p:txBody>
      </p:sp>
      <p:sp>
        <p:nvSpPr>
          <p:cNvPr id="12" name="Rectangle 11"/>
          <p:cNvSpPr/>
          <p:nvPr/>
        </p:nvSpPr>
        <p:spPr>
          <a:xfrm>
            <a:off x="640080" y="352958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529584"/>
            <a:ext cx="10607040" cy="640080"/>
          </a:xfrm>
          <a:prstGeom prst="rect">
            <a:avLst/>
          </a:prstGeom>
          <a:noFill/>
        </p:spPr>
        <p:txBody>
          <a:bodyPr wrap="square" lIns="18288" rIns="18288" tIns="18288" bIns="18288">
            <a:spAutoFit/>
          </a:bodyPr>
          <a:lstStyle/>
          <a:p>
            <a:pPr>
              <a:lnSpc>
                <a:spcPct val="114000"/>
              </a:lnSpc>
              <a:spcAft>
                <a:spcPts val="800"/>
              </a:spcAft>
              <a:defRPr sz="2100" b="0">
                <a:solidFill>
                  <a:srgbClr val="173A49"/>
                </a:solidFill>
                <a:latin typeface="맑은 고딕"/>
              </a:defRPr>
            </a:pPr>
            <a:r>
              <a:t>구현: Agent가 근거와 계획을 제시하고, 엔지니어가 승인하면 실행</a:t>
            </a:r>
          </a:p>
        </p:txBody>
      </p:sp>
      <p:sp>
        <p:nvSpPr>
          <p:cNvPr id="14" name="Rectangle 13"/>
          <p:cNvSpPr/>
          <p:nvPr/>
        </p:nvSpPr>
        <p:spPr>
          <a:xfrm>
            <a:off x="640080" y="430682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306824"/>
            <a:ext cx="10607040" cy="640080"/>
          </a:xfrm>
          <a:prstGeom prst="rect">
            <a:avLst/>
          </a:prstGeom>
          <a:noFill/>
        </p:spPr>
        <p:txBody>
          <a:bodyPr wrap="square" lIns="18288" rIns="18288" tIns="18288" bIns="18288">
            <a:spAutoFit/>
          </a:bodyPr>
          <a:lstStyle/>
          <a:p>
            <a:pPr>
              <a:lnSpc>
                <a:spcPct val="114000"/>
              </a:lnSpc>
              <a:spcAft>
                <a:spcPts val="800"/>
              </a:spcAft>
              <a:defRPr sz="2100" b="0">
                <a:solidFill>
                  <a:srgbClr val="173A49"/>
                </a:solidFill>
                <a:latin typeface="맑은 고딕"/>
              </a:defRPr>
            </a:pPr>
            <a:r>
              <a:t>오늘은 숫자 센서 사례 하나로 입력부터 결과까지 보여 드립니다.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03 · 결과를 읽기 위한 두 가지 지표</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비교 전에, 좋은 모델의 기준부터 정합니다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03 / 16</a:t>
            </a:r>
          </a:p>
        </p:txBody>
      </p:sp>
      <p:sp>
        <p:nvSpPr>
          <p:cNvPr id="8" name="Rounded Rectangle 7"/>
          <p:cNvSpPr/>
          <p:nvPr/>
        </p:nvSpPr>
        <p:spPr>
          <a:xfrm>
            <a:off x="658368" y="1965960"/>
            <a:ext cx="5321808" cy="1307592"/>
          </a:xfrm>
          <a:prstGeom prst="roundRect">
            <a:avLst>
              <a:gd name="adj" fmla="val 8000"/>
            </a:avLst>
          </a:prstGeom>
          <a:solidFill>
            <a:srgbClr val="E8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2139696"/>
            <a:ext cx="4892040" cy="411480"/>
          </a:xfrm>
          <a:prstGeom prst="rect">
            <a:avLst/>
          </a:prstGeom>
          <a:noFill/>
        </p:spPr>
        <p:txBody>
          <a:bodyPr wrap="square" lIns="18288" rIns="18288" tIns="18288" bIns="18288">
            <a:spAutoFit/>
          </a:bodyPr>
          <a:lstStyle/>
          <a:p>
            <a:pPr>
              <a:lnSpc>
                <a:spcPct val="114000"/>
              </a:lnSpc>
              <a:spcAft>
                <a:spcPts val="800"/>
              </a:spcAft>
              <a:defRPr sz="2500" b="1">
                <a:solidFill>
                  <a:srgbClr val="147D82"/>
                </a:solidFill>
                <a:latin typeface="맑은 고딕"/>
              </a:defRPr>
            </a:pPr>
            <a:r>
              <a:t>불량 검출률 · Recall</a:t>
            </a:r>
          </a:p>
        </p:txBody>
      </p:sp>
      <p:sp>
        <p:nvSpPr>
          <p:cNvPr id="10" name="TextBox 9"/>
          <p:cNvSpPr txBox="1"/>
          <p:nvPr/>
        </p:nvSpPr>
        <p:spPr>
          <a:xfrm>
            <a:off x="859536" y="2715768"/>
            <a:ext cx="4892040" cy="36576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불량 100개 중 몇 개를 찾았나요?</a:t>
            </a:r>
          </a:p>
        </p:txBody>
      </p:sp>
      <p:sp>
        <p:nvSpPr>
          <p:cNvPr id="11" name="Rounded Rectangle 10"/>
          <p:cNvSpPr/>
          <p:nvPr/>
        </p:nvSpPr>
        <p:spPr>
          <a:xfrm>
            <a:off x="6217920" y="1965960"/>
            <a:ext cx="5321808" cy="1307592"/>
          </a:xfrm>
          <a:prstGeom prst="roundRect">
            <a:avLst>
              <a:gd name="adj" fmla="val 8000"/>
            </a:avLst>
          </a:prstGeom>
          <a:solidFill>
            <a:srgbClr val="FFF0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9088" y="2139696"/>
            <a:ext cx="4892040" cy="411480"/>
          </a:xfrm>
          <a:prstGeom prst="rect">
            <a:avLst/>
          </a:prstGeom>
          <a:noFill/>
        </p:spPr>
        <p:txBody>
          <a:bodyPr wrap="square" lIns="18288" rIns="18288" tIns="18288" bIns="18288">
            <a:spAutoFit/>
          </a:bodyPr>
          <a:lstStyle/>
          <a:p>
            <a:pPr>
              <a:lnSpc>
                <a:spcPct val="114000"/>
              </a:lnSpc>
              <a:spcAft>
                <a:spcPts val="800"/>
              </a:spcAft>
              <a:defRPr sz="2500" b="1">
                <a:solidFill>
                  <a:srgbClr val="173A49"/>
                </a:solidFill>
                <a:latin typeface="맑은 고딕"/>
              </a:defRPr>
            </a:pPr>
            <a:r>
              <a:t>정상 오판률</a:t>
            </a:r>
          </a:p>
        </p:txBody>
      </p:sp>
      <p:sp>
        <p:nvSpPr>
          <p:cNvPr id="13" name="TextBox 12"/>
          <p:cNvSpPr txBox="1"/>
          <p:nvPr/>
        </p:nvSpPr>
        <p:spPr>
          <a:xfrm>
            <a:off x="6419088" y="2715768"/>
            <a:ext cx="4892040" cy="36576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정상 100개 중 몇 개를 잘못 잡았나요?</a:t>
            </a:r>
          </a:p>
        </p:txBody>
      </p:sp>
      <p:sp>
        <p:nvSpPr>
          <p:cNvPr id="14" name="TextBox 13"/>
          <p:cNvSpPr txBox="1"/>
          <p:nvPr/>
        </p:nvSpPr>
        <p:spPr>
          <a:xfrm>
            <a:off x="731520" y="3648456"/>
            <a:ext cx="10698480" cy="502920"/>
          </a:xfrm>
          <a:prstGeom prst="rect">
            <a:avLst/>
          </a:prstGeom>
          <a:noFill/>
        </p:spPr>
        <p:txBody>
          <a:bodyPr wrap="square" lIns="18288" rIns="18288" tIns="18288" bIns="18288">
            <a:spAutoFit/>
          </a:bodyPr>
          <a:lstStyle/>
          <a:p>
            <a:pPr>
              <a:lnSpc>
                <a:spcPct val="114000"/>
              </a:lnSpc>
              <a:spcAft>
                <a:spcPts val="800"/>
              </a:spcAft>
              <a:defRPr sz="2300" b="1">
                <a:solidFill>
                  <a:srgbClr val="173A49"/>
                </a:solidFill>
                <a:latin typeface="맑은 고딕"/>
              </a:defRPr>
            </a:pPr>
            <a:r>
              <a:t>시연 목표: 불량 검출률 90% 이상 · 정상 오판률 15% 이하</a:t>
            </a:r>
          </a:p>
        </p:txBody>
      </p:sp>
      <p:sp>
        <p:nvSpPr>
          <p:cNvPr id="15" name="TextBox 14"/>
          <p:cNvSpPr txBox="1"/>
          <p:nvPr/>
        </p:nvSpPr>
        <p:spPr>
          <a:xfrm>
            <a:off x="731520" y="4471416"/>
            <a:ext cx="10698480" cy="594360"/>
          </a:xfrm>
          <a:prstGeom prst="rect">
            <a:avLst/>
          </a:prstGeom>
          <a:noFill/>
        </p:spPr>
        <p:txBody>
          <a:bodyPr wrap="square" lIns="18288" rIns="18288" tIns="18288" bIns="18288">
            <a:spAutoFit/>
          </a:bodyPr>
          <a:lstStyle/>
          <a:p>
            <a:pPr>
              <a:lnSpc>
                <a:spcPct val="114000"/>
              </a:lnSpc>
              <a:spcAft>
                <a:spcPts val="800"/>
              </a:spcAft>
              <a:defRPr sz="2200" b="1">
                <a:solidFill>
                  <a:srgbClr val="147D82"/>
                </a:solidFill>
                <a:latin typeface="맑은 고딕"/>
              </a:defRPr>
            </a:pPr>
            <a:r>
              <a:t>두 목표 충족 → 검출률 우선 → 동률이면 정상 오판이 적은 후보</a:t>
            </a:r>
          </a:p>
        </p:txBody>
      </p:sp>
      <p:sp>
        <p:nvSpPr>
          <p:cNvPr id="16" name="TextBox 15"/>
          <p:cNvSpPr txBox="1"/>
          <p:nvPr/>
        </p:nvSpPr>
        <p:spPr>
          <a:xfrm>
            <a:off x="731520" y="5596128"/>
            <a:ext cx="10698480" cy="411480"/>
          </a:xfrm>
          <a:prstGeom prst="rect">
            <a:avLst/>
          </a:prstGeom>
          <a:noFill/>
        </p:spPr>
        <p:txBody>
          <a:bodyPr wrap="square" lIns="18288" rIns="18288" tIns="18288" bIns="18288">
            <a:spAutoFit/>
          </a:bodyPr>
          <a:lstStyle/>
          <a:p>
            <a:pPr>
              <a:lnSpc>
                <a:spcPct val="114000"/>
              </a:lnSpc>
              <a:spcAft>
                <a:spcPts val="800"/>
              </a:spcAft>
              <a:defRPr sz="1700" b="0">
                <a:solidFill>
                  <a:srgbClr val="617681"/>
                </a:solidFill>
                <a:latin typeface="맑은 고딕"/>
              </a:defRPr>
            </a:pPr>
            <a:r>
              <a:t>90%·15%는 교육용 목표입니다. 실제 허용 범위는 현장 담당자와 정합니다.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04 · 실제 화면 | 이번 시연의 입력</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① 검사 데이터를 선택합니다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04 / 16</a:t>
            </a:r>
          </a:p>
        </p:txBody>
      </p:sp>
      <p:sp>
        <p:nvSpPr>
          <p:cNvPr id="8" name="TextBox 7"/>
          <p:cNvSpPr txBox="1"/>
          <p:nvPr/>
        </p:nvSpPr>
        <p:spPr>
          <a:xfrm>
            <a:off x="658368" y="2057400"/>
            <a:ext cx="4526280" cy="804672"/>
          </a:xfrm>
          <a:prstGeom prst="rect">
            <a:avLst/>
          </a:prstGeom>
          <a:noFill/>
        </p:spPr>
        <p:txBody>
          <a:bodyPr wrap="square" lIns="18288" rIns="18288" tIns="18288" bIns="18288">
            <a:spAutoFit/>
          </a:bodyPr>
          <a:lstStyle/>
          <a:p>
            <a:pPr>
              <a:lnSpc>
                <a:spcPct val="114000"/>
              </a:lnSpc>
              <a:spcAft>
                <a:spcPts val="800"/>
              </a:spcAft>
              <a:defRPr sz="2200" b="1">
                <a:solidFill>
                  <a:srgbClr val="173A49"/>
                </a:solidFill>
                <a:latin typeface="맑은 고딕"/>
              </a:defRPr>
            </a:pPr>
            <a:r>
              <a:t>합성 센서 1,280건 · 불량 201건 · 제품 A–D는 가상 이름</a:t>
            </a:r>
          </a:p>
        </p:txBody>
      </p:sp>
      <p:sp>
        <p:nvSpPr>
          <p:cNvPr id="9" name="TextBox 8"/>
          <p:cNvSpPr txBox="1"/>
          <p:nvPr/>
        </p:nvSpPr>
        <p:spPr>
          <a:xfrm>
            <a:off x="658368" y="2935224"/>
            <a:ext cx="4526280" cy="804672"/>
          </a:xfrm>
          <a:prstGeom prst="rect">
            <a:avLst/>
          </a:prstGeom>
          <a:noFill/>
        </p:spPr>
        <p:txBody>
          <a:bodyPr wrap="square" lIns="18288" rIns="18288" tIns="18288" bIns="18288">
            <a:spAutoFit/>
          </a:bodyPr>
          <a:lstStyle/>
          <a:p>
            <a:pPr>
              <a:lnSpc>
                <a:spcPct val="114000"/>
              </a:lnSpc>
              <a:spcAft>
                <a:spcPts val="800"/>
              </a:spcAft>
              <a:defRPr sz="1900" b="0">
                <a:solidFill>
                  <a:srgbClr val="617681"/>
                </a:solidFill>
                <a:latin typeface="맑은 고딕"/>
              </a:defRPr>
            </a:pPr>
            <a:r>
              <a:t>센서 CSV와 검사 이미지 ZIP 등록도 지원합니다.</a:t>
            </a:r>
          </a:p>
        </p:txBody>
      </p:sp>
      <p:sp>
        <p:nvSpPr>
          <p:cNvPr id="10" name="TextBox 9"/>
          <p:cNvSpPr txBox="1"/>
          <p:nvPr/>
        </p:nvSpPr>
        <p:spPr>
          <a:xfrm>
            <a:off x="658368" y="3813048"/>
            <a:ext cx="4526280" cy="804672"/>
          </a:xfrm>
          <a:prstGeom prst="rect">
            <a:avLst/>
          </a:prstGeom>
          <a:noFill/>
        </p:spPr>
        <p:txBody>
          <a:bodyPr wrap="square" lIns="18288" rIns="18288" tIns="18288" bIns="18288">
            <a:spAutoFit/>
          </a:bodyPr>
          <a:lstStyle/>
          <a:p>
            <a:pPr>
              <a:lnSpc>
                <a:spcPct val="114000"/>
              </a:lnSpc>
              <a:spcAft>
                <a:spcPts val="800"/>
              </a:spcAft>
              <a:defRPr sz="1900" b="0">
                <a:solidFill>
                  <a:srgbClr val="617681"/>
                </a:solidFill>
                <a:latin typeface="맑은 고딕"/>
              </a:defRPr>
            </a:pPr>
            <a:r>
              <a:t>오늘은 센서 예제의 입력부터 결과까지 설명합니다.</a:t>
            </a:r>
          </a:p>
        </p:txBody>
      </p:sp>
      <p:sp>
        <p:nvSpPr>
          <p:cNvPr id="11" name="Rounded Rectangle 10"/>
          <p:cNvSpPr/>
          <p:nvPr/>
        </p:nvSpPr>
        <p:spPr>
          <a:xfrm>
            <a:off x="5413248" y="1801367"/>
            <a:ext cx="5998464" cy="4306824"/>
          </a:xfrm>
          <a:prstGeom prst="roundRect">
            <a:avLst>
              <a:gd name="adj" fmla="val 8000"/>
            </a:avLst>
          </a:prstGeom>
          <a:solidFill>
            <a:srgbClr val="FFFFFF"/>
          </a:solidFill>
          <a:ln>
            <a:solidFill>
              <a:srgbClr val="D8E3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pp-data.jpg"/>
          <p:cNvPicPr>
            <a:picLocks noChangeAspect="1"/>
          </p:cNvPicPr>
          <p:nvPr/>
        </p:nvPicPr>
        <p:blipFill>
          <a:blip r:embed="rId3"/>
          <a:stretch>
            <a:fillRect/>
          </a:stretch>
        </p:blipFill>
        <p:spPr>
          <a:xfrm>
            <a:off x="5486400" y="1885029"/>
            <a:ext cx="5852160" cy="4139501"/>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05 · 실제 화면 | 승인 전에는 학습하지 않습니다</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② 점검 결과와 비교 계획을 확인하고 승인합니다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05 / 16</a:t>
            </a:r>
          </a:p>
        </p:txBody>
      </p:sp>
      <p:sp>
        <p:nvSpPr>
          <p:cNvPr id="8" name="TextBox 7"/>
          <p:cNvSpPr txBox="1"/>
          <p:nvPr/>
        </p:nvSpPr>
        <p:spPr>
          <a:xfrm>
            <a:off x="658368" y="2057400"/>
            <a:ext cx="4526280" cy="804672"/>
          </a:xfrm>
          <a:prstGeom prst="rect">
            <a:avLst/>
          </a:prstGeom>
          <a:noFill/>
        </p:spPr>
        <p:txBody>
          <a:bodyPr wrap="square" lIns="18288" rIns="18288" tIns="18288" bIns="18288">
            <a:spAutoFit/>
          </a:bodyPr>
          <a:lstStyle/>
          <a:p>
            <a:pPr>
              <a:lnSpc>
                <a:spcPct val="114000"/>
              </a:lnSpc>
              <a:spcAft>
                <a:spcPts val="800"/>
              </a:spcAft>
              <a:defRPr sz="2200" b="1">
                <a:solidFill>
                  <a:srgbClr val="173A49"/>
                </a:solidFill>
                <a:latin typeface="맑은 고딕"/>
              </a:defRPr>
            </a:pPr>
            <a:r>
              <a:t>결측·불균형 점검과</a:t>
            </a:r>
          </a:p>
          <a:p>
            <a:pPr>
              <a:lnSpc>
                <a:spcPct val="114000"/>
              </a:lnSpc>
              <a:spcAft>
                <a:spcPts val="800"/>
              </a:spcAft>
              <a:defRPr sz="2200" b="1">
                <a:solidFill>
                  <a:srgbClr val="173A49"/>
                </a:solidFill>
                <a:latin typeface="맑은 고딕"/>
              </a:defRPr>
            </a:pPr>
            <a:r>
              <a:t>전처리 이유 확인</a:t>
            </a:r>
          </a:p>
        </p:txBody>
      </p:sp>
      <p:sp>
        <p:nvSpPr>
          <p:cNvPr id="9" name="TextBox 8"/>
          <p:cNvSpPr txBox="1"/>
          <p:nvPr/>
        </p:nvSpPr>
        <p:spPr>
          <a:xfrm>
            <a:off x="658368" y="2935224"/>
            <a:ext cx="4526280" cy="804672"/>
          </a:xfrm>
          <a:prstGeom prst="rect">
            <a:avLst/>
          </a:prstGeom>
          <a:noFill/>
        </p:spPr>
        <p:txBody>
          <a:bodyPr wrap="square" lIns="18288" rIns="18288" tIns="18288" bIns="18288">
            <a:spAutoFit/>
          </a:bodyPr>
          <a:lstStyle/>
          <a:p>
            <a:pPr>
              <a:lnSpc>
                <a:spcPct val="114000"/>
              </a:lnSpc>
              <a:spcAft>
                <a:spcPts val="800"/>
              </a:spcAft>
              <a:defRPr sz="1900" b="0">
                <a:solidFill>
                  <a:srgbClr val="617681"/>
                </a:solidFill>
                <a:latin typeface="맑은 고딕"/>
              </a:defRPr>
            </a:pPr>
            <a:r>
              <a:t>학습 60% / 후보 선택 20% / 마지막 확인 20% · 같은 lot은 분리</a:t>
            </a:r>
          </a:p>
        </p:txBody>
      </p:sp>
      <p:sp>
        <p:nvSpPr>
          <p:cNvPr id="10" name="TextBox 9"/>
          <p:cNvSpPr txBox="1"/>
          <p:nvPr/>
        </p:nvSpPr>
        <p:spPr>
          <a:xfrm>
            <a:off x="658368" y="3813048"/>
            <a:ext cx="4526280" cy="804672"/>
          </a:xfrm>
          <a:prstGeom prst="rect">
            <a:avLst/>
          </a:prstGeom>
          <a:noFill/>
        </p:spPr>
        <p:txBody>
          <a:bodyPr wrap="square" lIns="18288" rIns="18288" tIns="18288" bIns="18288">
            <a:spAutoFit/>
          </a:bodyPr>
          <a:lstStyle/>
          <a:p>
            <a:pPr>
              <a:lnSpc>
                <a:spcPct val="114000"/>
              </a:lnSpc>
              <a:spcAft>
                <a:spcPts val="800"/>
              </a:spcAft>
              <a:defRPr sz="1900" b="0">
                <a:solidFill>
                  <a:srgbClr val="617681"/>
                </a:solidFill>
                <a:latin typeface="맑은 고딕"/>
              </a:defRPr>
            </a:pPr>
            <a:r>
              <a:t>여러 모델·불균형 설정·제품 조합을 최대 52조건 비교</a:t>
            </a:r>
          </a:p>
        </p:txBody>
      </p:sp>
      <p:sp>
        <p:nvSpPr>
          <p:cNvPr id="11" name="TextBox 10"/>
          <p:cNvSpPr txBox="1"/>
          <p:nvPr/>
        </p:nvSpPr>
        <p:spPr>
          <a:xfrm>
            <a:off x="658368" y="4690872"/>
            <a:ext cx="4526280" cy="804672"/>
          </a:xfrm>
          <a:prstGeom prst="rect">
            <a:avLst/>
          </a:prstGeom>
          <a:noFill/>
        </p:spPr>
        <p:txBody>
          <a:bodyPr wrap="square" lIns="18288" rIns="18288" tIns="18288" bIns="18288">
            <a:spAutoFit/>
          </a:bodyPr>
          <a:lstStyle/>
          <a:p>
            <a:pPr>
              <a:lnSpc>
                <a:spcPct val="114000"/>
              </a:lnSpc>
              <a:spcAft>
                <a:spcPts val="800"/>
              </a:spcAft>
              <a:defRPr sz="1900" b="0">
                <a:solidFill>
                  <a:srgbClr val="617681"/>
                </a:solidFill>
                <a:latin typeface="맑은 고딕"/>
              </a:defRPr>
            </a:pPr>
            <a:r>
              <a:t>엔지니어의 승인 후 실제 학습 시작</a:t>
            </a:r>
          </a:p>
        </p:txBody>
      </p:sp>
      <p:sp>
        <p:nvSpPr>
          <p:cNvPr id="12" name="Rounded Rectangle 11"/>
          <p:cNvSpPr/>
          <p:nvPr/>
        </p:nvSpPr>
        <p:spPr>
          <a:xfrm>
            <a:off x="5413248" y="1801367"/>
            <a:ext cx="5998464" cy="4306824"/>
          </a:xfrm>
          <a:prstGeom prst="roundRect">
            <a:avLst>
              <a:gd name="adj" fmla="val 8000"/>
            </a:avLst>
          </a:prstGeom>
          <a:solidFill>
            <a:srgbClr val="FFFFFF"/>
          </a:solidFill>
          <a:ln>
            <a:solidFill>
              <a:srgbClr val="D8E3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app-plan.jpg"/>
          <p:cNvPicPr>
            <a:picLocks noChangeAspect="1"/>
          </p:cNvPicPr>
          <p:nvPr/>
        </p:nvPicPr>
        <p:blipFill>
          <a:blip r:embed="rId3"/>
          <a:stretch>
            <a:fillRect/>
          </a:stretch>
        </p:blipFill>
        <p:spPr>
          <a:xfrm>
            <a:off x="6339588" y="1874519"/>
            <a:ext cx="4145783" cy="416052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06 · 실제 화면 | Validation = 후보 선택용 데이터</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③ 후보 선택용 데이터로 모델을 비교합니다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06 / 16</a:t>
            </a:r>
          </a:p>
        </p:txBody>
      </p:sp>
      <p:sp>
        <p:nvSpPr>
          <p:cNvPr id="8" name="Rounded Rectangle 7"/>
          <p:cNvSpPr/>
          <p:nvPr/>
        </p:nvSpPr>
        <p:spPr>
          <a:xfrm>
            <a:off x="640080" y="1892807"/>
            <a:ext cx="7479792" cy="3986784"/>
          </a:xfrm>
          <a:prstGeom prst="roundRect">
            <a:avLst>
              <a:gd name="adj" fmla="val 8000"/>
            </a:avLst>
          </a:prstGeom>
          <a:solidFill>
            <a:srgbClr val="FFFFFF"/>
          </a:solidFill>
          <a:ln>
            <a:solidFill>
              <a:srgbClr val="D8E3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app-validation-proof.jpg"/>
          <p:cNvPicPr>
            <a:picLocks noChangeAspect="1"/>
          </p:cNvPicPr>
          <p:nvPr/>
        </p:nvPicPr>
        <p:blipFill>
          <a:blip r:embed="rId3"/>
          <a:stretch>
            <a:fillRect/>
          </a:stretch>
        </p:blipFill>
        <p:spPr>
          <a:xfrm>
            <a:off x="713232" y="2480737"/>
            <a:ext cx="7333488" cy="2810924"/>
          </a:xfrm>
          <a:prstGeom prst="rect">
            <a:avLst/>
          </a:prstGeom>
        </p:spPr>
      </p:pic>
      <p:sp>
        <p:nvSpPr>
          <p:cNvPr id="10" name="TextBox 9"/>
          <p:cNvSpPr txBox="1"/>
          <p:nvPr/>
        </p:nvSpPr>
        <p:spPr>
          <a:xfrm>
            <a:off x="8366760" y="2148840"/>
            <a:ext cx="3127248" cy="777240"/>
          </a:xfrm>
          <a:prstGeom prst="rect">
            <a:avLst/>
          </a:prstGeom>
          <a:noFill/>
        </p:spPr>
        <p:txBody>
          <a:bodyPr wrap="square" lIns="18288" rIns="18288" tIns="18288" bIns="18288">
            <a:spAutoFit/>
          </a:bodyPr>
          <a:lstStyle/>
          <a:p>
            <a:pPr>
              <a:lnSpc>
                <a:spcPct val="114000"/>
              </a:lnSpc>
              <a:spcAft>
                <a:spcPts val="800"/>
              </a:spcAft>
              <a:defRPr sz="1800" b="0">
                <a:solidFill>
                  <a:srgbClr val="173A49"/>
                </a:solidFill>
                <a:latin typeface="맑은 고딕"/>
              </a:defRPr>
            </a:pPr>
            <a:r>
              <a:t>같은 조건에서 후보 비교</a:t>
            </a:r>
          </a:p>
        </p:txBody>
      </p:sp>
      <p:sp>
        <p:nvSpPr>
          <p:cNvPr id="11" name="TextBox 10"/>
          <p:cNvSpPr txBox="1"/>
          <p:nvPr/>
        </p:nvSpPr>
        <p:spPr>
          <a:xfrm>
            <a:off x="8366760" y="3099816"/>
            <a:ext cx="3127248" cy="777240"/>
          </a:xfrm>
          <a:prstGeom prst="rect">
            <a:avLst/>
          </a:prstGeom>
          <a:noFill/>
        </p:spPr>
        <p:txBody>
          <a:bodyPr wrap="square" lIns="18288" rIns="18288" tIns="18288" bIns="18288">
            <a:spAutoFit/>
          </a:bodyPr>
          <a:lstStyle/>
          <a:p>
            <a:pPr>
              <a:lnSpc>
                <a:spcPct val="114000"/>
              </a:lnSpc>
              <a:spcAft>
                <a:spcPts val="800"/>
              </a:spcAft>
              <a:defRPr sz="1800" b="0">
                <a:solidFill>
                  <a:srgbClr val="173A49"/>
                </a:solidFill>
                <a:latin typeface="맑은 고딕"/>
              </a:defRPr>
            </a:pPr>
            <a:r>
              <a:t>검출률·정상 오판 동시 확인</a:t>
            </a:r>
          </a:p>
        </p:txBody>
      </p:sp>
      <p:sp>
        <p:nvSpPr>
          <p:cNvPr id="12" name="TextBox 11"/>
          <p:cNvSpPr txBox="1"/>
          <p:nvPr/>
        </p:nvSpPr>
        <p:spPr>
          <a:xfrm>
            <a:off x="8366760" y="4050791"/>
            <a:ext cx="3127248" cy="777240"/>
          </a:xfrm>
          <a:prstGeom prst="rect">
            <a:avLst/>
          </a:prstGeom>
          <a:noFill/>
        </p:spPr>
        <p:txBody>
          <a:bodyPr wrap="square" lIns="18288" rIns="18288" tIns="18288" bIns="18288">
            <a:spAutoFit/>
          </a:bodyPr>
          <a:lstStyle/>
          <a:p>
            <a:pPr>
              <a:lnSpc>
                <a:spcPct val="114000"/>
              </a:lnSpc>
              <a:spcAft>
                <a:spcPts val="800"/>
              </a:spcAft>
              <a:defRPr sz="2100" b="1">
                <a:solidFill>
                  <a:srgbClr val="147D82"/>
                </a:solidFill>
                <a:latin typeface="맑은 고딕"/>
              </a:defRPr>
            </a:pPr>
            <a:r>
              <a:t>선택: CatBoost · A+B+C</a:t>
            </a:r>
          </a:p>
        </p:txBody>
      </p:sp>
      <p:sp>
        <p:nvSpPr>
          <p:cNvPr id="13" name="TextBox 12"/>
          <p:cNvSpPr txBox="1"/>
          <p:nvPr/>
        </p:nvSpPr>
        <p:spPr>
          <a:xfrm>
            <a:off x="8366760" y="5001768"/>
            <a:ext cx="3127248" cy="777240"/>
          </a:xfrm>
          <a:prstGeom prst="rect">
            <a:avLst/>
          </a:prstGeom>
          <a:noFill/>
        </p:spPr>
        <p:txBody>
          <a:bodyPr wrap="square" lIns="18288" rIns="18288" tIns="18288" bIns="18288">
            <a:spAutoFit/>
          </a:bodyPr>
          <a:lstStyle/>
          <a:p>
            <a:pPr>
              <a:lnSpc>
                <a:spcPct val="114000"/>
              </a:lnSpc>
              <a:spcAft>
                <a:spcPts val="800"/>
              </a:spcAft>
              <a:defRPr sz="1800" b="0">
                <a:solidFill>
                  <a:srgbClr val="173A49"/>
                </a:solidFill>
                <a:latin typeface="맑은 고딕"/>
              </a:defRPr>
            </a:pPr>
            <a:r>
              <a:t>Test는 마지막 확인에 사용</a:t>
            </a:r>
          </a:p>
        </p:txBody>
      </p:sp>
      <p:sp>
        <p:nvSpPr>
          <p:cNvPr id="14" name="TextBox 13"/>
          <p:cNvSpPr txBox="1"/>
          <p:nvPr/>
        </p:nvSpPr>
        <p:spPr>
          <a:xfrm>
            <a:off x="804672" y="6080760"/>
            <a:ext cx="10789920" cy="201168"/>
          </a:xfrm>
          <a:prstGeom prst="rect">
            <a:avLst/>
          </a:prstGeom>
          <a:noFill/>
        </p:spPr>
        <p:txBody>
          <a:bodyPr wrap="square" lIns="18288" rIns="18288" tIns="18288" bIns="18288">
            <a:spAutoFit/>
          </a:bodyPr>
          <a:lstStyle/>
          <a:p>
            <a:pPr>
              <a:lnSpc>
                <a:spcPct val="114000"/>
              </a:lnSpc>
              <a:spcAft>
                <a:spcPts val="800"/>
              </a:spcAft>
              <a:defRPr sz="1100" b="0">
                <a:solidFill>
                  <a:srgbClr val="617681"/>
                </a:solidFill>
                <a:latin typeface="맑은 고딕"/>
              </a:defRPr>
            </a:pPr>
            <a:r>
              <a:t>실제 앱 비교표의 상단 4행 · 전체표는 부록 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07 · 실제 화면 | 같은 Test 256건: 불량32개 · 정상224개</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④ 마지막 확인: 더 찾았지만, 오판도 늘었습니다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07 / 16</a:t>
            </a:r>
          </a:p>
        </p:txBody>
      </p:sp>
      <p:sp>
        <p:nvSpPr>
          <p:cNvPr id="8" name="TextBox 7"/>
          <p:cNvSpPr txBox="1"/>
          <p:nvPr/>
        </p:nvSpPr>
        <p:spPr>
          <a:xfrm>
            <a:off x="713232" y="2103120"/>
            <a:ext cx="3886200" cy="795528"/>
          </a:xfrm>
          <a:prstGeom prst="rect">
            <a:avLst/>
          </a:prstGeom>
          <a:noFill/>
        </p:spPr>
        <p:txBody>
          <a:bodyPr wrap="square" lIns="18288" rIns="18288" tIns="18288" bIns="18288">
            <a:spAutoFit/>
          </a:bodyPr>
          <a:lstStyle/>
          <a:p>
            <a:pPr>
              <a:lnSpc>
                <a:spcPct val="114000"/>
              </a:lnSpc>
              <a:spcAft>
                <a:spcPts val="800"/>
              </a:spcAft>
              <a:defRPr sz="2400" b="1">
                <a:solidFill>
                  <a:srgbClr val="147D82"/>
                </a:solidFill>
                <a:latin typeface="맑은 고딕"/>
              </a:defRPr>
            </a:pPr>
            <a:r>
              <a:t>불량 발견 20 → 27개</a:t>
            </a:r>
          </a:p>
        </p:txBody>
      </p:sp>
      <p:sp>
        <p:nvSpPr>
          <p:cNvPr id="9" name="TextBox 8"/>
          <p:cNvSpPr txBox="1"/>
          <p:nvPr/>
        </p:nvSpPr>
        <p:spPr>
          <a:xfrm>
            <a:off x="713232" y="3054096"/>
            <a:ext cx="3886200" cy="795528"/>
          </a:xfrm>
          <a:prstGeom prst="rect">
            <a:avLst/>
          </a:prstGeom>
          <a:noFill/>
        </p:spPr>
        <p:txBody>
          <a:bodyPr wrap="square" lIns="18288" rIns="18288" tIns="18288" bIns="18288">
            <a:spAutoFit/>
          </a:bodyPr>
          <a:lstStyle/>
          <a:p>
            <a:pPr>
              <a:lnSpc>
                <a:spcPct val="114000"/>
              </a:lnSpc>
              <a:spcAft>
                <a:spcPts val="800"/>
              </a:spcAft>
              <a:defRPr sz="2400" b="1">
                <a:solidFill>
                  <a:srgbClr val="147D82"/>
                </a:solidFill>
                <a:latin typeface="맑은 고딕"/>
              </a:defRPr>
            </a:pPr>
            <a:r>
              <a:t>정상 오판 1 → 14개</a:t>
            </a:r>
          </a:p>
        </p:txBody>
      </p:sp>
      <p:sp>
        <p:nvSpPr>
          <p:cNvPr id="10" name="TextBox 9"/>
          <p:cNvSpPr txBox="1"/>
          <p:nvPr/>
        </p:nvSpPr>
        <p:spPr>
          <a:xfrm>
            <a:off x="713232" y="4005072"/>
            <a:ext cx="3886200" cy="795528"/>
          </a:xfrm>
          <a:prstGeom prst="rect">
            <a:avLst/>
          </a:prstGeom>
          <a:noFill/>
        </p:spPr>
        <p:txBody>
          <a:bodyPr wrap="square" lIns="18288" rIns="18288" tIns="18288" bIns="18288">
            <a:spAutoFit/>
          </a:bodyPr>
          <a:lstStyle/>
          <a:p>
            <a:pPr>
              <a:lnSpc>
                <a:spcPct val="114000"/>
              </a:lnSpc>
              <a:spcAft>
                <a:spcPts val="800"/>
              </a:spcAft>
              <a:defRPr sz="2100" b="1">
                <a:solidFill>
                  <a:srgbClr val="173A49"/>
                </a:solidFill>
                <a:latin typeface="맑은 고딕"/>
              </a:defRPr>
            </a:pPr>
            <a:r>
              <a:t>후보 검출률 84.4% &lt; 목표 90%</a:t>
            </a:r>
          </a:p>
        </p:txBody>
      </p:sp>
      <p:sp>
        <p:nvSpPr>
          <p:cNvPr id="11" name="TextBox 10"/>
          <p:cNvSpPr txBox="1"/>
          <p:nvPr/>
        </p:nvSpPr>
        <p:spPr>
          <a:xfrm>
            <a:off x="713232" y="4956048"/>
            <a:ext cx="3886200" cy="795528"/>
          </a:xfrm>
          <a:prstGeom prst="rect">
            <a:avLst/>
          </a:prstGeom>
          <a:noFill/>
        </p:spPr>
        <p:txBody>
          <a:bodyPr wrap="square" lIns="18288" rIns="18288" tIns="18288" bIns="18288">
            <a:spAutoFit/>
          </a:bodyPr>
          <a:lstStyle/>
          <a:p>
            <a:pPr>
              <a:lnSpc>
                <a:spcPct val="114000"/>
              </a:lnSpc>
              <a:spcAft>
                <a:spcPts val="800"/>
              </a:spcAft>
              <a:defRPr sz="2100" b="1">
                <a:solidFill>
                  <a:srgbClr val="173A49"/>
                </a:solidFill>
                <a:latin typeface="맑은 고딕"/>
              </a:defRPr>
            </a:pPr>
            <a:r>
              <a:t>화면의 결론: 추가 검증 필요 · 현장 적용 확정은 보류</a:t>
            </a:r>
          </a:p>
        </p:txBody>
      </p:sp>
      <p:sp>
        <p:nvSpPr>
          <p:cNvPr id="12" name="Rounded Rectangle 11"/>
          <p:cNvSpPr/>
          <p:nvPr/>
        </p:nvSpPr>
        <p:spPr>
          <a:xfrm>
            <a:off x="4910328" y="1847088"/>
            <a:ext cx="6574536" cy="4306824"/>
          </a:xfrm>
          <a:prstGeom prst="roundRect">
            <a:avLst>
              <a:gd name="adj" fmla="val 8000"/>
            </a:avLst>
          </a:prstGeom>
          <a:solidFill>
            <a:srgbClr val="FFFFFF"/>
          </a:solidFill>
          <a:ln>
            <a:solidFill>
              <a:srgbClr val="D8E3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app-test-proof.jpg"/>
          <p:cNvPicPr>
            <a:picLocks noChangeAspect="1"/>
          </p:cNvPicPr>
          <p:nvPr/>
        </p:nvPicPr>
        <p:blipFill>
          <a:blip r:embed="rId3"/>
          <a:stretch>
            <a:fillRect/>
          </a:stretch>
        </p:blipFill>
        <p:spPr>
          <a:xfrm>
            <a:off x="5458816" y="1920240"/>
            <a:ext cx="5477558" cy="416052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08 · 실제 검색 기록의 UI 재현 | RAG = 관련 근거 검색</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⑤ 필요하면, 공식 문서에서 비교 후보를 추가합니다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08 / 16</a:t>
            </a:r>
          </a:p>
        </p:txBody>
      </p:sp>
      <p:sp>
        <p:nvSpPr>
          <p:cNvPr id="8" name="TextBox 7"/>
          <p:cNvSpPr txBox="1"/>
          <p:nvPr/>
        </p:nvSpPr>
        <p:spPr>
          <a:xfrm>
            <a:off x="658368" y="2057400"/>
            <a:ext cx="4526280" cy="804672"/>
          </a:xfrm>
          <a:prstGeom prst="rect">
            <a:avLst/>
          </a:prstGeom>
          <a:noFill/>
        </p:spPr>
        <p:txBody>
          <a:bodyPr wrap="square" lIns="18288" rIns="18288" tIns="18288" bIns="18288">
            <a:spAutoFit/>
          </a:bodyPr>
          <a:lstStyle/>
          <a:p>
            <a:pPr>
              <a:lnSpc>
                <a:spcPct val="114000"/>
              </a:lnSpc>
              <a:spcAft>
                <a:spcPts val="800"/>
              </a:spcAft>
              <a:defRPr sz="2200" b="1">
                <a:solidFill>
                  <a:srgbClr val="173A49"/>
                </a:solidFill>
                <a:latin typeface="맑은 고딕"/>
              </a:defRPr>
            </a:pPr>
            <a:r>
              <a:t>공식 문서 조회 → 관련 근거 검색 → 후보와 제안 이유 제시</a:t>
            </a:r>
          </a:p>
        </p:txBody>
      </p:sp>
      <p:sp>
        <p:nvSpPr>
          <p:cNvPr id="9" name="TextBox 8"/>
          <p:cNvSpPr txBox="1"/>
          <p:nvPr/>
        </p:nvSpPr>
        <p:spPr>
          <a:xfrm>
            <a:off x="658368" y="2935224"/>
            <a:ext cx="4526280" cy="804672"/>
          </a:xfrm>
          <a:prstGeom prst="rect">
            <a:avLst/>
          </a:prstGeom>
          <a:noFill/>
        </p:spPr>
        <p:txBody>
          <a:bodyPr wrap="square" lIns="18288" rIns="18288" tIns="18288" bIns="18288">
            <a:spAutoFit/>
          </a:bodyPr>
          <a:lstStyle/>
          <a:p>
            <a:pPr>
              <a:lnSpc>
                <a:spcPct val="114000"/>
              </a:lnSpc>
              <a:spcAft>
                <a:spcPts val="800"/>
              </a:spcAft>
              <a:defRPr sz="1900" b="0">
                <a:solidFill>
                  <a:srgbClr val="617681"/>
                </a:solidFill>
                <a:latin typeface="맑은 고딕"/>
              </a:defRPr>
            </a:pPr>
            <a:r>
              <a:t>ExtraTrees·GaussianNB를 추가할 수 있습니다.</a:t>
            </a:r>
          </a:p>
        </p:txBody>
      </p:sp>
      <p:sp>
        <p:nvSpPr>
          <p:cNvPr id="10" name="TextBox 9"/>
          <p:cNvSpPr txBox="1"/>
          <p:nvPr/>
        </p:nvSpPr>
        <p:spPr>
          <a:xfrm>
            <a:off x="658368" y="3813048"/>
            <a:ext cx="4526280" cy="804672"/>
          </a:xfrm>
          <a:prstGeom prst="rect">
            <a:avLst/>
          </a:prstGeom>
          <a:noFill/>
        </p:spPr>
        <p:txBody>
          <a:bodyPr wrap="square" lIns="18288" rIns="18288" tIns="18288" bIns="18288">
            <a:spAutoFit/>
          </a:bodyPr>
          <a:lstStyle/>
          <a:p>
            <a:pPr>
              <a:lnSpc>
                <a:spcPct val="114000"/>
              </a:lnSpc>
              <a:spcAft>
                <a:spcPts val="800"/>
              </a:spcAft>
              <a:defRPr sz="1900" b="0">
                <a:solidFill>
                  <a:srgbClr val="617681"/>
                </a:solidFill>
                <a:latin typeface="맑은 고딕"/>
              </a:defRPr>
            </a:pPr>
            <a:r>
              <a:t>근거 확인 → 비교 계획 승인 → 기존 후보와 학습·비교</a:t>
            </a:r>
          </a:p>
        </p:txBody>
      </p:sp>
      <p:sp>
        <p:nvSpPr>
          <p:cNvPr id="11" name="TextBox 10"/>
          <p:cNvSpPr txBox="1"/>
          <p:nvPr/>
        </p:nvSpPr>
        <p:spPr>
          <a:xfrm>
            <a:off x="658368" y="4690872"/>
            <a:ext cx="4526280" cy="804672"/>
          </a:xfrm>
          <a:prstGeom prst="rect">
            <a:avLst/>
          </a:prstGeom>
          <a:noFill/>
        </p:spPr>
        <p:txBody>
          <a:bodyPr wrap="square" lIns="18288" rIns="18288" tIns="18288" bIns="18288">
            <a:spAutoFit/>
          </a:bodyPr>
          <a:lstStyle/>
          <a:p>
            <a:pPr>
              <a:lnSpc>
                <a:spcPct val="114000"/>
              </a:lnSpc>
              <a:spcAft>
                <a:spcPts val="800"/>
              </a:spcAft>
              <a:defRPr sz="1900" b="0">
                <a:solidFill>
                  <a:srgbClr val="617681"/>
                </a:solidFill>
                <a:latin typeface="맑은 고딕"/>
              </a:defRPr>
            </a:pPr>
            <a:r>
              <a:t>현재 연결은 검토된 두 모델입니다. 임의 모델 자동 생성은 아닙니다.</a:t>
            </a:r>
          </a:p>
        </p:txBody>
      </p:sp>
      <p:sp>
        <p:nvSpPr>
          <p:cNvPr id="12" name="Rounded Rectangle 11"/>
          <p:cNvSpPr/>
          <p:nvPr/>
        </p:nvSpPr>
        <p:spPr>
          <a:xfrm>
            <a:off x="5413248" y="1801367"/>
            <a:ext cx="5998464" cy="4306824"/>
          </a:xfrm>
          <a:prstGeom prst="roundRect">
            <a:avLst>
              <a:gd name="adj" fmla="val 8000"/>
            </a:avLst>
          </a:prstGeom>
          <a:solidFill>
            <a:srgbClr val="FFFFFF"/>
          </a:solidFill>
          <a:ln>
            <a:solidFill>
              <a:srgbClr val="D8E3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app-rag-proof.jpg"/>
          <p:cNvPicPr>
            <a:picLocks noChangeAspect="1"/>
          </p:cNvPicPr>
          <p:nvPr/>
        </p:nvPicPr>
        <p:blipFill>
          <a:blip r:embed="rId3"/>
          <a:stretch>
            <a:fillRect/>
          </a:stretch>
        </p:blipFill>
        <p:spPr>
          <a:xfrm>
            <a:off x="5486400" y="2447583"/>
            <a:ext cx="5852160" cy="3014392"/>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09 · 구현 구조와 검증 | 방금 본 기능의 내부</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역할을 나누고, 실행과 답변을 검증했습니다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09 / 16</a:t>
            </a:r>
          </a:p>
        </p:txBody>
      </p:sp>
      <p:sp>
        <p:nvSpPr>
          <p:cNvPr id="8" name="TextBox 7"/>
          <p:cNvSpPr txBox="1"/>
          <p:nvPr/>
        </p:nvSpPr>
        <p:spPr>
          <a:xfrm>
            <a:off x="621792" y="1920240"/>
            <a:ext cx="10972800" cy="411480"/>
          </a:xfrm>
          <a:prstGeom prst="rect">
            <a:avLst/>
          </a:prstGeom>
          <a:noFill/>
        </p:spPr>
        <p:txBody>
          <a:bodyPr wrap="square" lIns="18288" rIns="18288" tIns="18288" bIns="18288">
            <a:spAutoFit/>
          </a:bodyPr>
          <a:lstStyle/>
          <a:p>
            <a:pPr>
              <a:lnSpc>
                <a:spcPct val="114000"/>
              </a:lnSpc>
              <a:spcAft>
                <a:spcPts val="800"/>
              </a:spcAft>
              <a:defRPr sz="2100" b="0">
                <a:solidFill>
                  <a:srgbClr val="617681"/>
                </a:solidFill>
                <a:latin typeface="맑은 고딕"/>
              </a:defRPr>
            </a:pPr>
            <a:r>
              <a:t>LangGraph 역할 연결 · 로컬 Qwen 설명 · MCP 조회·계획 도구</a:t>
            </a:r>
          </a:p>
        </p:txBody>
      </p:sp>
      <p:sp>
        <p:nvSpPr>
          <p:cNvPr id="9" name="Rounded Rectangle 8"/>
          <p:cNvSpPr/>
          <p:nvPr/>
        </p:nvSpPr>
        <p:spPr>
          <a:xfrm>
            <a:off x="640080" y="2670048"/>
            <a:ext cx="2532888" cy="1024128"/>
          </a:xfrm>
          <a:prstGeom prst="roundRect">
            <a:avLst>
              <a:gd name="adj" fmla="val 8000"/>
            </a:avLst>
          </a:prstGeom>
          <a:solidFill>
            <a:srgbClr val="E8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816352"/>
            <a:ext cx="2267712" cy="365760"/>
          </a:xfrm>
          <a:prstGeom prst="rect">
            <a:avLst/>
          </a:prstGeom>
          <a:noFill/>
        </p:spPr>
        <p:txBody>
          <a:bodyPr wrap="square" lIns="18288" rIns="18288" tIns="18288" bIns="18288">
            <a:spAutoFit/>
          </a:bodyPr>
          <a:lstStyle/>
          <a:p>
            <a:pPr>
              <a:lnSpc>
                <a:spcPct val="114000"/>
              </a:lnSpc>
              <a:spcAft>
                <a:spcPts val="800"/>
              </a:spcAft>
              <a:defRPr sz="2100" b="1">
                <a:solidFill>
                  <a:srgbClr val="147D82"/>
                </a:solidFill>
                <a:latin typeface="맑은 고딕"/>
              </a:defRPr>
            </a:pPr>
            <a:r>
              <a:t>데이터 점검</a:t>
            </a:r>
          </a:p>
        </p:txBody>
      </p:sp>
      <p:sp>
        <p:nvSpPr>
          <p:cNvPr id="11" name="TextBox 10"/>
          <p:cNvSpPr txBox="1"/>
          <p:nvPr/>
        </p:nvSpPr>
        <p:spPr>
          <a:xfrm>
            <a:off x="777240" y="3282696"/>
            <a:ext cx="2286000" cy="274320"/>
          </a:xfrm>
          <a:prstGeom prst="rect">
            <a:avLst/>
          </a:prstGeom>
          <a:noFill/>
        </p:spPr>
        <p:txBody>
          <a:bodyPr wrap="square" lIns="18288" rIns="18288" tIns="18288" bIns="18288">
            <a:spAutoFit/>
          </a:bodyPr>
          <a:lstStyle/>
          <a:p>
            <a:pPr>
              <a:lnSpc>
                <a:spcPct val="114000"/>
              </a:lnSpc>
              <a:spcAft>
                <a:spcPts val="800"/>
              </a:spcAft>
              <a:defRPr sz="1300" b="0">
                <a:solidFill>
                  <a:srgbClr val="617681"/>
                </a:solidFill>
                <a:latin typeface="맑은 고딕"/>
              </a:defRPr>
            </a:pPr>
            <a:r>
              <a:t>행·결측·라벨</a:t>
            </a:r>
          </a:p>
        </p:txBody>
      </p:sp>
      <p:sp>
        <p:nvSpPr>
          <p:cNvPr id="12" name="TextBox 11"/>
          <p:cNvSpPr txBox="1"/>
          <p:nvPr/>
        </p:nvSpPr>
        <p:spPr>
          <a:xfrm>
            <a:off x="3200400" y="2944368"/>
            <a:ext cx="256032" cy="365760"/>
          </a:xfrm>
          <a:prstGeom prst="rect">
            <a:avLst/>
          </a:prstGeom>
          <a:noFill/>
        </p:spPr>
        <p:txBody>
          <a:bodyPr wrap="square" lIns="18288" rIns="18288" tIns="18288" bIns="18288">
            <a:spAutoFit/>
          </a:bodyPr>
          <a:lstStyle/>
          <a:p>
            <a:pPr>
              <a:lnSpc>
                <a:spcPct val="114000"/>
              </a:lnSpc>
              <a:spcAft>
                <a:spcPts val="800"/>
              </a:spcAft>
              <a:defRPr sz="1900" b="1">
                <a:solidFill>
                  <a:srgbClr val="147D82"/>
                </a:solidFill>
                <a:latin typeface="맑은 고딕"/>
              </a:defRPr>
            </a:pPr>
            <a:r>
              <a:t>→</a:t>
            </a:r>
          </a:p>
        </p:txBody>
      </p:sp>
      <p:sp>
        <p:nvSpPr>
          <p:cNvPr id="13" name="Rounded Rectangle 12"/>
          <p:cNvSpPr/>
          <p:nvPr/>
        </p:nvSpPr>
        <p:spPr>
          <a:xfrm>
            <a:off x="3456432" y="2670048"/>
            <a:ext cx="2532888" cy="1024128"/>
          </a:xfrm>
          <a:prstGeom prst="roundRect">
            <a:avLst>
              <a:gd name="adj" fmla="val 8000"/>
            </a:avLst>
          </a:prstGeom>
          <a:solidFill>
            <a:srgbClr val="E8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93592" y="2816352"/>
            <a:ext cx="2267712" cy="365760"/>
          </a:xfrm>
          <a:prstGeom prst="rect">
            <a:avLst/>
          </a:prstGeom>
          <a:noFill/>
        </p:spPr>
        <p:txBody>
          <a:bodyPr wrap="square" lIns="18288" rIns="18288" tIns="18288" bIns="18288">
            <a:spAutoFit/>
          </a:bodyPr>
          <a:lstStyle/>
          <a:p>
            <a:pPr>
              <a:lnSpc>
                <a:spcPct val="114000"/>
              </a:lnSpc>
              <a:spcAft>
                <a:spcPts val="800"/>
              </a:spcAft>
              <a:defRPr sz="2100" b="1">
                <a:solidFill>
                  <a:srgbClr val="147D82"/>
                </a:solidFill>
                <a:latin typeface="맑은 고딕"/>
              </a:defRPr>
            </a:pPr>
            <a:r>
              <a:t>근거 검색</a:t>
            </a:r>
          </a:p>
        </p:txBody>
      </p:sp>
      <p:sp>
        <p:nvSpPr>
          <p:cNvPr id="15" name="TextBox 14"/>
          <p:cNvSpPr txBox="1"/>
          <p:nvPr/>
        </p:nvSpPr>
        <p:spPr>
          <a:xfrm>
            <a:off x="3593592" y="3282696"/>
            <a:ext cx="2286000" cy="274320"/>
          </a:xfrm>
          <a:prstGeom prst="rect">
            <a:avLst/>
          </a:prstGeom>
          <a:noFill/>
        </p:spPr>
        <p:txBody>
          <a:bodyPr wrap="square" lIns="18288" rIns="18288" tIns="18288" bIns="18288">
            <a:spAutoFit/>
          </a:bodyPr>
          <a:lstStyle/>
          <a:p>
            <a:pPr>
              <a:lnSpc>
                <a:spcPct val="114000"/>
              </a:lnSpc>
              <a:spcAft>
                <a:spcPts val="800"/>
              </a:spcAft>
              <a:defRPr sz="1300" b="0">
                <a:solidFill>
                  <a:srgbClr val="617681"/>
                </a:solidFill>
                <a:latin typeface="맑은 고딕"/>
              </a:defRPr>
            </a:pPr>
            <a:r>
              <a:t>교육 근거 / 공식 문서</a:t>
            </a:r>
          </a:p>
        </p:txBody>
      </p:sp>
      <p:sp>
        <p:nvSpPr>
          <p:cNvPr id="16" name="TextBox 15"/>
          <p:cNvSpPr txBox="1"/>
          <p:nvPr/>
        </p:nvSpPr>
        <p:spPr>
          <a:xfrm>
            <a:off x="6016752" y="2944368"/>
            <a:ext cx="256032" cy="365760"/>
          </a:xfrm>
          <a:prstGeom prst="rect">
            <a:avLst/>
          </a:prstGeom>
          <a:noFill/>
        </p:spPr>
        <p:txBody>
          <a:bodyPr wrap="square" lIns="18288" rIns="18288" tIns="18288" bIns="18288">
            <a:spAutoFit/>
          </a:bodyPr>
          <a:lstStyle/>
          <a:p>
            <a:pPr>
              <a:lnSpc>
                <a:spcPct val="114000"/>
              </a:lnSpc>
              <a:spcAft>
                <a:spcPts val="800"/>
              </a:spcAft>
              <a:defRPr sz="1900" b="1">
                <a:solidFill>
                  <a:srgbClr val="147D82"/>
                </a:solidFill>
                <a:latin typeface="맑은 고딕"/>
              </a:defRPr>
            </a:pPr>
            <a:r>
              <a:t>→</a:t>
            </a:r>
          </a:p>
        </p:txBody>
      </p:sp>
      <p:sp>
        <p:nvSpPr>
          <p:cNvPr id="17" name="Rounded Rectangle 16"/>
          <p:cNvSpPr/>
          <p:nvPr/>
        </p:nvSpPr>
        <p:spPr>
          <a:xfrm>
            <a:off x="6272784" y="2670048"/>
            <a:ext cx="2532888" cy="1024128"/>
          </a:xfrm>
          <a:prstGeom prst="roundRect">
            <a:avLst>
              <a:gd name="adj" fmla="val 8000"/>
            </a:avLst>
          </a:prstGeom>
          <a:solidFill>
            <a:srgbClr val="E8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9944" y="2816352"/>
            <a:ext cx="2267712" cy="365760"/>
          </a:xfrm>
          <a:prstGeom prst="rect">
            <a:avLst/>
          </a:prstGeom>
          <a:noFill/>
        </p:spPr>
        <p:txBody>
          <a:bodyPr wrap="square" lIns="18288" rIns="18288" tIns="18288" bIns="18288">
            <a:spAutoFit/>
          </a:bodyPr>
          <a:lstStyle/>
          <a:p>
            <a:pPr>
              <a:lnSpc>
                <a:spcPct val="114000"/>
              </a:lnSpc>
              <a:spcAft>
                <a:spcPts val="800"/>
              </a:spcAft>
              <a:defRPr sz="2100" b="1">
                <a:solidFill>
                  <a:srgbClr val="147D82"/>
                </a:solidFill>
                <a:latin typeface="맑은 고딕"/>
              </a:defRPr>
            </a:pPr>
            <a:r>
              <a:t>실험 계획</a:t>
            </a:r>
          </a:p>
        </p:txBody>
      </p:sp>
      <p:sp>
        <p:nvSpPr>
          <p:cNvPr id="19" name="TextBox 18"/>
          <p:cNvSpPr txBox="1"/>
          <p:nvPr/>
        </p:nvSpPr>
        <p:spPr>
          <a:xfrm>
            <a:off x="6409944" y="3282696"/>
            <a:ext cx="2286000" cy="274320"/>
          </a:xfrm>
          <a:prstGeom prst="rect">
            <a:avLst/>
          </a:prstGeom>
          <a:noFill/>
        </p:spPr>
        <p:txBody>
          <a:bodyPr wrap="square" lIns="18288" rIns="18288" tIns="18288" bIns="18288">
            <a:spAutoFit/>
          </a:bodyPr>
          <a:lstStyle/>
          <a:p>
            <a:pPr>
              <a:lnSpc>
                <a:spcPct val="114000"/>
              </a:lnSpc>
              <a:spcAft>
                <a:spcPts val="800"/>
              </a:spcAft>
              <a:defRPr sz="1300" b="0">
                <a:solidFill>
                  <a:srgbClr val="617681"/>
                </a:solidFill>
                <a:latin typeface="맑은 고딕"/>
              </a:defRPr>
            </a:pPr>
            <a:r>
              <a:t>모델·전처리·비교 범위</a:t>
            </a:r>
          </a:p>
        </p:txBody>
      </p:sp>
      <p:sp>
        <p:nvSpPr>
          <p:cNvPr id="20" name="TextBox 19"/>
          <p:cNvSpPr txBox="1"/>
          <p:nvPr/>
        </p:nvSpPr>
        <p:spPr>
          <a:xfrm>
            <a:off x="8833104" y="2944368"/>
            <a:ext cx="256032" cy="365760"/>
          </a:xfrm>
          <a:prstGeom prst="rect">
            <a:avLst/>
          </a:prstGeom>
          <a:noFill/>
        </p:spPr>
        <p:txBody>
          <a:bodyPr wrap="square" lIns="18288" rIns="18288" tIns="18288" bIns="18288">
            <a:spAutoFit/>
          </a:bodyPr>
          <a:lstStyle/>
          <a:p>
            <a:pPr>
              <a:lnSpc>
                <a:spcPct val="114000"/>
              </a:lnSpc>
              <a:spcAft>
                <a:spcPts val="800"/>
              </a:spcAft>
              <a:defRPr sz="1900" b="1">
                <a:solidFill>
                  <a:srgbClr val="147D82"/>
                </a:solidFill>
                <a:latin typeface="맑은 고딕"/>
              </a:defRPr>
            </a:pPr>
            <a:r>
              <a:t>→</a:t>
            </a:r>
          </a:p>
        </p:txBody>
      </p:sp>
      <p:sp>
        <p:nvSpPr>
          <p:cNvPr id="21" name="Rounded Rectangle 20"/>
          <p:cNvSpPr/>
          <p:nvPr/>
        </p:nvSpPr>
        <p:spPr>
          <a:xfrm>
            <a:off x="9089136" y="2670048"/>
            <a:ext cx="2532888" cy="1024128"/>
          </a:xfrm>
          <a:prstGeom prst="roundRect">
            <a:avLst>
              <a:gd name="adj" fmla="val 8000"/>
            </a:avLst>
          </a:prstGeom>
          <a:solidFill>
            <a:srgbClr val="E8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26296" y="2816352"/>
            <a:ext cx="2267712" cy="365760"/>
          </a:xfrm>
          <a:prstGeom prst="rect">
            <a:avLst/>
          </a:prstGeom>
          <a:noFill/>
        </p:spPr>
        <p:txBody>
          <a:bodyPr wrap="square" lIns="18288" rIns="18288" tIns="18288" bIns="18288">
            <a:spAutoFit/>
          </a:bodyPr>
          <a:lstStyle/>
          <a:p>
            <a:pPr>
              <a:lnSpc>
                <a:spcPct val="114000"/>
              </a:lnSpc>
              <a:spcAft>
                <a:spcPts val="800"/>
              </a:spcAft>
              <a:defRPr sz="2100" b="1">
                <a:solidFill>
                  <a:srgbClr val="147D82"/>
                </a:solidFill>
                <a:latin typeface="맑은 고딕"/>
              </a:defRPr>
            </a:pPr>
            <a:r>
              <a:t>엔지니어 승인</a:t>
            </a:r>
          </a:p>
        </p:txBody>
      </p:sp>
      <p:sp>
        <p:nvSpPr>
          <p:cNvPr id="23" name="TextBox 22"/>
          <p:cNvSpPr txBox="1"/>
          <p:nvPr/>
        </p:nvSpPr>
        <p:spPr>
          <a:xfrm>
            <a:off x="9226296" y="3282696"/>
            <a:ext cx="2286000" cy="274320"/>
          </a:xfrm>
          <a:prstGeom prst="rect">
            <a:avLst/>
          </a:prstGeom>
          <a:noFill/>
        </p:spPr>
        <p:txBody>
          <a:bodyPr wrap="square" lIns="18288" rIns="18288" tIns="18288" bIns="18288">
            <a:spAutoFit/>
          </a:bodyPr>
          <a:lstStyle/>
          <a:p>
            <a:pPr>
              <a:lnSpc>
                <a:spcPct val="114000"/>
              </a:lnSpc>
              <a:spcAft>
                <a:spcPts val="800"/>
              </a:spcAft>
              <a:defRPr sz="1300" b="0">
                <a:solidFill>
                  <a:srgbClr val="617681"/>
                </a:solidFill>
                <a:latin typeface="맑은 고딕"/>
              </a:defRPr>
            </a:pPr>
            <a:r>
              <a:t>확인 후 실행 허용</a:t>
            </a:r>
          </a:p>
        </p:txBody>
      </p:sp>
      <p:sp>
        <p:nvSpPr>
          <p:cNvPr id="24" name="Rounded Rectangle 23"/>
          <p:cNvSpPr/>
          <p:nvPr/>
        </p:nvSpPr>
        <p:spPr>
          <a:xfrm>
            <a:off x="640080" y="3986784"/>
            <a:ext cx="10927080" cy="777240"/>
          </a:xfrm>
          <a:prstGeom prst="roundRect">
            <a:avLst>
              <a:gd name="adj" fmla="val 8000"/>
            </a:avLst>
          </a:prstGeom>
          <a:solidFill>
            <a:srgbClr val="FFFFFF"/>
          </a:solidFill>
          <a:ln>
            <a:solidFill>
              <a:srgbClr val="D8E3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8" y="4169663"/>
            <a:ext cx="10515600" cy="411480"/>
          </a:xfrm>
          <a:prstGeom prst="rect">
            <a:avLst/>
          </a:prstGeom>
          <a:noFill/>
        </p:spPr>
        <p:txBody>
          <a:bodyPr wrap="square" lIns="18288" rIns="18288" tIns="18288" bIns="18288">
            <a:spAutoFit/>
          </a:bodyPr>
          <a:lstStyle/>
          <a:p>
            <a:pPr>
              <a:lnSpc>
                <a:spcPct val="114000"/>
              </a:lnSpc>
              <a:spcAft>
                <a:spcPts val="800"/>
              </a:spcAft>
              <a:defRPr sz="2200" b="1">
                <a:solidFill>
                  <a:srgbClr val="173A49"/>
                </a:solidFill>
                <a:latin typeface="맑은 고딕"/>
              </a:defRPr>
            </a:pPr>
            <a:r>
              <a:t>실험 엔진 학습·수치·순위 계산 → 결과 검토 역할이 근거 정리</a:t>
            </a:r>
          </a:p>
        </p:txBody>
      </p:sp>
      <p:sp>
        <p:nvSpPr>
          <p:cNvPr id="26" name="TextBox 25"/>
          <p:cNvSpPr txBox="1"/>
          <p:nvPr/>
        </p:nvSpPr>
        <p:spPr>
          <a:xfrm>
            <a:off x="731520" y="5084064"/>
            <a:ext cx="10698480" cy="365760"/>
          </a:xfrm>
          <a:prstGeom prst="rect">
            <a:avLst/>
          </a:prstGeom>
          <a:noFill/>
        </p:spPr>
        <p:txBody>
          <a:bodyPr wrap="square" lIns="18288" rIns="18288" tIns="18288" bIns="18288">
            <a:spAutoFit/>
          </a:bodyPr>
          <a:lstStyle/>
          <a:p>
            <a:pPr>
              <a:lnSpc>
                <a:spcPct val="114000"/>
              </a:lnSpc>
              <a:spcAft>
                <a:spcPts val="800"/>
              </a:spcAft>
              <a:defRPr sz="1900" b="1">
                <a:solidFill>
                  <a:srgbClr val="147D82"/>
                </a:solidFill>
                <a:latin typeface="맑은 고딕"/>
              </a:defRPr>
            </a:pPr>
            <a:r>
              <a:t>LangSmith: 실제 실행 추적 · API 재조회 확인</a:t>
            </a:r>
          </a:p>
        </p:txBody>
      </p:sp>
      <p:sp>
        <p:nvSpPr>
          <p:cNvPr id="27" name="TextBox 26"/>
          <p:cNvSpPr txBox="1"/>
          <p:nvPr/>
        </p:nvSpPr>
        <p:spPr>
          <a:xfrm>
            <a:off x="731520" y="5632704"/>
            <a:ext cx="10698480" cy="365760"/>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LLM 평가: 자체 예제 6/8 일치 · 오판 2개 / 코드 테스트: 33개 통과</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10 · 성과와 교훈</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모델 이름과 함께, 선택 이유와 한계를 남깁니다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10 / 16</a:t>
            </a:r>
          </a:p>
        </p:txBody>
      </p:sp>
      <p:sp>
        <p:nvSpPr>
          <p:cNvPr id="8" name="Rectangle 7"/>
          <p:cNvSpPr/>
          <p:nvPr/>
        </p:nvSpPr>
        <p:spPr>
          <a:xfrm>
            <a:off x="640080" y="197510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975104"/>
            <a:ext cx="10607040" cy="640080"/>
          </a:xfrm>
          <a:prstGeom prst="rect">
            <a:avLst/>
          </a:prstGeom>
          <a:noFill/>
        </p:spPr>
        <p:txBody>
          <a:bodyPr wrap="square" lIns="18288" rIns="18288" tIns="18288" bIns="18288">
            <a:spAutoFit/>
          </a:bodyPr>
          <a:lstStyle/>
          <a:p>
            <a:pPr>
              <a:lnSpc>
                <a:spcPct val="114000"/>
              </a:lnSpc>
              <a:spcAft>
                <a:spcPts val="800"/>
              </a:spcAft>
              <a:defRPr sz="2100" b="0">
                <a:solidFill>
                  <a:srgbClr val="173A49"/>
                </a:solidFill>
                <a:latin typeface="맑은 고딕"/>
              </a:defRPr>
            </a:pPr>
            <a:r>
              <a:t>성과: 데이터 입력부터 승인·비교·근거·결과 확인까지 연결</a:t>
            </a:r>
          </a:p>
        </p:txBody>
      </p:sp>
      <p:sp>
        <p:nvSpPr>
          <p:cNvPr id="10" name="Rectangle 9"/>
          <p:cNvSpPr/>
          <p:nvPr/>
        </p:nvSpPr>
        <p:spPr>
          <a:xfrm>
            <a:off x="640080" y="275234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752344"/>
            <a:ext cx="10607040" cy="640080"/>
          </a:xfrm>
          <a:prstGeom prst="rect">
            <a:avLst/>
          </a:prstGeom>
          <a:noFill/>
        </p:spPr>
        <p:txBody>
          <a:bodyPr wrap="square" lIns="18288" rIns="18288" tIns="18288" bIns="18288">
            <a:spAutoFit/>
          </a:bodyPr>
          <a:lstStyle/>
          <a:p>
            <a:pPr>
              <a:lnSpc>
                <a:spcPct val="114000"/>
              </a:lnSpc>
              <a:spcAft>
                <a:spcPts val="800"/>
              </a:spcAft>
              <a:defRPr sz="2100" b="0">
                <a:solidFill>
                  <a:srgbClr val="173A49"/>
                </a:solidFill>
                <a:latin typeface="맑은 고딕"/>
              </a:defRPr>
            </a:pPr>
            <a:r>
              <a:t>교훈: 불량 발견과 정상 오판을 함께 봐야 선택을 설명할 수 있습니다.</a:t>
            </a:r>
          </a:p>
        </p:txBody>
      </p:sp>
      <p:sp>
        <p:nvSpPr>
          <p:cNvPr id="12" name="Rectangle 11"/>
          <p:cNvSpPr/>
          <p:nvPr/>
        </p:nvSpPr>
        <p:spPr>
          <a:xfrm>
            <a:off x="640080" y="352958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529584"/>
            <a:ext cx="10607040" cy="640080"/>
          </a:xfrm>
          <a:prstGeom prst="rect">
            <a:avLst/>
          </a:prstGeom>
          <a:noFill/>
        </p:spPr>
        <p:txBody>
          <a:bodyPr wrap="square" lIns="18288" rIns="18288" tIns="18288" bIns="18288">
            <a:spAutoFit/>
          </a:bodyPr>
          <a:lstStyle/>
          <a:p>
            <a:pPr>
              <a:lnSpc>
                <a:spcPct val="114000"/>
              </a:lnSpc>
              <a:spcAft>
                <a:spcPts val="800"/>
              </a:spcAft>
              <a:defRPr sz="2100" b="0">
                <a:solidFill>
                  <a:srgbClr val="173A49"/>
                </a:solidFill>
                <a:latin typeface="맑은 고딕"/>
              </a:defRPr>
            </a:pPr>
            <a:r>
              <a:t>한계: 합성 데이터·작은 불량 표본·반복 비교 → 현장 효과 미측정</a:t>
            </a:r>
          </a:p>
        </p:txBody>
      </p:sp>
      <p:sp>
        <p:nvSpPr>
          <p:cNvPr id="14" name="Rectangle 13"/>
          <p:cNvSpPr/>
          <p:nvPr/>
        </p:nvSpPr>
        <p:spPr>
          <a:xfrm>
            <a:off x="640080" y="430682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306824"/>
            <a:ext cx="10607040" cy="640080"/>
          </a:xfrm>
          <a:prstGeom prst="rect">
            <a:avLst/>
          </a:prstGeom>
          <a:noFill/>
        </p:spPr>
        <p:txBody>
          <a:bodyPr wrap="square" lIns="18288" rIns="18288" tIns="18288" bIns="18288">
            <a:spAutoFit/>
          </a:bodyPr>
          <a:lstStyle/>
          <a:p>
            <a:pPr>
              <a:lnSpc>
                <a:spcPct val="114000"/>
              </a:lnSpc>
              <a:spcAft>
                <a:spcPts val="800"/>
              </a:spcAft>
              <a:defRPr sz="2100" b="0">
                <a:solidFill>
                  <a:srgbClr val="173A49"/>
                </a:solidFill>
                <a:latin typeface="맑은 고딕"/>
              </a:defRPr>
            </a:pPr>
            <a:r>
              <a:t>개선: 현장 기준 합의 → 새로운 독립 데이터 검증 → 작업시간 절감 측정</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부록 A · 6장 비교표의 전체 내용</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전체 후보와 다른 선택 기준은 질문 때 확인합니다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11 / 16  부록</a:t>
            </a:r>
          </a:p>
        </p:txBody>
      </p:sp>
      <p:sp>
        <p:nvSpPr>
          <p:cNvPr id="8" name="TextBox 7"/>
          <p:cNvSpPr txBox="1"/>
          <p:nvPr/>
        </p:nvSpPr>
        <p:spPr>
          <a:xfrm>
            <a:off x="640080" y="1847088"/>
            <a:ext cx="10972800" cy="402336"/>
          </a:xfrm>
          <a:prstGeom prst="rect">
            <a:avLst/>
          </a:prstGeom>
          <a:noFill/>
        </p:spPr>
        <p:txBody>
          <a:bodyPr wrap="square" lIns="18288" rIns="18288" tIns="18288" bIns="18288">
            <a:spAutoFit/>
          </a:bodyPr>
          <a:lstStyle/>
          <a:p>
            <a:pPr>
              <a:lnSpc>
                <a:spcPct val="114000"/>
              </a:lnSpc>
              <a:spcAft>
                <a:spcPts val="800"/>
              </a:spcAft>
              <a:defRPr sz="1500" b="0">
                <a:solidFill>
                  <a:srgbClr val="617681"/>
                </a:solidFill>
                <a:latin typeface="맑은 고딕"/>
              </a:defRPr>
            </a:pPr>
            <a:r>
              <a:t>전체 제품 Train의 24조건에서 모델별 최선 불균형 설정을 표시합니다.</a:t>
            </a:r>
          </a:p>
        </p:txBody>
      </p:sp>
      <p:sp>
        <p:nvSpPr>
          <p:cNvPr id="9" name="TextBox 8"/>
          <p:cNvSpPr txBox="1"/>
          <p:nvPr/>
        </p:nvSpPr>
        <p:spPr>
          <a:xfrm>
            <a:off x="640080" y="2267712"/>
            <a:ext cx="10972800" cy="402336"/>
          </a:xfrm>
          <a:prstGeom prst="rect">
            <a:avLst/>
          </a:prstGeom>
          <a:noFill/>
        </p:spPr>
        <p:txBody>
          <a:bodyPr wrap="square" lIns="18288" rIns="18288" tIns="18288" bIns="18288">
            <a:spAutoFit/>
          </a:bodyPr>
          <a:lstStyle/>
          <a:p>
            <a:pPr>
              <a:lnSpc>
                <a:spcPct val="114000"/>
              </a:lnSpc>
              <a:spcAft>
                <a:spcPts val="800"/>
              </a:spcAft>
              <a:defRPr sz="1500" b="0">
                <a:solidFill>
                  <a:srgbClr val="617681"/>
                </a:solidFill>
                <a:latin typeface="맑은 고딕"/>
              </a:defRPr>
            </a:pPr>
            <a:r>
              <a:t>AdaBoost의 F1은 더 높습니다. 이번에는 사전에 정한 검출률 우선 규칙을 따랐습니다.</a:t>
            </a:r>
          </a:p>
        </p:txBody>
      </p:sp>
      <p:graphicFrame>
        <p:nvGraphicFramePr>
          <p:cNvPr id="10" name="Table 9"/>
          <p:cNvGraphicFramePr>
            <a:graphicFrameLocks noGrp="1"/>
          </p:cNvGraphicFramePr>
          <p:nvPr/>
        </p:nvGraphicFramePr>
        <p:xfrm>
          <a:off x="594360" y="2926080"/>
          <a:ext cx="11000231" cy="3145535"/>
        </p:xfrm>
        <a:graphic>
          <a:graphicData uri="http://schemas.openxmlformats.org/drawingml/2006/table">
            <a:tbl>
              <a:tblPr firstRow="1" bandRow="1">
                <a:tableStyleId>{5C22544A-7EE6-4342-B048-85BDC9FD1C3A}</a:tableStyleId>
              </a:tblPr>
              <a:tblGrid>
                <a:gridCol w="4050791"/>
                <a:gridCol w="1737360"/>
                <a:gridCol w="1737360"/>
                <a:gridCol w="1737360"/>
                <a:gridCol w="1737360"/>
              </a:tblGrid>
              <a:tr h="241964">
                <a:tc>
                  <a:txBody>
                    <a:bodyPr/>
                    <a:lstStyle/>
                    <a:p>
                      <a:pPr>
                        <a:defRPr sz="1200" b="1">
                          <a:solidFill>
                            <a:srgbClr val="FFFFFF"/>
                          </a:solidFill>
                          <a:latin typeface="맑은 고딕"/>
                        </a:defRPr>
                      </a:pPr>
                      <a:r>
                        <a:t>모델 · 전체 제품 학습</a:t>
                      </a:r>
                    </a:p>
                  </a:txBody>
                  <a:tcPr marL="118872" marR="91440" marT="64008" marB="54864" anchor="ctr">
                    <a:solidFill>
                      <a:srgbClr val="147D82"/>
                    </a:solidFill>
                  </a:tcPr>
                </a:tc>
                <a:tc>
                  <a:txBody>
                    <a:bodyPr/>
                    <a:lstStyle/>
                    <a:p>
                      <a:pPr>
                        <a:defRPr sz="1200" b="1">
                          <a:solidFill>
                            <a:srgbClr val="FFFFFF"/>
                          </a:solidFill>
                          <a:latin typeface="맑은 고딕"/>
                        </a:defRPr>
                      </a:pPr>
                      <a:r>
                        <a:t>불균형 설정</a:t>
                      </a:r>
                    </a:p>
                  </a:txBody>
                  <a:tcPr marL="118872" marR="91440" marT="64008" marB="54864" anchor="ctr">
                    <a:solidFill>
                      <a:srgbClr val="147D82"/>
                    </a:solidFill>
                  </a:tcPr>
                </a:tc>
                <a:tc>
                  <a:txBody>
                    <a:bodyPr/>
                    <a:lstStyle/>
                    <a:p>
                      <a:pPr>
                        <a:defRPr sz="1200" b="1">
                          <a:solidFill>
                            <a:srgbClr val="FFFFFF"/>
                          </a:solidFill>
                          <a:latin typeface="맑은 고딕"/>
                        </a:defRPr>
                      </a:pPr>
                      <a:r>
                        <a:t>검출률</a:t>
                      </a:r>
                    </a:p>
                  </a:txBody>
                  <a:tcPr marL="118872" marR="91440" marT="64008" marB="54864" anchor="ctr">
                    <a:solidFill>
                      <a:srgbClr val="147D82"/>
                    </a:solidFill>
                  </a:tcPr>
                </a:tc>
                <a:tc>
                  <a:txBody>
                    <a:bodyPr/>
                    <a:lstStyle/>
                    <a:p>
                      <a:pPr>
                        <a:defRPr sz="1200" b="1">
                          <a:solidFill>
                            <a:srgbClr val="FFFFFF"/>
                          </a:solidFill>
                          <a:latin typeface="맑은 고딕"/>
                        </a:defRPr>
                      </a:pPr>
                      <a:r>
                        <a:t>정상 오판률</a:t>
                      </a:r>
                    </a:p>
                  </a:txBody>
                  <a:tcPr marL="118872" marR="91440" marT="64008" marB="54864" anchor="ctr">
                    <a:solidFill>
                      <a:srgbClr val="147D82"/>
                    </a:solidFill>
                  </a:tcPr>
                </a:tc>
                <a:tc>
                  <a:txBody>
                    <a:bodyPr/>
                    <a:lstStyle/>
                    <a:p>
                      <a:pPr>
                        <a:defRPr sz="1200" b="1">
                          <a:solidFill>
                            <a:srgbClr val="FFFFFF"/>
                          </a:solidFill>
                          <a:latin typeface="맑은 고딕"/>
                        </a:defRPr>
                      </a:pPr>
                      <a:r>
                        <a:t>F1</a:t>
                      </a:r>
                    </a:p>
                  </a:txBody>
                  <a:tcPr marL="118872" marR="91440" marT="64008" marB="54864" anchor="ctr">
                    <a:solidFill>
                      <a:srgbClr val="147D82"/>
                    </a:solidFill>
                  </a:tcPr>
                </a:tc>
              </a:tr>
              <a:tr h="241964">
                <a:tc>
                  <a:txBody>
                    <a:bodyPr/>
                    <a:lstStyle/>
                    <a:p>
                      <a:pPr>
                        <a:defRPr sz="1200" b="0">
                          <a:solidFill>
                            <a:srgbClr val="173A49"/>
                          </a:solidFill>
                          <a:latin typeface="맑은 고딕"/>
                        </a:defRPr>
                      </a:pPr>
                      <a:r>
                        <a:t>CatBoost</a:t>
                      </a:r>
                    </a:p>
                  </a:txBody>
                  <a:tcPr marL="118872" marR="91440" marT="64008" marB="54864" anchor="ctr">
                    <a:solidFill>
                      <a:srgbClr val="FFFFFF"/>
                    </a:solidFill>
                  </a:tcPr>
                </a:tc>
                <a:tc>
                  <a:txBody>
                    <a:bodyPr/>
                    <a:lstStyle/>
                    <a:p>
                      <a:pPr>
                        <a:defRPr sz="1200" b="0">
                          <a:solidFill>
                            <a:srgbClr val="173A49"/>
                          </a:solidFill>
                          <a:latin typeface="맑은 고딕"/>
                        </a:defRPr>
                      </a:pPr>
                      <a:r>
                        <a:t>none</a:t>
                      </a:r>
                    </a:p>
                  </a:txBody>
                  <a:tcPr marL="118872" marR="91440" marT="64008" marB="54864" anchor="ctr">
                    <a:solidFill>
                      <a:srgbClr val="FFFFFF"/>
                    </a:solidFill>
                  </a:tcPr>
                </a:tc>
                <a:tc>
                  <a:txBody>
                    <a:bodyPr/>
                    <a:lstStyle/>
                    <a:p>
                      <a:pPr>
                        <a:defRPr sz="1200" b="0">
                          <a:solidFill>
                            <a:srgbClr val="173A49"/>
                          </a:solidFill>
                          <a:latin typeface="맑은 고딕"/>
                        </a:defRPr>
                      </a:pPr>
                      <a:r>
                        <a:t>100.0%</a:t>
                      </a:r>
                    </a:p>
                  </a:txBody>
                  <a:tcPr marL="118872" marR="91440" marT="64008" marB="54864" anchor="ctr">
                    <a:solidFill>
                      <a:srgbClr val="FFFFFF"/>
                    </a:solidFill>
                  </a:tcPr>
                </a:tc>
                <a:tc>
                  <a:txBody>
                    <a:bodyPr/>
                    <a:lstStyle/>
                    <a:p>
                      <a:pPr>
                        <a:defRPr sz="1200" b="0">
                          <a:solidFill>
                            <a:srgbClr val="173A49"/>
                          </a:solidFill>
                          <a:latin typeface="맑은 고딕"/>
                        </a:defRPr>
                      </a:pPr>
                      <a:r>
                        <a:t>9.3%</a:t>
                      </a:r>
                    </a:p>
                  </a:txBody>
                  <a:tcPr marL="118872" marR="91440" marT="64008" marB="54864" anchor="ctr">
                    <a:solidFill>
                      <a:srgbClr val="FFFFFF"/>
                    </a:solidFill>
                  </a:tcPr>
                </a:tc>
                <a:tc>
                  <a:txBody>
                    <a:bodyPr/>
                    <a:lstStyle/>
                    <a:p>
                      <a:pPr>
                        <a:defRPr sz="1200" b="0">
                          <a:solidFill>
                            <a:srgbClr val="173A49"/>
                          </a:solidFill>
                          <a:latin typeface="맑은 고딕"/>
                        </a:defRPr>
                      </a:pPr>
                      <a:r>
                        <a:t>80.8%</a:t>
                      </a:r>
                    </a:p>
                  </a:txBody>
                  <a:tcPr marL="118872" marR="91440" marT="64008" marB="54864" anchor="ctr">
                    <a:solidFill>
                      <a:srgbClr val="FFFFFF"/>
                    </a:solidFill>
                  </a:tcPr>
                </a:tc>
              </a:tr>
              <a:tr h="241964">
                <a:tc>
                  <a:txBody>
                    <a:bodyPr/>
                    <a:lstStyle/>
                    <a:p>
                      <a:pPr>
                        <a:defRPr sz="1200" b="0">
                          <a:solidFill>
                            <a:srgbClr val="173A49"/>
                          </a:solidFill>
                          <a:latin typeface="맑은 고딕"/>
                        </a:defRPr>
                      </a:pPr>
                      <a:r>
                        <a:t>HistGradientBoosting</a:t>
                      </a:r>
                    </a:p>
                  </a:txBody>
                  <a:tcPr marL="118872" marR="91440" marT="64008" marB="54864" anchor="ctr">
                    <a:solidFill>
                      <a:srgbClr val="E8F3F3"/>
                    </a:solidFill>
                  </a:tcPr>
                </a:tc>
                <a:tc>
                  <a:txBody>
                    <a:bodyPr/>
                    <a:lstStyle/>
                    <a:p>
                      <a:pPr>
                        <a:defRPr sz="1200" b="0">
                          <a:solidFill>
                            <a:srgbClr val="173A49"/>
                          </a:solidFill>
                          <a:latin typeface="맑은 고딕"/>
                        </a:defRPr>
                      </a:pPr>
                      <a:r>
                        <a:t>none</a:t>
                      </a:r>
                    </a:p>
                  </a:txBody>
                  <a:tcPr marL="118872" marR="91440" marT="64008" marB="54864" anchor="ctr">
                    <a:solidFill>
                      <a:srgbClr val="E8F3F3"/>
                    </a:solidFill>
                  </a:tcPr>
                </a:tc>
                <a:tc>
                  <a:txBody>
                    <a:bodyPr/>
                    <a:lstStyle/>
                    <a:p>
                      <a:pPr>
                        <a:defRPr sz="1200" b="0">
                          <a:solidFill>
                            <a:srgbClr val="173A49"/>
                          </a:solidFill>
                          <a:latin typeface="맑은 고딕"/>
                        </a:defRPr>
                      </a:pPr>
                      <a:r>
                        <a:t>100.0%</a:t>
                      </a:r>
                    </a:p>
                  </a:txBody>
                  <a:tcPr marL="118872" marR="91440" marT="64008" marB="54864" anchor="ctr">
                    <a:solidFill>
                      <a:srgbClr val="E8F3F3"/>
                    </a:solidFill>
                  </a:tcPr>
                </a:tc>
                <a:tc>
                  <a:txBody>
                    <a:bodyPr/>
                    <a:lstStyle/>
                    <a:p>
                      <a:pPr>
                        <a:defRPr sz="1200" b="0">
                          <a:solidFill>
                            <a:srgbClr val="173A49"/>
                          </a:solidFill>
                          <a:latin typeface="맑은 고딕"/>
                        </a:defRPr>
                      </a:pPr>
                      <a:r>
                        <a:t>10.3%</a:t>
                      </a:r>
                    </a:p>
                  </a:txBody>
                  <a:tcPr marL="118872" marR="91440" marT="64008" marB="54864" anchor="ctr">
                    <a:solidFill>
                      <a:srgbClr val="E8F3F3"/>
                    </a:solidFill>
                  </a:tcPr>
                </a:tc>
                <a:tc>
                  <a:txBody>
                    <a:bodyPr/>
                    <a:lstStyle/>
                    <a:p>
                      <a:pPr>
                        <a:defRPr sz="1200" b="0">
                          <a:solidFill>
                            <a:srgbClr val="173A49"/>
                          </a:solidFill>
                          <a:latin typeface="맑은 고딕"/>
                        </a:defRPr>
                      </a:pPr>
                      <a:r>
                        <a:t>79.2%</a:t>
                      </a:r>
                    </a:p>
                  </a:txBody>
                  <a:tcPr marL="118872" marR="91440" marT="64008" marB="54864" anchor="ctr">
                    <a:solidFill>
                      <a:srgbClr val="E8F3F3"/>
                    </a:solidFill>
                  </a:tcPr>
                </a:tc>
              </a:tr>
              <a:tr h="241964">
                <a:tc>
                  <a:txBody>
                    <a:bodyPr/>
                    <a:lstStyle/>
                    <a:p>
                      <a:pPr>
                        <a:defRPr sz="1200" b="0">
                          <a:solidFill>
                            <a:srgbClr val="173A49"/>
                          </a:solidFill>
                          <a:latin typeface="맑은 고딕"/>
                        </a:defRPr>
                      </a:pPr>
                      <a:r>
                        <a:t>LightGBM</a:t>
                      </a:r>
                    </a:p>
                  </a:txBody>
                  <a:tcPr marL="118872" marR="91440" marT="64008" marB="54864" anchor="ctr">
                    <a:solidFill>
                      <a:srgbClr val="FFFFFF"/>
                    </a:solidFill>
                  </a:tcPr>
                </a:tc>
                <a:tc>
                  <a:txBody>
                    <a:bodyPr/>
                    <a:lstStyle/>
                    <a:p>
                      <a:pPr>
                        <a:defRPr sz="1200" b="0">
                          <a:solidFill>
                            <a:srgbClr val="173A49"/>
                          </a:solidFill>
                          <a:latin typeface="맑은 고딕"/>
                        </a:defRPr>
                      </a:pPr>
                      <a:r>
                        <a:t>none</a:t>
                      </a:r>
                    </a:p>
                  </a:txBody>
                  <a:tcPr marL="118872" marR="91440" marT="64008" marB="54864" anchor="ctr">
                    <a:solidFill>
                      <a:srgbClr val="FFFFFF"/>
                    </a:solidFill>
                  </a:tcPr>
                </a:tc>
                <a:tc>
                  <a:txBody>
                    <a:bodyPr/>
                    <a:lstStyle/>
                    <a:p>
                      <a:pPr>
                        <a:defRPr sz="1200" b="0">
                          <a:solidFill>
                            <a:srgbClr val="173A49"/>
                          </a:solidFill>
                          <a:latin typeface="맑은 고딕"/>
                        </a:defRPr>
                      </a:pPr>
                      <a:r>
                        <a:t>100.0%</a:t>
                      </a:r>
                    </a:p>
                  </a:txBody>
                  <a:tcPr marL="118872" marR="91440" marT="64008" marB="54864" anchor="ctr">
                    <a:solidFill>
                      <a:srgbClr val="FFFFFF"/>
                    </a:solidFill>
                  </a:tcPr>
                </a:tc>
                <a:tc>
                  <a:txBody>
                    <a:bodyPr/>
                    <a:lstStyle/>
                    <a:p>
                      <a:pPr>
                        <a:defRPr sz="1200" b="0">
                          <a:solidFill>
                            <a:srgbClr val="173A49"/>
                          </a:solidFill>
                          <a:latin typeface="맑은 고딕"/>
                        </a:defRPr>
                      </a:pPr>
                      <a:r>
                        <a:t>10.7%</a:t>
                      </a:r>
                    </a:p>
                  </a:txBody>
                  <a:tcPr marL="118872" marR="91440" marT="64008" marB="54864" anchor="ctr">
                    <a:solidFill>
                      <a:srgbClr val="FFFFFF"/>
                    </a:solidFill>
                  </a:tcPr>
                </a:tc>
                <a:tc>
                  <a:txBody>
                    <a:bodyPr/>
                    <a:lstStyle/>
                    <a:p>
                      <a:pPr>
                        <a:defRPr sz="1200" b="0">
                          <a:solidFill>
                            <a:srgbClr val="173A49"/>
                          </a:solidFill>
                          <a:latin typeface="맑은 고딕"/>
                        </a:defRPr>
                      </a:pPr>
                      <a:r>
                        <a:t>78.5%</a:t>
                      </a:r>
                    </a:p>
                  </a:txBody>
                  <a:tcPr marL="118872" marR="91440" marT="64008" marB="54864" anchor="ctr">
                    <a:solidFill>
                      <a:srgbClr val="FFFFFF"/>
                    </a:solidFill>
                  </a:tcPr>
                </a:tc>
              </a:tr>
              <a:tr h="241964">
                <a:tc>
                  <a:txBody>
                    <a:bodyPr/>
                    <a:lstStyle/>
                    <a:p>
                      <a:pPr>
                        <a:defRPr sz="1200" b="0">
                          <a:solidFill>
                            <a:srgbClr val="173A49"/>
                          </a:solidFill>
                          <a:latin typeface="맑은 고딕"/>
                        </a:defRPr>
                      </a:pPr>
                      <a:r>
                        <a:t>XGBoost</a:t>
                      </a:r>
                    </a:p>
                  </a:txBody>
                  <a:tcPr marL="118872" marR="91440" marT="64008" marB="54864" anchor="ctr">
                    <a:solidFill>
                      <a:srgbClr val="E8F3F3"/>
                    </a:solidFill>
                  </a:tcPr>
                </a:tc>
                <a:tc>
                  <a:txBody>
                    <a:bodyPr/>
                    <a:lstStyle/>
                    <a:p>
                      <a:pPr>
                        <a:defRPr sz="1200" b="0">
                          <a:solidFill>
                            <a:srgbClr val="173A49"/>
                          </a:solidFill>
                          <a:latin typeface="맑은 고딕"/>
                        </a:defRPr>
                      </a:pPr>
                      <a:r>
                        <a:t>none</a:t>
                      </a:r>
                    </a:p>
                  </a:txBody>
                  <a:tcPr marL="118872" marR="91440" marT="64008" marB="54864" anchor="ctr">
                    <a:solidFill>
                      <a:srgbClr val="E8F3F3"/>
                    </a:solidFill>
                  </a:tcPr>
                </a:tc>
                <a:tc>
                  <a:txBody>
                    <a:bodyPr/>
                    <a:lstStyle/>
                    <a:p>
                      <a:pPr>
                        <a:defRPr sz="1200" b="0">
                          <a:solidFill>
                            <a:srgbClr val="173A49"/>
                          </a:solidFill>
                          <a:latin typeface="맑은 고딕"/>
                        </a:defRPr>
                      </a:pPr>
                      <a:r>
                        <a:t>100.0%</a:t>
                      </a:r>
                    </a:p>
                  </a:txBody>
                  <a:tcPr marL="118872" marR="91440" marT="64008" marB="54864" anchor="ctr">
                    <a:solidFill>
                      <a:srgbClr val="E8F3F3"/>
                    </a:solidFill>
                  </a:tcPr>
                </a:tc>
                <a:tc>
                  <a:txBody>
                    <a:bodyPr/>
                    <a:lstStyle/>
                    <a:p>
                      <a:pPr>
                        <a:defRPr sz="1200" b="0">
                          <a:solidFill>
                            <a:srgbClr val="173A49"/>
                          </a:solidFill>
                          <a:latin typeface="맑은 고딕"/>
                        </a:defRPr>
                      </a:pPr>
                      <a:r>
                        <a:t>11.2%</a:t>
                      </a:r>
                    </a:p>
                  </a:txBody>
                  <a:tcPr marL="118872" marR="91440" marT="64008" marB="54864" anchor="ctr">
                    <a:solidFill>
                      <a:srgbClr val="E8F3F3"/>
                    </a:solidFill>
                  </a:tcPr>
                </a:tc>
                <a:tc>
                  <a:txBody>
                    <a:bodyPr/>
                    <a:lstStyle/>
                    <a:p>
                      <a:pPr>
                        <a:defRPr sz="1200" b="0">
                          <a:solidFill>
                            <a:srgbClr val="173A49"/>
                          </a:solidFill>
                          <a:latin typeface="맑은 고딕"/>
                        </a:defRPr>
                      </a:pPr>
                      <a:r>
                        <a:t>77.8%</a:t>
                      </a:r>
                    </a:p>
                  </a:txBody>
                  <a:tcPr marL="118872" marR="91440" marT="64008" marB="54864" anchor="ctr">
                    <a:solidFill>
                      <a:srgbClr val="E8F3F3"/>
                    </a:solidFill>
                  </a:tcPr>
                </a:tc>
              </a:tr>
              <a:tr h="241964">
                <a:tc>
                  <a:txBody>
                    <a:bodyPr/>
                    <a:lstStyle/>
                    <a:p>
                      <a:pPr>
                        <a:defRPr sz="1200" b="0">
                          <a:solidFill>
                            <a:srgbClr val="173A49"/>
                          </a:solidFill>
                          <a:latin typeface="맑은 고딕"/>
                        </a:defRPr>
                      </a:pPr>
                      <a:r>
                        <a:t>Random Forest</a:t>
                      </a:r>
                    </a:p>
                  </a:txBody>
                  <a:tcPr marL="118872" marR="91440" marT="64008" marB="54864" anchor="ctr">
                    <a:solidFill>
                      <a:srgbClr val="FFFFFF"/>
                    </a:solidFill>
                  </a:tcPr>
                </a:tc>
                <a:tc>
                  <a:txBody>
                    <a:bodyPr/>
                    <a:lstStyle/>
                    <a:p>
                      <a:pPr>
                        <a:defRPr sz="1200" b="0">
                          <a:solidFill>
                            <a:srgbClr val="173A49"/>
                          </a:solidFill>
                          <a:latin typeface="맑은 고딕"/>
                        </a:defRPr>
                      </a:pPr>
                      <a:r>
                        <a:t>none</a:t>
                      </a:r>
                    </a:p>
                  </a:txBody>
                  <a:tcPr marL="118872" marR="91440" marT="64008" marB="54864" anchor="ctr">
                    <a:solidFill>
                      <a:srgbClr val="FFFFFF"/>
                    </a:solidFill>
                  </a:tcPr>
                </a:tc>
                <a:tc>
                  <a:txBody>
                    <a:bodyPr/>
                    <a:lstStyle/>
                    <a:p>
                      <a:pPr>
                        <a:defRPr sz="1200" b="0">
                          <a:solidFill>
                            <a:srgbClr val="173A49"/>
                          </a:solidFill>
                          <a:latin typeface="맑은 고딕"/>
                        </a:defRPr>
                      </a:pPr>
                      <a:r>
                        <a:t>100.0%</a:t>
                      </a:r>
                    </a:p>
                  </a:txBody>
                  <a:tcPr marL="118872" marR="91440" marT="64008" marB="54864" anchor="ctr">
                    <a:solidFill>
                      <a:srgbClr val="FFFFFF"/>
                    </a:solidFill>
                  </a:tcPr>
                </a:tc>
                <a:tc>
                  <a:txBody>
                    <a:bodyPr/>
                    <a:lstStyle/>
                    <a:p>
                      <a:pPr>
                        <a:defRPr sz="1200" b="0">
                          <a:solidFill>
                            <a:srgbClr val="173A49"/>
                          </a:solidFill>
                          <a:latin typeface="맑은 고딕"/>
                        </a:defRPr>
                      </a:pPr>
                      <a:r>
                        <a:t>13.1%</a:t>
                      </a:r>
                    </a:p>
                  </a:txBody>
                  <a:tcPr marL="118872" marR="91440" marT="64008" marB="54864" anchor="ctr">
                    <a:solidFill>
                      <a:srgbClr val="FFFFFF"/>
                    </a:solidFill>
                  </a:tcPr>
                </a:tc>
                <a:tc>
                  <a:txBody>
                    <a:bodyPr/>
                    <a:lstStyle/>
                    <a:p>
                      <a:pPr>
                        <a:defRPr sz="1200" b="0">
                          <a:solidFill>
                            <a:srgbClr val="173A49"/>
                          </a:solidFill>
                          <a:latin typeface="맑은 고딕"/>
                        </a:defRPr>
                      </a:pPr>
                      <a:r>
                        <a:t>75.0%</a:t>
                      </a:r>
                    </a:p>
                  </a:txBody>
                  <a:tcPr marL="118872" marR="91440" marT="64008" marB="54864" anchor="ctr">
                    <a:solidFill>
                      <a:srgbClr val="FFFFFF"/>
                    </a:solidFill>
                  </a:tcPr>
                </a:tc>
              </a:tr>
              <a:tr h="241964">
                <a:tc>
                  <a:txBody>
                    <a:bodyPr/>
                    <a:lstStyle/>
                    <a:p>
                      <a:pPr>
                        <a:defRPr sz="1200" b="0">
                          <a:solidFill>
                            <a:srgbClr val="173A49"/>
                          </a:solidFill>
                          <a:latin typeface="맑은 고딕"/>
                        </a:defRPr>
                      </a:pPr>
                      <a:r>
                        <a:t>AdaBoost</a:t>
                      </a:r>
                    </a:p>
                  </a:txBody>
                  <a:tcPr marL="118872" marR="91440" marT="64008" marB="54864" anchor="ctr">
                    <a:solidFill>
                      <a:srgbClr val="E8F3F3"/>
                    </a:solidFill>
                  </a:tcPr>
                </a:tc>
                <a:tc>
                  <a:txBody>
                    <a:bodyPr/>
                    <a:lstStyle/>
                    <a:p>
                      <a:pPr>
                        <a:defRPr sz="1200" b="0">
                          <a:solidFill>
                            <a:srgbClr val="173A49"/>
                          </a:solidFill>
                          <a:latin typeface="맑은 고딕"/>
                        </a:defRPr>
                      </a:pPr>
                      <a:r>
                        <a:t>none</a:t>
                      </a:r>
                    </a:p>
                  </a:txBody>
                  <a:tcPr marL="118872" marR="91440" marT="64008" marB="54864" anchor="ctr">
                    <a:solidFill>
                      <a:srgbClr val="E8F3F3"/>
                    </a:solidFill>
                  </a:tcPr>
                </a:tc>
                <a:tc>
                  <a:txBody>
                    <a:bodyPr/>
                    <a:lstStyle/>
                    <a:p>
                      <a:pPr>
                        <a:defRPr sz="1200" b="0">
                          <a:solidFill>
                            <a:srgbClr val="173A49"/>
                          </a:solidFill>
                          <a:latin typeface="맑은 고딕"/>
                        </a:defRPr>
                      </a:pPr>
                      <a:r>
                        <a:t>97.6%</a:t>
                      </a:r>
                    </a:p>
                  </a:txBody>
                  <a:tcPr marL="118872" marR="91440" marT="64008" marB="54864" anchor="ctr">
                    <a:solidFill>
                      <a:srgbClr val="E8F3F3"/>
                    </a:solidFill>
                  </a:tcPr>
                </a:tc>
                <a:tc>
                  <a:txBody>
                    <a:bodyPr/>
                    <a:lstStyle/>
                    <a:p>
                      <a:pPr>
                        <a:defRPr sz="1200" b="0">
                          <a:solidFill>
                            <a:srgbClr val="173A49"/>
                          </a:solidFill>
                          <a:latin typeface="맑은 고딕"/>
                        </a:defRPr>
                      </a:pPr>
                      <a:r>
                        <a:t>6.1%</a:t>
                      </a:r>
                    </a:p>
                  </a:txBody>
                  <a:tcPr marL="118872" marR="91440" marT="64008" marB="54864" anchor="ctr">
                    <a:solidFill>
                      <a:srgbClr val="E8F3F3"/>
                    </a:solidFill>
                  </a:tcPr>
                </a:tc>
                <a:tc>
                  <a:txBody>
                    <a:bodyPr/>
                    <a:lstStyle/>
                    <a:p>
                      <a:pPr>
                        <a:defRPr sz="1200" b="0">
                          <a:solidFill>
                            <a:srgbClr val="173A49"/>
                          </a:solidFill>
                          <a:latin typeface="맑은 고딕"/>
                        </a:defRPr>
                      </a:pPr>
                      <a:r>
                        <a:t>85.4%</a:t>
                      </a:r>
                    </a:p>
                  </a:txBody>
                  <a:tcPr marL="118872" marR="91440" marT="64008" marB="54864" anchor="ctr">
                    <a:solidFill>
                      <a:srgbClr val="E8F3F3"/>
                    </a:solidFill>
                  </a:tcPr>
                </a:tc>
              </a:tr>
              <a:tr h="241964">
                <a:tc>
                  <a:txBody>
                    <a:bodyPr/>
                    <a:lstStyle/>
                    <a:p>
                      <a:pPr>
                        <a:defRPr sz="1200" b="0">
                          <a:solidFill>
                            <a:srgbClr val="173A49"/>
                          </a:solidFill>
                          <a:latin typeface="맑은 고딕"/>
                        </a:defRPr>
                      </a:pPr>
                      <a:r>
                        <a:t>SVM (RBF)</a:t>
                      </a:r>
                    </a:p>
                  </a:txBody>
                  <a:tcPr marL="118872" marR="91440" marT="64008" marB="54864" anchor="ctr">
                    <a:solidFill>
                      <a:srgbClr val="FFFFFF"/>
                    </a:solidFill>
                  </a:tcPr>
                </a:tc>
                <a:tc>
                  <a:txBody>
                    <a:bodyPr/>
                    <a:lstStyle/>
                    <a:p>
                      <a:pPr>
                        <a:defRPr sz="1200" b="0">
                          <a:solidFill>
                            <a:srgbClr val="173A49"/>
                          </a:solidFill>
                          <a:latin typeface="맑은 고딕"/>
                        </a:defRPr>
                      </a:pPr>
                      <a:r>
                        <a:t>weighted</a:t>
                      </a:r>
                    </a:p>
                  </a:txBody>
                  <a:tcPr marL="118872" marR="91440" marT="64008" marB="54864" anchor="ctr">
                    <a:solidFill>
                      <a:srgbClr val="FFFFFF"/>
                    </a:solidFill>
                  </a:tcPr>
                </a:tc>
                <a:tc>
                  <a:txBody>
                    <a:bodyPr/>
                    <a:lstStyle/>
                    <a:p>
                      <a:pPr>
                        <a:defRPr sz="1200" b="0">
                          <a:solidFill>
                            <a:srgbClr val="173A49"/>
                          </a:solidFill>
                          <a:latin typeface="맑은 고딕"/>
                        </a:defRPr>
                      </a:pPr>
                      <a:r>
                        <a:t>97.6%</a:t>
                      </a:r>
                    </a:p>
                  </a:txBody>
                  <a:tcPr marL="118872" marR="91440" marT="64008" marB="54864" anchor="ctr">
                    <a:solidFill>
                      <a:srgbClr val="FFFFFF"/>
                    </a:solidFill>
                  </a:tcPr>
                </a:tc>
                <a:tc>
                  <a:txBody>
                    <a:bodyPr/>
                    <a:lstStyle/>
                    <a:p>
                      <a:pPr>
                        <a:defRPr sz="1200" b="0">
                          <a:solidFill>
                            <a:srgbClr val="173A49"/>
                          </a:solidFill>
                          <a:latin typeface="맑은 고딕"/>
                        </a:defRPr>
                      </a:pPr>
                      <a:r>
                        <a:t>10.7%</a:t>
                      </a:r>
                    </a:p>
                  </a:txBody>
                  <a:tcPr marL="118872" marR="91440" marT="64008" marB="54864" anchor="ctr">
                    <a:solidFill>
                      <a:srgbClr val="FFFFFF"/>
                    </a:solidFill>
                  </a:tcPr>
                </a:tc>
                <a:tc>
                  <a:txBody>
                    <a:bodyPr/>
                    <a:lstStyle/>
                    <a:p>
                      <a:pPr>
                        <a:defRPr sz="1200" b="0">
                          <a:solidFill>
                            <a:srgbClr val="173A49"/>
                          </a:solidFill>
                          <a:latin typeface="맑은 고딕"/>
                        </a:defRPr>
                      </a:pPr>
                      <a:r>
                        <a:t>77.4%</a:t>
                      </a:r>
                    </a:p>
                  </a:txBody>
                  <a:tcPr marL="118872" marR="91440" marT="64008" marB="54864" anchor="ctr">
                    <a:solidFill>
                      <a:srgbClr val="FFFFFF"/>
                    </a:solidFill>
                  </a:tcPr>
                </a:tc>
              </a:tr>
              <a:tr h="241964">
                <a:tc>
                  <a:txBody>
                    <a:bodyPr/>
                    <a:lstStyle/>
                    <a:p>
                      <a:pPr>
                        <a:defRPr sz="1200" b="0">
                          <a:solidFill>
                            <a:srgbClr val="173A49"/>
                          </a:solidFill>
                          <a:latin typeface="맑은 고딕"/>
                        </a:defRPr>
                      </a:pPr>
                      <a:r>
                        <a:t>Gradient Boosting</a:t>
                      </a:r>
                    </a:p>
                  </a:txBody>
                  <a:tcPr marL="118872" marR="91440" marT="64008" marB="54864" anchor="ctr">
                    <a:solidFill>
                      <a:srgbClr val="E8F3F3"/>
                    </a:solidFill>
                  </a:tcPr>
                </a:tc>
                <a:tc>
                  <a:txBody>
                    <a:bodyPr/>
                    <a:lstStyle/>
                    <a:p>
                      <a:pPr>
                        <a:defRPr sz="1200" b="0">
                          <a:solidFill>
                            <a:srgbClr val="173A49"/>
                          </a:solidFill>
                          <a:latin typeface="맑은 고딕"/>
                        </a:defRPr>
                      </a:pPr>
                      <a:r>
                        <a:t>none</a:t>
                      </a:r>
                    </a:p>
                  </a:txBody>
                  <a:tcPr marL="118872" marR="91440" marT="64008" marB="54864" anchor="ctr">
                    <a:solidFill>
                      <a:srgbClr val="E8F3F3"/>
                    </a:solidFill>
                  </a:tcPr>
                </a:tc>
                <a:tc>
                  <a:txBody>
                    <a:bodyPr/>
                    <a:lstStyle/>
                    <a:p>
                      <a:pPr>
                        <a:defRPr sz="1200" b="0">
                          <a:solidFill>
                            <a:srgbClr val="173A49"/>
                          </a:solidFill>
                          <a:latin typeface="맑은 고딕"/>
                        </a:defRPr>
                      </a:pPr>
                      <a:r>
                        <a:t>97.6%</a:t>
                      </a:r>
                    </a:p>
                  </a:txBody>
                  <a:tcPr marL="118872" marR="91440" marT="64008" marB="54864" anchor="ctr">
                    <a:solidFill>
                      <a:srgbClr val="E8F3F3"/>
                    </a:solidFill>
                  </a:tcPr>
                </a:tc>
                <a:tc>
                  <a:txBody>
                    <a:bodyPr/>
                    <a:lstStyle/>
                    <a:p>
                      <a:pPr>
                        <a:defRPr sz="1200" b="0">
                          <a:solidFill>
                            <a:srgbClr val="173A49"/>
                          </a:solidFill>
                          <a:latin typeface="맑은 고딕"/>
                        </a:defRPr>
                      </a:pPr>
                      <a:r>
                        <a:t>11.7%</a:t>
                      </a:r>
                    </a:p>
                  </a:txBody>
                  <a:tcPr marL="118872" marR="91440" marT="64008" marB="54864" anchor="ctr">
                    <a:solidFill>
                      <a:srgbClr val="E8F3F3"/>
                    </a:solidFill>
                  </a:tcPr>
                </a:tc>
                <a:tc>
                  <a:txBody>
                    <a:bodyPr/>
                    <a:lstStyle/>
                    <a:p>
                      <a:pPr>
                        <a:defRPr sz="1200" b="0">
                          <a:solidFill>
                            <a:srgbClr val="173A49"/>
                          </a:solidFill>
                          <a:latin typeface="맑은 고딕"/>
                        </a:defRPr>
                      </a:pPr>
                      <a:r>
                        <a:t>75.9%</a:t>
                      </a:r>
                    </a:p>
                  </a:txBody>
                  <a:tcPr marL="118872" marR="91440" marT="64008" marB="54864" anchor="ctr">
                    <a:solidFill>
                      <a:srgbClr val="E8F3F3"/>
                    </a:solidFill>
                  </a:tcPr>
                </a:tc>
              </a:tr>
              <a:tr h="241964">
                <a:tc>
                  <a:txBody>
                    <a:bodyPr/>
                    <a:lstStyle/>
                    <a:p>
                      <a:pPr>
                        <a:defRPr sz="1200" b="0">
                          <a:solidFill>
                            <a:srgbClr val="173A49"/>
                          </a:solidFill>
                          <a:latin typeface="맑은 고딕"/>
                        </a:defRPr>
                      </a:pPr>
                      <a:r>
                        <a:t>MLP / ANN</a:t>
                      </a:r>
                    </a:p>
                  </a:txBody>
                  <a:tcPr marL="118872" marR="91440" marT="64008" marB="54864" anchor="ctr">
                    <a:solidFill>
                      <a:srgbClr val="FFFFFF"/>
                    </a:solidFill>
                  </a:tcPr>
                </a:tc>
                <a:tc>
                  <a:txBody>
                    <a:bodyPr/>
                    <a:lstStyle/>
                    <a:p>
                      <a:pPr>
                        <a:defRPr sz="1200" b="0">
                          <a:solidFill>
                            <a:srgbClr val="173A49"/>
                          </a:solidFill>
                          <a:latin typeface="맑은 고딕"/>
                        </a:defRPr>
                      </a:pPr>
                      <a:r>
                        <a:t>none</a:t>
                      </a:r>
                    </a:p>
                  </a:txBody>
                  <a:tcPr marL="118872" marR="91440" marT="64008" marB="54864" anchor="ctr">
                    <a:solidFill>
                      <a:srgbClr val="FFFFFF"/>
                    </a:solidFill>
                  </a:tcPr>
                </a:tc>
                <a:tc>
                  <a:txBody>
                    <a:bodyPr/>
                    <a:lstStyle/>
                    <a:p>
                      <a:pPr>
                        <a:defRPr sz="1200" b="0">
                          <a:solidFill>
                            <a:srgbClr val="173A49"/>
                          </a:solidFill>
                          <a:latin typeface="맑은 고딕"/>
                        </a:defRPr>
                      </a:pPr>
                      <a:r>
                        <a:t>97.6%</a:t>
                      </a:r>
                    </a:p>
                  </a:txBody>
                  <a:tcPr marL="118872" marR="91440" marT="64008" marB="54864" anchor="ctr">
                    <a:solidFill>
                      <a:srgbClr val="FFFFFF"/>
                    </a:solidFill>
                  </a:tcPr>
                </a:tc>
                <a:tc>
                  <a:txBody>
                    <a:bodyPr/>
                    <a:lstStyle/>
                    <a:p>
                      <a:pPr>
                        <a:defRPr sz="1200" b="0">
                          <a:solidFill>
                            <a:srgbClr val="173A49"/>
                          </a:solidFill>
                          <a:latin typeface="맑은 고딕"/>
                        </a:defRPr>
                      </a:pPr>
                      <a:r>
                        <a:t>14.5%</a:t>
                      </a:r>
                    </a:p>
                  </a:txBody>
                  <a:tcPr marL="118872" marR="91440" marT="64008" marB="54864" anchor="ctr">
                    <a:solidFill>
                      <a:srgbClr val="FFFFFF"/>
                    </a:solidFill>
                  </a:tcPr>
                </a:tc>
                <a:tc>
                  <a:txBody>
                    <a:bodyPr/>
                    <a:lstStyle/>
                    <a:p>
                      <a:pPr>
                        <a:defRPr sz="1200" b="0">
                          <a:solidFill>
                            <a:srgbClr val="173A49"/>
                          </a:solidFill>
                          <a:latin typeface="맑은 고딕"/>
                        </a:defRPr>
                      </a:pPr>
                      <a:r>
                        <a:t>71.9%</a:t>
                      </a:r>
                    </a:p>
                  </a:txBody>
                  <a:tcPr marL="118872" marR="91440" marT="64008" marB="54864" anchor="ctr">
                    <a:solidFill>
                      <a:srgbClr val="FFFFFF"/>
                    </a:solidFill>
                  </a:tcPr>
                </a:tc>
              </a:tr>
              <a:tr h="241964">
                <a:tc>
                  <a:txBody>
                    <a:bodyPr/>
                    <a:lstStyle/>
                    <a:p>
                      <a:pPr>
                        <a:defRPr sz="1200" b="0">
                          <a:solidFill>
                            <a:srgbClr val="173A49"/>
                          </a:solidFill>
                          <a:latin typeface="맑은 고딕"/>
                        </a:defRPr>
                      </a:pPr>
                      <a:r>
                        <a:t>Decision Tree</a:t>
                      </a:r>
                    </a:p>
                  </a:txBody>
                  <a:tcPr marL="118872" marR="91440" marT="64008" marB="54864" anchor="ctr">
                    <a:solidFill>
                      <a:srgbClr val="E8F3F3"/>
                    </a:solidFill>
                  </a:tcPr>
                </a:tc>
                <a:tc>
                  <a:txBody>
                    <a:bodyPr/>
                    <a:lstStyle/>
                    <a:p>
                      <a:pPr>
                        <a:defRPr sz="1200" b="0">
                          <a:solidFill>
                            <a:srgbClr val="173A49"/>
                          </a:solidFill>
                          <a:latin typeface="맑은 고딕"/>
                        </a:defRPr>
                      </a:pPr>
                      <a:r>
                        <a:t>none</a:t>
                      </a:r>
                    </a:p>
                  </a:txBody>
                  <a:tcPr marL="118872" marR="91440" marT="64008" marB="54864" anchor="ctr">
                    <a:solidFill>
                      <a:srgbClr val="E8F3F3"/>
                    </a:solidFill>
                  </a:tcPr>
                </a:tc>
                <a:tc>
                  <a:txBody>
                    <a:bodyPr/>
                    <a:lstStyle/>
                    <a:p>
                      <a:pPr>
                        <a:defRPr sz="1200" b="0">
                          <a:solidFill>
                            <a:srgbClr val="173A49"/>
                          </a:solidFill>
                          <a:latin typeface="맑은 고딕"/>
                        </a:defRPr>
                      </a:pPr>
                      <a:r>
                        <a:t>92.9%</a:t>
                      </a:r>
                    </a:p>
                  </a:txBody>
                  <a:tcPr marL="118872" marR="91440" marT="64008" marB="54864" anchor="ctr">
                    <a:solidFill>
                      <a:srgbClr val="E8F3F3"/>
                    </a:solidFill>
                  </a:tcPr>
                </a:tc>
                <a:tc>
                  <a:txBody>
                    <a:bodyPr/>
                    <a:lstStyle/>
                    <a:p>
                      <a:pPr>
                        <a:defRPr sz="1200" b="0">
                          <a:solidFill>
                            <a:srgbClr val="173A49"/>
                          </a:solidFill>
                          <a:latin typeface="맑은 고딕"/>
                        </a:defRPr>
                      </a:pPr>
                      <a:r>
                        <a:t>8.4%</a:t>
                      </a:r>
                    </a:p>
                  </a:txBody>
                  <a:tcPr marL="118872" marR="91440" marT="64008" marB="54864" anchor="ctr">
                    <a:solidFill>
                      <a:srgbClr val="E8F3F3"/>
                    </a:solidFill>
                  </a:tcPr>
                </a:tc>
                <a:tc>
                  <a:txBody>
                    <a:bodyPr/>
                    <a:lstStyle/>
                    <a:p>
                      <a:pPr>
                        <a:defRPr sz="1200" b="0">
                          <a:solidFill>
                            <a:srgbClr val="173A49"/>
                          </a:solidFill>
                          <a:latin typeface="맑은 고딕"/>
                        </a:defRPr>
                      </a:pPr>
                      <a:r>
                        <a:t>78.8%</a:t>
                      </a:r>
                    </a:p>
                  </a:txBody>
                  <a:tcPr marL="118872" marR="91440" marT="64008" marB="54864" anchor="ctr">
                    <a:solidFill>
                      <a:srgbClr val="E8F3F3"/>
                    </a:solidFill>
                  </a:tcPr>
                </a:tc>
              </a:tr>
              <a:tr h="241964">
                <a:tc>
                  <a:txBody>
                    <a:bodyPr/>
                    <a:lstStyle/>
                    <a:p>
                      <a:pPr>
                        <a:defRPr sz="1200" b="0">
                          <a:solidFill>
                            <a:srgbClr val="173A49"/>
                          </a:solidFill>
                          <a:latin typeface="맑은 고딕"/>
                        </a:defRPr>
                      </a:pPr>
                      <a:r>
                        <a:t>KNN</a:t>
                      </a:r>
                    </a:p>
                  </a:txBody>
                  <a:tcPr marL="118872" marR="91440" marT="64008" marB="54864" anchor="ctr">
                    <a:solidFill>
                      <a:srgbClr val="FFFFFF"/>
                    </a:solidFill>
                  </a:tcPr>
                </a:tc>
                <a:tc>
                  <a:txBody>
                    <a:bodyPr/>
                    <a:lstStyle/>
                    <a:p>
                      <a:pPr>
                        <a:defRPr sz="1200" b="0">
                          <a:solidFill>
                            <a:srgbClr val="173A49"/>
                          </a:solidFill>
                          <a:latin typeface="맑은 고딕"/>
                        </a:defRPr>
                      </a:pPr>
                      <a:r>
                        <a:t>none</a:t>
                      </a:r>
                    </a:p>
                  </a:txBody>
                  <a:tcPr marL="118872" marR="91440" marT="64008" marB="54864" anchor="ctr">
                    <a:solidFill>
                      <a:srgbClr val="FFFFFF"/>
                    </a:solidFill>
                  </a:tcPr>
                </a:tc>
                <a:tc>
                  <a:txBody>
                    <a:bodyPr/>
                    <a:lstStyle/>
                    <a:p>
                      <a:pPr>
                        <a:defRPr sz="1200" b="0">
                          <a:solidFill>
                            <a:srgbClr val="173A49"/>
                          </a:solidFill>
                          <a:latin typeface="맑은 고딕"/>
                        </a:defRPr>
                      </a:pPr>
                      <a:r>
                        <a:t>92.9%</a:t>
                      </a:r>
                    </a:p>
                  </a:txBody>
                  <a:tcPr marL="118872" marR="91440" marT="64008" marB="54864" anchor="ctr">
                    <a:solidFill>
                      <a:srgbClr val="FFFFFF"/>
                    </a:solidFill>
                  </a:tcPr>
                </a:tc>
                <a:tc>
                  <a:txBody>
                    <a:bodyPr/>
                    <a:lstStyle/>
                    <a:p>
                      <a:pPr>
                        <a:defRPr sz="1200" b="0">
                          <a:solidFill>
                            <a:srgbClr val="173A49"/>
                          </a:solidFill>
                          <a:latin typeface="맑은 고딕"/>
                        </a:defRPr>
                      </a:pPr>
                      <a:r>
                        <a:t>11.2%</a:t>
                      </a:r>
                    </a:p>
                  </a:txBody>
                  <a:tcPr marL="118872" marR="91440" marT="64008" marB="54864" anchor="ctr">
                    <a:solidFill>
                      <a:srgbClr val="FFFFFF"/>
                    </a:solidFill>
                  </a:tcPr>
                </a:tc>
                <a:tc>
                  <a:txBody>
                    <a:bodyPr/>
                    <a:lstStyle/>
                    <a:p>
                      <a:pPr>
                        <a:defRPr sz="1200" b="0">
                          <a:solidFill>
                            <a:srgbClr val="173A49"/>
                          </a:solidFill>
                          <a:latin typeface="맑은 고딕"/>
                        </a:defRPr>
                      </a:pPr>
                      <a:r>
                        <a:t>74.3%</a:t>
                      </a:r>
                    </a:p>
                  </a:txBody>
                  <a:tcPr marL="118872" marR="91440" marT="64008" marB="54864" anchor="ctr">
                    <a:solidFill>
                      <a:srgbClr val="FFFFFF"/>
                    </a:solidFill>
                  </a:tcPr>
                </a:tc>
              </a:tr>
              <a:tr h="241967">
                <a:tc>
                  <a:txBody>
                    <a:bodyPr/>
                    <a:lstStyle/>
                    <a:p>
                      <a:pPr>
                        <a:defRPr sz="1200" b="0">
                          <a:solidFill>
                            <a:srgbClr val="173A49"/>
                          </a:solidFill>
                          <a:latin typeface="맑은 고딕"/>
                        </a:defRPr>
                      </a:pPr>
                      <a:r>
                        <a:t>Logistic Regression</a:t>
                      </a:r>
                    </a:p>
                  </a:txBody>
                  <a:tcPr marL="118872" marR="91440" marT="64008" marB="54864" anchor="ctr">
                    <a:solidFill>
                      <a:srgbClr val="E8F3F3"/>
                    </a:solidFill>
                  </a:tcPr>
                </a:tc>
                <a:tc>
                  <a:txBody>
                    <a:bodyPr/>
                    <a:lstStyle/>
                    <a:p>
                      <a:pPr>
                        <a:defRPr sz="1200" b="0">
                          <a:solidFill>
                            <a:srgbClr val="173A49"/>
                          </a:solidFill>
                          <a:latin typeface="맑은 고딕"/>
                        </a:defRPr>
                      </a:pPr>
                      <a:r>
                        <a:t>weighted</a:t>
                      </a:r>
                    </a:p>
                  </a:txBody>
                  <a:tcPr marL="118872" marR="91440" marT="64008" marB="54864" anchor="ctr">
                    <a:solidFill>
                      <a:srgbClr val="E8F3F3"/>
                    </a:solidFill>
                  </a:tcPr>
                </a:tc>
                <a:tc>
                  <a:txBody>
                    <a:bodyPr/>
                    <a:lstStyle/>
                    <a:p>
                      <a:pPr>
                        <a:defRPr sz="1200" b="0">
                          <a:solidFill>
                            <a:srgbClr val="173A49"/>
                          </a:solidFill>
                          <a:latin typeface="맑은 고딕"/>
                        </a:defRPr>
                      </a:pPr>
                      <a:r>
                        <a:t>90.5%</a:t>
                      </a:r>
                    </a:p>
                  </a:txBody>
                  <a:tcPr marL="118872" marR="91440" marT="64008" marB="54864" anchor="ctr">
                    <a:solidFill>
                      <a:srgbClr val="E8F3F3"/>
                    </a:solidFill>
                  </a:tcPr>
                </a:tc>
                <a:tc>
                  <a:txBody>
                    <a:bodyPr/>
                    <a:lstStyle/>
                    <a:p>
                      <a:pPr>
                        <a:defRPr sz="1200" b="0">
                          <a:solidFill>
                            <a:srgbClr val="173A49"/>
                          </a:solidFill>
                          <a:latin typeface="맑은 고딕"/>
                        </a:defRPr>
                      </a:pPr>
                      <a:r>
                        <a:t>18.7%</a:t>
                      </a:r>
                    </a:p>
                  </a:txBody>
                  <a:tcPr marL="118872" marR="91440" marT="64008" marB="54864" anchor="ctr">
                    <a:solidFill>
                      <a:srgbClr val="E8F3F3"/>
                    </a:solidFill>
                  </a:tcPr>
                </a:tc>
                <a:tc>
                  <a:txBody>
                    <a:bodyPr/>
                    <a:lstStyle/>
                    <a:p>
                      <a:pPr>
                        <a:defRPr sz="1200" b="0">
                          <a:solidFill>
                            <a:srgbClr val="173A49"/>
                          </a:solidFill>
                          <a:latin typeface="맑은 고딕"/>
                        </a:defRPr>
                      </a:pPr>
                      <a:r>
                        <a:t>63.3%</a:t>
                      </a:r>
                    </a:p>
                  </a:txBody>
                  <a:tcPr marL="118872" marR="91440" marT="64008" marB="54864" anchor="ctr">
                    <a:solidFill>
                      <a:srgbClr val="E8F3F3"/>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부록 B · 데이터별 추가 구현 결과</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공개 센서와 이미지에서도 실행했습니다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12 / 16  부록</a:t>
            </a:r>
          </a:p>
        </p:txBody>
      </p:sp>
      <p:sp>
        <p:nvSpPr>
          <p:cNvPr id="8" name="TextBox 7"/>
          <p:cNvSpPr txBox="1"/>
          <p:nvPr/>
        </p:nvSpPr>
        <p:spPr>
          <a:xfrm>
            <a:off x="640080" y="1847088"/>
            <a:ext cx="10972800" cy="40233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각 행 안에서 같은 Test를 비교합니다. 데이터 사이의 모델 종합 순위가 아닙니다.</a:t>
            </a:r>
          </a:p>
        </p:txBody>
      </p:sp>
      <p:sp>
        <p:nvSpPr>
          <p:cNvPr id="9" name="TextBox 8"/>
          <p:cNvSpPr txBox="1"/>
          <p:nvPr/>
        </p:nvSpPr>
        <p:spPr>
          <a:xfrm>
            <a:off x="640080" y="2267712"/>
            <a:ext cx="10972800" cy="40233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SECOM은 실제 공개 자료입니다. 센서·이미지 예제는 합성 데이터입니다.</a:t>
            </a:r>
          </a:p>
        </p:txBody>
      </p:sp>
      <p:graphicFrame>
        <p:nvGraphicFramePr>
          <p:cNvPr id="10" name="Table 9"/>
          <p:cNvGraphicFramePr>
            <a:graphicFrameLocks noGrp="1"/>
          </p:cNvGraphicFramePr>
          <p:nvPr/>
        </p:nvGraphicFramePr>
        <p:xfrm>
          <a:off x="594360" y="2926080"/>
          <a:ext cx="11000232" cy="3145535"/>
        </p:xfrm>
        <a:graphic>
          <a:graphicData uri="http://schemas.openxmlformats.org/drawingml/2006/table">
            <a:tbl>
              <a:tblPr firstRow="1" bandRow="1">
                <a:tableStyleId>{5C22544A-7EE6-4342-B048-85BDC9FD1C3A}</a:tableStyleId>
              </a:tblPr>
              <a:tblGrid>
                <a:gridCol w="2200046"/>
                <a:gridCol w="2200046"/>
                <a:gridCol w="2200046"/>
                <a:gridCol w="2200046"/>
                <a:gridCol w="2200048"/>
              </a:tblGrid>
              <a:tr h="786383">
                <a:tc>
                  <a:txBody>
                    <a:bodyPr/>
                    <a:lstStyle/>
                    <a:p>
                      <a:pPr>
                        <a:defRPr sz="1300" b="1">
                          <a:solidFill>
                            <a:srgbClr val="FFFFFF"/>
                          </a:solidFill>
                          <a:latin typeface="맑은 고딕"/>
                        </a:defRPr>
                      </a:pPr>
                      <a:r>
                        <a:t>데이터</a:t>
                      </a:r>
                    </a:p>
                  </a:txBody>
                  <a:tcPr marL="118872" marR="91440" marT="64008" marB="54864" anchor="ctr">
                    <a:solidFill>
                      <a:srgbClr val="147D82"/>
                    </a:solidFill>
                  </a:tcPr>
                </a:tc>
                <a:tc>
                  <a:txBody>
                    <a:bodyPr/>
                    <a:lstStyle/>
                    <a:p>
                      <a:pPr>
                        <a:defRPr sz="1300" b="1">
                          <a:solidFill>
                            <a:srgbClr val="FFFFFF"/>
                          </a:solidFill>
                          <a:latin typeface="맑은 고딕"/>
                        </a:defRPr>
                      </a:pPr>
                      <a:r>
                        <a:t>기본 / 선택·참고 후보</a:t>
                      </a:r>
                    </a:p>
                  </a:txBody>
                  <a:tcPr marL="118872" marR="91440" marT="64008" marB="54864" anchor="ctr">
                    <a:solidFill>
                      <a:srgbClr val="147D82"/>
                    </a:solidFill>
                  </a:tcPr>
                </a:tc>
                <a:tc>
                  <a:txBody>
                    <a:bodyPr/>
                    <a:lstStyle/>
                    <a:p>
                      <a:pPr>
                        <a:defRPr sz="1300" b="1">
                          <a:solidFill>
                            <a:srgbClr val="FFFFFF"/>
                          </a:solidFill>
                          <a:latin typeface="맑은 고딕"/>
                        </a:defRPr>
                      </a:pPr>
                      <a:r>
                        <a:t>불량 발견</a:t>
                      </a:r>
                    </a:p>
                  </a:txBody>
                  <a:tcPr marL="118872" marR="91440" marT="64008" marB="54864" anchor="ctr">
                    <a:solidFill>
                      <a:srgbClr val="147D82"/>
                    </a:solidFill>
                  </a:tcPr>
                </a:tc>
                <a:tc>
                  <a:txBody>
                    <a:bodyPr/>
                    <a:lstStyle/>
                    <a:p>
                      <a:pPr>
                        <a:defRPr sz="1300" b="1">
                          <a:solidFill>
                            <a:srgbClr val="FFFFFF"/>
                          </a:solidFill>
                          <a:latin typeface="맑은 고딕"/>
                        </a:defRPr>
                      </a:pPr>
                      <a:r>
                        <a:t>정상 오판</a:t>
                      </a:r>
                    </a:p>
                  </a:txBody>
                  <a:tcPr marL="118872" marR="91440" marT="64008" marB="54864" anchor="ctr">
                    <a:solidFill>
                      <a:srgbClr val="147D82"/>
                    </a:solidFill>
                  </a:tcPr>
                </a:tc>
                <a:tc>
                  <a:txBody>
                    <a:bodyPr/>
                    <a:lstStyle/>
                    <a:p>
                      <a:pPr>
                        <a:defRPr sz="1300" b="1">
                          <a:solidFill>
                            <a:srgbClr val="FFFFFF"/>
                          </a:solidFill>
                          <a:latin typeface="맑은 고딕"/>
                        </a:defRPr>
                      </a:pPr>
                      <a:r>
                        <a:t>판단</a:t>
                      </a:r>
                    </a:p>
                  </a:txBody>
                  <a:tcPr marL="118872" marR="91440" marT="64008" marB="54864" anchor="ctr">
                    <a:solidFill>
                      <a:srgbClr val="147D82"/>
                    </a:solidFill>
                  </a:tcPr>
                </a:tc>
              </a:tr>
              <a:tr h="786383">
                <a:tc>
                  <a:txBody>
                    <a:bodyPr/>
                    <a:lstStyle/>
                    <a:p>
                      <a:pPr>
                        <a:defRPr sz="1300" b="0">
                          <a:solidFill>
                            <a:srgbClr val="173A49"/>
                          </a:solidFill>
                          <a:latin typeface="맑은 고딕"/>
                        </a:defRPr>
                      </a:pPr>
                      <a:r>
                        <a:t>합성 센서</a:t>
                      </a:r>
                    </a:p>
                  </a:txBody>
                  <a:tcPr marL="118872" marR="91440" marT="64008" marB="54864" anchor="ctr">
                    <a:solidFill>
                      <a:srgbClr val="FFFFFF"/>
                    </a:solidFill>
                  </a:tcPr>
                </a:tc>
                <a:tc>
                  <a:txBody>
                    <a:bodyPr/>
                    <a:lstStyle/>
                    <a:p>
                      <a:pPr>
                        <a:defRPr sz="1300" b="0">
                          <a:solidFill>
                            <a:srgbClr val="173A49"/>
                          </a:solidFill>
                          <a:latin typeface="맑은 고딕"/>
                        </a:defRPr>
                      </a:pPr>
                      <a:r>
                        <a:t>Logistic / CatBoost</a:t>
                      </a:r>
                    </a:p>
                  </a:txBody>
                  <a:tcPr marL="118872" marR="91440" marT="64008" marB="54864" anchor="ctr">
                    <a:solidFill>
                      <a:srgbClr val="FFFFFF"/>
                    </a:solidFill>
                  </a:tcPr>
                </a:tc>
                <a:tc>
                  <a:txBody>
                    <a:bodyPr/>
                    <a:lstStyle/>
                    <a:p>
                      <a:pPr>
                        <a:defRPr sz="1300" b="0">
                          <a:solidFill>
                            <a:srgbClr val="173A49"/>
                          </a:solidFill>
                          <a:latin typeface="맑은 고딕"/>
                        </a:defRPr>
                      </a:pPr>
                      <a:r>
                        <a:t>20 → 27 / 32</a:t>
                      </a:r>
                    </a:p>
                  </a:txBody>
                  <a:tcPr marL="118872" marR="91440" marT="64008" marB="54864" anchor="ctr">
                    <a:solidFill>
                      <a:srgbClr val="FFFFFF"/>
                    </a:solidFill>
                  </a:tcPr>
                </a:tc>
                <a:tc>
                  <a:txBody>
                    <a:bodyPr/>
                    <a:lstStyle/>
                    <a:p>
                      <a:pPr>
                        <a:defRPr sz="1300" b="0">
                          <a:solidFill>
                            <a:srgbClr val="173A49"/>
                          </a:solidFill>
                          <a:latin typeface="맑은 고딕"/>
                        </a:defRPr>
                      </a:pPr>
                      <a:r>
                        <a:t>1 → 14 / 224</a:t>
                      </a:r>
                    </a:p>
                  </a:txBody>
                  <a:tcPr marL="118872" marR="91440" marT="64008" marB="54864" anchor="ctr">
                    <a:solidFill>
                      <a:srgbClr val="FFFFFF"/>
                    </a:solidFill>
                  </a:tcPr>
                </a:tc>
                <a:tc>
                  <a:txBody>
                    <a:bodyPr/>
                    <a:lstStyle/>
                    <a:p>
                      <a:pPr>
                        <a:defRPr sz="1300" b="0">
                          <a:solidFill>
                            <a:srgbClr val="173A49"/>
                          </a:solidFill>
                          <a:latin typeface="맑은 고딕"/>
                        </a:defRPr>
                      </a:pPr>
                      <a:r>
                        <a:t>추가 검증 필요</a:t>
                      </a:r>
                    </a:p>
                  </a:txBody>
                  <a:tcPr marL="118872" marR="91440" marT="64008" marB="54864" anchor="ctr">
                    <a:solidFill>
                      <a:srgbClr val="FFFFFF"/>
                    </a:solidFill>
                  </a:tcPr>
                </a:tc>
              </a:tr>
              <a:tr h="786383">
                <a:tc>
                  <a:txBody>
                    <a:bodyPr/>
                    <a:lstStyle/>
                    <a:p>
                      <a:pPr>
                        <a:defRPr sz="1300" b="0">
                          <a:solidFill>
                            <a:srgbClr val="173A49"/>
                          </a:solidFill>
                          <a:latin typeface="맑은 고딕"/>
                        </a:defRPr>
                      </a:pPr>
                      <a:r>
                        <a:t>UCI SECOM</a:t>
                      </a:r>
                    </a:p>
                  </a:txBody>
                  <a:tcPr marL="118872" marR="91440" marT="64008" marB="54864" anchor="ctr">
                    <a:solidFill>
                      <a:srgbClr val="E8F3F3"/>
                    </a:solidFill>
                  </a:tcPr>
                </a:tc>
                <a:tc>
                  <a:txBody>
                    <a:bodyPr/>
                    <a:lstStyle/>
                    <a:p>
                      <a:pPr>
                        <a:defRPr sz="1300" b="0">
                          <a:solidFill>
                            <a:srgbClr val="173A49"/>
                          </a:solidFill>
                          <a:latin typeface="맑은 고딕"/>
                        </a:defRPr>
                      </a:pPr>
                      <a:r>
                        <a:t>Logistic / XGBoost</a:t>
                      </a:r>
                    </a:p>
                  </a:txBody>
                  <a:tcPr marL="118872" marR="91440" marT="64008" marB="54864" anchor="ctr">
                    <a:solidFill>
                      <a:srgbClr val="E8F3F3"/>
                    </a:solidFill>
                  </a:tcPr>
                </a:tc>
                <a:tc>
                  <a:txBody>
                    <a:bodyPr/>
                    <a:lstStyle/>
                    <a:p>
                      <a:pPr>
                        <a:defRPr sz="1300" b="0">
                          <a:solidFill>
                            <a:srgbClr val="173A49"/>
                          </a:solidFill>
                          <a:latin typeface="맑은 고딕"/>
                        </a:defRPr>
                      </a:pPr>
                      <a:r>
                        <a:t>0 → 5 / 23</a:t>
                      </a:r>
                    </a:p>
                  </a:txBody>
                  <a:tcPr marL="118872" marR="91440" marT="64008" marB="54864" anchor="ctr">
                    <a:solidFill>
                      <a:srgbClr val="E8F3F3"/>
                    </a:solidFill>
                  </a:tcPr>
                </a:tc>
                <a:tc>
                  <a:txBody>
                    <a:bodyPr/>
                    <a:lstStyle/>
                    <a:p>
                      <a:pPr>
                        <a:defRPr sz="1300" b="0">
                          <a:solidFill>
                            <a:srgbClr val="173A49"/>
                          </a:solidFill>
                          <a:latin typeface="맑은 고딕"/>
                        </a:defRPr>
                      </a:pPr>
                      <a:r>
                        <a:t>17 → 87 / 357</a:t>
                      </a:r>
                    </a:p>
                  </a:txBody>
                  <a:tcPr marL="118872" marR="91440" marT="64008" marB="54864" anchor="ctr">
                    <a:solidFill>
                      <a:srgbClr val="E8F3F3"/>
                    </a:solidFill>
                  </a:tcPr>
                </a:tc>
                <a:tc>
                  <a:txBody>
                    <a:bodyPr/>
                    <a:lstStyle/>
                    <a:p>
                      <a:pPr>
                        <a:defRPr sz="1300" b="0">
                          <a:solidFill>
                            <a:srgbClr val="173A49"/>
                          </a:solidFill>
                          <a:latin typeface="맑은 고딕"/>
                        </a:defRPr>
                      </a:pPr>
                      <a:r>
                        <a:t>목표 충족 후보 없음</a:t>
                      </a:r>
                    </a:p>
                  </a:txBody>
                  <a:tcPr marL="118872" marR="91440" marT="64008" marB="54864" anchor="ctr">
                    <a:solidFill>
                      <a:srgbClr val="E8F3F3"/>
                    </a:solidFill>
                  </a:tcPr>
                </a:tc>
              </a:tr>
              <a:tr h="786386">
                <a:tc>
                  <a:txBody>
                    <a:bodyPr/>
                    <a:lstStyle/>
                    <a:p>
                      <a:pPr>
                        <a:defRPr sz="1300" b="0">
                          <a:solidFill>
                            <a:srgbClr val="173A49"/>
                          </a:solidFill>
                          <a:latin typeface="맑은 고딕"/>
                        </a:defRPr>
                      </a:pPr>
                      <a:r>
                        <a:t>합성 이미지</a:t>
                      </a:r>
                    </a:p>
                  </a:txBody>
                  <a:tcPr marL="118872" marR="91440" marT="64008" marB="54864" anchor="ctr">
                    <a:solidFill>
                      <a:srgbClr val="FFFFFF"/>
                    </a:solidFill>
                  </a:tcPr>
                </a:tc>
                <a:tc>
                  <a:txBody>
                    <a:bodyPr/>
                    <a:lstStyle/>
                    <a:p>
                      <a:pPr>
                        <a:defRPr sz="1300" b="0">
                          <a:solidFill>
                            <a:srgbClr val="173A49"/>
                          </a:solidFill>
                          <a:latin typeface="맑은 고딕"/>
                        </a:defRPr>
                      </a:pPr>
                      <a:r>
                        <a:t>축소 ResNet / Autoencoder</a:t>
                      </a:r>
                    </a:p>
                  </a:txBody>
                  <a:tcPr marL="118872" marR="91440" marT="64008" marB="54864" anchor="ctr">
                    <a:solidFill>
                      <a:srgbClr val="FFFFFF"/>
                    </a:solidFill>
                  </a:tcPr>
                </a:tc>
                <a:tc>
                  <a:txBody>
                    <a:bodyPr/>
                    <a:lstStyle/>
                    <a:p>
                      <a:pPr>
                        <a:defRPr sz="1300" b="0">
                          <a:solidFill>
                            <a:srgbClr val="173A49"/>
                          </a:solidFill>
                          <a:latin typeface="맑은 고딕"/>
                        </a:defRPr>
                      </a:pPr>
                      <a:r>
                        <a:t>15 → 14 / 15</a:t>
                      </a:r>
                    </a:p>
                  </a:txBody>
                  <a:tcPr marL="118872" marR="91440" marT="64008" marB="54864" anchor="ctr">
                    <a:solidFill>
                      <a:srgbClr val="FFFFFF"/>
                    </a:solidFill>
                  </a:tcPr>
                </a:tc>
                <a:tc>
                  <a:txBody>
                    <a:bodyPr/>
                    <a:lstStyle/>
                    <a:p>
                      <a:pPr>
                        <a:defRPr sz="1300" b="0">
                          <a:solidFill>
                            <a:srgbClr val="173A49"/>
                          </a:solidFill>
                          <a:latin typeface="맑은 고딕"/>
                        </a:defRPr>
                      </a:pPr>
                      <a:r>
                        <a:t>32 → 0 / 105</a:t>
                      </a:r>
                    </a:p>
                  </a:txBody>
                  <a:tcPr marL="118872" marR="91440" marT="64008" marB="54864" anchor="ctr">
                    <a:solidFill>
                      <a:srgbClr val="FFFFFF"/>
                    </a:solidFill>
                  </a:tcPr>
                </a:tc>
                <a:tc>
                  <a:txBody>
                    <a:bodyPr/>
                    <a:lstStyle/>
                    <a:p>
                      <a:pPr>
                        <a:defRPr sz="1300" b="0">
                          <a:solidFill>
                            <a:srgbClr val="173A49"/>
                          </a:solidFill>
                          <a:latin typeface="맑은 고딕"/>
                        </a:defRPr>
                      </a:pPr>
                      <a:r>
                        <a:t>불량 표본 보강</a:t>
                      </a:r>
                    </a:p>
                  </a:txBody>
                  <a:tcPr marL="118872" marR="91440" marT="64008" marB="54864" anchor="ctr">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부록 C · 데이터 분할과 모델 구조</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6:2:2와 앙상블은 어떻게 적용했나요?</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13 / 16  부록</a:t>
            </a:r>
          </a:p>
        </p:txBody>
      </p:sp>
      <p:sp>
        <p:nvSpPr>
          <p:cNvPr id="8" name="Rectangle 7"/>
          <p:cNvSpPr/>
          <p:nvPr/>
        </p:nvSpPr>
        <p:spPr>
          <a:xfrm>
            <a:off x="640080" y="197510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97510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Train: 학습 / Validation: 후보·판정값 선택 / Test: 마지막 확인</a:t>
            </a:r>
          </a:p>
        </p:txBody>
      </p:sp>
      <p:sp>
        <p:nvSpPr>
          <p:cNvPr id="10" name="Rectangle 9"/>
          <p:cNvSpPr/>
          <p:nvPr/>
        </p:nvSpPr>
        <p:spPr>
          <a:xfrm>
            <a:off x="640080" y="275234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75234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합성 센서 768 / 256 / 256 · 후보 A+B+C는 Train 중 544건 학습</a:t>
            </a:r>
          </a:p>
        </p:txBody>
      </p:sp>
      <p:sp>
        <p:nvSpPr>
          <p:cNvPr id="12" name="Rectangle 11"/>
          <p:cNvSpPr/>
          <p:nvPr/>
        </p:nvSpPr>
        <p:spPr>
          <a:xfrm>
            <a:off x="640080" y="352958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52958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같은 lot·날짜 경계 보존 · SECOM 실제 행 수 820 / 367 / 380</a:t>
            </a:r>
          </a:p>
        </p:txBody>
      </p:sp>
      <p:sp>
        <p:nvSpPr>
          <p:cNvPr id="14" name="Rectangle 13"/>
          <p:cNvSpPr/>
          <p:nvPr/>
        </p:nvSpPr>
        <p:spPr>
          <a:xfrm>
            <a:off x="640080" y="430682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30682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RF·부스팅 모델은 사용 · 서로 다른 모델의 혼합 가중치 탐색은 미구현</a:t>
            </a:r>
          </a:p>
        </p:txBody>
      </p:sp>
      <p:sp>
        <p:nvSpPr>
          <p:cNvPr id="16" name="Rectangle 15"/>
          <p:cNvSpPr/>
          <p:nvPr/>
        </p:nvSpPr>
        <p:spPr>
          <a:xfrm>
            <a:off x="640080" y="508406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508406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Test 재사용 탐색의 한계: 최종 적용 판단에는 새 독립 기간 데이터 필요</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부록 D · 9장 기술 설명의 상세 증빙</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구현 기술의 상세 범위</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14 / 16  부록</a:t>
            </a:r>
          </a:p>
        </p:txBody>
      </p:sp>
      <p:sp>
        <p:nvSpPr>
          <p:cNvPr id="8" name="TextBox 7"/>
          <p:cNvSpPr txBox="1"/>
          <p:nvPr/>
        </p:nvSpPr>
        <p:spPr>
          <a:xfrm>
            <a:off x="640080" y="1847088"/>
            <a:ext cx="10972800" cy="40233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질문이 있을 때만 확인합니다. 과제 기술 목록 전체 구현을 주장하지 않습니다.</a:t>
            </a:r>
          </a:p>
        </p:txBody>
      </p:sp>
      <p:graphicFrame>
        <p:nvGraphicFramePr>
          <p:cNvPr id="9" name="Table 8"/>
          <p:cNvGraphicFramePr>
            <a:graphicFrameLocks noGrp="1"/>
          </p:cNvGraphicFramePr>
          <p:nvPr/>
        </p:nvGraphicFramePr>
        <p:xfrm>
          <a:off x="594360" y="2505456"/>
          <a:ext cx="11000232" cy="3566159"/>
        </p:xfrm>
        <a:graphic>
          <a:graphicData uri="http://schemas.openxmlformats.org/drawingml/2006/table">
            <a:tbl>
              <a:tblPr firstRow="1" bandRow="1">
                <a:tableStyleId>{5C22544A-7EE6-4342-B048-85BDC9FD1C3A}</a:tableStyleId>
              </a:tblPr>
              <a:tblGrid>
                <a:gridCol w="2148840"/>
                <a:gridCol w="4572000"/>
                <a:gridCol w="4279392"/>
              </a:tblGrid>
              <a:tr h="445769">
                <a:tc>
                  <a:txBody>
                    <a:bodyPr/>
                    <a:lstStyle/>
                    <a:p>
                      <a:pPr>
                        <a:defRPr sz="1200" b="1">
                          <a:solidFill>
                            <a:srgbClr val="FFFFFF"/>
                          </a:solidFill>
                          <a:latin typeface="맑은 고딕"/>
                        </a:defRPr>
                      </a:pPr>
                      <a:r>
                        <a:t>요소</a:t>
                      </a:r>
                    </a:p>
                  </a:txBody>
                  <a:tcPr marL="118872" marR="91440" marT="64008" marB="54864" anchor="ctr">
                    <a:solidFill>
                      <a:srgbClr val="147D82"/>
                    </a:solidFill>
                  </a:tcPr>
                </a:tc>
                <a:tc>
                  <a:txBody>
                    <a:bodyPr/>
                    <a:lstStyle/>
                    <a:p>
                      <a:pPr>
                        <a:defRPr sz="1200" b="1">
                          <a:solidFill>
                            <a:srgbClr val="FFFFFF"/>
                          </a:solidFill>
                          <a:latin typeface="맑은 고딕"/>
                        </a:defRPr>
                      </a:pPr>
                      <a:r>
                        <a:t>구현·증빙</a:t>
                      </a:r>
                    </a:p>
                  </a:txBody>
                  <a:tcPr marL="118872" marR="91440" marT="64008" marB="54864" anchor="ctr">
                    <a:solidFill>
                      <a:srgbClr val="147D82"/>
                    </a:solidFill>
                  </a:tcPr>
                </a:tc>
                <a:tc>
                  <a:txBody>
                    <a:bodyPr/>
                    <a:lstStyle/>
                    <a:p>
                      <a:pPr>
                        <a:defRPr sz="1200" b="1">
                          <a:solidFill>
                            <a:srgbClr val="FFFFFF"/>
                          </a:solidFill>
                          <a:latin typeface="맑은 고딕"/>
                        </a:defRPr>
                      </a:pPr>
                      <a:r>
                        <a:t>현재 한계</a:t>
                      </a:r>
                    </a:p>
                  </a:txBody>
                  <a:tcPr marL="118872" marR="91440" marT="64008" marB="54864" anchor="ctr">
                    <a:solidFill>
                      <a:srgbClr val="147D82"/>
                    </a:solidFill>
                  </a:tcPr>
                </a:tc>
              </a:tr>
              <a:tr h="445769">
                <a:tc>
                  <a:txBody>
                    <a:bodyPr/>
                    <a:lstStyle/>
                    <a:p>
                      <a:pPr>
                        <a:defRPr sz="1200" b="0">
                          <a:solidFill>
                            <a:srgbClr val="173A49"/>
                          </a:solidFill>
                          <a:latin typeface="맑은 고딕"/>
                        </a:defRPr>
                      </a:pPr>
                      <a:r>
                        <a:t>Multi-Agent / LangGraph</a:t>
                      </a:r>
                    </a:p>
                  </a:txBody>
                  <a:tcPr marL="118872" marR="91440" marT="64008" marB="54864" anchor="ctr">
                    <a:solidFill>
                      <a:srgbClr val="FFFFFF"/>
                    </a:solidFill>
                  </a:tcPr>
                </a:tc>
                <a:tc>
                  <a:txBody>
                    <a:bodyPr/>
                    <a:lstStyle/>
                    <a:p>
                      <a:pPr>
                        <a:defRPr sz="1200" b="0">
                          <a:solidFill>
                            <a:srgbClr val="173A49"/>
                          </a:solidFill>
                          <a:latin typeface="맑은 고딕"/>
                        </a:defRPr>
                      </a:pPr>
                      <a:r>
                        <a:t>점검·검색·계획·결과 검토 역할</a:t>
                      </a:r>
                    </a:p>
                  </a:txBody>
                  <a:tcPr marL="118872" marR="91440" marT="64008" marB="54864" anchor="ctr">
                    <a:solidFill>
                      <a:srgbClr val="FFFFFF"/>
                    </a:solidFill>
                  </a:tcPr>
                </a:tc>
                <a:tc>
                  <a:txBody>
                    <a:bodyPr/>
                    <a:lstStyle/>
                    <a:p>
                      <a:pPr>
                        <a:defRPr sz="1200" b="0">
                          <a:solidFill>
                            <a:srgbClr val="173A49"/>
                          </a:solidFill>
                          <a:latin typeface="맑은 고딕"/>
                        </a:defRPr>
                      </a:pPr>
                      <a:r>
                        <a:t>고정 그래프 · 자율 Supervisor 미구현</a:t>
                      </a:r>
                    </a:p>
                  </a:txBody>
                  <a:tcPr marL="118872" marR="91440" marT="64008" marB="54864" anchor="ctr">
                    <a:solidFill>
                      <a:srgbClr val="FFFFFF"/>
                    </a:solidFill>
                  </a:tcPr>
                </a:tc>
              </a:tr>
              <a:tr h="445769">
                <a:tc>
                  <a:txBody>
                    <a:bodyPr/>
                    <a:lstStyle/>
                    <a:p>
                      <a:pPr>
                        <a:defRPr sz="1200" b="0">
                          <a:solidFill>
                            <a:srgbClr val="173A49"/>
                          </a:solidFill>
                          <a:latin typeface="맑은 고딕"/>
                        </a:defRPr>
                      </a:pPr>
                      <a:r>
                        <a:t>RAG</a:t>
                      </a:r>
                    </a:p>
                  </a:txBody>
                  <a:tcPr marL="118872" marR="91440" marT="64008" marB="54864" anchor="ctr">
                    <a:solidFill>
                      <a:srgbClr val="E8F3F3"/>
                    </a:solidFill>
                  </a:tcPr>
                </a:tc>
                <a:tc>
                  <a:txBody>
                    <a:bodyPr/>
                    <a:lstStyle/>
                    <a:p>
                      <a:pPr>
                        <a:defRPr sz="1200" b="0">
                          <a:solidFill>
                            <a:srgbClr val="173A49"/>
                          </a:solidFill>
                          <a:latin typeface="맑은 고딕"/>
                        </a:defRPr>
                      </a:pPr>
                      <a:r>
                        <a:t>TF-IDF / 선택적 Qwen 임베딩·cosine</a:t>
                      </a:r>
                    </a:p>
                  </a:txBody>
                  <a:tcPr marL="118872" marR="91440" marT="64008" marB="54864" anchor="ctr">
                    <a:solidFill>
                      <a:srgbClr val="E8F3F3"/>
                    </a:solidFill>
                  </a:tcPr>
                </a:tc>
                <a:tc>
                  <a:txBody>
                    <a:bodyPr/>
                    <a:lstStyle/>
                    <a:p>
                      <a:pPr>
                        <a:defRPr sz="1200" b="0">
                          <a:solidFill>
                            <a:srgbClr val="173A49"/>
                          </a:solidFill>
                          <a:latin typeface="맑은 고딕"/>
                        </a:defRPr>
                      </a:pPr>
                      <a:r>
                        <a:t>현재 Windows TF-IDF · 별도 Vector DB 없음</a:t>
                      </a:r>
                    </a:p>
                  </a:txBody>
                  <a:tcPr marL="118872" marR="91440" marT="64008" marB="54864" anchor="ctr">
                    <a:solidFill>
                      <a:srgbClr val="E8F3F3"/>
                    </a:solidFill>
                  </a:tcPr>
                </a:tc>
              </a:tr>
              <a:tr h="445769">
                <a:tc>
                  <a:txBody>
                    <a:bodyPr/>
                    <a:lstStyle/>
                    <a:p>
                      <a:pPr>
                        <a:defRPr sz="1200" b="0">
                          <a:solidFill>
                            <a:srgbClr val="173A49"/>
                          </a:solidFill>
                          <a:latin typeface="맑은 고딕"/>
                        </a:defRPr>
                      </a:pPr>
                      <a:r>
                        <a:t>외부 후보 추가</a:t>
                      </a:r>
                    </a:p>
                  </a:txBody>
                  <a:tcPr marL="118872" marR="91440" marT="64008" marB="54864" anchor="ctr">
                    <a:solidFill>
                      <a:srgbClr val="FFFFFF"/>
                    </a:solidFill>
                  </a:tcPr>
                </a:tc>
                <a:tc>
                  <a:txBody>
                    <a:bodyPr/>
                    <a:lstStyle/>
                    <a:p>
                      <a:pPr>
                        <a:defRPr sz="1200" b="0">
                          <a:solidFill>
                            <a:srgbClr val="173A49"/>
                          </a:solidFill>
                          <a:latin typeface="맑은 고딕"/>
                        </a:defRPr>
                      </a:pPr>
                      <a:r>
                        <a:t>공식 문서 검색·ExtraTrees/GaussianNB</a:t>
                      </a:r>
                    </a:p>
                  </a:txBody>
                  <a:tcPr marL="118872" marR="91440" marT="64008" marB="54864" anchor="ctr">
                    <a:solidFill>
                      <a:srgbClr val="FFFFFF"/>
                    </a:solidFill>
                  </a:tcPr>
                </a:tc>
                <a:tc>
                  <a:txBody>
                    <a:bodyPr/>
                    <a:lstStyle/>
                    <a:p>
                      <a:pPr>
                        <a:defRPr sz="1200" b="0">
                          <a:solidFill>
                            <a:srgbClr val="173A49"/>
                          </a:solidFill>
                          <a:latin typeface="맑은 고딕"/>
                        </a:defRPr>
                      </a:pPr>
                      <a:r>
                        <a:t>검토된 두 adapter 지원</a:t>
                      </a:r>
                    </a:p>
                  </a:txBody>
                  <a:tcPr marL="118872" marR="91440" marT="64008" marB="54864" anchor="ctr">
                    <a:solidFill>
                      <a:srgbClr val="FFFFFF"/>
                    </a:solidFill>
                  </a:tcPr>
                </a:tc>
              </a:tr>
              <a:tr h="445769">
                <a:tc>
                  <a:txBody>
                    <a:bodyPr/>
                    <a:lstStyle/>
                    <a:p>
                      <a:pPr>
                        <a:defRPr sz="1200" b="0">
                          <a:solidFill>
                            <a:srgbClr val="173A49"/>
                          </a:solidFill>
                          <a:latin typeface="맑은 고딕"/>
                        </a:defRPr>
                      </a:pPr>
                      <a:r>
                        <a:t>MCP</a:t>
                      </a:r>
                    </a:p>
                  </a:txBody>
                  <a:tcPr marL="118872" marR="91440" marT="64008" marB="54864" anchor="ctr">
                    <a:solidFill>
                      <a:srgbClr val="E8F3F3"/>
                    </a:solidFill>
                  </a:tcPr>
                </a:tc>
                <a:tc>
                  <a:txBody>
                    <a:bodyPr/>
                    <a:lstStyle/>
                    <a:p>
                      <a:pPr>
                        <a:defRPr sz="1200" b="0">
                          <a:solidFill>
                            <a:srgbClr val="173A49"/>
                          </a:solidFill>
                          <a:latin typeface="맑은 고딕"/>
                        </a:defRPr>
                      </a:pPr>
                      <a:r>
                        <a:t>stdio 4도구 + 지식 Resource</a:t>
                      </a:r>
                    </a:p>
                  </a:txBody>
                  <a:tcPr marL="118872" marR="91440" marT="64008" marB="54864" anchor="ctr">
                    <a:solidFill>
                      <a:srgbClr val="E8F3F3"/>
                    </a:solidFill>
                  </a:tcPr>
                </a:tc>
                <a:tc>
                  <a:txBody>
                    <a:bodyPr/>
                    <a:lstStyle/>
                    <a:p>
                      <a:pPr>
                        <a:defRPr sz="1200" b="0">
                          <a:solidFill>
                            <a:srgbClr val="173A49"/>
                          </a:solidFill>
                          <a:latin typeface="맑은 고딕"/>
                        </a:defRPr>
                      </a:pPr>
                      <a:r>
                        <a:t>승인·학습 실행은 API에서 처리</a:t>
                      </a:r>
                    </a:p>
                  </a:txBody>
                  <a:tcPr marL="118872" marR="91440" marT="64008" marB="54864" anchor="ctr">
                    <a:solidFill>
                      <a:srgbClr val="E8F3F3"/>
                    </a:solidFill>
                  </a:tcPr>
                </a:tc>
              </a:tr>
              <a:tr h="445769">
                <a:tc>
                  <a:txBody>
                    <a:bodyPr/>
                    <a:lstStyle/>
                    <a:p>
                      <a:pPr>
                        <a:defRPr sz="1200" b="0">
                          <a:solidFill>
                            <a:srgbClr val="173A49"/>
                          </a:solidFill>
                          <a:latin typeface="맑은 고딕"/>
                        </a:defRPr>
                      </a:pPr>
                      <a:r>
                        <a:t>코드 품질</a:t>
                      </a:r>
                    </a:p>
                  </a:txBody>
                  <a:tcPr marL="118872" marR="91440" marT="64008" marB="54864" anchor="ctr">
                    <a:solidFill>
                      <a:srgbClr val="FFFFFF"/>
                    </a:solidFill>
                  </a:tcPr>
                </a:tc>
                <a:tc>
                  <a:txBody>
                    <a:bodyPr/>
                    <a:lstStyle/>
                    <a:p>
                      <a:pPr>
                        <a:defRPr sz="1200" b="0">
                          <a:solidFill>
                            <a:srgbClr val="173A49"/>
                          </a:solidFill>
                          <a:latin typeface="맑은 고딕"/>
                        </a:defRPr>
                      </a:pPr>
                      <a:r>
                        <a:t>모듈화·의존성 주입·33개 테스트</a:t>
                      </a:r>
                    </a:p>
                  </a:txBody>
                  <a:tcPr marL="118872" marR="91440" marT="64008" marB="54864" anchor="ctr">
                    <a:solidFill>
                      <a:srgbClr val="FFFFFF"/>
                    </a:solidFill>
                  </a:tcPr>
                </a:tc>
                <a:tc>
                  <a:txBody>
                    <a:bodyPr/>
                    <a:lstStyle/>
                    <a:p>
                      <a:pPr>
                        <a:defRPr sz="1200" b="0">
                          <a:solidFill>
                            <a:srgbClr val="173A49"/>
                          </a:solidFill>
                          <a:latin typeface="맑은 고딕"/>
                        </a:defRPr>
                      </a:pPr>
                      <a:r>
                        <a:t>배포·동시 다중 사용자 미검증</a:t>
                      </a:r>
                    </a:p>
                  </a:txBody>
                  <a:tcPr marL="118872" marR="91440" marT="64008" marB="54864" anchor="ctr">
                    <a:solidFill>
                      <a:srgbClr val="FFFFFF"/>
                    </a:solidFill>
                  </a:tcPr>
                </a:tc>
              </a:tr>
              <a:tr h="445769">
                <a:tc>
                  <a:txBody>
                    <a:bodyPr/>
                    <a:lstStyle/>
                    <a:p>
                      <a:pPr>
                        <a:defRPr sz="1200" b="0">
                          <a:solidFill>
                            <a:srgbClr val="173A49"/>
                          </a:solidFill>
                          <a:latin typeface="맑은 고딕"/>
                        </a:defRPr>
                      </a:pPr>
                      <a:r>
                        <a:t>LangSmith</a:t>
                      </a:r>
                    </a:p>
                  </a:txBody>
                  <a:tcPr marL="118872" marR="91440" marT="64008" marB="54864" anchor="ctr">
                    <a:solidFill>
                      <a:srgbClr val="E8F3F3"/>
                    </a:solidFill>
                  </a:tcPr>
                </a:tc>
                <a:tc>
                  <a:txBody>
                    <a:bodyPr/>
                    <a:lstStyle/>
                    <a:p>
                      <a:pPr>
                        <a:defRPr sz="1200" b="0">
                          <a:solidFill>
                            <a:srgbClr val="173A49"/>
                          </a:solidFill>
                          <a:latin typeface="맑은 고딕"/>
                        </a:defRPr>
                      </a:pPr>
                      <a:r>
                        <a:t>실제 root/child 실행 API 재조회</a:t>
                      </a:r>
                    </a:p>
                  </a:txBody>
                  <a:tcPr marL="118872" marR="91440" marT="64008" marB="54864" anchor="ctr">
                    <a:solidFill>
                      <a:srgbClr val="E8F3F3"/>
                    </a:solidFill>
                  </a:tcPr>
                </a:tc>
                <a:tc>
                  <a:txBody>
                    <a:bodyPr/>
                    <a:lstStyle/>
                    <a:p>
                      <a:pPr>
                        <a:defRPr sz="1200" b="0">
                          <a:solidFill>
                            <a:srgbClr val="173A49"/>
                          </a:solidFill>
                          <a:latin typeface="맑은 고딕"/>
                        </a:defRPr>
                      </a:pPr>
                      <a:r>
                        <a:t>공개·합성 자료로 추적 검증</a:t>
                      </a:r>
                    </a:p>
                  </a:txBody>
                  <a:tcPr marL="118872" marR="91440" marT="64008" marB="54864" anchor="ctr">
                    <a:solidFill>
                      <a:srgbClr val="E8F3F3"/>
                    </a:solidFill>
                  </a:tcPr>
                </a:tc>
              </a:tr>
              <a:tr h="445776">
                <a:tc>
                  <a:txBody>
                    <a:bodyPr/>
                    <a:lstStyle/>
                    <a:p>
                      <a:pPr>
                        <a:defRPr sz="1200" b="0">
                          <a:solidFill>
                            <a:srgbClr val="173A49"/>
                          </a:solidFill>
                          <a:latin typeface="맑은 고딕"/>
                        </a:defRPr>
                      </a:pPr>
                      <a:r>
                        <a:t>LLM 평가</a:t>
                      </a:r>
                    </a:p>
                  </a:txBody>
                  <a:tcPr marL="118872" marR="91440" marT="64008" marB="54864" anchor="ctr">
                    <a:solidFill>
                      <a:srgbClr val="FFFFFF"/>
                    </a:solidFill>
                  </a:tcPr>
                </a:tc>
                <a:tc>
                  <a:txBody>
                    <a:bodyPr/>
                    <a:lstStyle/>
                    <a:p>
                      <a:pPr>
                        <a:defRPr sz="1200" b="0">
                          <a:solidFill>
                            <a:srgbClr val="173A49"/>
                          </a:solidFill>
                          <a:latin typeface="맑은 고딕"/>
                        </a:defRPr>
                      </a:pPr>
                      <a:r>
                        <a:t>로컬 Qwen으로 설명과 실제 기록 대조</a:t>
                      </a:r>
                    </a:p>
                  </a:txBody>
                  <a:tcPr marL="118872" marR="91440" marT="64008" marB="54864" anchor="ctr">
                    <a:solidFill>
                      <a:srgbClr val="FFFFFF"/>
                    </a:solidFill>
                  </a:tcPr>
                </a:tc>
                <a:tc>
                  <a:txBody>
                    <a:bodyPr/>
                    <a:lstStyle/>
                    <a:p>
                      <a:pPr>
                        <a:defRPr sz="1200" b="0">
                          <a:solidFill>
                            <a:srgbClr val="173A49"/>
                          </a:solidFill>
                          <a:latin typeface="맑은 고딕"/>
                        </a:defRPr>
                      </a:pPr>
                      <a:r>
                        <a:t>작은 자체 개발 예제 · 독립 평가 아님</a:t>
                      </a:r>
                    </a:p>
                  </a:txBody>
                  <a:tcPr marL="118872" marR="91440" marT="64008" marB="54864" anchor="ctr">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부록 E · 판정 예시와 한계</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LLM 평가자가 놓친 오류도 보존했습니다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15 / 16  부록</a:t>
            </a:r>
          </a:p>
        </p:txBody>
      </p:sp>
      <p:sp>
        <p:nvSpPr>
          <p:cNvPr id="8" name="TextBox 7"/>
          <p:cNvSpPr txBox="1"/>
          <p:nvPr/>
        </p:nvSpPr>
        <p:spPr>
          <a:xfrm>
            <a:off x="640080" y="1847088"/>
            <a:ext cx="10972800" cy="40233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실제 기록: CatBoost · 불량 27/32개 발견 · 검출률84.4% · 목표90%</a:t>
            </a:r>
          </a:p>
        </p:txBody>
      </p:sp>
      <p:sp>
        <p:nvSpPr>
          <p:cNvPr id="9" name="TextBox 8"/>
          <p:cNvSpPr txBox="1"/>
          <p:nvPr/>
        </p:nvSpPr>
        <p:spPr>
          <a:xfrm>
            <a:off x="640080" y="2267712"/>
            <a:ext cx="10972800" cy="40233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사전 라벨과 판정 일치 6/8 · 잘못된 설명을 통과시킨 사례 2개</a:t>
            </a:r>
          </a:p>
        </p:txBody>
      </p:sp>
      <p:sp>
        <p:nvSpPr>
          <p:cNvPr id="10" name="TextBox 9"/>
          <p:cNvSpPr txBox="1"/>
          <p:nvPr/>
        </p:nvSpPr>
        <p:spPr>
          <a:xfrm>
            <a:off x="640080" y="2688336"/>
            <a:ext cx="10972800" cy="40233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프롬프트 보완에 사용한 자체 개발 예제입니다. 일반 정확도가 아닙니다.</a:t>
            </a:r>
          </a:p>
        </p:txBody>
      </p:sp>
      <p:graphicFrame>
        <p:nvGraphicFramePr>
          <p:cNvPr id="11" name="Table 10"/>
          <p:cNvGraphicFramePr>
            <a:graphicFrameLocks noGrp="1"/>
          </p:cNvGraphicFramePr>
          <p:nvPr/>
        </p:nvGraphicFramePr>
        <p:xfrm>
          <a:off x="594360" y="3346704"/>
          <a:ext cx="11000232" cy="2724911"/>
        </p:xfrm>
        <a:graphic>
          <a:graphicData uri="http://schemas.openxmlformats.org/drawingml/2006/table">
            <a:tbl>
              <a:tblPr firstRow="1" bandRow="1">
                <a:tableStyleId>{5C22544A-7EE6-4342-B048-85BDC9FD1C3A}</a:tableStyleId>
              </a:tblPr>
              <a:tblGrid>
                <a:gridCol w="5212080"/>
                <a:gridCol w="2862072"/>
                <a:gridCol w="2926080"/>
              </a:tblGrid>
              <a:tr h="681227">
                <a:tc>
                  <a:txBody>
                    <a:bodyPr/>
                    <a:lstStyle/>
                    <a:p>
                      <a:pPr>
                        <a:defRPr sz="1300" b="1">
                          <a:solidFill>
                            <a:srgbClr val="FFFFFF"/>
                          </a:solidFill>
                          <a:latin typeface="맑은 고딕"/>
                        </a:defRPr>
                      </a:pPr>
                      <a:r>
                        <a:t>후보 설명</a:t>
                      </a:r>
                    </a:p>
                  </a:txBody>
                  <a:tcPr marL="118872" marR="91440" marT="64008" marB="54864" anchor="ctr">
                    <a:solidFill>
                      <a:srgbClr val="147D82"/>
                    </a:solidFill>
                  </a:tcPr>
                </a:tc>
                <a:tc>
                  <a:txBody>
                    <a:bodyPr/>
                    <a:lstStyle/>
                    <a:p>
                      <a:pPr>
                        <a:defRPr sz="1300" b="1">
                          <a:solidFill>
                            <a:srgbClr val="FFFFFF"/>
                          </a:solidFill>
                          <a:latin typeface="맑은 고딕"/>
                        </a:defRPr>
                      </a:pPr>
                      <a:r>
                        <a:t>사전 정답</a:t>
                      </a:r>
                    </a:p>
                  </a:txBody>
                  <a:tcPr marL="118872" marR="91440" marT="64008" marB="54864" anchor="ctr">
                    <a:solidFill>
                      <a:srgbClr val="147D82"/>
                    </a:solidFill>
                  </a:tcPr>
                </a:tc>
                <a:tc>
                  <a:txBody>
                    <a:bodyPr/>
                    <a:lstStyle/>
                    <a:p>
                      <a:pPr>
                        <a:defRPr sz="1300" b="1">
                          <a:solidFill>
                            <a:srgbClr val="FFFFFF"/>
                          </a:solidFill>
                          <a:latin typeface="맑은 고딕"/>
                        </a:defRPr>
                      </a:pPr>
                      <a:r>
                        <a:t>실제 Qwen 판정</a:t>
                      </a:r>
                    </a:p>
                  </a:txBody>
                  <a:tcPr marL="118872" marR="91440" marT="64008" marB="54864" anchor="ctr">
                    <a:solidFill>
                      <a:srgbClr val="147D82"/>
                    </a:solidFill>
                  </a:tcPr>
                </a:tc>
              </a:tr>
              <a:tr h="681227">
                <a:tc>
                  <a:txBody>
                    <a:bodyPr/>
                    <a:lstStyle/>
                    <a:p>
                      <a:pPr>
                        <a:defRPr sz="1300" b="0">
                          <a:solidFill>
                            <a:srgbClr val="173A49"/>
                          </a:solidFill>
                          <a:latin typeface="맑은 고딕"/>
                        </a:defRPr>
                      </a:pPr>
                      <a:r>
                        <a:t>“실제 공장 수율 증가가 입증됐다”</a:t>
                      </a:r>
                    </a:p>
                  </a:txBody>
                  <a:tcPr marL="118872" marR="91440" marT="64008" marB="54864" anchor="ctr">
                    <a:solidFill>
                      <a:srgbClr val="FFFFFF"/>
                    </a:solidFill>
                  </a:tcPr>
                </a:tc>
                <a:tc>
                  <a:txBody>
                    <a:bodyPr/>
                    <a:lstStyle/>
                    <a:p>
                      <a:pPr>
                        <a:defRPr sz="1300" b="0">
                          <a:solidFill>
                            <a:srgbClr val="173A49"/>
                          </a:solidFill>
                          <a:latin typeface="맑은 고딕"/>
                        </a:defRPr>
                      </a:pPr>
                      <a:r>
                        <a:t>근거 없음 → 실패</a:t>
                      </a:r>
                    </a:p>
                  </a:txBody>
                  <a:tcPr marL="118872" marR="91440" marT="64008" marB="54864" anchor="ctr">
                    <a:solidFill>
                      <a:srgbClr val="FFFFFF"/>
                    </a:solidFill>
                  </a:tcPr>
                </a:tc>
                <a:tc>
                  <a:txBody>
                    <a:bodyPr/>
                    <a:lstStyle/>
                    <a:p>
                      <a:pPr>
                        <a:defRPr sz="1300" b="0">
                          <a:solidFill>
                            <a:srgbClr val="173A49"/>
                          </a:solidFill>
                          <a:latin typeface="맑은 고딕"/>
                        </a:defRPr>
                      </a:pPr>
                      <a:r>
                        <a:t>실패 · 일치</a:t>
                      </a:r>
                    </a:p>
                  </a:txBody>
                  <a:tcPr marL="118872" marR="91440" marT="64008" marB="54864" anchor="ctr">
                    <a:solidFill>
                      <a:srgbClr val="FFFFFF"/>
                    </a:solidFill>
                  </a:tcPr>
                </a:tc>
              </a:tr>
              <a:tr h="681227">
                <a:tc>
                  <a:txBody>
                    <a:bodyPr/>
                    <a:lstStyle/>
                    <a:p>
                      <a:pPr>
                        <a:defRPr sz="1300" b="0">
                          <a:solidFill>
                            <a:srgbClr val="173A49"/>
                          </a:solidFill>
                          <a:latin typeface="맑은 고딕"/>
                        </a:defRPr>
                      </a:pPr>
                      <a:r>
                        <a:t>“불량 30개를 발견했다”</a:t>
                      </a:r>
                    </a:p>
                  </a:txBody>
                  <a:tcPr marL="118872" marR="91440" marT="64008" marB="54864" anchor="ctr">
                    <a:solidFill>
                      <a:srgbClr val="E8F3F3"/>
                    </a:solidFill>
                  </a:tcPr>
                </a:tc>
                <a:tc>
                  <a:txBody>
                    <a:bodyPr/>
                    <a:lstStyle/>
                    <a:p>
                      <a:pPr>
                        <a:defRPr sz="1300" b="0">
                          <a:solidFill>
                            <a:srgbClr val="173A49"/>
                          </a:solidFill>
                          <a:latin typeface="맑은 고딕"/>
                        </a:defRPr>
                      </a:pPr>
                      <a:r>
                        <a:t>실제 27개 → 실패</a:t>
                      </a:r>
                    </a:p>
                  </a:txBody>
                  <a:tcPr marL="118872" marR="91440" marT="64008" marB="54864" anchor="ctr">
                    <a:solidFill>
                      <a:srgbClr val="E8F3F3"/>
                    </a:solidFill>
                  </a:tcPr>
                </a:tc>
                <a:tc>
                  <a:txBody>
                    <a:bodyPr/>
                    <a:lstStyle/>
                    <a:p>
                      <a:pPr>
                        <a:defRPr sz="1300" b="0">
                          <a:solidFill>
                            <a:srgbClr val="173A49"/>
                          </a:solidFill>
                          <a:latin typeface="맑은 고딕"/>
                        </a:defRPr>
                      </a:pPr>
                      <a:r>
                        <a:t>통과 · 오판</a:t>
                      </a:r>
                    </a:p>
                  </a:txBody>
                  <a:tcPr marL="118872" marR="91440" marT="64008" marB="54864" anchor="ctr">
                    <a:solidFill>
                      <a:srgbClr val="E8F3F3"/>
                    </a:solidFill>
                  </a:tcPr>
                </a:tc>
              </a:tr>
              <a:tr h="681230">
                <a:tc>
                  <a:txBody>
                    <a:bodyPr/>
                    <a:lstStyle/>
                    <a:p>
                      <a:pPr>
                        <a:defRPr sz="1300" b="0">
                          <a:solidFill>
                            <a:srgbClr val="173A49"/>
                          </a:solidFill>
                          <a:latin typeface="맑은 고딕"/>
                        </a:defRPr>
                      </a:pPr>
                      <a:r>
                        <a:t>“84.4%가 목표90%를 충족했다”</a:t>
                      </a:r>
                    </a:p>
                  </a:txBody>
                  <a:tcPr marL="118872" marR="91440" marT="64008" marB="54864" anchor="ctr">
                    <a:solidFill>
                      <a:srgbClr val="FFFFFF"/>
                    </a:solidFill>
                  </a:tcPr>
                </a:tc>
                <a:tc>
                  <a:txBody>
                    <a:bodyPr/>
                    <a:lstStyle/>
                    <a:p>
                      <a:pPr>
                        <a:defRPr sz="1300" b="0">
                          <a:solidFill>
                            <a:srgbClr val="173A49"/>
                          </a:solidFill>
                          <a:latin typeface="맑은 고딕"/>
                        </a:defRPr>
                      </a:pPr>
                      <a:r>
                        <a:t>목표 미달 → 실패</a:t>
                      </a:r>
                    </a:p>
                  </a:txBody>
                  <a:tcPr marL="118872" marR="91440" marT="64008" marB="54864" anchor="ctr">
                    <a:solidFill>
                      <a:srgbClr val="FFFFFF"/>
                    </a:solidFill>
                  </a:tcPr>
                </a:tc>
                <a:tc>
                  <a:txBody>
                    <a:bodyPr/>
                    <a:lstStyle/>
                    <a:p>
                      <a:pPr>
                        <a:defRPr sz="1300" b="0">
                          <a:solidFill>
                            <a:srgbClr val="173A49"/>
                          </a:solidFill>
                          <a:latin typeface="맑은 고딕"/>
                        </a:defRPr>
                      </a:pPr>
                      <a:r>
                        <a:t>통과 · 오판</a:t>
                      </a:r>
                    </a:p>
                  </a:txBody>
                  <a:tcPr marL="118872" marR="91440" marT="64008" marB="54864" anchor="ctr">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부록 F · 제출 자료 확인</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출처·시연 화면·재현 자료</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16 / 16  부록</a:t>
            </a:r>
          </a:p>
        </p:txBody>
      </p:sp>
      <p:sp>
        <p:nvSpPr>
          <p:cNvPr id="8" name="Rectangle 7"/>
          <p:cNvSpPr/>
          <p:nvPr/>
        </p:nvSpPr>
        <p:spPr>
          <a:xfrm>
            <a:off x="640080" y="197510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97510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모델 참고: 스칼라 9주차 + 15주차 반도체 자료 / 로컬 Qwen: 5주차 참고</a:t>
            </a:r>
          </a:p>
        </p:txBody>
      </p:sp>
      <p:sp>
        <p:nvSpPr>
          <p:cNvPr id="10" name="Rectangle 9"/>
          <p:cNvSpPr/>
          <p:nvPr/>
        </p:nvSpPr>
        <p:spPr>
          <a:xfrm>
            <a:off x="640080" y="275234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75234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필수 화면: 4장 입력 / 5장 승인 / 6장 비교 / 7장 결과 / 8장 RAG 근거</a:t>
            </a:r>
          </a:p>
        </p:txBody>
      </p:sp>
      <p:sp>
        <p:nvSpPr>
          <p:cNvPr id="12" name="Rectangle 11"/>
          <p:cNvSpPr/>
          <p:nvPr/>
        </p:nvSpPr>
        <p:spPr>
          <a:xfrm>
            <a:off x="640080" y="352958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52958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SECOM: McCann &amp; Johnston (2008), UCI · DOI 10.24432/C54305 · CC BY4.0</a:t>
            </a:r>
          </a:p>
        </p:txBody>
      </p:sp>
      <p:sp>
        <p:nvSpPr>
          <p:cNvPr id="14" name="Rectangle 13"/>
          <p:cNvSpPr/>
          <p:nvPr/>
        </p:nvSpPr>
        <p:spPr>
          <a:xfrm>
            <a:off x="640080" y="430682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30682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코드·보고서·실험 기록: github.com/dragonchan95/Semiconductor-AI-Agent</a:t>
            </a:r>
          </a:p>
        </p:txBody>
      </p:sp>
      <p:sp>
        <p:nvSpPr>
          <p:cNvPr id="16" name="Rectangle 15"/>
          <p:cNvSpPr/>
          <p:nvPr/>
        </p:nvSpPr>
        <p:spPr>
          <a:xfrm>
            <a:off x="640080" y="508406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508406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Google Slides의 온라인 원본은 최신 PPTX 가져오기가 필요합니다.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반도체 검사 모델 실험 도우미</dc:title>
  <dc:subject/>
  <dc:creator>SKALA 광주 2반 · G045 김용찬</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