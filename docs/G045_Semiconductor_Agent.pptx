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김용찬입니다. 검사 데이터를 넣으면 모델과 앙상블 비율을 비교하고, 왜 그 비율을 선택했는지 결과와 함께 보여 주는 Agent를 만들었습니다.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대상은 검사 모델을 만드는 엔지니어입니다. 어떤 제품 데이터를 함께 학습할지, 어떤 모델과 혼합 비율을 쓸지 비교해야 합니다. 이 반복 작업을 연결했습니다. 스칼라에서 배운 모델과 반도체 자료의 후보를 함께 넣었고, 센서 사례 하나로 설명하겠습니다.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불량을 놓치지 않는 것이 목적이라 검출률을 우선합니다. 다만 전부 불량으로 찍는 것을 막기 위해 정상 오판률을 십오 퍼센트 이하로 제한합니다. 그 안에서 검출률이 높고, 같으면 F1이 높은 비율을 고릅니다. F1은 불량 검출과 불량 판정의 정확성을 함께 보는 보조 지표입니다.</a:t>
            </a:r>
          </a:p>
          <a:p/>
          <a:p>
            <a:r>
              <a:t>출처: app/ensemble.py; https://scikit-learn.org/stable/modules/model_evaluation.html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앱 화면입니다. 제품 A부터 D의 합성 센서 천이백팔십 건을 선택합니다. 불량 정답은 이백한 건입니다. 직접 만든 예제로, 실제 공장 데이터는 아닙니다. 내 센서 CSV나 검사 이미지 ZIP을 등록하는 기능도 있습니다.</a:t>
            </a:r>
          </a:p>
          <a:p/>
          <a:p>
            <a:r>
              <a:t>출처: app/data.py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모델뿐 아니라 A만 학습할지, AB나ABC를 합쳐 학습할지도 비교합니다. 오늘 앙상블 사례는 제품ABCD로 고정해 상위 세 모델의 확률을 섞습니다. 학습, 후보 선택, 마지막 확인 데이터를 육 대 이 대 이로 나누고 같은 생산 묶음은 섞지 않습니다. 비율 탐색 계획을 확인하고 승인하면 실행합니다.</a:t>
            </a:r>
          </a:p>
          <a:p/>
          <a:p>
            <a:r>
              <a:t>출처: app/experiments.py; app/ensemble.py;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선택용 데이터인 Validation에서 비율과 판정 기준을 비교합니다. 다섯 퍼센트 간격과 균등 비율을 포함한 이백서른두 조합 중 CatBoost 구십, LightGBM 십 퍼센트가 선택됐습니다. 단일 모델과 검출률 백 퍼센트는 같지만 정상 오판이 스무 건에서 열아홉 건으로 줄고 F1도 개선됐습니다. 이 탐색 범위 안의 최선이라는 뜻입니다.</a:t>
            </a:r>
          </a:p>
          <a:p/>
          <a:p>
            <a:r>
              <a:t>출처: docs/evaluation/weighted_ensemble.json; docs/evaluation/ensemble_browser.json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비율을 고른 뒤 같은 Test에서 확인했습니다. 단일 CatBoost와 선택 조합은 둘 다 불량 서른두 개 중 서른 개를 찾았습니다. 정상 오판은 스물한 개에서 열아홉 개로 줄고 F1도 영 점 칠이삼에서 칠사일로 높아졌습니다. 이번 시연 목표는 충족했지만, 기존 Test를 다시 확인한 추가 탐색이므로 새로운 독립 데이터 검증이 필요합니다.</a:t>
            </a:r>
          </a:p>
          <a:p/>
          <a:p>
            <a:r>
              <a:t>출처: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더 비교하고 싶으면 공식 문서를 검색합니다. 저장된 실제 검색 기록을 현재 화면에서 다시 보여 드립니다. 관련 근거와 제안 이유를 연결하는 것이 RAG입니다. 현재는 두 모델을 추가할 수 있고, 이 경우도 승인 후 비교합니다.</a:t>
            </a:r>
          </a:p>
          <a:p/>
          <a:p>
            <a:r>
              <a:t>출처: app/discovery.py; docs/evaluation/model_discovery.json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LangGraph로 점검, 검색, 계획 역할을 연결하고 로컬 Qwen이 설명을 돕습니다. MCP는 조회와 계획 도구를 제공하고, 실제 학습과 비율 비교는 실험 엔진이 계산합니다. LangSmith로 실행 경로를 확인했습니다. 또 설명이 실제 결과와 맞는지 LLM이 검사하게 했습니다. 직접 만든 예제 여덟 개 중 여섯 개는 맞혔지만, 오판도 있어 수치 검사는 코드로 유지합니다.</a:t>
            </a:r>
          </a:p>
          <a:p/>
          <a:p>
            <a:r>
              <a:t>출처: app/planner.py; app/ensemble.py; docs/evaluation/langsmith_check.json; docs/evaluation/llm_judge.json; docs/evaluation/tests-windows.txt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이름뿐 아니라 혼합 비율과 선택 근거까지 보여 주는 흐름을 구현했습니다. F1 하나로 고르기보다 업무의 우선순위를 먼저 정해야 한다는 것을 배웠습니다. 합성 데이터와 작은 표본이 한계이며, 다음에는 현장 기준과 독립 데이터로 검증하겠습니다. 감사합니다.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 전체 제품 비교표입니다. AdaBoost는 F1이 더 높지만 이번에는 검출률을 먼저 보는 규칙을 따랐습니다. 초기 제품 조합 탐색의 CatBoost A+B+C와 이번 전체 제품 앙상블은 별도의 실험입니다.</a:t>
            </a:r>
          </a:p>
          <a:p/>
          <a:p>
            <a:r>
              <a:t>출처: docs/evaluation/synthetic_process.json;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제품별로 나누면 데이터가 줄고, 합치면 제품 차이를 놓칠 수 있습니다. 이 별도 실험에서는 A의 공통 모델 검출률98.6%가 전용94.2%보다 높았고, C는 전용93.2%가 공통90.9%보다 높았습니다. Validation 선택이 미래 우월성을 보장하지 않아 Test도 따로 확인합니다. 본문 앙상블과 다른 합성 배치의 보존 기록입니다. ABC용 모델과D용 모델처럼 모든 그룹 구성을 자동 최적화한 결과는 아닙니다.</a:t>
            </a:r>
          </a:p>
          <a:p/>
          <a:p>
            <a:r>
              <a:t>출처: docs/evaluation/model_management.json; app/monitoring.py; docs/PRODUCT_GROUPING.md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모델의 불량 확률을90대10으로 평균하고 Validation에서 정한 판정값 이상이면 불량으로 봅니다. 단일 모델과 균등 비율도 포함했습니다. 동률이면 적은 모델을 고르므로 단일 모델을 유지할 수도 있습니다. 모든 모델·모든 실수 비율의 전역 최적이라는 뜻은 아닙니다. 정확한 근거는 전체 비율 CSV로 확인할 수 있습니다.</a:t>
            </a:r>
          </a:p>
          <a:p/>
          <a:p>
            <a:r>
              <a:t>출처: app/ensemble.py;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LLM-as-a-Judge는 설명이 맞는지 LLM에게 검사시키는 기능입니다. 실제로27개를 찾았는데30개라고 설명하면 틀렸다고 알려줘야 합니다. 실제 결과와 문장을 함께 주고 검사했고, 직접 만든 예제8개 중6개는 맞게 판단했습니다. 하지만30개라는 오류는 놓쳤습니다. 그래서 보조 검사로 쓰고 중요한 숫자는 코드로 확인합니다. 이 예시는 앙상블 추가 전의 실험 기록을 기준으로 검사했습니다.</a:t>
            </a:r>
          </a:p>
          <a:p/>
          <a:p>
            <a:r>
              <a:t>출처: docs/evaluation/llm_judge.json; docs/EVALUATION.md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01 · 무엇을 만드는 프로젝트인가요?</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800" b="1">
                <a:solidFill>
                  <a:srgbClr val="173A49"/>
                </a:solidFill>
                <a:latin typeface="맑은 고딕"/>
              </a:defRPr>
            </a:pPr>
            <a:r>
              <a:t>반도체 검사 모델</a:t>
            </a:r>
          </a:p>
          <a:p>
            <a:pPr>
              <a:lnSpc>
                <a:spcPct val="114000"/>
              </a:lnSpc>
              <a:spcAft>
                <a:spcPts val="800"/>
              </a:spcAft>
              <a:defRPr sz="3800" b="1">
                <a:solidFill>
                  <a:srgbClr val="173A49"/>
                </a:solidFill>
                <a:latin typeface="맑은 고딕"/>
              </a:defRPr>
            </a:pPr>
            <a:r>
              <a:t>실험 도우미</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01 / 14</a:t>
            </a:r>
          </a:p>
        </p:txBody>
      </p:sp>
      <p:sp>
        <p:nvSpPr>
          <p:cNvPr id="8" name="TextBox 7"/>
          <p:cNvSpPr txBox="1"/>
          <p:nvPr/>
        </p:nvSpPr>
        <p:spPr>
          <a:xfrm>
            <a:off x="658368" y="2514600"/>
            <a:ext cx="10515600" cy="731520"/>
          </a:xfrm>
          <a:prstGeom prst="rect">
            <a:avLst/>
          </a:prstGeom>
          <a:noFill/>
        </p:spPr>
        <p:txBody>
          <a:bodyPr wrap="square" lIns="18288" rIns="18288" tIns="18288" bIns="18288">
            <a:spAutoFit/>
          </a:bodyPr>
          <a:lstStyle/>
          <a:p>
            <a:pPr>
              <a:lnSpc>
                <a:spcPct val="114000"/>
              </a:lnSpc>
              <a:spcAft>
                <a:spcPts val="800"/>
              </a:spcAft>
              <a:defRPr sz="2300" b="0">
                <a:solidFill>
                  <a:srgbClr val="617681"/>
                </a:solidFill>
                <a:latin typeface="맑은 고딕"/>
              </a:defRPr>
            </a:pPr>
            <a:r>
              <a:t>모델과 앙상블 비율을 비교하고, 선택 이유를 보여 주는 Agent</a:t>
            </a:r>
          </a:p>
        </p:txBody>
      </p:sp>
      <p:sp>
        <p:nvSpPr>
          <p:cNvPr id="9" name="TextBox 8"/>
          <p:cNvSpPr txBox="1"/>
          <p:nvPr/>
        </p:nvSpPr>
        <p:spPr>
          <a:xfrm>
            <a:off x="658368" y="3447288"/>
            <a:ext cx="10515600" cy="457200"/>
          </a:xfrm>
          <a:prstGeom prst="rect">
            <a:avLst/>
          </a:prstGeom>
          <a:noFill/>
        </p:spPr>
        <p:txBody>
          <a:bodyPr wrap="square" lIns="18288" rIns="18288" tIns="18288" bIns="18288">
            <a:spAutoFit/>
          </a:bodyPr>
          <a:lstStyle/>
          <a:p>
            <a:pPr>
              <a:lnSpc>
                <a:spcPct val="114000"/>
              </a:lnSpc>
              <a:spcAft>
                <a:spcPts val="800"/>
              </a:spcAft>
              <a:defRPr sz="2000" b="0">
                <a:solidFill>
                  <a:srgbClr val="173A49"/>
                </a:solidFill>
                <a:latin typeface="맑은 고딕"/>
              </a:defRPr>
            </a:pPr>
            <a:r>
              <a:t>SKALA 광주 2반 · G045 김용찬 · 2026.10.22</a:t>
            </a:r>
          </a:p>
        </p:txBody>
      </p:sp>
      <p:sp>
        <p:nvSpPr>
          <p:cNvPr id="10" name="Rounded Rectangle 9"/>
          <p:cNvSpPr/>
          <p:nvPr/>
        </p:nvSpPr>
        <p:spPr>
          <a:xfrm>
            <a:off x="658368"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01</a:t>
            </a:r>
          </a:p>
        </p:txBody>
      </p:sp>
      <p:sp>
        <p:nvSpPr>
          <p:cNvPr id="12" name="TextBox 11"/>
          <p:cNvSpPr txBox="1"/>
          <p:nvPr/>
        </p:nvSpPr>
        <p:spPr>
          <a:xfrm>
            <a:off x="841247"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데이터 점검</a:t>
            </a:r>
          </a:p>
        </p:txBody>
      </p:sp>
      <p:sp>
        <p:nvSpPr>
          <p:cNvPr id="13" name="Rounded Rectangle 12"/>
          <p:cNvSpPr/>
          <p:nvPr/>
        </p:nvSpPr>
        <p:spPr>
          <a:xfrm>
            <a:off x="3474720"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02</a:t>
            </a:r>
          </a:p>
        </p:txBody>
      </p:sp>
      <p:sp>
        <p:nvSpPr>
          <p:cNvPr id="15" name="TextBox 14"/>
          <p:cNvSpPr txBox="1"/>
          <p:nvPr/>
        </p:nvSpPr>
        <p:spPr>
          <a:xfrm>
            <a:off x="3657600"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계획 승인</a:t>
            </a:r>
          </a:p>
        </p:txBody>
      </p:sp>
      <p:sp>
        <p:nvSpPr>
          <p:cNvPr id="16" name="Rounded Rectangle 15"/>
          <p:cNvSpPr/>
          <p:nvPr/>
        </p:nvSpPr>
        <p:spPr>
          <a:xfrm>
            <a:off x="6291072"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03</a:t>
            </a:r>
          </a:p>
        </p:txBody>
      </p:sp>
      <p:sp>
        <p:nvSpPr>
          <p:cNvPr id="18" name="TextBox 17"/>
          <p:cNvSpPr txBox="1"/>
          <p:nvPr/>
        </p:nvSpPr>
        <p:spPr>
          <a:xfrm>
            <a:off x="6473952"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모델·비율 비교</a:t>
            </a:r>
          </a:p>
        </p:txBody>
      </p:sp>
      <p:sp>
        <p:nvSpPr>
          <p:cNvPr id="19" name="Rounded Rectangle 18"/>
          <p:cNvSpPr/>
          <p:nvPr/>
        </p:nvSpPr>
        <p:spPr>
          <a:xfrm>
            <a:off x="9107424"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4"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04</a:t>
            </a:r>
          </a:p>
        </p:txBody>
      </p:sp>
      <p:sp>
        <p:nvSpPr>
          <p:cNvPr id="21" name="TextBox 20"/>
          <p:cNvSpPr txBox="1"/>
          <p:nvPr/>
        </p:nvSpPr>
        <p:spPr>
          <a:xfrm>
            <a:off x="9290304"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선택 근거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02 · 사용자와 해결할 문제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반복하던 모델·비율 비교를 한 흐름으로</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02 / 14</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사용자: 검사 데이터로 정상·불량 분류 모델을 만드는 엔지니어</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반복 업무: 학습할 제품 묶음 선택 → 모델·혼합 비율 비교 → 근거 기록</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Agent가 근거와 계획을 제시하고, 엔지니어가 승인하면 실행</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센서 사례 하나로 입력부터 선택 결과까지 보여 드립니다.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03 · 결과를 읽기 위한 기준</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불량을 놓치지 않되, 정상 오판도 제한합니다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03 / 14</a:t>
            </a:r>
          </a:p>
        </p:txBody>
      </p:sp>
      <p:sp>
        <p:nvSpPr>
          <p:cNvPr id="8" name="Rounded Rectangle 7"/>
          <p:cNvSpPr/>
          <p:nvPr/>
        </p:nvSpPr>
        <p:spPr>
          <a:xfrm>
            <a:off x="658368" y="1965960"/>
            <a:ext cx="5321808" cy="1307592"/>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139696"/>
            <a:ext cx="4892040" cy="411480"/>
          </a:xfrm>
          <a:prstGeom prst="rect">
            <a:avLst/>
          </a:prstGeom>
          <a:noFill/>
        </p:spPr>
        <p:txBody>
          <a:bodyPr wrap="square" lIns="18288" rIns="18288" tIns="18288" bIns="18288">
            <a:spAutoFit/>
          </a:bodyPr>
          <a:lstStyle/>
          <a:p>
            <a:pPr>
              <a:lnSpc>
                <a:spcPct val="114000"/>
              </a:lnSpc>
              <a:spcAft>
                <a:spcPts val="800"/>
              </a:spcAft>
              <a:defRPr sz="2500" b="1">
                <a:solidFill>
                  <a:srgbClr val="147D82"/>
                </a:solidFill>
                <a:latin typeface="맑은 고딕"/>
              </a:defRPr>
            </a:pPr>
            <a:r>
              <a:t>불량 검출률 · Recall</a:t>
            </a:r>
          </a:p>
        </p:txBody>
      </p:sp>
      <p:sp>
        <p:nvSpPr>
          <p:cNvPr id="10" name="TextBox 9"/>
          <p:cNvSpPr txBox="1"/>
          <p:nvPr/>
        </p:nvSpPr>
        <p:spPr>
          <a:xfrm>
            <a:off x="859536" y="2715768"/>
            <a:ext cx="4892040" cy="36576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불량 100개 중 몇 개를 찾았나요?</a:t>
            </a:r>
          </a:p>
        </p:txBody>
      </p:sp>
      <p:sp>
        <p:nvSpPr>
          <p:cNvPr id="11" name="Rounded Rectangle 10"/>
          <p:cNvSpPr/>
          <p:nvPr/>
        </p:nvSpPr>
        <p:spPr>
          <a:xfrm>
            <a:off x="6217920" y="1965960"/>
            <a:ext cx="5321808" cy="1307592"/>
          </a:xfrm>
          <a:prstGeom prst="roundRect">
            <a:avLst>
              <a:gd name="adj" fmla="val 8000"/>
            </a:avLst>
          </a:prstGeom>
          <a:solidFill>
            <a:srgbClr val="FFF0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2139696"/>
            <a:ext cx="4892040" cy="411480"/>
          </a:xfrm>
          <a:prstGeom prst="rect">
            <a:avLst/>
          </a:prstGeom>
          <a:noFill/>
        </p:spPr>
        <p:txBody>
          <a:bodyPr wrap="square" lIns="18288" rIns="18288" tIns="18288" bIns="18288">
            <a:spAutoFit/>
          </a:bodyPr>
          <a:lstStyle/>
          <a:p>
            <a:pPr>
              <a:lnSpc>
                <a:spcPct val="114000"/>
              </a:lnSpc>
              <a:spcAft>
                <a:spcPts val="800"/>
              </a:spcAft>
              <a:defRPr sz="2500" b="1">
                <a:solidFill>
                  <a:srgbClr val="173A49"/>
                </a:solidFill>
                <a:latin typeface="맑은 고딕"/>
              </a:defRPr>
            </a:pPr>
            <a:r>
              <a:t>정상 오판률</a:t>
            </a:r>
          </a:p>
        </p:txBody>
      </p:sp>
      <p:sp>
        <p:nvSpPr>
          <p:cNvPr id="13" name="TextBox 12"/>
          <p:cNvSpPr txBox="1"/>
          <p:nvPr/>
        </p:nvSpPr>
        <p:spPr>
          <a:xfrm>
            <a:off x="6419088" y="2715768"/>
            <a:ext cx="4892040" cy="36576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정상 100개 중 몇 개를 잘못 잡았나요?</a:t>
            </a:r>
          </a:p>
        </p:txBody>
      </p:sp>
      <p:sp>
        <p:nvSpPr>
          <p:cNvPr id="14" name="TextBox 13"/>
          <p:cNvSpPr txBox="1"/>
          <p:nvPr/>
        </p:nvSpPr>
        <p:spPr>
          <a:xfrm>
            <a:off x="731520" y="3648456"/>
            <a:ext cx="10698480" cy="502920"/>
          </a:xfrm>
          <a:prstGeom prst="rect">
            <a:avLst/>
          </a:prstGeom>
          <a:noFill/>
        </p:spPr>
        <p:txBody>
          <a:bodyPr wrap="square" lIns="18288" rIns="18288" tIns="18288" bIns="18288">
            <a:spAutoFit/>
          </a:bodyPr>
          <a:lstStyle/>
          <a:p>
            <a:pPr>
              <a:lnSpc>
                <a:spcPct val="114000"/>
              </a:lnSpc>
              <a:spcAft>
                <a:spcPts val="800"/>
              </a:spcAft>
              <a:defRPr sz="2300" b="1">
                <a:solidFill>
                  <a:srgbClr val="173A49"/>
                </a:solidFill>
                <a:latin typeface="맑은 고딕"/>
              </a:defRPr>
            </a:pPr>
            <a:r>
              <a:t>시연 목표: 불량 검출률 90% 이상 · 정상 오판률 15% 이하</a:t>
            </a:r>
          </a:p>
        </p:txBody>
      </p:sp>
      <p:sp>
        <p:nvSpPr>
          <p:cNvPr id="15" name="TextBox 14"/>
          <p:cNvSpPr txBox="1"/>
          <p:nvPr/>
        </p:nvSpPr>
        <p:spPr>
          <a:xfrm>
            <a:off x="731520" y="4471416"/>
            <a:ext cx="10698480" cy="502920"/>
          </a:xfrm>
          <a:prstGeom prst="rect">
            <a:avLst/>
          </a:prstGeom>
          <a:noFill/>
        </p:spPr>
        <p:txBody>
          <a:bodyPr wrap="square" lIns="18288" rIns="18288" tIns="18288" bIns="18288">
            <a:spAutoFit/>
          </a:bodyPr>
          <a:lstStyle/>
          <a:p>
            <a:pPr>
              <a:lnSpc>
                <a:spcPct val="114000"/>
              </a:lnSpc>
              <a:spcAft>
                <a:spcPts val="800"/>
              </a:spcAft>
              <a:defRPr sz="2200" b="1">
                <a:solidFill>
                  <a:srgbClr val="147D82"/>
                </a:solidFill>
                <a:latin typeface="맑은 고딕"/>
              </a:defRPr>
            </a:pPr>
            <a:r>
              <a:t>정상 오판 한도 준수 → 검출률 최대 → 동률이면 F1</a:t>
            </a:r>
          </a:p>
        </p:txBody>
      </p:sp>
      <p:sp>
        <p:nvSpPr>
          <p:cNvPr id="16" name="TextBox 15"/>
          <p:cNvSpPr txBox="1"/>
          <p:nvPr/>
        </p:nvSpPr>
        <p:spPr>
          <a:xfrm>
            <a:off x="731520" y="5102352"/>
            <a:ext cx="10698480" cy="365760"/>
          </a:xfrm>
          <a:prstGeom prst="rect">
            <a:avLst/>
          </a:prstGeom>
          <a:noFill/>
        </p:spPr>
        <p:txBody>
          <a:bodyPr wrap="square" lIns="18288" rIns="18288" tIns="18288" bIns="18288">
            <a:spAutoFit/>
          </a:bodyPr>
          <a:lstStyle/>
          <a:p>
            <a:pPr>
              <a:lnSpc>
                <a:spcPct val="114000"/>
              </a:lnSpc>
              <a:spcAft>
                <a:spcPts val="800"/>
              </a:spcAft>
              <a:defRPr sz="1700" b="0">
                <a:solidFill>
                  <a:srgbClr val="617681"/>
                </a:solidFill>
                <a:latin typeface="맑은 고딕"/>
              </a:defRPr>
            </a:pPr>
            <a:r>
              <a:t>F1: 불량 검출과 불량 판정의 정확성을 함께 보는 보조 지표</a:t>
            </a:r>
          </a:p>
        </p:txBody>
      </p:sp>
      <p:sp>
        <p:nvSpPr>
          <p:cNvPr id="17" name="TextBox 16"/>
          <p:cNvSpPr txBox="1"/>
          <p:nvPr/>
        </p:nvSpPr>
        <p:spPr>
          <a:xfrm>
            <a:off x="731520" y="5596128"/>
            <a:ext cx="10698480" cy="411480"/>
          </a:xfrm>
          <a:prstGeom prst="rect">
            <a:avLst/>
          </a:prstGeom>
          <a:noFill/>
        </p:spPr>
        <p:txBody>
          <a:bodyPr wrap="square" lIns="18288" rIns="18288" tIns="18288" bIns="18288">
            <a:spAutoFit/>
          </a:bodyPr>
          <a:lstStyle/>
          <a:p>
            <a:pPr>
              <a:lnSpc>
                <a:spcPct val="114000"/>
              </a:lnSpc>
              <a:spcAft>
                <a:spcPts val="800"/>
              </a:spcAft>
              <a:defRPr sz="1700" b="0">
                <a:solidFill>
                  <a:srgbClr val="617681"/>
                </a:solidFill>
                <a:latin typeface="맑은 고딕"/>
              </a:defRPr>
            </a:pPr>
            <a:r>
              <a:t>90%·15%는 교육용 목표입니다. 현장에서는 담당자와 허용 범위를 정합니다.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04 · 실제 화면 | 이번 시연의 입력</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① 검사 데이터를 선택합니다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04 / 14</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합성 센서 1,280건 · 불량 201건 · 제품 A–D는 가상 이름</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센서 CSV와 검사 이미지 ZIP 등록도 지원합니다.</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오늘은 센서 예제로 모델과 혼합 비율을 비교합니다.</a:t>
            </a:r>
          </a:p>
        </p:txBody>
      </p:sp>
      <p:sp>
        <p:nvSpPr>
          <p:cNvPr id="11" name="Rounded Rectangle 10"/>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data.jpg"/>
          <p:cNvPicPr>
            <a:picLocks noChangeAspect="1"/>
          </p:cNvPicPr>
          <p:nvPr/>
        </p:nvPicPr>
        <p:blipFill>
          <a:blip r:embed="rId3"/>
          <a:stretch>
            <a:fillRect/>
          </a:stretch>
        </p:blipFill>
        <p:spPr>
          <a:xfrm>
            <a:off x="5486400" y="1885029"/>
            <a:ext cx="5852160" cy="413950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05 · 실제 화면 | 비율 탐색도 승인 후 실행</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② 모델 비교 후, 비율 탐색 계획을 승인합니다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05 / 14</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결측·불균형 점검과</a:t>
            </a:r>
          </a:p>
          <a:p>
            <a:pPr>
              <a:lnSpc>
                <a:spcPct val="114000"/>
              </a:lnSpc>
              <a:spcAft>
                <a:spcPts val="800"/>
              </a:spcAft>
              <a:defRPr sz="2200" b="1">
                <a:solidFill>
                  <a:srgbClr val="173A49"/>
                </a:solidFill>
                <a:latin typeface="맑은 고딕"/>
              </a:defRPr>
            </a:pPr>
            <a:r>
              <a:t>전처리 이유 확인</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학습60% / 후보 선택20% / 마지막 확인20% · 같은 lot은 분리</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제품 묶음도 비교 · 오늘의 앙상블 사례는 A+B+C+D로 고정</a:t>
            </a:r>
          </a:p>
        </p:txBody>
      </p:sp>
      <p:sp>
        <p:nvSpPr>
          <p:cNvPr id="11" name="TextBox 10"/>
          <p:cNvSpPr txBox="1"/>
          <p:nvPr/>
        </p:nvSpPr>
        <p:spPr>
          <a:xfrm>
            <a:off x="658368" y="4690872"/>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232개 비율 비교 · 엔지니어 승인 후 실행</a:t>
            </a:r>
          </a:p>
        </p:txBody>
      </p:sp>
      <p:sp>
        <p:nvSpPr>
          <p:cNvPr id="12" name="Rounded Rectangle 11"/>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ensemble-plan.jpg"/>
          <p:cNvPicPr>
            <a:picLocks noChangeAspect="1"/>
          </p:cNvPicPr>
          <p:nvPr/>
        </p:nvPicPr>
        <p:blipFill>
          <a:blip r:embed="rId3"/>
          <a:stretch>
            <a:fillRect/>
          </a:stretch>
        </p:blipFill>
        <p:spPr>
          <a:xfrm>
            <a:off x="6052002" y="1874519"/>
            <a:ext cx="4720955" cy="4160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06 · 실제 화면 | Validation에서 비율과 판정 기준 선택</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③ 선택 비율: CatBoost 90% + LightGBM 10%</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06 / 14</a:t>
            </a:r>
          </a:p>
        </p:txBody>
      </p:sp>
      <p:sp>
        <p:nvSpPr>
          <p:cNvPr id="8" name="Rounded Rectangle 7"/>
          <p:cNvSpPr/>
          <p:nvPr/>
        </p:nvSpPr>
        <p:spPr>
          <a:xfrm>
            <a:off x="658368" y="1938528"/>
            <a:ext cx="10863072" cy="3639312"/>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pp-ensemble-validation.jpg"/>
          <p:cNvPicPr>
            <a:picLocks noChangeAspect="1"/>
          </p:cNvPicPr>
          <p:nvPr/>
        </p:nvPicPr>
        <p:blipFill>
          <a:blip r:embed="rId3"/>
          <a:stretch>
            <a:fillRect/>
          </a:stretch>
        </p:blipFill>
        <p:spPr>
          <a:xfrm>
            <a:off x="731520" y="2157137"/>
            <a:ext cx="10716768" cy="3202092"/>
          </a:xfrm>
          <a:prstGeom prst="rect">
            <a:avLst/>
          </a:prstGeom>
        </p:spPr>
      </p:pic>
      <p:sp>
        <p:nvSpPr>
          <p:cNvPr id="10" name="TextBox 9"/>
          <p:cNvSpPr txBox="1"/>
          <p:nvPr/>
        </p:nvSpPr>
        <p:spPr>
          <a:xfrm>
            <a:off x="777240" y="5596128"/>
            <a:ext cx="10698480" cy="365760"/>
          </a:xfrm>
          <a:prstGeom prst="rect">
            <a:avLst/>
          </a:prstGeom>
          <a:noFill/>
        </p:spPr>
        <p:txBody>
          <a:bodyPr wrap="square" lIns="18288" rIns="18288" tIns="18288" bIns="18288">
            <a:spAutoFit/>
          </a:bodyPr>
          <a:lstStyle/>
          <a:p>
            <a:pPr>
              <a:lnSpc>
                <a:spcPct val="114000"/>
              </a:lnSpc>
              <a:spcAft>
                <a:spcPts val="800"/>
              </a:spcAft>
              <a:defRPr sz="2000" b="1">
                <a:solidFill>
                  <a:srgbClr val="147D82"/>
                </a:solidFill>
                <a:latin typeface="맑은 고딕"/>
              </a:defRPr>
            </a:pPr>
            <a:r>
              <a:t>검출률 100.0% 유지 · F1 0.808 → 0.816</a:t>
            </a:r>
          </a:p>
        </p:txBody>
      </p:sp>
      <p:sp>
        <p:nvSpPr>
          <p:cNvPr id="11" name="TextBox 10"/>
          <p:cNvSpPr txBox="1"/>
          <p:nvPr/>
        </p:nvSpPr>
        <p:spPr>
          <a:xfrm>
            <a:off x="777240" y="6053328"/>
            <a:ext cx="10698480" cy="219456"/>
          </a:xfrm>
          <a:prstGeom prst="rect">
            <a:avLst/>
          </a:prstGeom>
          <a:noFill/>
        </p:spPr>
        <p:txBody>
          <a:bodyPr wrap="square" lIns="18288" rIns="18288" tIns="18288" bIns="18288">
            <a:spAutoFit/>
          </a:bodyPr>
          <a:lstStyle/>
          <a:p>
            <a:pPr>
              <a:lnSpc>
                <a:spcPct val="114000"/>
              </a:lnSpc>
              <a:spcAft>
                <a:spcPts val="800"/>
              </a:spcAft>
              <a:defRPr sz="1200" b="0">
                <a:solidFill>
                  <a:srgbClr val="617681"/>
                </a:solidFill>
                <a:latin typeface="맑은 고딕"/>
              </a:defRPr>
            </a:pPr>
            <a:r>
              <a:t>5% 간격과 균등 비율의 232개 비교 · 이 탐색 범위 안의 최선 · Test로 비율 선택하지 않음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07 · 실제 화면 | 같은 Test 256건: 불량32개 · 정상224개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④ 같은 검출률을 유지하며 정상 오판을 줄였습니다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07 / 14</a:t>
            </a:r>
          </a:p>
        </p:txBody>
      </p:sp>
      <p:sp>
        <p:nvSpPr>
          <p:cNvPr id="8" name="TextBox 7"/>
          <p:cNvSpPr txBox="1"/>
          <p:nvPr/>
        </p:nvSpPr>
        <p:spPr>
          <a:xfrm>
            <a:off x="713232" y="2103120"/>
            <a:ext cx="3886200" cy="795528"/>
          </a:xfrm>
          <a:prstGeom prst="rect">
            <a:avLst/>
          </a:prstGeom>
          <a:noFill/>
        </p:spPr>
        <p:txBody>
          <a:bodyPr wrap="square" lIns="18288" rIns="18288" tIns="18288" bIns="18288">
            <a:spAutoFit/>
          </a:bodyPr>
          <a:lstStyle/>
          <a:p>
            <a:pPr>
              <a:lnSpc>
                <a:spcPct val="114000"/>
              </a:lnSpc>
              <a:spcAft>
                <a:spcPts val="800"/>
              </a:spcAft>
              <a:defRPr sz="2400" b="1">
                <a:solidFill>
                  <a:srgbClr val="147D82"/>
                </a:solidFill>
                <a:latin typeface="맑은 고딕"/>
              </a:defRPr>
            </a:pPr>
            <a:r>
              <a:t>불량 발견 30 → 30개</a:t>
            </a:r>
          </a:p>
        </p:txBody>
      </p:sp>
      <p:sp>
        <p:nvSpPr>
          <p:cNvPr id="9" name="TextBox 8"/>
          <p:cNvSpPr txBox="1"/>
          <p:nvPr/>
        </p:nvSpPr>
        <p:spPr>
          <a:xfrm>
            <a:off x="713232" y="3054096"/>
            <a:ext cx="3886200" cy="795528"/>
          </a:xfrm>
          <a:prstGeom prst="rect">
            <a:avLst/>
          </a:prstGeom>
          <a:noFill/>
        </p:spPr>
        <p:txBody>
          <a:bodyPr wrap="square" lIns="18288" rIns="18288" tIns="18288" bIns="18288">
            <a:spAutoFit/>
          </a:bodyPr>
          <a:lstStyle/>
          <a:p>
            <a:pPr>
              <a:lnSpc>
                <a:spcPct val="114000"/>
              </a:lnSpc>
              <a:spcAft>
                <a:spcPts val="800"/>
              </a:spcAft>
              <a:defRPr sz="2400" b="1">
                <a:solidFill>
                  <a:srgbClr val="147D82"/>
                </a:solidFill>
                <a:latin typeface="맑은 고딕"/>
              </a:defRPr>
            </a:pPr>
            <a:r>
              <a:t>정상 오판 21 → 19개</a:t>
            </a:r>
          </a:p>
        </p:txBody>
      </p:sp>
      <p:sp>
        <p:nvSpPr>
          <p:cNvPr id="10" name="TextBox 9"/>
          <p:cNvSpPr txBox="1"/>
          <p:nvPr/>
        </p:nvSpPr>
        <p:spPr>
          <a:xfrm>
            <a:off x="713232" y="4005072"/>
            <a:ext cx="3886200" cy="795528"/>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Test F1 0.723 → 0.741</a:t>
            </a:r>
          </a:p>
        </p:txBody>
      </p:sp>
      <p:sp>
        <p:nvSpPr>
          <p:cNvPr id="11" name="TextBox 10"/>
          <p:cNvSpPr txBox="1"/>
          <p:nvPr/>
        </p:nvSpPr>
        <p:spPr>
          <a:xfrm>
            <a:off x="713232" y="4956048"/>
            <a:ext cx="3886200" cy="795528"/>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검출률 93.8% · 시연 목표 충족</a:t>
            </a:r>
          </a:p>
          <a:p>
            <a:pPr>
              <a:lnSpc>
                <a:spcPct val="114000"/>
              </a:lnSpc>
              <a:spcAft>
                <a:spcPts val="800"/>
              </a:spcAft>
              <a:defRPr sz="2100" b="1">
                <a:solidFill>
                  <a:srgbClr val="173A49"/>
                </a:solidFill>
                <a:latin typeface="맑은 고딕"/>
              </a:defRPr>
            </a:pPr>
            <a:r>
              <a:t>새 독립 데이터 검증 필요</a:t>
            </a:r>
          </a:p>
        </p:txBody>
      </p:sp>
      <p:sp>
        <p:nvSpPr>
          <p:cNvPr id="12" name="Rounded Rectangle 11"/>
          <p:cNvSpPr/>
          <p:nvPr/>
        </p:nvSpPr>
        <p:spPr>
          <a:xfrm>
            <a:off x="4910328" y="1847088"/>
            <a:ext cx="6574536"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ensemble-test.jpg"/>
          <p:cNvPicPr>
            <a:picLocks noChangeAspect="1"/>
          </p:cNvPicPr>
          <p:nvPr/>
        </p:nvPicPr>
        <p:blipFill>
          <a:blip r:embed="rId3"/>
          <a:stretch>
            <a:fillRect/>
          </a:stretch>
        </p:blipFill>
        <p:spPr>
          <a:xfrm>
            <a:off x="4983480" y="2167095"/>
            <a:ext cx="6428232" cy="366680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08 · 실제 검색 기록의 UI 재현 | RAG = 관련 근거 검색</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⑤ 공식 문서에서 비교 후보를 추가할 수 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08 / 14</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공식 문서 조회 → 근거 검색 → 후보와 제안 이유 제시</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ExtraTrees·GaussianNB 두 모델을 추가할 수 있습니다.</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근거 확인 → 계획 승인 → 기존 후보와 학습·비교</a:t>
            </a:r>
          </a:p>
        </p:txBody>
      </p:sp>
      <p:sp>
        <p:nvSpPr>
          <p:cNvPr id="11" name="Rounded Rectangle 10"/>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rag-proof.jpg"/>
          <p:cNvPicPr>
            <a:picLocks noChangeAspect="1"/>
          </p:cNvPicPr>
          <p:nvPr/>
        </p:nvPicPr>
        <p:blipFill>
          <a:blip r:embed="rId3"/>
          <a:stretch>
            <a:fillRect/>
          </a:stretch>
        </p:blipFill>
        <p:spPr>
          <a:xfrm>
            <a:off x="5486400" y="2447583"/>
            <a:ext cx="5852160" cy="301439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09 · 구현 구조와 검증</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역할을 나누고, 실행과 답변을 검증했습니다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09 / 14</a:t>
            </a:r>
          </a:p>
        </p:txBody>
      </p:sp>
      <p:sp>
        <p:nvSpPr>
          <p:cNvPr id="8" name="TextBox 7"/>
          <p:cNvSpPr txBox="1"/>
          <p:nvPr/>
        </p:nvSpPr>
        <p:spPr>
          <a:xfrm>
            <a:off x="621792" y="1920240"/>
            <a:ext cx="10972800" cy="411480"/>
          </a:xfrm>
          <a:prstGeom prst="rect">
            <a:avLst/>
          </a:prstGeom>
          <a:noFill/>
        </p:spPr>
        <p:txBody>
          <a:bodyPr wrap="square" lIns="18288" rIns="18288" tIns="18288" bIns="18288">
            <a:spAutoFit/>
          </a:bodyPr>
          <a:lstStyle/>
          <a:p>
            <a:pPr>
              <a:lnSpc>
                <a:spcPct val="114000"/>
              </a:lnSpc>
              <a:spcAft>
                <a:spcPts val="800"/>
              </a:spcAft>
              <a:defRPr sz="2100" b="0">
                <a:solidFill>
                  <a:srgbClr val="617681"/>
                </a:solidFill>
                <a:latin typeface="맑은 고딕"/>
              </a:defRPr>
            </a:pPr>
            <a:r>
              <a:t>LangGraph 역할 연결 · 로컬 Qwen 설명 · MCP 조회·계획 도구</a:t>
            </a:r>
          </a:p>
        </p:txBody>
      </p:sp>
      <p:sp>
        <p:nvSpPr>
          <p:cNvPr id="9" name="Rounded Rectangle 8"/>
          <p:cNvSpPr/>
          <p:nvPr/>
        </p:nvSpPr>
        <p:spPr>
          <a:xfrm>
            <a:off x="640080"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데이터 점검</a:t>
            </a:r>
          </a:p>
        </p:txBody>
      </p:sp>
      <p:sp>
        <p:nvSpPr>
          <p:cNvPr id="11" name="TextBox 10"/>
          <p:cNvSpPr txBox="1"/>
          <p:nvPr/>
        </p:nvSpPr>
        <p:spPr>
          <a:xfrm>
            <a:off x="777240"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행·결측·라벨</a:t>
            </a:r>
          </a:p>
        </p:txBody>
      </p:sp>
      <p:sp>
        <p:nvSpPr>
          <p:cNvPr id="12" name="TextBox 11"/>
          <p:cNvSpPr txBox="1"/>
          <p:nvPr/>
        </p:nvSpPr>
        <p:spPr>
          <a:xfrm>
            <a:off x="3200400"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3" name="Rounded Rectangle 12"/>
          <p:cNvSpPr/>
          <p:nvPr/>
        </p:nvSpPr>
        <p:spPr>
          <a:xfrm>
            <a:off x="3456432"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근거 검색</a:t>
            </a:r>
          </a:p>
        </p:txBody>
      </p:sp>
      <p:sp>
        <p:nvSpPr>
          <p:cNvPr id="15" name="TextBox 14"/>
          <p:cNvSpPr txBox="1"/>
          <p:nvPr/>
        </p:nvSpPr>
        <p:spPr>
          <a:xfrm>
            <a:off x="3593592"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교육 근거 / 공식 문서</a:t>
            </a:r>
          </a:p>
        </p:txBody>
      </p:sp>
      <p:sp>
        <p:nvSpPr>
          <p:cNvPr id="16" name="TextBox 15"/>
          <p:cNvSpPr txBox="1"/>
          <p:nvPr/>
        </p:nvSpPr>
        <p:spPr>
          <a:xfrm>
            <a:off x="6016752"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7" name="Rounded Rectangle 16"/>
          <p:cNvSpPr/>
          <p:nvPr/>
        </p:nvSpPr>
        <p:spPr>
          <a:xfrm>
            <a:off x="6272784"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실험 계획</a:t>
            </a:r>
          </a:p>
        </p:txBody>
      </p:sp>
      <p:sp>
        <p:nvSpPr>
          <p:cNvPr id="19" name="TextBox 18"/>
          <p:cNvSpPr txBox="1"/>
          <p:nvPr/>
        </p:nvSpPr>
        <p:spPr>
          <a:xfrm>
            <a:off x="6409944"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모델·전처리·비교 범위</a:t>
            </a:r>
          </a:p>
        </p:txBody>
      </p:sp>
      <p:sp>
        <p:nvSpPr>
          <p:cNvPr id="20" name="TextBox 19"/>
          <p:cNvSpPr txBox="1"/>
          <p:nvPr/>
        </p:nvSpPr>
        <p:spPr>
          <a:xfrm>
            <a:off x="8833104"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21" name="Rounded Rectangle 20"/>
          <p:cNvSpPr/>
          <p:nvPr/>
        </p:nvSpPr>
        <p:spPr>
          <a:xfrm>
            <a:off x="9089136"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엔지니어 승인</a:t>
            </a:r>
          </a:p>
        </p:txBody>
      </p:sp>
      <p:sp>
        <p:nvSpPr>
          <p:cNvPr id="23" name="TextBox 22"/>
          <p:cNvSpPr txBox="1"/>
          <p:nvPr/>
        </p:nvSpPr>
        <p:spPr>
          <a:xfrm>
            <a:off x="9226296"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확인 후 실행 허용</a:t>
            </a:r>
          </a:p>
        </p:txBody>
      </p:sp>
      <p:sp>
        <p:nvSpPr>
          <p:cNvPr id="24" name="Rounded Rectangle 23"/>
          <p:cNvSpPr/>
          <p:nvPr/>
        </p:nvSpPr>
        <p:spPr>
          <a:xfrm>
            <a:off x="640080" y="3986784"/>
            <a:ext cx="10927080" cy="777240"/>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169663"/>
            <a:ext cx="10515600" cy="411480"/>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실험 엔진 학습·수치·순위 계산 → 결과 검토 역할이 근거 정리</a:t>
            </a:r>
          </a:p>
        </p:txBody>
      </p:sp>
      <p:sp>
        <p:nvSpPr>
          <p:cNvPr id="26" name="TextBox 25"/>
          <p:cNvSpPr txBox="1"/>
          <p:nvPr/>
        </p:nvSpPr>
        <p:spPr>
          <a:xfrm>
            <a:off x="731520" y="5084064"/>
            <a:ext cx="10698480"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LangSmith: 실제 실행 추적 · API 재조회 확인</a:t>
            </a:r>
          </a:p>
        </p:txBody>
      </p:sp>
      <p:sp>
        <p:nvSpPr>
          <p:cNvPr id="27" name="TextBox 26"/>
          <p:cNvSpPr txBox="1"/>
          <p:nvPr/>
        </p:nvSpPr>
        <p:spPr>
          <a:xfrm>
            <a:off x="731520" y="5632704"/>
            <a:ext cx="10698480" cy="365760"/>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설명 검사(LLM-as-a-Judge): 6/8개 올바른 판단 · 코드 테스트 42개 통과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10 · 성과와 교훈</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추천 비율과 함께, 선택 이유와 한계를 남깁니다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10 / 14</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성과: 승인된 모델·앙상블 비율 비교와 선택 근거를 한 흐름으로 연결</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교훈: F1 하나보다 불량 미검출·정상 오판의 우선순위가 먼저입니다.</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한계: 합성 데이터·작은 불량 표본·반복 비교 → 현장 효과 미측정</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개선: 현장 기준 합의 → 새 독립 데이터 검증 → 작업시간 절감 측정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A · 초기 전체 제품 Validation 비교</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비율을 섞기 전, 개별 모델 비교</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11 / 14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전체 제품 Train의 24조건에서 알고리즘별 최선 불균형 설정을 표시합니다.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앙상블은 같은 학습 범위의 CatBoost·HistGradientBoosting·LightGBM으로 비교했습니다.</a:t>
            </a:r>
          </a:p>
        </p:txBody>
      </p:sp>
      <p:graphicFrame>
        <p:nvGraphicFramePr>
          <p:cNvPr id="10" name="Table 9"/>
          <p:cNvGraphicFramePr>
            <a:graphicFrameLocks noGrp="1"/>
          </p:cNvGraphicFramePr>
          <p:nvPr/>
        </p:nvGraphicFramePr>
        <p:xfrm>
          <a:off x="594360" y="2926080"/>
          <a:ext cx="11000231" cy="3145535"/>
        </p:xfrm>
        <a:graphic>
          <a:graphicData uri="http://schemas.openxmlformats.org/drawingml/2006/table">
            <a:tbl>
              <a:tblPr firstRow="1" bandRow="1">
                <a:tableStyleId>{5C22544A-7EE6-4342-B048-85BDC9FD1C3A}</a:tableStyleId>
              </a:tblPr>
              <a:tblGrid>
                <a:gridCol w="4050791"/>
                <a:gridCol w="1737360"/>
                <a:gridCol w="1737360"/>
                <a:gridCol w="1737360"/>
                <a:gridCol w="1737360"/>
              </a:tblGrid>
              <a:tr h="241964">
                <a:tc>
                  <a:txBody>
                    <a:bodyPr/>
                    <a:lstStyle/>
                    <a:p>
                      <a:pPr>
                        <a:defRPr sz="1200" b="1">
                          <a:solidFill>
                            <a:srgbClr val="FFFFFF"/>
                          </a:solidFill>
                          <a:latin typeface="맑은 고딕"/>
                        </a:defRPr>
                      </a:pPr>
                      <a:r>
                        <a:t>모델 · 전체 제품 학습</a:t>
                      </a:r>
                    </a:p>
                  </a:txBody>
                  <a:tcPr marL="118872" marR="91440" marT="64008" marB="54864" anchor="ctr">
                    <a:solidFill>
                      <a:srgbClr val="147D82"/>
                    </a:solidFill>
                  </a:tcPr>
                </a:tc>
                <a:tc>
                  <a:txBody>
                    <a:bodyPr/>
                    <a:lstStyle/>
                    <a:p>
                      <a:pPr>
                        <a:defRPr sz="1200" b="1">
                          <a:solidFill>
                            <a:srgbClr val="FFFFFF"/>
                          </a:solidFill>
                          <a:latin typeface="맑은 고딕"/>
                        </a:defRPr>
                      </a:pPr>
                      <a:r>
                        <a:t>불균형 설정</a:t>
                      </a:r>
                    </a:p>
                  </a:txBody>
                  <a:tcPr marL="118872" marR="91440" marT="64008" marB="54864" anchor="ctr">
                    <a:solidFill>
                      <a:srgbClr val="147D82"/>
                    </a:solidFill>
                  </a:tcPr>
                </a:tc>
                <a:tc>
                  <a:txBody>
                    <a:bodyPr/>
                    <a:lstStyle/>
                    <a:p>
                      <a:pPr>
                        <a:defRPr sz="1200" b="1">
                          <a:solidFill>
                            <a:srgbClr val="FFFFFF"/>
                          </a:solidFill>
                          <a:latin typeface="맑은 고딕"/>
                        </a:defRPr>
                      </a:pPr>
                      <a:r>
                        <a:t>검출률</a:t>
                      </a:r>
                    </a:p>
                  </a:txBody>
                  <a:tcPr marL="118872" marR="91440" marT="64008" marB="54864" anchor="ctr">
                    <a:solidFill>
                      <a:srgbClr val="147D82"/>
                    </a:solidFill>
                  </a:tcPr>
                </a:tc>
                <a:tc>
                  <a:txBody>
                    <a:bodyPr/>
                    <a:lstStyle/>
                    <a:p>
                      <a:pPr>
                        <a:defRPr sz="1200" b="1">
                          <a:solidFill>
                            <a:srgbClr val="FFFFFF"/>
                          </a:solidFill>
                          <a:latin typeface="맑은 고딕"/>
                        </a:defRPr>
                      </a:pPr>
                      <a:r>
                        <a:t>정상 오판률</a:t>
                      </a:r>
                    </a:p>
                  </a:txBody>
                  <a:tcPr marL="118872" marR="91440" marT="64008" marB="54864" anchor="ctr">
                    <a:solidFill>
                      <a:srgbClr val="147D82"/>
                    </a:solidFill>
                  </a:tcPr>
                </a:tc>
                <a:tc>
                  <a:txBody>
                    <a:bodyPr/>
                    <a:lstStyle/>
                    <a:p>
                      <a:pPr>
                        <a:defRPr sz="1200" b="1">
                          <a:solidFill>
                            <a:srgbClr val="FFFFFF"/>
                          </a:solidFill>
                          <a:latin typeface="맑은 고딕"/>
                        </a:defRPr>
                      </a:pPr>
                      <a:r>
                        <a:t>F1</a:t>
                      </a:r>
                    </a:p>
                  </a:txBody>
                  <a:tcPr marL="118872" marR="91440" marT="64008" marB="54864" anchor="ctr">
                    <a:solidFill>
                      <a:srgbClr val="147D82"/>
                    </a:solidFill>
                  </a:tcPr>
                </a:tc>
              </a:tr>
              <a:tr h="241964">
                <a:tc>
                  <a:txBody>
                    <a:bodyPr/>
                    <a:lstStyle/>
                    <a:p>
                      <a:pPr>
                        <a:defRPr sz="1200" b="0">
                          <a:solidFill>
                            <a:srgbClr val="173A49"/>
                          </a:solidFill>
                          <a:latin typeface="맑은 고딕"/>
                        </a:defRPr>
                      </a:pPr>
                      <a:r>
                        <a:t>CatBoost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9.3%</a:t>
                      </a:r>
                    </a:p>
                  </a:txBody>
                  <a:tcPr marL="118872" marR="91440" marT="64008" marB="54864" anchor="ctr">
                    <a:solidFill>
                      <a:srgbClr val="FFFFFF"/>
                    </a:solidFill>
                  </a:tcPr>
                </a:tc>
                <a:tc>
                  <a:txBody>
                    <a:bodyPr/>
                    <a:lstStyle/>
                    <a:p>
                      <a:pPr>
                        <a:defRPr sz="1200" b="0">
                          <a:solidFill>
                            <a:srgbClr val="173A49"/>
                          </a:solidFill>
                          <a:latin typeface="맑은 고딕"/>
                        </a:defRPr>
                      </a:pPr>
                      <a:r>
                        <a:t>80.8%</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HistGradientBoosting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10.3%</a:t>
                      </a:r>
                    </a:p>
                  </a:txBody>
                  <a:tcPr marL="118872" marR="91440" marT="64008" marB="54864" anchor="ctr">
                    <a:solidFill>
                      <a:srgbClr val="E8F3F3"/>
                    </a:solidFill>
                  </a:tcPr>
                </a:tc>
                <a:tc>
                  <a:txBody>
                    <a:bodyPr/>
                    <a:lstStyle/>
                    <a:p>
                      <a:pPr>
                        <a:defRPr sz="1200" b="0">
                          <a:solidFill>
                            <a:srgbClr val="173A49"/>
                          </a:solidFill>
                          <a:latin typeface="맑은 고딕"/>
                        </a:defRPr>
                      </a:pPr>
                      <a:r>
                        <a:t>79.2%</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LightGBM</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78.5%</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XGBoost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11.2%</a:t>
                      </a:r>
                    </a:p>
                  </a:txBody>
                  <a:tcPr marL="118872" marR="91440" marT="64008" marB="54864" anchor="ctr">
                    <a:solidFill>
                      <a:srgbClr val="E8F3F3"/>
                    </a:solidFill>
                  </a:tcPr>
                </a:tc>
                <a:tc>
                  <a:txBody>
                    <a:bodyPr/>
                    <a:lstStyle/>
                    <a:p>
                      <a:pPr>
                        <a:defRPr sz="1200" b="0">
                          <a:solidFill>
                            <a:srgbClr val="173A49"/>
                          </a:solidFill>
                          <a:latin typeface="맑은 고딕"/>
                        </a:defRPr>
                      </a:pPr>
                      <a:r>
                        <a:t>77.8%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Random Forest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13.1%</a:t>
                      </a:r>
                    </a:p>
                  </a:txBody>
                  <a:tcPr marL="118872" marR="91440" marT="64008" marB="54864" anchor="ctr">
                    <a:solidFill>
                      <a:srgbClr val="FFFFFF"/>
                    </a:solidFill>
                  </a:tcPr>
                </a:tc>
                <a:tc>
                  <a:txBody>
                    <a:bodyPr/>
                    <a:lstStyle/>
                    <a:p>
                      <a:pPr>
                        <a:defRPr sz="1200" b="0">
                          <a:solidFill>
                            <a:srgbClr val="173A49"/>
                          </a:solidFill>
                          <a:latin typeface="맑은 고딕"/>
                        </a:defRPr>
                      </a:pPr>
                      <a:r>
                        <a:t>75.0%</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AdaBoost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6.1%</a:t>
                      </a:r>
                    </a:p>
                  </a:txBody>
                  <a:tcPr marL="118872" marR="91440" marT="64008" marB="54864" anchor="ctr">
                    <a:solidFill>
                      <a:srgbClr val="E8F3F3"/>
                    </a:solidFill>
                  </a:tcPr>
                </a:tc>
                <a:tc>
                  <a:txBody>
                    <a:bodyPr/>
                    <a:lstStyle/>
                    <a:p>
                      <a:pPr>
                        <a:defRPr sz="1200" b="0">
                          <a:solidFill>
                            <a:srgbClr val="173A49"/>
                          </a:solidFill>
                          <a:latin typeface="맑은 고딕"/>
                        </a:defRPr>
                      </a:pPr>
                      <a:r>
                        <a:t>85.4%</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SVM (RBF)</a:t>
                      </a:r>
                    </a:p>
                  </a:txBody>
                  <a:tcPr marL="118872" marR="91440" marT="64008" marB="54864" anchor="ctr">
                    <a:solidFill>
                      <a:srgbClr val="FFFFFF"/>
                    </a:solidFill>
                  </a:tcPr>
                </a:tc>
                <a:tc>
                  <a:txBody>
                    <a:bodyPr/>
                    <a:lstStyle/>
                    <a:p>
                      <a:pPr>
                        <a:defRPr sz="1200" b="0">
                          <a:solidFill>
                            <a:srgbClr val="173A49"/>
                          </a:solidFill>
                          <a:latin typeface="맑은 고딕"/>
                        </a:defRPr>
                      </a:pPr>
                      <a:r>
                        <a:t>weighted</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77.4%</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Gradient 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11.7%</a:t>
                      </a:r>
                    </a:p>
                  </a:txBody>
                  <a:tcPr marL="118872" marR="91440" marT="64008" marB="54864" anchor="ctr">
                    <a:solidFill>
                      <a:srgbClr val="E8F3F3"/>
                    </a:solidFill>
                  </a:tcPr>
                </a:tc>
                <a:tc>
                  <a:txBody>
                    <a:bodyPr/>
                    <a:lstStyle/>
                    <a:p>
                      <a:pPr>
                        <a:defRPr sz="1200" b="0">
                          <a:solidFill>
                            <a:srgbClr val="173A49"/>
                          </a:solidFill>
                          <a:latin typeface="맑은 고딕"/>
                        </a:defRPr>
                      </a:pPr>
                      <a:r>
                        <a:t>75.9%</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MLP / ANN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14.5%</a:t>
                      </a:r>
                    </a:p>
                  </a:txBody>
                  <a:tcPr marL="118872" marR="91440" marT="64008" marB="54864" anchor="ctr">
                    <a:solidFill>
                      <a:srgbClr val="FFFFFF"/>
                    </a:solidFill>
                  </a:tcPr>
                </a:tc>
                <a:tc>
                  <a:txBody>
                    <a:bodyPr/>
                    <a:lstStyle/>
                    <a:p>
                      <a:pPr>
                        <a:defRPr sz="1200" b="0">
                          <a:solidFill>
                            <a:srgbClr val="173A49"/>
                          </a:solidFill>
                          <a:latin typeface="맑은 고딕"/>
                        </a:defRPr>
                      </a:pPr>
                      <a:r>
                        <a:t>71.9%</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Decision Tree</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92.9%</a:t>
                      </a:r>
                    </a:p>
                  </a:txBody>
                  <a:tcPr marL="118872" marR="91440" marT="64008" marB="54864" anchor="ctr">
                    <a:solidFill>
                      <a:srgbClr val="E8F3F3"/>
                    </a:solidFill>
                  </a:tcPr>
                </a:tc>
                <a:tc>
                  <a:txBody>
                    <a:bodyPr/>
                    <a:lstStyle/>
                    <a:p>
                      <a:pPr>
                        <a:defRPr sz="1200" b="0">
                          <a:solidFill>
                            <a:srgbClr val="173A49"/>
                          </a:solidFill>
                          <a:latin typeface="맑은 고딕"/>
                        </a:defRPr>
                      </a:pPr>
                      <a:r>
                        <a:t>8.4%</a:t>
                      </a:r>
                    </a:p>
                  </a:txBody>
                  <a:tcPr marL="118872" marR="91440" marT="64008" marB="54864" anchor="ctr">
                    <a:solidFill>
                      <a:srgbClr val="E8F3F3"/>
                    </a:solidFill>
                  </a:tcPr>
                </a:tc>
                <a:tc>
                  <a:txBody>
                    <a:bodyPr/>
                    <a:lstStyle/>
                    <a:p>
                      <a:pPr>
                        <a:defRPr sz="1200" b="0">
                          <a:solidFill>
                            <a:srgbClr val="173A49"/>
                          </a:solidFill>
                          <a:latin typeface="맑은 고딕"/>
                        </a:defRPr>
                      </a:pPr>
                      <a:r>
                        <a:t>78.8%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KNN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92.9%</a:t>
                      </a:r>
                    </a:p>
                  </a:txBody>
                  <a:tcPr marL="118872" marR="91440" marT="64008" marB="54864" anchor="ctr">
                    <a:solidFill>
                      <a:srgbClr val="FFFFFF"/>
                    </a:solidFill>
                  </a:tcPr>
                </a:tc>
                <a:tc>
                  <a:txBody>
                    <a:bodyPr/>
                    <a:lstStyle/>
                    <a:p>
                      <a:pPr>
                        <a:defRPr sz="1200" b="0">
                          <a:solidFill>
                            <a:srgbClr val="173A49"/>
                          </a:solidFill>
                          <a:latin typeface="맑은 고딕"/>
                        </a:defRPr>
                      </a:pPr>
                      <a:r>
                        <a:t>11.2%</a:t>
                      </a:r>
                    </a:p>
                  </a:txBody>
                  <a:tcPr marL="118872" marR="91440" marT="64008" marB="54864" anchor="ctr">
                    <a:solidFill>
                      <a:srgbClr val="FFFFFF"/>
                    </a:solidFill>
                  </a:tcPr>
                </a:tc>
                <a:tc>
                  <a:txBody>
                    <a:bodyPr/>
                    <a:lstStyle/>
                    <a:p>
                      <a:pPr>
                        <a:defRPr sz="1200" b="0">
                          <a:solidFill>
                            <a:srgbClr val="173A49"/>
                          </a:solidFill>
                          <a:latin typeface="맑은 고딕"/>
                        </a:defRPr>
                      </a:pPr>
                      <a:r>
                        <a:t>74.3%</a:t>
                      </a:r>
                    </a:p>
                  </a:txBody>
                  <a:tcPr marL="118872" marR="91440" marT="64008" marB="54864" anchor="ctr">
                    <a:solidFill>
                      <a:srgbClr val="FFFFFF"/>
                    </a:solidFill>
                  </a:tcPr>
                </a:tc>
              </a:tr>
              <a:tr h="241967">
                <a:tc>
                  <a:txBody>
                    <a:bodyPr/>
                    <a:lstStyle/>
                    <a:p>
                      <a:pPr>
                        <a:defRPr sz="1200" b="0">
                          <a:solidFill>
                            <a:srgbClr val="173A49"/>
                          </a:solidFill>
                          <a:latin typeface="맑은 고딕"/>
                        </a:defRPr>
                      </a:pPr>
                      <a:r>
                        <a:t>Logistic Regression</a:t>
                      </a:r>
                    </a:p>
                  </a:txBody>
                  <a:tcPr marL="118872" marR="91440" marT="64008" marB="54864" anchor="ctr">
                    <a:solidFill>
                      <a:srgbClr val="E8F3F3"/>
                    </a:solidFill>
                  </a:tcPr>
                </a:tc>
                <a:tc>
                  <a:txBody>
                    <a:bodyPr/>
                    <a:lstStyle/>
                    <a:p>
                      <a:pPr>
                        <a:defRPr sz="1200" b="0">
                          <a:solidFill>
                            <a:srgbClr val="173A49"/>
                          </a:solidFill>
                          <a:latin typeface="맑은 고딕"/>
                        </a:defRPr>
                      </a:pPr>
                      <a:r>
                        <a:t>weighted</a:t>
                      </a:r>
                    </a:p>
                  </a:txBody>
                  <a:tcPr marL="118872" marR="91440" marT="64008" marB="54864" anchor="ctr">
                    <a:solidFill>
                      <a:srgbClr val="E8F3F3"/>
                    </a:solidFill>
                  </a:tcPr>
                </a:tc>
                <a:tc>
                  <a:txBody>
                    <a:bodyPr/>
                    <a:lstStyle/>
                    <a:p>
                      <a:pPr>
                        <a:defRPr sz="1200" b="0">
                          <a:solidFill>
                            <a:srgbClr val="173A49"/>
                          </a:solidFill>
                          <a:latin typeface="맑은 고딕"/>
                        </a:defRPr>
                      </a:pPr>
                      <a:r>
                        <a:t>90.5%</a:t>
                      </a:r>
                    </a:p>
                  </a:txBody>
                  <a:tcPr marL="118872" marR="91440" marT="64008" marB="54864" anchor="ctr">
                    <a:solidFill>
                      <a:srgbClr val="E8F3F3"/>
                    </a:solidFill>
                  </a:tcPr>
                </a:tc>
                <a:tc>
                  <a:txBody>
                    <a:bodyPr/>
                    <a:lstStyle/>
                    <a:p>
                      <a:pPr>
                        <a:defRPr sz="1200" b="0">
                          <a:solidFill>
                            <a:srgbClr val="173A49"/>
                          </a:solidFill>
                          <a:latin typeface="맑은 고딕"/>
                        </a:defRPr>
                      </a:pPr>
                      <a:r>
                        <a:t>18.7%</a:t>
                      </a:r>
                    </a:p>
                  </a:txBody>
                  <a:tcPr marL="118872" marR="91440" marT="64008" marB="54864" anchor="ctr">
                    <a:solidFill>
                      <a:srgbClr val="E8F3F3"/>
                    </a:solidFill>
                  </a:tcPr>
                </a:tc>
                <a:tc>
                  <a:txBody>
                    <a:bodyPr/>
                    <a:lstStyle/>
                    <a:p>
                      <a:pPr>
                        <a:defRPr sz="1200" b="0">
                          <a:solidFill>
                            <a:srgbClr val="173A49"/>
                          </a:solidFill>
                          <a:latin typeface="맑은 고딕"/>
                        </a:defRPr>
                      </a:pPr>
                      <a:r>
                        <a:t>63.3%</a:t>
                      </a:r>
                    </a:p>
                  </a:txBody>
                  <a:tcPr marL="118872" marR="91440" marT="64008" marB="54864" anchor="ctr">
                    <a:solidFill>
                      <a:srgbClr val="E8F3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B · 별도 합성 후속 배치의 실제 비교</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제품별 전용 모델이 항상 더 좋지는 않습니다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12 / 14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같은 제품의 같은 Validation 행에서 공통·전용 CatBoost를 비교했습니다.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A는 공통 모델, C는 전용 모델이 더 높은 검출률을 보였습니다.</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914400"/>
                <a:gridCol w="3566160"/>
                <a:gridCol w="3566160"/>
                <a:gridCol w="2953512"/>
              </a:tblGrid>
              <a:tr h="629107">
                <a:tc>
                  <a:txBody>
                    <a:bodyPr/>
                    <a:lstStyle/>
                    <a:p>
                      <a:pPr>
                        <a:defRPr sz="1300" b="1">
                          <a:solidFill>
                            <a:srgbClr val="FFFFFF"/>
                          </a:solidFill>
                          <a:latin typeface="맑은 고딕"/>
                        </a:defRPr>
                      </a:pPr>
                      <a:r>
                        <a:t>제품</a:t>
                      </a:r>
                    </a:p>
                  </a:txBody>
                  <a:tcPr marL="118872" marR="91440" marT="64008" marB="54864" anchor="ctr">
                    <a:solidFill>
                      <a:srgbClr val="147D82"/>
                    </a:solidFill>
                  </a:tcPr>
                </a:tc>
                <a:tc>
                  <a:txBody>
                    <a:bodyPr/>
                    <a:lstStyle/>
                    <a:p>
                      <a:pPr>
                        <a:defRPr sz="1300" b="1">
                          <a:solidFill>
                            <a:srgbClr val="FFFFFF"/>
                          </a:solidFill>
                          <a:latin typeface="맑은 고딕"/>
                        </a:defRPr>
                      </a:pPr>
                      <a:r>
                        <a:t>ABCD 공통 모델</a:t>
                      </a:r>
                    </a:p>
                    <a:p>
                      <a:pPr>
                        <a:defRPr sz="1300" b="1">
                          <a:solidFill>
                            <a:srgbClr val="FFFFFF"/>
                          </a:solidFill>
                          <a:latin typeface="맑은 고딕"/>
                        </a:defRPr>
                      </a:pPr>
                      <a:r>
                        <a:t>검출률 / 정상 오판률</a:t>
                      </a:r>
                    </a:p>
                  </a:txBody>
                  <a:tcPr marL="118872" marR="91440" marT="64008" marB="54864" anchor="ctr">
                    <a:solidFill>
                      <a:srgbClr val="147D82"/>
                    </a:solidFill>
                  </a:tcPr>
                </a:tc>
                <a:tc>
                  <a:txBody>
                    <a:bodyPr/>
                    <a:lstStyle/>
                    <a:p>
                      <a:pPr>
                        <a:defRPr sz="1300" b="1">
                          <a:solidFill>
                            <a:srgbClr val="FFFFFF"/>
                          </a:solidFill>
                          <a:latin typeface="맑은 고딕"/>
                        </a:defRPr>
                      </a:pPr>
                      <a:r>
                        <a:t>해당 제품 전용 모델</a:t>
                      </a:r>
                    </a:p>
                    <a:p>
                      <a:pPr>
                        <a:defRPr sz="1300" b="1">
                          <a:solidFill>
                            <a:srgbClr val="FFFFFF"/>
                          </a:solidFill>
                          <a:latin typeface="맑은 고딕"/>
                        </a:defRPr>
                      </a:pPr>
                      <a:r>
                        <a:t>검출률 / 정상 오판률</a:t>
                      </a:r>
                    </a:p>
                  </a:txBody>
                  <a:tcPr marL="118872" marR="91440" marT="64008" marB="54864" anchor="ctr">
                    <a:solidFill>
                      <a:srgbClr val="147D82"/>
                    </a:solidFill>
                  </a:tcPr>
                </a:tc>
                <a:tc>
                  <a:txBody>
                    <a:bodyPr/>
                    <a:lstStyle/>
                    <a:p>
                      <a:pPr>
                        <a:defRPr sz="1300" b="1">
                          <a:solidFill>
                            <a:srgbClr val="FFFFFF"/>
                          </a:solidFill>
                          <a:latin typeface="맑은 고딕"/>
                        </a:defRPr>
                      </a:pPr>
                      <a:r>
                        <a:t>Validation 선택</a:t>
                      </a:r>
                    </a:p>
                  </a:txBody>
                  <a:tcPr marL="118872" marR="91440" marT="64008" marB="54864" anchor="ctr">
                    <a:solidFill>
                      <a:srgbClr val="147D82"/>
                    </a:solidFill>
                  </a:tcPr>
                </a:tc>
              </a:tr>
              <a:tr h="629107">
                <a:tc>
                  <a:txBody>
                    <a:bodyPr/>
                    <a:lstStyle/>
                    <a:p>
                      <a:pPr>
                        <a:defRPr sz="1300" b="0">
                          <a:solidFill>
                            <a:srgbClr val="173A49"/>
                          </a:solidFill>
                          <a:latin typeface="맑은 고딕"/>
                        </a:defRPr>
                      </a:pPr>
                      <a:r>
                        <a:t>A</a:t>
                      </a:r>
                    </a:p>
                  </a:txBody>
                  <a:tcPr marL="118872" marR="91440" marT="64008" marB="54864" anchor="ctr">
                    <a:solidFill>
                      <a:srgbClr val="FFFFFF"/>
                    </a:solidFill>
                  </a:tcPr>
                </a:tc>
                <a:tc>
                  <a:txBody>
                    <a:bodyPr/>
                    <a:lstStyle/>
                    <a:p>
                      <a:pPr>
                        <a:defRPr sz="1300" b="0">
                          <a:solidFill>
                            <a:srgbClr val="173A49"/>
                          </a:solidFill>
                          <a:latin typeface="맑은 고딕"/>
                        </a:defRPr>
                      </a:pPr>
                      <a:r>
                        <a:t>98.6% / 14.8%</a:t>
                      </a:r>
                    </a:p>
                  </a:txBody>
                  <a:tcPr marL="118872" marR="91440" marT="64008" marB="54864" anchor="ctr">
                    <a:solidFill>
                      <a:srgbClr val="FFFFFF"/>
                    </a:solidFill>
                  </a:tcPr>
                </a:tc>
                <a:tc>
                  <a:txBody>
                    <a:bodyPr/>
                    <a:lstStyle/>
                    <a:p>
                      <a:pPr>
                        <a:defRPr sz="1300" b="0">
                          <a:solidFill>
                            <a:srgbClr val="173A49"/>
                          </a:solidFill>
                          <a:latin typeface="맑은 고딕"/>
                        </a:defRPr>
                      </a:pPr>
                      <a:r>
                        <a:t>94.2% / 14.2%</a:t>
                      </a:r>
                    </a:p>
                  </a:txBody>
                  <a:tcPr marL="118872" marR="91440" marT="64008" marB="54864" anchor="ctr">
                    <a:solidFill>
                      <a:srgbClr val="FFFFFF"/>
                    </a:solidFill>
                  </a:tcPr>
                </a:tc>
                <a:tc>
                  <a:txBody>
                    <a:bodyPr/>
                    <a:lstStyle/>
                    <a:p>
                      <a:pPr>
                        <a:defRPr sz="1300" b="0">
                          <a:solidFill>
                            <a:srgbClr val="173A49"/>
                          </a:solidFill>
                          <a:latin typeface="맑은 고딕"/>
                        </a:defRPr>
                      </a:pPr>
                      <a:r>
                        <a:t>공통</a:t>
                      </a:r>
                    </a:p>
                  </a:txBody>
                  <a:tcPr marL="118872" marR="91440" marT="64008" marB="54864" anchor="ctr">
                    <a:solidFill>
                      <a:srgbClr val="FFFFFF"/>
                    </a:solidFill>
                  </a:tcPr>
                </a:tc>
              </a:tr>
              <a:tr h="629107">
                <a:tc>
                  <a:txBody>
                    <a:bodyPr/>
                    <a:lstStyle/>
                    <a:p>
                      <a:pPr>
                        <a:defRPr sz="1300" b="0">
                          <a:solidFill>
                            <a:srgbClr val="173A49"/>
                          </a:solidFill>
                          <a:latin typeface="맑은 고딕"/>
                        </a:defRPr>
                      </a:pPr>
                      <a:r>
                        <a:t>B</a:t>
                      </a:r>
                    </a:p>
                  </a:txBody>
                  <a:tcPr marL="118872" marR="91440" marT="64008" marB="54864" anchor="ctr">
                    <a:solidFill>
                      <a:srgbClr val="E8F3F3"/>
                    </a:solidFill>
                  </a:tcPr>
                </a:tc>
                <a:tc>
                  <a:txBody>
                    <a:bodyPr/>
                    <a:lstStyle/>
                    <a:p>
                      <a:pPr>
                        <a:defRPr sz="1300" b="0">
                          <a:solidFill>
                            <a:srgbClr val="173A49"/>
                          </a:solidFill>
                          <a:latin typeface="맑은 고딕"/>
                        </a:defRPr>
                      </a:pPr>
                      <a:r>
                        <a:t>89.7% / 13.2%</a:t>
                      </a:r>
                    </a:p>
                  </a:txBody>
                  <a:tcPr marL="118872" marR="91440" marT="64008" marB="54864" anchor="ctr">
                    <a:solidFill>
                      <a:srgbClr val="E8F3F3"/>
                    </a:solidFill>
                  </a:tcPr>
                </a:tc>
                <a:tc>
                  <a:txBody>
                    <a:bodyPr/>
                    <a:lstStyle/>
                    <a:p>
                      <a:pPr>
                        <a:defRPr sz="1300" b="0">
                          <a:solidFill>
                            <a:srgbClr val="173A49"/>
                          </a:solidFill>
                          <a:latin typeface="맑은 고딕"/>
                        </a:defRPr>
                      </a:pPr>
                      <a:r>
                        <a:t>89.7% / 14.9%</a:t>
                      </a:r>
                    </a:p>
                  </a:txBody>
                  <a:tcPr marL="118872" marR="91440" marT="64008" marB="54864" anchor="ctr">
                    <a:solidFill>
                      <a:srgbClr val="E8F3F3"/>
                    </a:solidFill>
                  </a:tcPr>
                </a:tc>
                <a:tc>
                  <a:txBody>
                    <a:bodyPr/>
                    <a:lstStyle/>
                    <a:p>
                      <a:pPr>
                        <a:defRPr sz="1300" b="0">
                          <a:solidFill>
                            <a:srgbClr val="173A49"/>
                          </a:solidFill>
                          <a:latin typeface="맑은 고딕"/>
                        </a:defRPr>
                      </a:pPr>
                      <a:r>
                        <a:t>공통 · 목표 미달</a:t>
                      </a:r>
                    </a:p>
                  </a:txBody>
                  <a:tcPr marL="118872" marR="91440" marT="64008" marB="54864" anchor="ctr">
                    <a:solidFill>
                      <a:srgbClr val="E8F3F3"/>
                    </a:solidFill>
                  </a:tcPr>
                </a:tc>
              </a:tr>
              <a:tr h="629107">
                <a:tc>
                  <a:txBody>
                    <a:bodyPr/>
                    <a:lstStyle/>
                    <a:p>
                      <a:pPr>
                        <a:defRPr sz="1300" b="0">
                          <a:solidFill>
                            <a:srgbClr val="173A49"/>
                          </a:solidFill>
                          <a:latin typeface="맑은 고딕"/>
                        </a:defRPr>
                      </a:pPr>
                      <a:r>
                        <a:t>C</a:t>
                      </a:r>
                    </a:p>
                  </a:txBody>
                  <a:tcPr marL="118872" marR="91440" marT="64008" marB="54864" anchor="ctr">
                    <a:solidFill>
                      <a:srgbClr val="FFFFFF"/>
                    </a:solidFill>
                  </a:tcPr>
                </a:tc>
                <a:tc>
                  <a:txBody>
                    <a:bodyPr/>
                    <a:lstStyle/>
                    <a:p>
                      <a:pPr>
                        <a:defRPr sz="1300" b="0">
                          <a:solidFill>
                            <a:srgbClr val="173A49"/>
                          </a:solidFill>
                          <a:latin typeface="맑은 고딕"/>
                        </a:defRPr>
                      </a:pPr>
                      <a:r>
                        <a:t>90.9% / 14.3%</a:t>
                      </a:r>
                    </a:p>
                  </a:txBody>
                  <a:tcPr marL="118872" marR="91440" marT="64008" marB="54864" anchor="ctr">
                    <a:solidFill>
                      <a:srgbClr val="FFFFFF"/>
                    </a:solidFill>
                  </a:tcPr>
                </a:tc>
                <a:tc>
                  <a:txBody>
                    <a:bodyPr/>
                    <a:lstStyle/>
                    <a:p>
                      <a:pPr>
                        <a:defRPr sz="1300" b="0">
                          <a:solidFill>
                            <a:srgbClr val="173A49"/>
                          </a:solidFill>
                          <a:latin typeface="맑은 고딕"/>
                        </a:defRPr>
                      </a:pPr>
                      <a:r>
                        <a:t>93.2% / 14.3%</a:t>
                      </a:r>
                    </a:p>
                  </a:txBody>
                  <a:tcPr marL="118872" marR="91440" marT="64008" marB="54864" anchor="ctr">
                    <a:solidFill>
                      <a:srgbClr val="FFFFFF"/>
                    </a:solidFill>
                  </a:tcPr>
                </a:tc>
                <a:tc>
                  <a:txBody>
                    <a:bodyPr/>
                    <a:lstStyle/>
                    <a:p>
                      <a:pPr>
                        <a:defRPr sz="1300" b="0">
                          <a:solidFill>
                            <a:srgbClr val="173A49"/>
                          </a:solidFill>
                          <a:latin typeface="맑은 고딕"/>
                        </a:defRPr>
                      </a:pPr>
                      <a:r>
                        <a:t>전용</a:t>
                      </a:r>
                    </a:p>
                  </a:txBody>
                  <a:tcPr marL="118872" marR="91440" marT="64008" marB="54864" anchor="ctr">
                    <a:solidFill>
                      <a:srgbClr val="FFFFFF"/>
                    </a:solidFill>
                  </a:tcPr>
                </a:tc>
              </a:tr>
              <a:tr h="629107">
                <a:tc>
                  <a:txBody>
                    <a:bodyPr/>
                    <a:lstStyle/>
                    <a:p>
                      <a:pPr>
                        <a:defRPr sz="1300" b="0">
                          <a:solidFill>
                            <a:srgbClr val="173A49"/>
                          </a:solidFill>
                          <a:latin typeface="맑은 고딕"/>
                        </a:defRPr>
                      </a:pPr>
                      <a:r>
                        <a:t>D</a:t>
                      </a:r>
                    </a:p>
                  </a:txBody>
                  <a:tcPr marL="118872" marR="91440" marT="64008" marB="54864" anchor="ctr">
                    <a:solidFill>
                      <a:srgbClr val="E8F3F3"/>
                    </a:solidFill>
                  </a:tcPr>
                </a:tc>
                <a:tc>
                  <a:txBody>
                    <a:bodyPr/>
                    <a:lstStyle/>
                    <a:p>
                      <a:pPr>
                        <a:defRPr sz="1300" b="0">
                          <a:solidFill>
                            <a:srgbClr val="173A49"/>
                          </a:solidFill>
                          <a:latin typeface="맑은 고딕"/>
                        </a:defRPr>
                      </a:pPr>
                      <a:r>
                        <a:t>98.2% / 8.3%</a:t>
                      </a:r>
                    </a:p>
                  </a:txBody>
                  <a:tcPr marL="118872" marR="91440" marT="64008" marB="54864" anchor="ctr">
                    <a:solidFill>
                      <a:srgbClr val="E8F3F3"/>
                    </a:solidFill>
                  </a:tcPr>
                </a:tc>
                <a:tc>
                  <a:txBody>
                    <a:bodyPr/>
                    <a:lstStyle/>
                    <a:p>
                      <a:pPr>
                        <a:defRPr sz="1300" b="0">
                          <a:solidFill>
                            <a:srgbClr val="173A49"/>
                          </a:solidFill>
                          <a:latin typeface="맑은 고딕"/>
                        </a:defRPr>
                      </a:pPr>
                      <a:r>
                        <a:t>98.2% / 13.9%</a:t>
                      </a:r>
                    </a:p>
                  </a:txBody>
                  <a:tcPr marL="118872" marR="91440" marT="64008" marB="54864" anchor="ctr">
                    <a:solidFill>
                      <a:srgbClr val="E8F3F3"/>
                    </a:solidFill>
                  </a:tcPr>
                </a:tc>
                <a:tc>
                  <a:txBody>
                    <a:bodyPr/>
                    <a:lstStyle/>
                    <a:p>
                      <a:pPr>
                        <a:defRPr sz="1300" b="0">
                          <a:solidFill>
                            <a:srgbClr val="173A49"/>
                          </a:solidFill>
                          <a:latin typeface="맑은 고딕"/>
                        </a:defRPr>
                      </a:pPr>
                      <a:r>
                        <a:t>공통</a:t>
                      </a:r>
                    </a:p>
                  </a:txBody>
                  <a:tcPr marL="118872" marR="91440" marT="64008" marB="54864" anchor="ctr">
                    <a:solidFill>
                      <a:srgbClr val="E8F3F3"/>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C · 앙상블 선택 근거와 범위</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왜 이 비율을 선택했나요?</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13 / 14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Train: 학습 / Validation: 비율·판정 기준 선택 / Test: 선택 후 확인</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동일 제품 A+B+C+D의 Train 768건으로 세 모델 학습 · 분할768/256/256</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합계100% 비율을 5% 간격으로 모두 비교 + 균등 비율 = 232개</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정상 오판률15% 이하에서 Recall 최대 → 동률 F1 → 단순한 조합</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이 후보·간격·Validation 범위의 최선이며, 새 독립 데이터 확인이 필요합니다.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D · 실제 예시로 이해하기</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LLM-as-a-Judge: 설명이 맞는지 LLM이 검사합니다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14 / 14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검사용 기준: 이전 실험에서 불량27/32개 발견 · 목표90%에는 미달</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실제 결과와 설명 문장을 주고 “맞는 설명인가?”를 물었습니다.</a:t>
            </a:r>
          </a:p>
        </p:txBody>
      </p:sp>
      <p:sp>
        <p:nvSpPr>
          <p:cNvPr id="10" name="TextBox 9"/>
          <p:cNvSpPr txBox="1"/>
          <p:nvPr/>
        </p:nvSpPr>
        <p:spPr>
          <a:xfrm>
            <a:off x="640080" y="2688336"/>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직접 만든 예제 8개 중 6개는 맞게 검사했고, 2개는 틀렸습니다.</a:t>
            </a:r>
          </a:p>
        </p:txBody>
      </p:sp>
      <p:graphicFrame>
        <p:nvGraphicFramePr>
          <p:cNvPr id="11" name="Table 10"/>
          <p:cNvGraphicFramePr>
            <a:graphicFrameLocks noGrp="1"/>
          </p:cNvGraphicFramePr>
          <p:nvPr/>
        </p:nvGraphicFramePr>
        <p:xfrm>
          <a:off x="594360" y="3346704"/>
          <a:ext cx="11000232" cy="2724911"/>
        </p:xfrm>
        <a:graphic>
          <a:graphicData uri="http://schemas.openxmlformats.org/drawingml/2006/table">
            <a:tbl>
              <a:tblPr firstRow="1" bandRow="1">
                <a:tableStyleId>{5C22544A-7EE6-4342-B048-85BDC9FD1C3A}</a:tableStyleId>
              </a:tblPr>
              <a:tblGrid>
                <a:gridCol w="4846320"/>
                <a:gridCol w="3017520"/>
                <a:gridCol w="3136392"/>
              </a:tblGrid>
              <a:tr h="681227">
                <a:tc>
                  <a:txBody>
                    <a:bodyPr/>
                    <a:lstStyle/>
                    <a:p>
                      <a:pPr>
                        <a:defRPr sz="1500" b="1">
                          <a:solidFill>
                            <a:srgbClr val="FFFFFF"/>
                          </a:solidFill>
                          <a:latin typeface="맑은 고딕"/>
                        </a:defRPr>
                      </a:pPr>
                      <a:r>
                        <a:t>검사할 설명</a:t>
                      </a:r>
                    </a:p>
                  </a:txBody>
                  <a:tcPr marL="118872" marR="91440" marT="64008" marB="54864" anchor="ctr">
                    <a:solidFill>
                      <a:srgbClr val="147D82"/>
                    </a:solidFill>
                  </a:tcPr>
                </a:tc>
                <a:tc>
                  <a:txBody>
                    <a:bodyPr/>
                    <a:lstStyle/>
                    <a:p>
                      <a:pPr>
                        <a:defRPr sz="1500" b="1">
                          <a:solidFill>
                            <a:srgbClr val="FFFFFF"/>
                          </a:solidFill>
                          <a:latin typeface="맑은 고딕"/>
                        </a:defRPr>
                      </a:pPr>
                      <a:r>
                        <a:t>맞는 판단</a:t>
                      </a:r>
                    </a:p>
                  </a:txBody>
                  <a:tcPr marL="118872" marR="91440" marT="64008" marB="54864" anchor="ctr">
                    <a:solidFill>
                      <a:srgbClr val="147D82"/>
                    </a:solidFill>
                  </a:tcPr>
                </a:tc>
                <a:tc>
                  <a:txBody>
                    <a:bodyPr/>
                    <a:lstStyle/>
                    <a:p>
                      <a:pPr>
                        <a:defRPr sz="1500" b="1">
                          <a:solidFill>
                            <a:srgbClr val="FFFFFF"/>
                          </a:solidFill>
                          <a:latin typeface="맑은 고딕"/>
                        </a:defRPr>
                      </a:pPr>
                      <a:r>
                        <a:t>LLM의 실제 답</a:t>
                      </a:r>
                    </a:p>
                  </a:txBody>
                  <a:tcPr marL="118872" marR="91440" marT="64008" marB="54864" anchor="ctr">
                    <a:solidFill>
                      <a:srgbClr val="147D82"/>
                    </a:solidFill>
                  </a:tcPr>
                </a:tc>
              </a:tr>
              <a:tr h="681227">
                <a:tc>
                  <a:txBody>
                    <a:bodyPr/>
                    <a:lstStyle/>
                    <a:p>
                      <a:pPr>
                        <a:defRPr sz="1500" b="0">
                          <a:solidFill>
                            <a:srgbClr val="173A49"/>
                          </a:solidFill>
                          <a:latin typeface="맑은 고딕"/>
                        </a:defRPr>
                      </a:pPr>
                      <a:r>
                        <a:t>“불량27개를 찾았고 목표에는 미달했다”</a:t>
                      </a:r>
                    </a:p>
                  </a:txBody>
                  <a:tcPr marL="118872" marR="91440" marT="64008" marB="54864" anchor="ctr">
                    <a:solidFill>
                      <a:srgbClr val="FFFFFF"/>
                    </a:solidFill>
                  </a:tcPr>
                </a:tc>
                <a:tc>
                  <a:txBody>
                    <a:bodyPr/>
                    <a:lstStyle/>
                    <a:p>
                      <a:pPr>
                        <a:defRPr sz="1500" b="0">
                          <a:solidFill>
                            <a:srgbClr val="173A49"/>
                          </a:solidFill>
                          <a:latin typeface="맑은 고딕"/>
                        </a:defRPr>
                      </a:pPr>
                      <a:r>
                        <a:t>맞는 설명</a:t>
                      </a:r>
                    </a:p>
                  </a:txBody>
                  <a:tcPr marL="118872" marR="91440" marT="64008" marB="54864" anchor="ctr">
                    <a:solidFill>
                      <a:srgbClr val="FFFFFF"/>
                    </a:solidFill>
                  </a:tcPr>
                </a:tc>
                <a:tc>
                  <a:txBody>
                    <a:bodyPr/>
                    <a:lstStyle/>
                    <a:p>
                      <a:pPr>
                        <a:defRPr sz="1500" b="0">
                          <a:solidFill>
                            <a:srgbClr val="173A49"/>
                          </a:solidFill>
                          <a:latin typeface="맑은 고딕"/>
                        </a:defRPr>
                      </a:pPr>
                      <a:r>
                        <a:t>맞다 · 올바른 검사</a:t>
                      </a:r>
                    </a:p>
                  </a:txBody>
                  <a:tcPr marL="118872" marR="91440" marT="64008" marB="54864" anchor="ctr">
                    <a:solidFill>
                      <a:srgbClr val="FFFFFF"/>
                    </a:solidFill>
                  </a:tcPr>
                </a:tc>
              </a:tr>
              <a:tr h="681227">
                <a:tc>
                  <a:txBody>
                    <a:bodyPr/>
                    <a:lstStyle/>
                    <a:p>
                      <a:pPr>
                        <a:defRPr sz="1500" b="0">
                          <a:solidFill>
                            <a:srgbClr val="173A49"/>
                          </a:solidFill>
                          <a:latin typeface="맑은 고딕"/>
                        </a:defRPr>
                      </a:pPr>
                      <a:r>
                        <a:t>“실제 공장 수율 증가가 입증됐다”</a:t>
                      </a:r>
                    </a:p>
                  </a:txBody>
                  <a:tcPr marL="118872" marR="91440" marT="64008" marB="54864" anchor="ctr">
                    <a:solidFill>
                      <a:srgbClr val="E8F3F3"/>
                    </a:solidFill>
                  </a:tcPr>
                </a:tc>
                <a:tc>
                  <a:txBody>
                    <a:bodyPr/>
                    <a:lstStyle/>
                    <a:p>
                      <a:pPr>
                        <a:defRPr sz="1500" b="0">
                          <a:solidFill>
                            <a:srgbClr val="173A49"/>
                          </a:solidFill>
                          <a:latin typeface="맑은 고딕"/>
                        </a:defRPr>
                      </a:pPr>
                      <a:r>
                        <a:t>근거 없는 설명</a:t>
                      </a:r>
                    </a:p>
                  </a:txBody>
                  <a:tcPr marL="118872" marR="91440" marT="64008" marB="54864" anchor="ctr">
                    <a:solidFill>
                      <a:srgbClr val="E8F3F3"/>
                    </a:solidFill>
                  </a:tcPr>
                </a:tc>
                <a:tc>
                  <a:txBody>
                    <a:bodyPr/>
                    <a:lstStyle/>
                    <a:p>
                      <a:pPr>
                        <a:defRPr sz="1500" b="0">
                          <a:solidFill>
                            <a:srgbClr val="173A49"/>
                          </a:solidFill>
                          <a:latin typeface="맑은 고딕"/>
                        </a:defRPr>
                      </a:pPr>
                      <a:r>
                        <a:t>틀리다 · 올바른 검사</a:t>
                      </a:r>
                    </a:p>
                  </a:txBody>
                  <a:tcPr marL="118872" marR="91440" marT="64008" marB="54864" anchor="ctr">
                    <a:solidFill>
                      <a:srgbClr val="E8F3F3"/>
                    </a:solidFill>
                  </a:tcPr>
                </a:tc>
              </a:tr>
              <a:tr h="681230">
                <a:tc>
                  <a:txBody>
                    <a:bodyPr/>
                    <a:lstStyle/>
                    <a:p>
                      <a:pPr>
                        <a:defRPr sz="1500" b="0">
                          <a:solidFill>
                            <a:srgbClr val="173A49"/>
                          </a:solidFill>
                          <a:latin typeface="맑은 고딕"/>
                        </a:defRPr>
                      </a:pPr>
                      <a:r>
                        <a:t>“불량30개를 발견했다”</a:t>
                      </a:r>
                    </a:p>
                  </a:txBody>
                  <a:tcPr marL="118872" marR="91440" marT="64008" marB="54864" anchor="ctr">
                    <a:solidFill>
                      <a:srgbClr val="FFFFFF"/>
                    </a:solidFill>
                  </a:tcPr>
                </a:tc>
                <a:tc>
                  <a:txBody>
                    <a:bodyPr/>
                    <a:lstStyle/>
                    <a:p>
                      <a:pPr>
                        <a:defRPr sz="1500" b="0">
                          <a:solidFill>
                            <a:srgbClr val="173A49"/>
                          </a:solidFill>
                          <a:latin typeface="맑은 고딕"/>
                        </a:defRPr>
                      </a:pPr>
                      <a:r>
                        <a:t>실제는27개 → 틀림</a:t>
                      </a:r>
                    </a:p>
                  </a:txBody>
                  <a:tcPr marL="118872" marR="91440" marT="64008" marB="54864" anchor="ctr">
                    <a:solidFill>
                      <a:srgbClr val="FFFFFF"/>
                    </a:solidFill>
                  </a:tcPr>
                </a:tc>
                <a:tc>
                  <a:txBody>
                    <a:bodyPr/>
                    <a:lstStyle/>
                    <a:p>
                      <a:pPr>
                        <a:defRPr sz="1500" b="0">
                          <a:solidFill>
                            <a:srgbClr val="173A49"/>
                          </a:solidFill>
                          <a:latin typeface="맑은 고딕"/>
                        </a:defRPr>
                      </a:pPr>
                      <a:r>
                        <a:t>맞다 · 검사가 틀림</a:t>
                      </a:r>
                    </a:p>
                  </a:txBody>
                  <a:tcPr marL="118872" marR="91440" marT="64008" marB="5486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반도체 검사 모델 실험 도우미</dc:title>
  <dc:subject/>
  <dc:creator>SKALA 광주 2반 · G045 김용찬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