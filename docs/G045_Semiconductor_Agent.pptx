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SKALA 광주 2반 G045 김용찬입니다. 반도체 검사 데이터를 넣으면 여러 모델을 비교하고, 어떤 후보를 선택했는지 근거를 보여 주는 Agent를 만들었습니다.</a:t>
            </a:r>
          </a:p>
          <a:p/>
          <a:p>
            <a:r>
              <a:t>출처: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스칼라에서 배운 모델을 바탕으로 반도체 자료에서 참고한 후보도 함께 넣었습니다. 검사 이미지, 로그, 시계열처럼 데이터 형태에 따라 사용하는 모델이 달랐습니다. 이번에는 숫자 센서와 검사 이미지의 정상·불량 분류로 범위를 줄였습니다. 모델 하나를 추천하는 대신, 엔지니어가 반복하는 비교와 기록 과정을 연결하는 것이 목적입니다.</a:t>
            </a:r>
          </a:p>
          <a:p/>
          <a:p>
            <a:r>
              <a:t>출처: docs/CURRICULUM_MODELS.md; 반도체 교육 사진의 분류를 표로 재구성</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구조입니다. 데이터 점검, 근거 검색, 실험 계획을 LangGraph로 연결했습니다. 계획과 데이터의 해시를 저장하고 엔지니어가 승인한 뒤에만 학습합니다. 결과에서는 선택 근거와 불량 발견·정상 오판을 함께 보여 줍니다. 학습과 수치는 실험 엔진이 계산하고, LLM은 제한된 근거와 설명을 보조합니다.</a:t>
            </a:r>
          </a:p>
          <a:p/>
          <a:p>
            <a:r>
              <a:t>출처: app/planner.py; app/workbench.py; app/store.py; mcp_server.py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사례를 끝까지 보겠습니다. 제품 A부터 D의 합성 센서 1,280건을 선택합니다. 불량 정답은 201건이고 제품 이름은 가상입니다. 처음 실행하면 예제 데이터를 준비하고, 센서를 선택한 뒤 비교 계획을 요청합니다.</a:t>
            </a:r>
          </a:p>
          <a:p/>
          <a:p>
            <a:r>
              <a:t>출처: app/data.py; docs/evaluation/synthetic_process.json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Agent가 결측과 불량 비율을 확인하고 전처리와 모델 계획을 제안합니다. 수업 기준 6대2대2를 사전에 고정하고 같은 생산 묶음이 평가에 섞이지 않도록 나눴습니다. 스칼라에서 배운 모델과 반도체 자료에서 참고한 후보를 함께 비교하고 상위 후보의 제품 조합을 확장합니다. 이 계획을 승인해야 실제 학습합니다.</a:t>
            </a:r>
          </a:p>
          <a:p/>
          <a:p>
            <a:r>
              <a:t>출처: app/planner.py; app/experiments.py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CatBoost를 골랐는지입니다. 먼저 Validation에서 두 목표를 충족했는지 확인하고 Recall을 우선합니다. 동률이면 정상 오판률이 낮은 후보가 앞섭니다. AdaBoost는 F1이 더 높지만 Recall 우선 규칙에서는 CatBoost가 앞섰습니다. 이후 상위 두 알고리즘의 제품 조합을 비교해 A B C로 학습한 CatBoost를 골랐습니다. 이 규칙은 실험 전에 정한 교육용 목표입니다.</a:t>
            </a:r>
          </a:p>
          <a:p/>
          <a:p>
            <a:r>
              <a:t>출처: docs/evaluation/synthetic_process.json; app/metrics.py:selection_key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Test입니다. 같은 불량 32개 중 기본 Logistic은 20개, 후보 CatBoost는 27개를 찾았습니다. 대신 정상을 불량으로 오판한 수는 1개에서 14개로 늘었습니다. 후보 Recall 84.4%는 목표 90퍼센트에 못 미쳤습니다. 그래서 이 후보를 바로 현장 적용 모델로 확정하지 않고 추가 검증이 필요하다고 설명합니다.</a:t>
            </a:r>
          </a:p>
          <a:p/>
          <a:p>
            <a:r>
              <a:t>출처: docs/evaluation/synthetic_process.json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기존 비교 목록에 없는 후보를 추가하는 기능입니다. 공식 모델 목록과 문서를 조회하고, RAG로 근거를 연결해 ExtraTrees와 Gaussian Naive Bayes를 제안합니다. 승인받아 기존 후보와 같은 조건으로 학습하고 후보 목록에 기록했습니다. 이 추가 실험에서는 CatBoost를 유지했습니다. 현재는 검토된 두 모델 연결을 지원합니다. 기존 Test를 재사용한 탐색 비교여서 최종 적용에는 새로운 독립 데이터가 필요합니다.</a:t>
            </a:r>
          </a:p>
          <a:p/>
          <a:p>
            <a:r>
              <a:t>출처: app/discovery.py; docs/evaluation/model_discovery.json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LangGraph로 역할을 연결하고 MCP와 RAG를 적용했습니다. 설명에는 수업에서 사용한 Qwen2.5를 로컬로 연결했습니다. LangSmith로 실제 실행 경로를 확인했고, 별도의 LLM 평가자가 설명과 실제 결과를 비교하도록 했습니다. 자체 예제 6/8개에서 사전 라벨과 일치했습니다. 작은 자체 개발 예제의 결과이며 LLM 평가도 틀릴 수 있어 코드 검사와 함께 사용합니다.</a:t>
            </a:r>
          </a:p>
          <a:p/>
          <a:p>
            <a:r>
              <a:t>출처: docs/evaluation/langsmith_check.json; docs/evaluation/local_llm_check.json; docs/evaluation/llm_judge.json; docs/evaluation/tests-windows.txt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성과는 데이터 점검부터 승인된 모델 비교, 선택 근거와 결과 확인까지 한 흐름으로 연결했다는 점입니다. Recall을 높이면 정상 오판이 늘 수 있고, 선택 기준이 결과를 바꾼다는 것을 배웠습니다. 합성 데이터와 작은 표본, 반복 비교가 한계입니다. 다음에는 현장 기준과 독립 기간 데이터로 검증하고 실제 작업시간 절감도 측정하겠습니다. 감사합니다.</a:t>
            </a:r>
          </a:p>
          <a:p/>
          <a:p>
            <a:r>
              <a:t>출처: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제품 학습 24조건에서 모델마다 최선 불균형 설정을 하나씩 표시합니다. CatBoost와 HistGradientBoosting의 제품 조합을 확장해 최종 CatBoost A+B+C를 선택했습니다. 모든 후보가 두 목표를 못 맞추면 목표 부족분 합계가 적은 탐색 참고 후보를 보여 줍니다.</a:t>
            </a:r>
          </a:p>
          <a:p/>
          <a:p>
            <a:r>
              <a:t>출처: docs/evaluation/synthetic_process.json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SECOM은 1,567건 중 불합격104건이고 제조사·제품ID는 제공되지 않습니다. 이미지 Test의 불량15건은 작은 표본이어서 목표 통과를 확정하기 어렵습니다.</a:t>
            </a:r>
          </a:p>
          <a:p/>
          <a:p>
            <a:r>
              <a:t>출처: https://archive.ics.uci.edu/dataset/179/secom; https://doi.org/10.24432/C54305; docs/evaluation/summary.json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Test에서 후보가 불량을 더 찾았지만 정상 오판도 늘었습니다. 목표는 검사 단계와 업무 비용에 따라 정해야 합니다. 이번 실험에서는 두 목표 충족 여부, Recall 우선, 동률 시 정상 오판률 순서로 후보를 비교했습니다.</a:t>
            </a:r>
          </a:p>
          <a:p/>
          <a:p>
            <a:r>
              <a:t>출처: app/metrics.py; docs/evaluation/synthetic_process.json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6대2대2가 모든 데이터의 최적 비율이라는 뜻은 아닙니다. 수업 기준으로 정한 재현 가능한 실험 조건입니다. 같은 lot·날짜 경계를 지키므로 실제 행 비율은 달라집니다. 추가 탐색으로 기존 Test를 반복 확인했다면 독립 기간 Test를 새로 확보해야 합니다.</a:t>
            </a:r>
          </a:p>
          <a:p/>
          <a:p>
            <a:r>
              <a:t>출처: app/data.py; docs/MODEL_DISCOVERY_DESIGN.md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기존 dense/TF-IDF 검색 평가는 고정13질의에서 Hit@3 양쪽100%, MRR@3 양쪽0.9615였습니다. 일반적인 검색 성능 우위를 주장하지 않습니다. LLM을 꺼도 규칙 실험 모드는 동작하며 실행 상태를 UI와 보고서에 표시합니다.</a:t>
            </a:r>
          </a:p>
          <a:p/>
          <a:p>
            <a:r>
              <a:t>출처: docs/ASSIGNMENT_CHECKLIST.md; docs/evaluation/agent_integration.json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발표는 1~10장이고 11~16장은 질문용입니다. 회사 공통 Recall 수치나 수율·금액 이익, 시간 절감은 확인하지 않았습니다. 제출 명단 엑셀과 교육자료 원본, API 키는 공개 저장소에 포함하지 않습니다.</a:t>
            </a:r>
          </a:p>
          <a:p/>
          <a:p>
            <a:r>
              <a:t>출처: https://github.com/dragonchan95/Semiconductor-AI-Agent; https://docs.google.com/presentation/d/1J2m_cpXyvb-5_Xabs2DsD3EnEV6B6GicF5OP2s5FohU/edit; docs/CURRICULUM_MODELS.md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AI AGENT MINI PROJECT · 과제 2</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800" b="1">
                <a:solidFill>
                  <a:srgbClr val="173A49"/>
                </a:solidFill>
                <a:latin typeface="맑은 고딕"/>
              </a:defRPr>
            </a:pPr>
            <a:r>
              <a:t>반도체 검사 모델</a:t>
            </a:r>
          </a:p>
          <a:p>
            <a:pPr>
              <a:lnSpc>
                <a:spcPct val="114000"/>
              </a:lnSpc>
              <a:spcAft>
                <a:spcPts val="800"/>
              </a:spcAft>
              <a:defRPr sz="3800" b="1">
                <a:solidFill>
                  <a:srgbClr val="173A49"/>
                </a:solidFill>
                <a:latin typeface="맑은 고딕"/>
              </a:defRPr>
            </a:pPr>
            <a:r>
              <a:t>실험 도우미</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01 / 16</a:t>
            </a:r>
          </a:p>
        </p:txBody>
      </p:sp>
      <p:sp>
        <p:nvSpPr>
          <p:cNvPr id="8" name="TextBox 7"/>
          <p:cNvSpPr txBox="1"/>
          <p:nvPr/>
        </p:nvSpPr>
        <p:spPr>
          <a:xfrm>
            <a:off x="658368" y="2514600"/>
            <a:ext cx="10515600" cy="731520"/>
          </a:xfrm>
          <a:prstGeom prst="rect">
            <a:avLst/>
          </a:prstGeom>
          <a:noFill/>
        </p:spPr>
        <p:txBody>
          <a:bodyPr wrap="square" lIns="18288" rIns="18288" tIns="18288" bIns="18288">
            <a:spAutoFit/>
          </a:bodyPr>
          <a:lstStyle/>
          <a:p>
            <a:pPr>
              <a:lnSpc>
                <a:spcPct val="114000"/>
              </a:lnSpc>
              <a:spcAft>
                <a:spcPts val="800"/>
              </a:spcAft>
              <a:defRPr sz="2300" b="0">
                <a:solidFill>
                  <a:srgbClr val="617681"/>
                </a:solidFill>
                <a:latin typeface="맑은 고딕"/>
              </a:defRPr>
            </a:pPr>
            <a:r>
              <a:t>데이터를 점검하고, 승인받아 모델을 비교하고, 선택 근거를 보여 줍니다.</a:t>
            </a:r>
          </a:p>
        </p:txBody>
      </p:sp>
      <p:sp>
        <p:nvSpPr>
          <p:cNvPr id="9" name="TextBox 8"/>
          <p:cNvSpPr txBox="1"/>
          <p:nvPr/>
        </p:nvSpPr>
        <p:spPr>
          <a:xfrm>
            <a:off x="658368" y="3447288"/>
            <a:ext cx="10515600" cy="457200"/>
          </a:xfrm>
          <a:prstGeom prst="rect">
            <a:avLst/>
          </a:prstGeom>
          <a:noFill/>
        </p:spPr>
        <p:txBody>
          <a:bodyPr wrap="square" lIns="18288" rIns="18288" tIns="18288" bIns="18288">
            <a:spAutoFit/>
          </a:bodyPr>
          <a:lstStyle/>
          <a:p>
            <a:pPr>
              <a:lnSpc>
                <a:spcPct val="114000"/>
              </a:lnSpc>
              <a:spcAft>
                <a:spcPts val="800"/>
              </a:spcAft>
              <a:defRPr sz="2000" b="0">
                <a:solidFill>
                  <a:srgbClr val="173A49"/>
                </a:solidFill>
                <a:latin typeface="맑은 고딕"/>
              </a:defRPr>
            </a:pPr>
            <a:r>
              <a:t>SKALA 광주 2반 · G045 김용찬 · 2026.10.22</a:t>
            </a:r>
          </a:p>
        </p:txBody>
      </p:sp>
      <p:sp>
        <p:nvSpPr>
          <p:cNvPr id="10" name="Rounded Rectangle 9"/>
          <p:cNvSpPr/>
          <p:nvPr/>
        </p:nvSpPr>
        <p:spPr>
          <a:xfrm>
            <a:off x="658368"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01</a:t>
            </a:r>
          </a:p>
        </p:txBody>
      </p:sp>
      <p:sp>
        <p:nvSpPr>
          <p:cNvPr id="12" name="TextBox 11"/>
          <p:cNvSpPr txBox="1"/>
          <p:nvPr/>
        </p:nvSpPr>
        <p:spPr>
          <a:xfrm>
            <a:off x="841247"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데이터 점검</a:t>
            </a:r>
          </a:p>
        </p:txBody>
      </p:sp>
      <p:sp>
        <p:nvSpPr>
          <p:cNvPr id="13" name="Rounded Rectangle 12"/>
          <p:cNvSpPr/>
          <p:nvPr/>
        </p:nvSpPr>
        <p:spPr>
          <a:xfrm>
            <a:off x="3474720"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0"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02</a:t>
            </a:r>
          </a:p>
        </p:txBody>
      </p:sp>
      <p:sp>
        <p:nvSpPr>
          <p:cNvPr id="15" name="TextBox 14"/>
          <p:cNvSpPr txBox="1"/>
          <p:nvPr/>
        </p:nvSpPr>
        <p:spPr>
          <a:xfrm>
            <a:off x="3657600"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계획 승인</a:t>
            </a:r>
          </a:p>
        </p:txBody>
      </p:sp>
      <p:sp>
        <p:nvSpPr>
          <p:cNvPr id="16" name="Rounded Rectangle 15"/>
          <p:cNvSpPr/>
          <p:nvPr/>
        </p:nvSpPr>
        <p:spPr>
          <a:xfrm>
            <a:off x="6291072"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3952"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03</a:t>
            </a:r>
          </a:p>
        </p:txBody>
      </p:sp>
      <p:sp>
        <p:nvSpPr>
          <p:cNvPr id="18" name="TextBox 17"/>
          <p:cNvSpPr txBox="1"/>
          <p:nvPr/>
        </p:nvSpPr>
        <p:spPr>
          <a:xfrm>
            <a:off x="6473952"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실제 비교</a:t>
            </a:r>
          </a:p>
        </p:txBody>
      </p:sp>
      <p:sp>
        <p:nvSpPr>
          <p:cNvPr id="19" name="Rounded Rectangle 18"/>
          <p:cNvSpPr/>
          <p:nvPr/>
        </p:nvSpPr>
        <p:spPr>
          <a:xfrm>
            <a:off x="9107424"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90304"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04</a:t>
            </a:r>
          </a:p>
        </p:txBody>
      </p:sp>
      <p:sp>
        <p:nvSpPr>
          <p:cNvPr id="21" name="TextBox 20"/>
          <p:cNvSpPr txBox="1"/>
          <p:nvPr/>
        </p:nvSpPr>
        <p:spPr>
          <a:xfrm>
            <a:off x="9290304"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선택 근거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문제 · 반복 실험을 연결하는 도구가 필요합니다</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데이터가 다르면 비교할 모델도 달라집니다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02 / 16</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사용자: 새 검사 데이터로 정상·불량 분류 모델을 만드는 엔지니어</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전처리 → 모델 비교 → 근거 정리 → 추가 실험을 매번 반복합니다.</a:t>
            </a:r>
          </a:p>
        </p:txBody>
      </p:sp>
      <p:graphicFrame>
        <p:nvGraphicFramePr>
          <p:cNvPr id="10" name="Table 9"/>
          <p:cNvGraphicFramePr>
            <a:graphicFrameLocks noGrp="1"/>
          </p:cNvGraphicFramePr>
          <p:nvPr/>
        </p:nvGraphicFramePr>
        <p:xfrm>
          <a:off x="594360" y="2926080"/>
          <a:ext cx="11000232" cy="3145535"/>
        </p:xfrm>
        <a:graphic>
          <a:graphicData uri="http://schemas.openxmlformats.org/drawingml/2006/table">
            <a:tbl>
              <a:tblPr firstRow="1" bandRow="1">
                <a:tableStyleId>{5C22544A-7EE6-4342-B048-85BDC9FD1C3A}</a:tableStyleId>
              </a:tblPr>
              <a:tblGrid>
                <a:gridCol w="3666744"/>
                <a:gridCol w="3666744"/>
                <a:gridCol w="3666744"/>
              </a:tblGrid>
              <a:tr h="786383">
                <a:tc>
                  <a:txBody>
                    <a:bodyPr/>
                    <a:lstStyle/>
                    <a:p>
                      <a:pPr>
                        <a:defRPr sz="1600" b="1">
                          <a:solidFill>
                            <a:srgbClr val="FFFFFF"/>
                          </a:solidFill>
                          <a:latin typeface="맑은 고딕"/>
                        </a:defRPr>
                      </a:pPr>
                      <a:r>
                        <a:t>데이터</a:t>
                      </a:r>
                    </a:p>
                  </a:txBody>
                  <a:tcPr marL="118872" marR="91440" marT="64008" marB="54864" anchor="ctr">
                    <a:solidFill>
                      <a:srgbClr val="147D82"/>
                    </a:solidFill>
                  </a:tcPr>
                </a:tc>
                <a:tc>
                  <a:txBody>
                    <a:bodyPr/>
                    <a:lstStyle/>
                    <a:p>
                      <a:pPr>
                        <a:defRPr sz="1600" b="1">
                          <a:solidFill>
                            <a:srgbClr val="FFFFFF"/>
                          </a:solidFill>
                          <a:latin typeface="맑은 고딕"/>
                        </a:defRPr>
                      </a:pPr>
                      <a:r>
                        <a:t>교육자료의 모델 예시</a:t>
                      </a:r>
                    </a:p>
                  </a:txBody>
                  <a:tcPr marL="118872" marR="91440" marT="64008" marB="54864" anchor="ctr">
                    <a:solidFill>
                      <a:srgbClr val="147D82"/>
                    </a:solidFill>
                  </a:tcPr>
                </a:tc>
                <a:tc>
                  <a:txBody>
                    <a:bodyPr/>
                    <a:lstStyle/>
                    <a:p>
                      <a:pPr>
                        <a:defRPr sz="1600" b="1">
                          <a:solidFill>
                            <a:srgbClr val="FFFFFF"/>
                          </a:solidFill>
                          <a:latin typeface="맑은 고딕"/>
                        </a:defRPr>
                      </a:pPr>
                      <a:r>
                        <a:t>이번 구현</a:t>
                      </a:r>
                    </a:p>
                  </a:txBody>
                  <a:tcPr marL="118872" marR="91440" marT="64008" marB="54864" anchor="ctr">
                    <a:solidFill>
                      <a:srgbClr val="147D82"/>
                    </a:solidFill>
                  </a:tcPr>
                </a:tc>
              </a:tr>
              <a:tr h="786383">
                <a:tc>
                  <a:txBody>
                    <a:bodyPr/>
                    <a:lstStyle/>
                    <a:p>
                      <a:pPr>
                        <a:defRPr sz="1600" b="0">
                          <a:solidFill>
                            <a:srgbClr val="173A49"/>
                          </a:solidFill>
                          <a:latin typeface="맑은 고딕"/>
                        </a:defRPr>
                      </a:pPr>
                      <a:r>
                        <a:t>숫자 센서</a:t>
                      </a:r>
                    </a:p>
                  </a:txBody>
                  <a:tcPr marL="118872" marR="91440" marT="64008" marB="54864" anchor="ctr">
                    <a:solidFill>
                      <a:srgbClr val="FFFFFF"/>
                    </a:solidFill>
                  </a:tcPr>
                </a:tc>
                <a:tc>
                  <a:txBody>
                    <a:bodyPr/>
                    <a:lstStyle/>
                    <a:p>
                      <a:pPr>
                        <a:defRPr sz="1600" b="0">
                          <a:solidFill>
                            <a:srgbClr val="173A49"/>
                          </a:solidFill>
                          <a:latin typeface="맑은 고딕"/>
                        </a:defRPr>
                      </a:pPr>
                      <a:r>
                        <a:t>Tree · KNN · SVM · ANN</a:t>
                      </a:r>
                    </a:p>
                  </a:txBody>
                  <a:tcPr marL="118872" marR="91440" marT="64008" marB="54864" anchor="ctr">
                    <a:solidFill>
                      <a:srgbClr val="FFFFFF"/>
                    </a:solidFill>
                  </a:tcPr>
                </a:tc>
                <a:tc>
                  <a:txBody>
                    <a:bodyPr/>
                    <a:lstStyle/>
                    <a:p>
                      <a:pPr>
                        <a:defRPr sz="1600" b="0">
                          <a:solidFill>
                            <a:srgbClr val="173A49"/>
                          </a:solidFill>
                          <a:latin typeface="맑은 고딕"/>
                        </a:defRPr>
                      </a:pPr>
                      <a:r>
                        <a:t>여러 분류 모델 실제 학습</a:t>
                      </a:r>
                    </a:p>
                  </a:txBody>
                  <a:tcPr marL="118872" marR="91440" marT="64008" marB="54864" anchor="ctr">
                    <a:solidFill>
                      <a:srgbClr val="FFFFFF"/>
                    </a:solidFill>
                  </a:tcPr>
                </a:tc>
              </a:tr>
              <a:tr h="786383">
                <a:tc>
                  <a:txBody>
                    <a:bodyPr/>
                    <a:lstStyle/>
                    <a:p>
                      <a:pPr>
                        <a:defRPr sz="1600" b="0">
                          <a:solidFill>
                            <a:srgbClr val="173A49"/>
                          </a:solidFill>
                          <a:latin typeface="맑은 고딕"/>
                        </a:defRPr>
                      </a:pPr>
                      <a:r>
                        <a:t>검사 이미지</a:t>
                      </a:r>
                    </a:p>
                  </a:txBody>
                  <a:tcPr marL="118872" marR="91440" marT="64008" marB="54864" anchor="ctr">
                    <a:solidFill>
                      <a:srgbClr val="E8F3F3"/>
                    </a:solidFill>
                  </a:tcPr>
                </a:tc>
                <a:tc>
                  <a:txBody>
                    <a:bodyPr/>
                    <a:lstStyle/>
                    <a:p>
                      <a:pPr>
                        <a:defRPr sz="1600" b="0">
                          <a:solidFill>
                            <a:srgbClr val="173A49"/>
                          </a:solidFill>
                          <a:latin typeface="맑은 고딕"/>
                        </a:defRPr>
                      </a:pPr>
                      <a:r>
                        <a:t>ResNet · VGGNet · Autoencoder</a:t>
                      </a:r>
                    </a:p>
                  </a:txBody>
                  <a:tcPr marL="118872" marR="91440" marT="64008" marB="54864" anchor="ctr">
                    <a:solidFill>
                      <a:srgbClr val="E8F3F3"/>
                    </a:solidFill>
                  </a:tcPr>
                </a:tc>
                <a:tc>
                  <a:txBody>
                    <a:bodyPr/>
                    <a:lstStyle/>
                    <a:p>
                      <a:pPr>
                        <a:defRPr sz="1600" b="0">
                          <a:solidFill>
                            <a:srgbClr val="173A49"/>
                          </a:solidFill>
                          <a:latin typeface="맑은 고딕"/>
                        </a:defRPr>
                      </a:pPr>
                      <a:r>
                        <a:t>자체 축소 구조 3종 실제 학습</a:t>
                      </a:r>
                    </a:p>
                  </a:txBody>
                  <a:tcPr marL="118872" marR="91440" marT="64008" marB="54864" anchor="ctr">
                    <a:solidFill>
                      <a:srgbClr val="E8F3F3"/>
                    </a:solidFill>
                  </a:tcPr>
                </a:tc>
              </a:tr>
              <a:tr h="786386">
                <a:tc>
                  <a:txBody>
                    <a:bodyPr/>
                    <a:lstStyle/>
                    <a:p>
                      <a:pPr>
                        <a:defRPr sz="1600" b="0">
                          <a:solidFill>
                            <a:srgbClr val="173A49"/>
                          </a:solidFill>
                          <a:latin typeface="맑은 고딕"/>
                        </a:defRPr>
                      </a:pPr>
                      <a:r>
                        <a:t>로그 / 시계열</a:t>
                      </a:r>
                    </a:p>
                  </a:txBody>
                  <a:tcPr marL="118872" marR="91440" marT="64008" marB="54864" anchor="ctr">
                    <a:solidFill>
                      <a:srgbClr val="FFFFFF"/>
                    </a:solidFill>
                  </a:tcPr>
                </a:tc>
                <a:tc>
                  <a:txBody>
                    <a:bodyPr/>
                    <a:lstStyle/>
                    <a:p>
                      <a:pPr>
                        <a:defRPr sz="1600" b="0">
                          <a:solidFill>
                            <a:srgbClr val="173A49"/>
                          </a:solidFill>
                          <a:latin typeface="맑은 고딕"/>
                        </a:defRPr>
                      </a:pPr>
                      <a:r>
                        <a:t>BERT·GPT / LSTM·ARIMA</a:t>
                      </a:r>
                    </a:p>
                  </a:txBody>
                  <a:tcPr marL="118872" marR="91440" marT="64008" marB="54864" anchor="ctr">
                    <a:solidFill>
                      <a:srgbClr val="FFFFFF"/>
                    </a:solidFill>
                  </a:tcPr>
                </a:tc>
                <a:tc>
                  <a:txBody>
                    <a:bodyPr/>
                    <a:lstStyle/>
                    <a:p>
                      <a:pPr>
                        <a:defRPr sz="1600" b="0">
                          <a:solidFill>
                            <a:srgbClr val="173A49"/>
                          </a:solidFill>
                          <a:latin typeface="맑은 고딕"/>
                        </a:defRPr>
                      </a:pPr>
                      <a:r>
                        <a:t>향후 확장</a:t>
                      </a:r>
                    </a:p>
                  </a:txBody>
                  <a:tcPr marL="118872" marR="91440" marT="64008" marB="54864" anchor="ctr">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아키텍처 · 실제 실행 순서</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Agent는 계획과 근거, 엔지니어는 승인을 맡습니다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03 / 16</a:t>
            </a:r>
          </a:p>
        </p:txBody>
      </p:sp>
      <p:sp>
        <p:nvSpPr>
          <p:cNvPr id="8" name="TextBox 7"/>
          <p:cNvSpPr txBox="1"/>
          <p:nvPr/>
        </p:nvSpPr>
        <p:spPr>
          <a:xfrm>
            <a:off x="621792" y="1938528"/>
            <a:ext cx="10972800" cy="457200"/>
          </a:xfrm>
          <a:prstGeom prst="rect">
            <a:avLst/>
          </a:prstGeom>
          <a:noFill/>
        </p:spPr>
        <p:txBody>
          <a:bodyPr wrap="square" lIns="18288" rIns="18288" tIns="18288" bIns="18288">
            <a:spAutoFit/>
          </a:bodyPr>
          <a:lstStyle/>
          <a:p>
            <a:pPr>
              <a:lnSpc>
                <a:spcPct val="114000"/>
              </a:lnSpc>
              <a:spcAft>
                <a:spcPts val="800"/>
              </a:spcAft>
              <a:defRPr sz="2000" b="0">
                <a:solidFill>
                  <a:srgbClr val="617681"/>
                </a:solidFill>
                <a:latin typeface="맑은 고딕"/>
              </a:defRPr>
            </a:pPr>
            <a:r>
              <a:t>LangGraph로 점검·검색·계획 역할을 연결하고, 승인된 계획만 실행합니다.</a:t>
            </a:r>
          </a:p>
        </p:txBody>
      </p:sp>
      <p:sp>
        <p:nvSpPr>
          <p:cNvPr id="9" name="Rounded Rectangle 8"/>
          <p:cNvSpPr/>
          <p:nvPr/>
        </p:nvSpPr>
        <p:spPr>
          <a:xfrm>
            <a:off x="640080" y="2761488"/>
            <a:ext cx="2532888" cy="1152144"/>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926080"/>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데이터 점검</a:t>
            </a:r>
          </a:p>
        </p:txBody>
      </p:sp>
      <p:sp>
        <p:nvSpPr>
          <p:cNvPr id="11" name="TextBox 10"/>
          <p:cNvSpPr txBox="1"/>
          <p:nvPr/>
        </p:nvSpPr>
        <p:spPr>
          <a:xfrm>
            <a:off x="777240" y="3447288"/>
            <a:ext cx="2286000" cy="32004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행·결측·라벨·분할</a:t>
            </a:r>
          </a:p>
        </p:txBody>
      </p:sp>
      <p:sp>
        <p:nvSpPr>
          <p:cNvPr id="12" name="TextBox 11"/>
          <p:cNvSpPr txBox="1"/>
          <p:nvPr/>
        </p:nvSpPr>
        <p:spPr>
          <a:xfrm>
            <a:off x="3200400" y="3090672"/>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13" name="Rounded Rectangle 12"/>
          <p:cNvSpPr/>
          <p:nvPr/>
        </p:nvSpPr>
        <p:spPr>
          <a:xfrm>
            <a:off x="3456432" y="2761488"/>
            <a:ext cx="2532888" cy="1152144"/>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93592" y="2926080"/>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근거 검색</a:t>
            </a:r>
          </a:p>
        </p:txBody>
      </p:sp>
      <p:sp>
        <p:nvSpPr>
          <p:cNvPr id="15" name="TextBox 14"/>
          <p:cNvSpPr txBox="1"/>
          <p:nvPr/>
        </p:nvSpPr>
        <p:spPr>
          <a:xfrm>
            <a:off x="3593592" y="3447288"/>
            <a:ext cx="2286000" cy="32004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교육 근거 / 공식 문서</a:t>
            </a:r>
          </a:p>
        </p:txBody>
      </p:sp>
      <p:sp>
        <p:nvSpPr>
          <p:cNvPr id="16" name="TextBox 15"/>
          <p:cNvSpPr txBox="1"/>
          <p:nvPr/>
        </p:nvSpPr>
        <p:spPr>
          <a:xfrm>
            <a:off x="6016752" y="3090672"/>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17" name="Rounded Rectangle 16"/>
          <p:cNvSpPr/>
          <p:nvPr/>
        </p:nvSpPr>
        <p:spPr>
          <a:xfrm>
            <a:off x="6272784" y="2761488"/>
            <a:ext cx="2532888" cy="1152144"/>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9944" y="2926080"/>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실험 계획</a:t>
            </a:r>
          </a:p>
        </p:txBody>
      </p:sp>
      <p:sp>
        <p:nvSpPr>
          <p:cNvPr id="19" name="TextBox 18"/>
          <p:cNvSpPr txBox="1"/>
          <p:nvPr/>
        </p:nvSpPr>
        <p:spPr>
          <a:xfrm>
            <a:off x="6409944" y="3447288"/>
            <a:ext cx="2286000" cy="32004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모델·전처리·예산</a:t>
            </a:r>
          </a:p>
        </p:txBody>
      </p:sp>
      <p:sp>
        <p:nvSpPr>
          <p:cNvPr id="20" name="TextBox 19"/>
          <p:cNvSpPr txBox="1"/>
          <p:nvPr/>
        </p:nvSpPr>
        <p:spPr>
          <a:xfrm>
            <a:off x="8833104" y="3090672"/>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21" name="Rounded Rectangle 20"/>
          <p:cNvSpPr/>
          <p:nvPr/>
        </p:nvSpPr>
        <p:spPr>
          <a:xfrm>
            <a:off x="9089136" y="2761488"/>
            <a:ext cx="2532888" cy="1152144"/>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26296" y="2926080"/>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엔지니어 승인</a:t>
            </a:r>
          </a:p>
        </p:txBody>
      </p:sp>
      <p:sp>
        <p:nvSpPr>
          <p:cNvPr id="23" name="TextBox 22"/>
          <p:cNvSpPr txBox="1"/>
          <p:nvPr/>
        </p:nvSpPr>
        <p:spPr>
          <a:xfrm>
            <a:off x="9226296" y="3447288"/>
            <a:ext cx="2286000" cy="32004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계획·데이터 hash 확인</a:t>
            </a:r>
          </a:p>
        </p:txBody>
      </p:sp>
      <p:sp>
        <p:nvSpPr>
          <p:cNvPr id="24" name="Rounded Rectangle 23"/>
          <p:cNvSpPr/>
          <p:nvPr/>
        </p:nvSpPr>
        <p:spPr>
          <a:xfrm>
            <a:off x="640080" y="4389120"/>
            <a:ext cx="5212080" cy="1234440"/>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572000"/>
            <a:ext cx="4709160" cy="365760"/>
          </a:xfrm>
          <a:prstGeom prst="rect">
            <a:avLst/>
          </a:prstGeom>
          <a:noFill/>
        </p:spPr>
        <p:txBody>
          <a:bodyPr wrap="square" lIns="18288" rIns="18288" tIns="18288" bIns="18288">
            <a:spAutoFit/>
          </a:bodyPr>
          <a:lstStyle/>
          <a:p>
            <a:pPr>
              <a:lnSpc>
                <a:spcPct val="114000"/>
              </a:lnSpc>
              <a:spcAft>
                <a:spcPts val="800"/>
              </a:spcAft>
              <a:defRPr sz="2200" b="1">
                <a:solidFill>
                  <a:srgbClr val="147D82"/>
                </a:solidFill>
                <a:latin typeface="맑은 고딕"/>
              </a:defRPr>
            </a:pPr>
            <a:r>
              <a:t>승인 후 학습·평가</a:t>
            </a:r>
          </a:p>
        </p:txBody>
      </p:sp>
      <p:sp>
        <p:nvSpPr>
          <p:cNvPr id="26" name="TextBox 25"/>
          <p:cNvSpPr txBox="1"/>
          <p:nvPr/>
        </p:nvSpPr>
        <p:spPr>
          <a:xfrm>
            <a:off x="868680" y="5093208"/>
            <a:ext cx="4709160" cy="320040"/>
          </a:xfrm>
          <a:prstGeom prst="rect">
            <a:avLst/>
          </a:prstGeom>
          <a:noFill/>
        </p:spPr>
        <p:txBody>
          <a:bodyPr wrap="square" lIns="18288" rIns="18288" tIns="18288" bIns="18288">
            <a:spAutoFit/>
          </a:bodyPr>
          <a:lstStyle/>
          <a:p>
            <a:pPr>
              <a:lnSpc>
                <a:spcPct val="114000"/>
              </a:lnSpc>
              <a:spcAft>
                <a:spcPts val="800"/>
              </a:spcAft>
              <a:defRPr sz="1500" b="0">
                <a:solidFill>
                  <a:srgbClr val="617681"/>
                </a:solidFill>
                <a:latin typeface="맑은 고딕"/>
              </a:defRPr>
            </a:pPr>
            <a:r>
              <a:t>Train 학습 → Validation 선택 → 고정 Test 확인</a:t>
            </a:r>
          </a:p>
        </p:txBody>
      </p:sp>
      <p:sp>
        <p:nvSpPr>
          <p:cNvPr id="27" name="Rounded Rectangle 26"/>
          <p:cNvSpPr/>
          <p:nvPr/>
        </p:nvSpPr>
        <p:spPr>
          <a:xfrm>
            <a:off x="6263640" y="4389120"/>
            <a:ext cx="5212080" cy="1234440"/>
          </a:xfrm>
          <a:prstGeom prst="roundRect">
            <a:avLst>
              <a:gd name="adj" fmla="val 8000"/>
            </a:avLst>
          </a:prstGeom>
          <a:solidFill>
            <a:srgbClr val="FFF0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0" y="4572000"/>
            <a:ext cx="4709160" cy="365760"/>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기본 모델과 후보 결과 비교</a:t>
            </a:r>
          </a:p>
        </p:txBody>
      </p:sp>
      <p:sp>
        <p:nvSpPr>
          <p:cNvPr id="29" name="TextBox 28"/>
          <p:cNvSpPr txBox="1"/>
          <p:nvPr/>
        </p:nvSpPr>
        <p:spPr>
          <a:xfrm>
            <a:off x="6492240" y="5093208"/>
            <a:ext cx="4709160" cy="320040"/>
          </a:xfrm>
          <a:prstGeom prst="rect">
            <a:avLst/>
          </a:prstGeom>
          <a:noFill/>
        </p:spPr>
        <p:txBody>
          <a:bodyPr wrap="square" lIns="18288" rIns="18288" tIns="18288" bIns="18288">
            <a:spAutoFit/>
          </a:bodyPr>
          <a:lstStyle/>
          <a:p>
            <a:pPr>
              <a:lnSpc>
                <a:spcPct val="114000"/>
              </a:lnSpc>
              <a:spcAft>
                <a:spcPts val="800"/>
              </a:spcAft>
              <a:defRPr sz="1600" b="0">
                <a:solidFill>
                  <a:srgbClr val="617681"/>
                </a:solidFill>
                <a:latin typeface="맑은 고딕"/>
              </a:defRPr>
            </a:pPr>
            <a:r>
              <a:t>불량 발견·정상 오판 → 기준 충족 여부 확인</a:t>
            </a:r>
          </a:p>
        </p:txBody>
      </p:sp>
      <p:sp>
        <p:nvSpPr>
          <p:cNvPr id="30" name="TextBox 29"/>
          <p:cNvSpPr txBox="1"/>
          <p:nvPr/>
        </p:nvSpPr>
        <p:spPr>
          <a:xfrm>
            <a:off x="685800" y="5852160"/>
            <a:ext cx="1078992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MCP는 조회·계획 도구를 제공하고, LangSmith는 실행 경로를 추적합니다.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같은 합성 센서 사례를 끝까지 따라갑니다</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① 데이터를 선택하고 비교 계획을 요청합니다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04 / 16</a:t>
            </a:r>
          </a:p>
        </p:txBody>
      </p:sp>
      <p:sp>
        <p:nvSpPr>
          <p:cNvPr id="8" name="TextBox 7"/>
          <p:cNvSpPr txBox="1"/>
          <p:nvPr/>
        </p:nvSpPr>
        <p:spPr>
          <a:xfrm>
            <a:off x="658368" y="2057400"/>
            <a:ext cx="5257800" cy="676656"/>
          </a:xfrm>
          <a:prstGeom prst="rect">
            <a:avLst/>
          </a:prstGeom>
          <a:noFill/>
        </p:spPr>
        <p:txBody>
          <a:bodyPr wrap="square" lIns="18288" rIns="18288" tIns="18288" bIns="18288">
            <a:spAutoFit/>
          </a:bodyPr>
          <a:lstStyle/>
          <a:p>
            <a:pPr>
              <a:lnSpc>
                <a:spcPct val="114000"/>
              </a:lnSpc>
              <a:spcAft>
                <a:spcPts val="800"/>
              </a:spcAft>
              <a:defRPr sz="2100" b="1">
                <a:solidFill>
                  <a:srgbClr val="173A49"/>
                </a:solidFill>
                <a:latin typeface="맑은 고딕"/>
              </a:defRPr>
            </a:pPr>
            <a:r>
              <a:t>제품 A–D · 1,280건 · 불량 201건</a:t>
            </a:r>
          </a:p>
        </p:txBody>
      </p:sp>
      <p:sp>
        <p:nvSpPr>
          <p:cNvPr id="9" name="TextBox 8"/>
          <p:cNvSpPr txBox="1"/>
          <p:nvPr/>
        </p:nvSpPr>
        <p:spPr>
          <a:xfrm>
            <a:off x="658368" y="2825496"/>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A–D는 가상 제품명입니다.</a:t>
            </a:r>
          </a:p>
        </p:txBody>
      </p:sp>
      <p:sp>
        <p:nvSpPr>
          <p:cNvPr id="10" name="TextBox 9"/>
          <p:cNvSpPr txBox="1"/>
          <p:nvPr/>
        </p:nvSpPr>
        <p:spPr>
          <a:xfrm>
            <a:off x="658368" y="3593591"/>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첫 사용: 예제 데이터 준비 → 센서 선택 → 비교 계획 제안받기</a:t>
            </a:r>
          </a:p>
        </p:txBody>
      </p:sp>
      <p:sp>
        <p:nvSpPr>
          <p:cNvPr id="11" name="Rounded Rectangle 10"/>
          <p:cNvSpPr/>
          <p:nvPr/>
        </p:nvSpPr>
        <p:spPr>
          <a:xfrm>
            <a:off x="6419088" y="1801367"/>
            <a:ext cx="499262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data.jpg"/>
          <p:cNvPicPr>
            <a:picLocks noChangeAspect="1"/>
          </p:cNvPicPr>
          <p:nvPr/>
        </p:nvPicPr>
        <p:blipFill>
          <a:blip r:embed="rId3"/>
          <a:stretch>
            <a:fillRect/>
          </a:stretch>
        </p:blipFill>
        <p:spPr>
          <a:xfrm>
            <a:off x="6492240" y="2240767"/>
            <a:ext cx="4846320" cy="342802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승인 전에는 학습하지 않습니다</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② 전처리·모델·분할을 확인한 뒤 승인합니다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05 / 16</a:t>
            </a:r>
          </a:p>
        </p:txBody>
      </p:sp>
      <p:sp>
        <p:nvSpPr>
          <p:cNvPr id="8" name="TextBox 7"/>
          <p:cNvSpPr txBox="1"/>
          <p:nvPr/>
        </p:nvSpPr>
        <p:spPr>
          <a:xfrm>
            <a:off x="658368" y="2057400"/>
            <a:ext cx="5257800" cy="676656"/>
          </a:xfrm>
          <a:prstGeom prst="rect">
            <a:avLst/>
          </a:prstGeom>
          <a:noFill/>
        </p:spPr>
        <p:txBody>
          <a:bodyPr wrap="square" lIns="18288" rIns="18288" tIns="18288" bIns="18288">
            <a:spAutoFit/>
          </a:bodyPr>
          <a:lstStyle/>
          <a:p>
            <a:pPr>
              <a:lnSpc>
                <a:spcPct val="114000"/>
              </a:lnSpc>
              <a:spcAft>
                <a:spcPts val="800"/>
              </a:spcAft>
              <a:defRPr sz="2100" b="1">
                <a:solidFill>
                  <a:srgbClr val="173A49"/>
                </a:solidFill>
                <a:latin typeface="맑은 고딕"/>
              </a:defRPr>
            </a:pPr>
            <a:r>
              <a:t>Train 768 / Validation 256 / Test 256</a:t>
            </a:r>
          </a:p>
        </p:txBody>
      </p:sp>
      <p:sp>
        <p:nvSpPr>
          <p:cNvPr id="9" name="TextBox 8"/>
          <p:cNvSpPr txBox="1"/>
          <p:nvPr/>
        </p:nvSpPr>
        <p:spPr>
          <a:xfrm>
            <a:off x="658368" y="2825496"/>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같은 생산 묶음(lot)은 구간 사이에 섞지 않습니다.</a:t>
            </a:r>
          </a:p>
        </p:txBody>
      </p:sp>
      <p:sp>
        <p:nvSpPr>
          <p:cNvPr id="10" name="TextBox 9"/>
          <p:cNvSpPr txBox="1"/>
          <p:nvPr/>
        </p:nvSpPr>
        <p:spPr>
          <a:xfrm>
            <a:off x="658368" y="3593591"/>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여러 후보·불균형 설정을 비교한 뒤 상위 후보의 제품 조합 확장</a:t>
            </a:r>
          </a:p>
        </p:txBody>
      </p:sp>
      <p:sp>
        <p:nvSpPr>
          <p:cNvPr id="11" name="TextBox 10"/>
          <p:cNvSpPr txBox="1"/>
          <p:nvPr/>
        </p:nvSpPr>
        <p:spPr>
          <a:xfrm>
            <a:off x="658368" y="4361688"/>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최대 52조건 · 완전탐색은 아닙니다.</a:t>
            </a:r>
          </a:p>
        </p:txBody>
      </p:sp>
      <p:sp>
        <p:nvSpPr>
          <p:cNvPr id="12" name="Rounded Rectangle 11"/>
          <p:cNvSpPr/>
          <p:nvPr/>
        </p:nvSpPr>
        <p:spPr>
          <a:xfrm>
            <a:off x="6419088" y="1801367"/>
            <a:ext cx="499262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plan.jpg"/>
          <p:cNvPicPr>
            <a:picLocks noChangeAspect="1"/>
          </p:cNvPicPr>
          <p:nvPr/>
        </p:nvPicPr>
        <p:blipFill>
          <a:blip r:embed="rId3"/>
          <a:stretch>
            <a:fillRect/>
          </a:stretch>
        </p:blipFill>
        <p:spPr>
          <a:xfrm>
            <a:off x="6842508" y="1874519"/>
            <a:ext cx="4145783" cy="41605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Test 결과를 보고 모델 순위를 바꾸지 않습니다</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③ Validation으로 후보를 고르고 이유를 남깁니다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06 / 16</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선택 규칙: Recall ≥ 90% · 정상 오판률 ≤ 15% 목표 충족 우선</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충족 후보 중 Recall 우선, 동률이면 정상 오판률이 낮은 후보</a:t>
            </a:r>
          </a:p>
        </p:txBody>
      </p:sp>
      <p:sp>
        <p:nvSpPr>
          <p:cNvPr id="10" name="TextBox 9"/>
          <p:cNvSpPr txBox="1"/>
          <p:nvPr/>
        </p:nvSpPr>
        <p:spPr>
          <a:xfrm>
            <a:off x="640080" y="2688336"/>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상위 2모델의 제품 조합 비교 → CatBoost · A+B+C 선택</a:t>
            </a:r>
          </a:p>
        </p:txBody>
      </p:sp>
      <p:graphicFrame>
        <p:nvGraphicFramePr>
          <p:cNvPr id="11" name="Table 10"/>
          <p:cNvGraphicFramePr>
            <a:graphicFrameLocks noGrp="1"/>
          </p:cNvGraphicFramePr>
          <p:nvPr/>
        </p:nvGraphicFramePr>
        <p:xfrm>
          <a:off x="594360" y="3346704"/>
          <a:ext cx="11000232" cy="2724911"/>
        </p:xfrm>
        <a:graphic>
          <a:graphicData uri="http://schemas.openxmlformats.org/drawingml/2006/table">
            <a:tbl>
              <a:tblPr firstRow="1" bandRow="1">
                <a:tableStyleId>{5C22544A-7EE6-4342-B048-85BDC9FD1C3A}</a:tableStyleId>
              </a:tblPr>
              <a:tblGrid>
                <a:gridCol w="4965192"/>
                <a:gridCol w="2011680"/>
                <a:gridCol w="2011680"/>
                <a:gridCol w="2011680"/>
              </a:tblGrid>
              <a:tr h="544982">
                <a:tc>
                  <a:txBody>
                    <a:bodyPr/>
                    <a:lstStyle/>
                    <a:p>
                      <a:pPr>
                        <a:defRPr sz="1600" b="1">
                          <a:solidFill>
                            <a:srgbClr val="FFFFFF"/>
                          </a:solidFill>
                          <a:latin typeface="맑은 고딕"/>
                        </a:defRPr>
                      </a:pPr>
                      <a:r>
                        <a:t>전체 제품 학습 · Validation</a:t>
                      </a:r>
                    </a:p>
                  </a:txBody>
                  <a:tcPr marL="118872" marR="91440" marT="64008" marB="54864" anchor="ctr">
                    <a:solidFill>
                      <a:srgbClr val="147D82"/>
                    </a:solidFill>
                  </a:tcPr>
                </a:tc>
                <a:tc>
                  <a:txBody>
                    <a:bodyPr/>
                    <a:lstStyle/>
                    <a:p>
                      <a:pPr>
                        <a:defRPr sz="1600" b="1">
                          <a:solidFill>
                            <a:srgbClr val="FFFFFF"/>
                          </a:solidFill>
                          <a:latin typeface="맑은 고딕"/>
                        </a:defRPr>
                      </a:pPr>
                      <a:r>
                        <a:t>Recall</a:t>
                      </a:r>
                    </a:p>
                  </a:txBody>
                  <a:tcPr marL="118872" marR="91440" marT="64008" marB="54864" anchor="ctr">
                    <a:solidFill>
                      <a:srgbClr val="147D82"/>
                    </a:solidFill>
                  </a:tcPr>
                </a:tc>
                <a:tc>
                  <a:txBody>
                    <a:bodyPr/>
                    <a:lstStyle/>
                    <a:p>
                      <a:pPr>
                        <a:defRPr sz="1600" b="1">
                          <a:solidFill>
                            <a:srgbClr val="FFFFFF"/>
                          </a:solidFill>
                          <a:latin typeface="맑은 고딕"/>
                        </a:defRPr>
                      </a:pPr>
                      <a:r>
                        <a:t>정상 오판률</a:t>
                      </a:r>
                    </a:p>
                  </a:txBody>
                  <a:tcPr marL="118872" marR="91440" marT="64008" marB="54864" anchor="ctr">
                    <a:solidFill>
                      <a:srgbClr val="147D82"/>
                    </a:solidFill>
                  </a:tcPr>
                </a:tc>
                <a:tc>
                  <a:txBody>
                    <a:bodyPr/>
                    <a:lstStyle/>
                    <a:p>
                      <a:pPr>
                        <a:defRPr sz="1600" b="1">
                          <a:solidFill>
                            <a:srgbClr val="FFFFFF"/>
                          </a:solidFill>
                          <a:latin typeface="맑은 고딕"/>
                        </a:defRPr>
                      </a:pPr>
                      <a:r>
                        <a:t>F1</a:t>
                      </a:r>
                    </a:p>
                  </a:txBody>
                  <a:tcPr marL="118872" marR="91440" marT="64008" marB="54864" anchor="ctr">
                    <a:solidFill>
                      <a:srgbClr val="147D82"/>
                    </a:solidFill>
                  </a:tcPr>
                </a:tc>
              </a:tr>
              <a:tr h="544982">
                <a:tc>
                  <a:txBody>
                    <a:bodyPr/>
                    <a:lstStyle/>
                    <a:p>
                      <a:pPr>
                        <a:defRPr sz="1600" b="0">
                          <a:solidFill>
                            <a:srgbClr val="173A49"/>
                          </a:solidFill>
                          <a:latin typeface="맑은 고딕"/>
                        </a:defRPr>
                      </a:pPr>
                      <a:r>
                        <a:t>CatBoost</a:t>
                      </a:r>
                    </a:p>
                  </a:txBody>
                  <a:tcPr marL="118872" marR="91440" marT="64008" marB="54864" anchor="ctr">
                    <a:solidFill>
                      <a:srgbClr val="FFFFFF"/>
                    </a:solidFill>
                  </a:tcPr>
                </a:tc>
                <a:tc>
                  <a:txBody>
                    <a:bodyPr/>
                    <a:lstStyle/>
                    <a:p>
                      <a:pPr>
                        <a:defRPr sz="1600" b="0">
                          <a:solidFill>
                            <a:srgbClr val="173A49"/>
                          </a:solidFill>
                          <a:latin typeface="맑은 고딕"/>
                        </a:defRPr>
                      </a:pPr>
                      <a:r>
                        <a:t>100.0%</a:t>
                      </a:r>
                    </a:p>
                  </a:txBody>
                  <a:tcPr marL="118872" marR="91440" marT="64008" marB="54864" anchor="ctr">
                    <a:solidFill>
                      <a:srgbClr val="FFFFFF"/>
                    </a:solidFill>
                  </a:tcPr>
                </a:tc>
                <a:tc>
                  <a:txBody>
                    <a:bodyPr/>
                    <a:lstStyle/>
                    <a:p>
                      <a:pPr>
                        <a:defRPr sz="1600" b="0">
                          <a:solidFill>
                            <a:srgbClr val="173A49"/>
                          </a:solidFill>
                          <a:latin typeface="맑은 고딕"/>
                        </a:defRPr>
                      </a:pPr>
                      <a:r>
                        <a:t>9.3%</a:t>
                      </a:r>
                    </a:p>
                  </a:txBody>
                  <a:tcPr marL="118872" marR="91440" marT="64008" marB="54864" anchor="ctr">
                    <a:solidFill>
                      <a:srgbClr val="FFFFFF"/>
                    </a:solidFill>
                  </a:tcPr>
                </a:tc>
                <a:tc>
                  <a:txBody>
                    <a:bodyPr/>
                    <a:lstStyle/>
                    <a:p>
                      <a:pPr>
                        <a:defRPr sz="1600" b="0">
                          <a:solidFill>
                            <a:srgbClr val="173A49"/>
                          </a:solidFill>
                          <a:latin typeface="맑은 고딕"/>
                        </a:defRPr>
                      </a:pPr>
                      <a:r>
                        <a:t>80.8%</a:t>
                      </a:r>
                    </a:p>
                  </a:txBody>
                  <a:tcPr marL="118872" marR="91440" marT="64008" marB="54864" anchor="ctr">
                    <a:solidFill>
                      <a:srgbClr val="FFFFFF"/>
                    </a:solidFill>
                  </a:tcPr>
                </a:tc>
              </a:tr>
              <a:tr h="544982">
                <a:tc>
                  <a:txBody>
                    <a:bodyPr/>
                    <a:lstStyle/>
                    <a:p>
                      <a:pPr>
                        <a:defRPr sz="1600" b="0">
                          <a:solidFill>
                            <a:srgbClr val="173A49"/>
                          </a:solidFill>
                          <a:latin typeface="맑은 고딕"/>
                        </a:defRPr>
                      </a:pPr>
                      <a:r>
                        <a:t>HistGradientBoosting</a:t>
                      </a:r>
                    </a:p>
                  </a:txBody>
                  <a:tcPr marL="118872" marR="91440" marT="64008" marB="54864" anchor="ctr">
                    <a:solidFill>
                      <a:srgbClr val="E8F3F3"/>
                    </a:solidFill>
                  </a:tcPr>
                </a:tc>
                <a:tc>
                  <a:txBody>
                    <a:bodyPr/>
                    <a:lstStyle/>
                    <a:p>
                      <a:pPr>
                        <a:defRPr sz="1600" b="0">
                          <a:solidFill>
                            <a:srgbClr val="173A49"/>
                          </a:solidFill>
                          <a:latin typeface="맑은 고딕"/>
                        </a:defRPr>
                      </a:pPr>
                      <a:r>
                        <a:t>100.0%</a:t>
                      </a:r>
                    </a:p>
                  </a:txBody>
                  <a:tcPr marL="118872" marR="91440" marT="64008" marB="54864" anchor="ctr">
                    <a:solidFill>
                      <a:srgbClr val="E8F3F3"/>
                    </a:solidFill>
                  </a:tcPr>
                </a:tc>
                <a:tc>
                  <a:txBody>
                    <a:bodyPr/>
                    <a:lstStyle/>
                    <a:p>
                      <a:pPr>
                        <a:defRPr sz="1600" b="0">
                          <a:solidFill>
                            <a:srgbClr val="173A49"/>
                          </a:solidFill>
                          <a:latin typeface="맑은 고딕"/>
                        </a:defRPr>
                      </a:pPr>
                      <a:r>
                        <a:t>10.3%</a:t>
                      </a:r>
                    </a:p>
                  </a:txBody>
                  <a:tcPr marL="118872" marR="91440" marT="64008" marB="54864" anchor="ctr">
                    <a:solidFill>
                      <a:srgbClr val="E8F3F3"/>
                    </a:solidFill>
                  </a:tcPr>
                </a:tc>
                <a:tc>
                  <a:txBody>
                    <a:bodyPr/>
                    <a:lstStyle/>
                    <a:p>
                      <a:pPr>
                        <a:defRPr sz="1600" b="0">
                          <a:solidFill>
                            <a:srgbClr val="173A49"/>
                          </a:solidFill>
                          <a:latin typeface="맑은 고딕"/>
                        </a:defRPr>
                      </a:pPr>
                      <a:r>
                        <a:t>79.2%</a:t>
                      </a:r>
                    </a:p>
                  </a:txBody>
                  <a:tcPr marL="118872" marR="91440" marT="64008" marB="54864" anchor="ctr">
                    <a:solidFill>
                      <a:srgbClr val="E8F3F3"/>
                    </a:solidFill>
                  </a:tcPr>
                </a:tc>
              </a:tr>
              <a:tr h="544982">
                <a:tc>
                  <a:txBody>
                    <a:bodyPr/>
                    <a:lstStyle/>
                    <a:p>
                      <a:pPr>
                        <a:defRPr sz="1600" b="0">
                          <a:solidFill>
                            <a:srgbClr val="173A49"/>
                          </a:solidFill>
                          <a:latin typeface="맑은 고딕"/>
                        </a:defRPr>
                      </a:pPr>
                      <a:r>
                        <a:t>AdaBoost</a:t>
                      </a:r>
                    </a:p>
                  </a:txBody>
                  <a:tcPr marL="118872" marR="91440" marT="64008" marB="54864" anchor="ctr">
                    <a:solidFill>
                      <a:srgbClr val="FFFFFF"/>
                    </a:solidFill>
                  </a:tcPr>
                </a:tc>
                <a:tc>
                  <a:txBody>
                    <a:bodyPr/>
                    <a:lstStyle/>
                    <a:p>
                      <a:pPr>
                        <a:defRPr sz="1600" b="0">
                          <a:solidFill>
                            <a:srgbClr val="173A49"/>
                          </a:solidFill>
                          <a:latin typeface="맑은 고딕"/>
                        </a:defRPr>
                      </a:pPr>
                      <a:r>
                        <a:t>97.6%</a:t>
                      </a:r>
                    </a:p>
                  </a:txBody>
                  <a:tcPr marL="118872" marR="91440" marT="64008" marB="54864" anchor="ctr">
                    <a:solidFill>
                      <a:srgbClr val="FFFFFF"/>
                    </a:solidFill>
                  </a:tcPr>
                </a:tc>
                <a:tc>
                  <a:txBody>
                    <a:bodyPr/>
                    <a:lstStyle/>
                    <a:p>
                      <a:pPr>
                        <a:defRPr sz="1600" b="0">
                          <a:solidFill>
                            <a:srgbClr val="173A49"/>
                          </a:solidFill>
                          <a:latin typeface="맑은 고딕"/>
                        </a:defRPr>
                      </a:pPr>
                      <a:r>
                        <a:t>6.1%</a:t>
                      </a:r>
                    </a:p>
                  </a:txBody>
                  <a:tcPr marL="118872" marR="91440" marT="64008" marB="54864" anchor="ctr">
                    <a:solidFill>
                      <a:srgbClr val="FFFFFF"/>
                    </a:solidFill>
                  </a:tcPr>
                </a:tc>
                <a:tc>
                  <a:txBody>
                    <a:bodyPr/>
                    <a:lstStyle/>
                    <a:p>
                      <a:pPr>
                        <a:defRPr sz="1600" b="0">
                          <a:solidFill>
                            <a:srgbClr val="173A49"/>
                          </a:solidFill>
                          <a:latin typeface="맑은 고딕"/>
                        </a:defRPr>
                      </a:pPr>
                      <a:r>
                        <a:t>85.4%</a:t>
                      </a:r>
                    </a:p>
                  </a:txBody>
                  <a:tcPr marL="118872" marR="91440" marT="64008" marB="54864" anchor="ctr">
                    <a:solidFill>
                      <a:srgbClr val="FFFFFF"/>
                    </a:solidFill>
                  </a:tcPr>
                </a:tc>
              </a:tr>
              <a:tr h="544983">
                <a:tc>
                  <a:txBody>
                    <a:bodyPr/>
                    <a:lstStyle/>
                    <a:p>
                      <a:pPr>
                        <a:defRPr sz="1600" b="0">
                          <a:solidFill>
                            <a:srgbClr val="173A49"/>
                          </a:solidFill>
                          <a:latin typeface="맑은 고딕"/>
                        </a:defRPr>
                      </a:pPr>
                      <a:r>
                        <a:t>Logistic Regression</a:t>
                      </a:r>
                    </a:p>
                  </a:txBody>
                  <a:tcPr marL="118872" marR="91440" marT="64008" marB="54864" anchor="ctr">
                    <a:solidFill>
                      <a:srgbClr val="E8F3F3"/>
                    </a:solidFill>
                  </a:tcPr>
                </a:tc>
                <a:tc>
                  <a:txBody>
                    <a:bodyPr/>
                    <a:lstStyle/>
                    <a:p>
                      <a:pPr>
                        <a:defRPr sz="1600" b="0">
                          <a:solidFill>
                            <a:srgbClr val="173A49"/>
                          </a:solidFill>
                          <a:latin typeface="맑은 고딕"/>
                        </a:defRPr>
                      </a:pPr>
                      <a:r>
                        <a:t>90.5%</a:t>
                      </a:r>
                    </a:p>
                  </a:txBody>
                  <a:tcPr marL="118872" marR="91440" marT="64008" marB="54864" anchor="ctr">
                    <a:solidFill>
                      <a:srgbClr val="E8F3F3"/>
                    </a:solidFill>
                  </a:tcPr>
                </a:tc>
                <a:tc>
                  <a:txBody>
                    <a:bodyPr/>
                    <a:lstStyle/>
                    <a:p>
                      <a:pPr>
                        <a:defRPr sz="1600" b="0">
                          <a:solidFill>
                            <a:srgbClr val="173A49"/>
                          </a:solidFill>
                          <a:latin typeface="맑은 고딕"/>
                        </a:defRPr>
                      </a:pPr>
                      <a:r>
                        <a:t>18.7%</a:t>
                      </a:r>
                    </a:p>
                  </a:txBody>
                  <a:tcPr marL="118872" marR="91440" marT="64008" marB="54864" anchor="ctr">
                    <a:solidFill>
                      <a:srgbClr val="E8F3F3"/>
                    </a:solidFill>
                  </a:tcPr>
                </a:tc>
                <a:tc>
                  <a:txBody>
                    <a:bodyPr/>
                    <a:lstStyle/>
                    <a:p>
                      <a:pPr>
                        <a:defRPr sz="1600" b="0">
                          <a:solidFill>
                            <a:srgbClr val="173A49"/>
                          </a:solidFill>
                          <a:latin typeface="맑은 고딕"/>
                        </a:defRPr>
                      </a:pPr>
                      <a:r>
                        <a:t>63.3%</a:t>
                      </a:r>
                    </a:p>
                  </a:txBody>
                  <a:tcPr marL="118872" marR="91440" marT="64008" marB="54864" anchor="ctr">
                    <a:solidFill>
                      <a:srgbClr val="E8F3F3"/>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같은 Test 256건 · 불량 32건 / 정상 224건</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④ 더 찾았지만, 목표에는 못 미쳤습니다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07 / 16</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기본: Logistic Regression / 선택 후보: CatBoost · A+B+C</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후보 Recall 84.4% &lt; 목표 90% → 추가 실험 필요</a:t>
            </a:r>
          </a:p>
        </p:txBody>
      </p:sp>
      <p:graphicFrame>
        <p:nvGraphicFramePr>
          <p:cNvPr id="10" name="Table 9"/>
          <p:cNvGraphicFramePr>
            <a:graphicFrameLocks noGrp="1"/>
          </p:cNvGraphicFramePr>
          <p:nvPr/>
        </p:nvGraphicFramePr>
        <p:xfrm>
          <a:off x="594360" y="2926080"/>
          <a:ext cx="11000232" cy="3145535"/>
        </p:xfrm>
        <a:graphic>
          <a:graphicData uri="http://schemas.openxmlformats.org/drawingml/2006/table">
            <a:tbl>
              <a:tblPr firstRow="1" bandRow="1">
                <a:tableStyleId>{5C22544A-7EE6-4342-B048-85BDC9FD1C3A}</a:tableStyleId>
              </a:tblPr>
              <a:tblGrid>
                <a:gridCol w="4782312"/>
                <a:gridCol w="3108960"/>
                <a:gridCol w="3108960"/>
              </a:tblGrid>
              <a:tr h="629107">
                <a:tc>
                  <a:txBody>
                    <a:bodyPr/>
                    <a:lstStyle/>
                    <a:p>
                      <a:pPr>
                        <a:defRPr sz="1600" b="1">
                          <a:solidFill>
                            <a:srgbClr val="FFFFFF"/>
                          </a:solidFill>
                          <a:latin typeface="맑은 고딕"/>
                        </a:defRPr>
                      </a:pPr>
                      <a:r>
                        <a:t>같은 Test에서 비교</a:t>
                      </a:r>
                    </a:p>
                  </a:txBody>
                  <a:tcPr marL="118872" marR="91440" marT="64008" marB="54864" anchor="ctr">
                    <a:solidFill>
                      <a:srgbClr val="147D82"/>
                    </a:solidFill>
                  </a:tcPr>
                </a:tc>
                <a:tc>
                  <a:txBody>
                    <a:bodyPr/>
                    <a:lstStyle/>
                    <a:p>
                      <a:pPr>
                        <a:defRPr sz="1600" b="1">
                          <a:solidFill>
                            <a:srgbClr val="FFFFFF"/>
                          </a:solidFill>
                          <a:latin typeface="맑은 고딕"/>
                        </a:defRPr>
                      </a:pPr>
                      <a:r>
                        <a:t>기본 모델</a:t>
                      </a:r>
                    </a:p>
                  </a:txBody>
                  <a:tcPr marL="118872" marR="91440" marT="64008" marB="54864" anchor="ctr">
                    <a:solidFill>
                      <a:srgbClr val="147D82"/>
                    </a:solidFill>
                  </a:tcPr>
                </a:tc>
                <a:tc>
                  <a:txBody>
                    <a:bodyPr/>
                    <a:lstStyle/>
                    <a:p>
                      <a:pPr>
                        <a:defRPr sz="1600" b="1">
                          <a:solidFill>
                            <a:srgbClr val="FFFFFF"/>
                          </a:solidFill>
                          <a:latin typeface="맑은 고딕"/>
                        </a:defRPr>
                      </a:pPr>
                      <a:r>
                        <a:t>선택 후보</a:t>
                      </a:r>
                    </a:p>
                  </a:txBody>
                  <a:tcPr marL="118872" marR="91440" marT="64008" marB="54864" anchor="ctr">
                    <a:solidFill>
                      <a:srgbClr val="147D82"/>
                    </a:solidFill>
                  </a:tcPr>
                </a:tc>
              </a:tr>
              <a:tr h="629107">
                <a:tc>
                  <a:txBody>
                    <a:bodyPr/>
                    <a:lstStyle/>
                    <a:p>
                      <a:pPr>
                        <a:defRPr sz="1600" b="0">
                          <a:solidFill>
                            <a:srgbClr val="173A49"/>
                          </a:solidFill>
                          <a:latin typeface="맑은 고딕"/>
                        </a:defRPr>
                      </a:pPr>
                      <a:r>
                        <a:t>불량 발견</a:t>
                      </a:r>
                    </a:p>
                  </a:txBody>
                  <a:tcPr marL="118872" marR="91440" marT="64008" marB="54864" anchor="ctr">
                    <a:solidFill>
                      <a:srgbClr val="FFFFFF"/>
                    </a:solidFill>
                  </a:tcPr>
                </a:tc>
                <a:tc>
                  <a:txBody>
                    <a:bodyPr/>
                    <a:lstStyle/>
                    <a:p>
                      <a:pPr>
                        <a:defRPr sz="1600" b="0">
                          <a:solidFill>
                            <a:srgbClr val="173A49"/>
                          </a:solidFill>
                          <a:latin typeface="맑은 고딕"/>
                        </a:defRPr>
                      </a:pPr>
                      <a:r>
                        <a:t>20 / 32개</a:t>
                      </a:r>
                    </a:p>
                  </a:txBody>
                  <a:tcPr marL="118872" marR="91440" marT="64008" marB="54864" anchor="ctr">
                    <a:solidFill>
                      <a:srgbClr val="FFFFFF"/>
                    </a:solidFill>
                  </a:tcPr>
                </a:tc>
                <a:tc>
                  <a:txBody>
                    <a:bodyPr/>
                    <a:lstStyle/>
                    <a:p>
                      <a:pPr>
                        <a:defRPr sz="1600" b="0">
                          <a:solidFill>
                            <a:srgbClr val="173A49"/>
                          </a:solidFill>
                          <a:latin typeface="맑은 고딕"/>
                        </a:defRPr>
                      </a:pPr>
                      <a:r>
                        <a:t>27 / 32개</a:t>
                      </a:r>
                    </a:p>
                  </a:txBody>
                  <a:tcPr marL="118872" marR="91440" marT="64008" marB="54864" anchor="ctr">
                    <a:solidFill>
                      <a:srgbClr val="FFFFFF"/>
                    </a:solidFill>
                  </a:tcPr>
                </a:tc>
              </a:tr>
              <a:tr h="629107">
                <a:tc>
                  <a:txBody>
                    <a:bodyPr/>
                    <a:lstStyle/>
                    <a:p>
                      <a:pPr>
                        <a:defRPr sz="1600" b="0">
                          <a:solidFill>
                            <a:srgbClr val="173A49"/>
                          </a:solidFill>
                          <a:latin typeface="맑은 고딕"/>
                        </a:defRPr>
                      </a:pPr>
                      <a:r>
                        <a:t>놓친 불량</a:t>
                      </a:r>
                    </a:p>
                  </a:txBody>
                  <a:tcPr marL="118872" marR="91440" marT="64008" marB="54864" anchor="ctr">
                    <a:solidFill>
                      <a:srgbClr val="E8F3F3"/>
                    </a:solidFill>
                  </a:tcPr>
                </a:tc>
                <a:tc>
                  <a:txBody>
                    <a:bodyPr/>
                    <a:lstStyle/>
                    <a:p>
                      <a:pPr>
                        <a:defRPr sz="1600" b="0">
                          <a:solidFill>
                            <a:srgbClr val="173A49"/>
                          </a:solidFill>
                          <a:latin typeface="맑은 고딕"/>
                        </a:defRPr>
                      </a:pPr>
                      <a:r>
                        <a:t>12개</a:t>
                      </a:r>
                    </a:p>
                  </a:txBody>
                  <a:tcPr marL="118872" marR="91440" marT="64008" marB="54864" anchor="ctr">
                    <a:solidFill>
                      <a:srgbClr val="E8F3F3"/>
                    </a:solidFill>
                  </a:tcPr>
                </a:tc>
                <a:tc>
                  <a:txBody>
                    <a:bodyPr/>
                    <a:lstStyle/>
                    <a:p>
                      <a:pPr>
                        <a:defRPr sz="1600" b="0">
                          <a:solidFill>
                            <a:srgbClr val="173A49"/>
                          </a:solidFill>
                          <a:latin typeface="맑은 고딕"/>
                        </a:defRPr>
                      </a:pPr>
                      <a:r>
                        <a:t>5개</a:t>
                      </a:r>
                    </a:p>
                  </a:txBody>
                  <a:tcPr marL="118872" marR="91440" marT="64008" marB="54864" anchor="ctr">
                    <a:solidFill>
                      <a:srgbClr val="E8F3F3"/>
                    </a:solidFill>
                  </a:tcPr>
                </a:tc>
              </a:tr>
              <a:tr h="629107">
                <a:tc>
                  <a:txBody>
                    <a:bodyPr/>
                    <a:lstStyle/>
                    <a:p>
                      <a:pPr>
                        <a:defRPr sz="1600" b="0">
                          <a:solidFill>
                            <a:srgbClr val="173A49"/>
                          </a:solidFill>
                          <a:latin typeface="맑은 고딕"/>
                        </a:defRPr>
                      </a:pPr>
                      <a:r>
                        <a:t>정상 오판</a:t>
                      </a:r>
                    </a:p>
                  </a:txBody>
                  <a:tcPr marL="118872" marR="91440" marT="64008" marB="54864" anchor="ctr">
                    <a:solidFill>
                      <a:srgbClr val="FFFFFF"/>
                    </a:solidFill>
                  </a:tcPr>
                </a:tc>
                <a:tc>
                  <a:txBody>
                    <a:bodyPr/>
                    <a:lstStyle/>
                    <a:p>
                      <a:pPr>
                        <a:defRPr sz="1600" b="0">
                          <a:solidFill>
                            <a:srgbClr val="173A49"/>
                          </a:solidFill>
                          <a:latin typeface="맑은 고딕"/>
                        </a:defRPr>
                      </a:pPr>
                      <a:r>
                        <a:t>1 / 224개</a:t>
                      </a:r>
                    </a:p>
                  </a:txBody>
                  <a:tcPr marL="118872" marR="91440" marT="64008" marB="54864" anchor="ctr">
                    <a:solidFill>
                      <a:srgbClr val="FFFFFF"/>
                    </a:solidFill>
                  </a:tcPr>
                </a:tc>
                <a:tc>
                  <a:txBody>
                    <a:bodyPr/>
                    <a:lstStyle/>
                    <a:p>
                      <a:pPr>
                        <a:defRPr sz="1600" b="0">
                          <a:solidFill>
                            <a:srgbClr val="173A49"/>
                          </a:solidFill>
                          <a:latin typeface="맑은 고딕"/>
                        </a:defRPr>
                      </a:pPr>
                      <a:r>
                        <a:t>14 / 224개</a:t>
                      </a:r>
                    </a:p>
                  </a:txBody>
                  <a:tcPr marL="118872" marR="91440" marT="64008" marB="54864" anchor="ctr">
                    <a:solidFill>
                      <a:srgbClr val="FFFFFF"/>
                    </a:solidFill>
                  </a:tcPr>
                </a:tc>
              </a:tr>
              <a:tr h="629107">
                <a:tc>
                  <a:txBody>
                    <a:bodyPr/>
                    <a:lstStyle/>
                    <a:p>
                      <a:pPr>
                        <a:defRPr sz="1600" b="0">
                          <a:solidFill>
                            <a:srgbClr val="173A49"/>
                          </a:solidFill>
                          <a:latin typeface="맑은 고딕"/>
                        </a:defRPr>
                      </a:pPr>
                      <a:r>
                        <a:t>Recall</a:t>
                      </a:r>
                    </a:p>
                  </a:txBody>
                  <a:tcPr marL="118872" marR="91440" marT="64008" marB="54864" anchor="ctr">
                    <a:solidFill>
                      <a:srgbClr val="E8F3F3"/>
                    </a:solidFill>
                  </a:tcPr>
                </a:tc>
                <a:tc>
                  <a:txBody>
                    <a:bodyPr/>
                    <a:lstStyle/>
                    <a:p>
                      <a:pPr>
                        <a:defRPr sz="1600" b="0">
                          <a:solidFill>
                            <a:srgbClr val="173A49"/>
                          </a:solidFill>
                          <a:latin typeface="맑은 고딕"/>
                        </a:defRPr>
                      </a:pPr>
                      <a:r>
                        <a:t>62.5%</a:t>
                      </a:r>
                    </a:p>
                  </a:txBody>
                  <a:tcPr marL="118872" marR="91440" marT="64008" marB="54864" anchor="ctr">
                    <a:solidFill>
                      <a:srgbClr val="E8F3F3"/>
                    </a:solidFill>
                  </a:tcPr>
                </a:tc>
                <a:tc>
                  <a:txBody>
                    <a:bodyPr/>
                    <a:lstStyle/>
                    <a:p>
                      <a:pPr>
                        <a:defRPr sz="1600" b="0">
                          <a:solidFill>
                            <a:srgbClr val="173A49"/>
                          </a:solidFill>
                          <a:latin typeface="맑은 고딕"/>
                        </a:defRPr>
                      </a:pPr>
                      <a:r>
                        <a:t>84.4%</a:t>
                      </a:r>
                    </a:p>
                  </a:txBody>
                  <a:tcPr marL="118872" marR="91440" marT="64008" marB="54864" anchor="ctr">
                    <a:solidFill>
                      <a:srgbClr val="E8F3F3"/>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모델 비교의 확장 · 후보 탐색 RAG</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공식 문서에서 비교할 후보를 추가할 수 있습니다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08 / 16</a:t>
            </a:r>
          </a:p>
        </p:txBody>
      </p:sp>
      <p:sp>
        <p:nvSpPr>
          <p:cNvPr id="8" name="TextBox 7"/>
          <p:cNvSpPr txBox="1"/>
          <p:nvPr/>
        </p:nvSpPr>
        <p:spPr>
          <a:xfrm>
            <a:off x="658368" y="2057400"/>
            <a:ext cx="5257800" cy="676656"/>
          </a:xfrm>
          <a:prstGeom prst="rect">
            <a:avLst/>
          </a:prstGeom>
          <a:noFill/>
        </p:spPr>
        <p:txBody>
          <a:bodyPr wrap="square" lIns="18288" rIns="18288" tIns="18288" bIns="18288">
            <a:spAutoFit/>
          </a:bodyPr>
          <a:lstStyle/>
          <a:p>
            <a:pPr>
              <a:lnSpc>
                <a:spcPct val="114000"/>
              </a:lnSpc>
              <a:spcAft>
                <a:spcPts val="800"/>
              </a:spcAft>
              <a:defRPr sz="2100" b="1">
                <a:solidFill>
                  <a:srgbClr val="173A49"/>
                </a:solidFill>
                <a:latin typeface="맑은 고딕"/>
              </a:defRPr>
            </a:pPr>
            <a:r>
              <a:t>공식 모델 목록·문서 조회 → 근거 검색 → 새 비교 계획 → 승인·학습</a:t>
            </a:r>
          </a:p>
        </p:txBody>
      </p:sp>
      <p:sp>
        <p:nvSpPr>
          <p:cNvPr id="9" name="TextBox 8"/>
          <p:cNvSpPr txBox="1"/>
          <p:nvPr/>
        </p:nvSpPr>
        <p:spPr>
          <a:xfrm>
            <a:off x="658368" y="2825496"/>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ExtraTrees · GaussianNB를 기존 후보와 비교하고 목록을 갱신</a:t>
            </a:r>
          </a:p>
        </p:txBody>
      </p:sp>
      <p:sp>
        <p:nvSpPr>
          <p:cNvPr id="10" name="TextBox 9"/>
          <p:cNvSpPr txBox="1"/>
          <p:nvPr/>
        </p:nvSpPr>
        <p:spPr>
          <a:xfrm>
            <a:off x="658368" y="3593591"/>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기록된 추가 실험에서는 CatBoost 유지</a:t>
            </a:r>
          </a:p>
        </p:txBody>
      </p:sp>
      <p:sp>
        <p:nvSpPr>
          <p:cNvPr id="11" name="TextBox 10"/>
          <p:cNvSpPr txBox="1"/>
          <p:nvPr/>
        </p:nvSpPr>
        <p:spPr>
          <a:xfrm>
            <a:off x="658368" y="4361688"/>
            <a:ext cx="5257800" cy="67665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현재 실행 가능한 범위: 검토된 두 모델 adapter</a:t>
            </a:r>
          </a:p>
        </p:txBody>
      </p:sp>
      <p:sp>
        <p:nvSpPr>
          <p:cNvPr id="12" name="Rounded Rectangle 11"/>
          <p:cNvSpPr/>
          <p:nvPr/>
        </p:nvSpPr>
        <p:spPr>
          <a:xfrm>
            <a:off x="6419088" y="1801367"/>
            <a:ext cx="499262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discovery.jpg"/>
          <p:cNvPicPr>
            <a:picLocks noChangeAspect="1"/>
          </p:cNvPicPr>
          <p:nvPr/>
        </p:nvPicPr>
        <p:blipFill>
          <a:blip r:embed="rId3"/>
          <a:stretch>
            <a:fillRect/>
          </a:stretch>
        </p:blipFill>
        <p:spPr>
          <a:xfrm>
            <a:off x="6569264" y="1874519"/>
            <a:ext cx="4692271" cy="41605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적용 기술 · 관측 가능성 및 평가</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실험 경로와 실패 상태를 기록합니다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09 / 16</a:t>
            </a:r>
          </a:p>
        </p:txBody>
      </p:sp>
      <p:sp>
        <p:nvSpPr>
          <p:cNvPr id="8" name="TextBox 7"/>
          <p:cNvSpPr txBox="1"/>
          <p:nvPr/>
        </p:nvSpPr>
        <p:spPr>
          <a:xfrm>
            <a:off x="640080" y="1965960"/>
            <a:ext cx="10972800" cy="475488"/>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LangGraph 역할 분리 · MCP 4도구와 지식 Resource · 의존성 주입</a:t>
            </a:r>
          </a:p>
        </p:txBody>
      </p:sp>
      <p:sp>
        <p:nvSpPr>
          <p:cNvPr id="9" name="TextBox 8"/>
          <p:cNvSpPr txBox="1"/>
          <p:nvPr/>
        </p:nvSpPr>
        <p:spPr>
          <a:xfrm>
            <a:off x="640080" y="2532888"/>
            <a:ext cx="10972800" cy="475488"/>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로컬 Qwen2.5 · RAG 근거 검색 · 공식 문서에서 비교 후보 추가</a:t>
            </a:r>
          </a:p>
        </p:txBody>
      </p:sp>
      <p:sp>
        <p:nvSpPr>
          <p:cNvPr id="10" name="TextBox 9"/>
          <p:cNvSpPr txBox="1"/>
          <p:nvPr/>
        </p:nvSpPr>
        <p:spPr>
          <a:xfrm>
            <a:off x="640080" y="3099815"/>
            <a:ext cx="10972800" cy="475488"/>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LangSmith APAC: 실제 계획 생성과 하위 실행 API 재조회 성공</a:t>
            </a:r>
          </a:p>
        </p:txBody>
      </p:sp>
      <p:sp>
        <p:nvSpPr>
          <p:cNvPr id="11" name="TextBox 10"/>
          <p:cNvSpPr txBox="1"/>
          <p:nvPr/>
        </p:nvSpPr>
        <p:spPr>
          <a:xfrm>
            <a:off x="640080" y="3666744"/>
            <a:ext cx="10972800" cy="475488"/>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LLM 평가 6/8 예제 일치 · 테스트 33개 통과</a:t>
            </a:r>
          </a:p>
        </p:txBody>
      </p:sp>
      <p:sp>
        <p:nvSpPr>
          <p:cNvPr id="12" name="Rounded Rectangle 11"/>
          <p:cNvSpPr/>
          <p:nvPr/>
        </p:nvSpPr>
        <p:spPr>
          <a:xfrm>
            <a:off x="658368" y="4507992"/>
            <a:ext cx="10881360" cy="1298448"/>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4663440"/>
            <a:ext cx="10332720" cy="457200"/>
          </a:xfrm>
          <a:prstGeom prst="rect">
            <a:avLst/>
          </a:prstGeom>
          <a:noFill/>
        </p:spPr>
        <p:txBody>
          <a:bodyPr wrap="square" lIns="18288" rIns="18288" tIns="18288" bIns="18288">
            <a:spAutoFit/>
          </a:bodyPr>
          <a:lstStyle/>
          <a:p>
            <a:pPr>
              <a:lnSpc>
                <a:spcPct val="114000"/>
              </a:lnSpc>
              <a:spcAft>
                <a:spcPts val="800"/>
              </a:spcAft>
              <a:defRPr sz="2300" b="1">
                <a:solidFill>
                  <a:srgbClr val="147D82"/>
                </a:solidFill>
                <a:latin typeface="맑은 고딕"/>
              </a:defRPr>
            </a:pPr>
            <a:r>
              <a:t>experiment.propose → LangGraph → 점검 · 검색 · 계획</a:t>
            </a:r>
          </a:p>
        </p:txBody>
      </p:sp>
      <p:sp>
        <p:nvSpPr>
          <p:cNvPr id="14" name="TextBox 13"/>
          <p:cNvSpPr txBox="1"/>
          <p:nvPr/>
        </p:nvSpPr>
        <p:spPr>
          <a:xfrm>
            <a:off x="886968" y="5358384"/>
            <a:ext cx="1014984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API 재조회 성공 · child run 10개 · 78b9a699-ccfe-4533-a4f8-f0cbc021894b</a:t>
            </a:r>
          </a:p>
        </p:txBody>
      </p:sp>
      <p:sp>
        <p:nvSpPr>
          <p:cNvPr id="15" name="TextBox 14"/>
          <p:cNvSpPr txBox="1"/>
          <p:nvPr/>
        </p:nvSpPr>
        <p:spPr>
          <a:xfrm>
            <a:off x="685800" y="5943600"/>
            <a:ext cx="10789920" cy="274320"/>
          </a:xfrm>
          <a:prstGeom prst="rect">
            <a:avLst/>
          </a:prstGeom>
          <a:noFill/>
        </p:spPr>
        <p:txBody>
          <a:bodyPr wrap="square" lIns="18288" rIns="18288" tIns="18288" bIns="18288">
            <a:spAutoFit/>
          </a:bodyPr>
          <a:lstStyle/>
          <a:p>
            <a:pPr>
              <a:lnSpc>
                <a:spcPct val="114000"/>
              </a:lnSpc>
              <a:spcAft>
                <a:spcPts val="800"/>
              </a:spcAft>
              <a:defRPr sz="1200" b="0">
                <a:solidFill>
                  <a:srgbClr val="617681"/>
                </a:solidFill>
                <a:latin typeface="맑은 고딕"/>
              </a:defRPr>
            </a:pPr>
            <a:r>
              <a:t>LLM은 근거와 설명을 보조하고, 모델 학습·지표 계산·후보 순위는 실험 엔진이 담당합니다.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교훈 · 트레이드오프 · 다음 개선</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선택한 모델과 선택 이유를 함께 보여 줍니다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10 / 16</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구현: 데이터 점검 → 계획 승인 → 모델 비교 → 선택 근거·지표 확인</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교훈: Recall을 높이면 정상 오판도 늘 수 있고, 선택 규칙이 결론을 바꿉니다.</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한계: 합성 데이터·작은 불량 표본·반복 Validation·Test 재사용 탐색</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다음: 현장 기준 합의 → 독립 기간 검증 → 엔지니어 작업시간 측정</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 알고리즘마다 최선 불균형 설정 1개 표시</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모델별 Validation 비교</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11 / 16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500" b="0">
                <a:solidFill>
                  <a:srgbClr val="617681"/>
                </a:solidFill>
                <a:latin typeface="맑은 고딕"/>
              </a:defRPr>
            </a:pPr>
            <a:r>
              <a:t>같은 전체 제품 Train에서 비교했습니다. 이 표는 제품 조합 확장 전 단계입니다.</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500" b="0">
                <a:solidFill>
                  <a:srgbClr val="617681"/>
                </a:solidFill>
                <a:latin typeface="맑은 고딕"/>
              </a:defRPr>
            </a:pPr>
            <a:r>
              <a:t>후보별 판정값은 Validation에서 조정했습니다. Test 전체 모델 순위가 아닙니다.</a:t>
            </a:r>
          </a:p>
        </p:txBody>
      </p:sp>
      <p:graphicFrame>
        <p:nvGraphicFramePr>
          <p:cNvPr id="10" name="Table 9"/>
          <p:cNvGraphicFramePr>
            <a:graphicFrameLocks noGrp="1"/>
          </p:cNvGraphicFramePr>
          <p:nvPr/>
        </p:nvGraphicFramePr>
        <p:xfrm>
          <a:off x="594360" y="2926080"/>
          <a:ext cx="11000231" cy="3145535"/>
        </p:xfrm>
        <a:graphic>
          <a:graphicData uri="http://schemas.openxmlformats.org/drawingml/2006/table">
            <a:tbl>
              <a:tblPr firstRow="1" bandRow="1">
                <a:tableStyleId>{5C22544A-7EE6-4342-B048-85BDC9FD1C3A}</a:tableStyleId>
              </a:tblPr>
              <a:tblGrid>
                <a:gridCol w="4050791"/>
                <a:gridCol w="1737360"/>
                <a:gridCol w="1737360"/>
                <a:gridCol w="1737360"/>
                <a:gridCol w="1737360"/>
              </a:tblGrid>
              <a:tr h="241964">
                <a:tc>
                  <a:txBody>
                    <a:bodyPr/>
                    <a:lstStyle/>
                    <a:p>
                      <a:pPr>
                        <a:defRPr sz="1200" b="1">
                          <a:solidFill>
                            <a:srgbClr val="FFFFFF"/>
                          </a:solidFill>
                          <a:latin typeface="맑은 고딕"/>
                        </a:defRPr>
                      </a:pPr>
                      <a:r>
                        <a:t>모델 · 전체 제품 학습</a:t>
                      </a:r>
                    </a:p>
                  </a:txBody>
                  <a:tcPr marL="118872" marR="91440" marT="64008" marB="54864" anchor="ctr">
                    <a:solidFill>
                      <a:srgbClr val="147D82"/>
                    </a:solidFill>
                  </a:tcPr>
                </a:tc>
                <a:tc>
                  <a:txBody>
                    <a:bodyPr/>
                    <a:lstStyle/>
                    <a:p>
                      <a:pPr>
                        <a:defRPr sz="1200" b="1">
                          <a:solidFill>
                            <a:srgbClr val="FFFFFF"/>
                          </a:solidFill>
                          <a:latin typeface="맑은 고딕"/>
                        </a:defRPr>
                      </a:pPr>
                      <a:r>
                        <a:t>불균형 설정</a:t>
                      </a:r>
                    </a:p>
                  </a:txBody>
                  <a:tcPr marL="118872" marR="91440" marT="64008" marB="54864" anchor="ctr">
                    <a:solidFill>
                      <a:srgbClr val="147D82"/>
                    </a:solidFill>
                  </a:tcPr>
                </a:tc>
                <a:tc>
                  <a:txBody>
                    <a:bodyPr/>
                    <a:lstStyle/>
                    <a:p>
                      <a:pPr>
                        <a:defRPr sz="1200" b="1">
                          <a:solidFill>
                            <a:srgbClr val="FFFFFF"/>
                          </a:solidFill>
                          <a:latin typeface="맑은 고딕"/>
                        </a:defRPr>
                      </a:pPr>
                      <a:r>
                        <a:t>Recall</a:t>
                      </a:r>
                    </a:p>
                  </a:txBody>
                  <a:tcPr marL="118872" marR="91440" marT="64008" marB="54864" anchor="ctr">
                    <a:solidFill>
                      <a:srgbClr val="147D82"/>
                    </a:solidFill>
                  </a:tcPr>
                </a:tc>
                <a:tc>
                  <a:txBody>
                    <a:bodyPr/>
                    <a:lstStyle/>
                    <a:p>
                      <a:pPr>
                        <a:defRPr sz="1200" b="1">
                          <a:solidFill>
                            <a:srgbClr val="FFFFFF"/>
                          </a:solidFill>
                          <a:latin typeface="맑은 고딕"/>
                        </a:defRPr>
                      </a:pPr>
                      <a:r>
                        <a:t>정상 오판률</a:t>
                      </a:r>
                    </a:p>
                  </a:txBody>
                  <a:tcPr marL="118872" marR="91440" marT="64008" marB="54864" anchor="ctr">
                    <a:solidFill>
                      <a:srgbClr val="147D82"/>
                    </a:solidFill>
                  </a:tcPr>
                </a:tc>
                <a:tc>
                  <a:txBody>
                    <a:bodyPr/>
                    <a:lstStyle/>
                    <a:p>
                      <a:pPr>
                        <a:defRPr sz="1200" b="1">
                          <a:solidFill>
                            <a:srgbClr val="FFFFFF"/>
                          </a:solidFill>
                          <a:latin typeface="맑은 고딕"/>
                        </a:defRPr>
                      </a:pPr>
                      <a:r>
                        <a:t>F1</a:t>
                      </a:r>
                    </a:p>
                  </a:txBody>
                  <a:tcPr marL="118872" marR="91440" marT="64008" marB="54864" anchor="ctr">
                    <a:solidFill>
                      <a:srgbClr val="147D82"/>
                    </a:solidFill>
                  </a:tcPr>
                </a:tc>
              </a:tr>
              <a:tr h="241964">
                <a:tc>
                  <a:txBody>
                    <a:bodyPr/>
                    <a:lstStyle/>
                    <a:p>
                      <a:pPr>
                        <a:defRPr sz="1200" b="0">
                          <a:solidFill>
                            <a:srgbClr val="173A49"/>
                          </a:solidFill>
                          <a:latin typeface="맑은 고딕"/>
                        </a:defRPr>
                      </a:pPr>
                      <a:r>
                        <a:t>CatBoost</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9.3%</a:t>
                      </a:r>
                    </a:p>
                  </a:txBody>
                  <a:tcPr marL="118872" marR="91440" marT="64008" marB="54864" anchor="ctr">
                    <a:solidFill>
                      <a:srgbClr val="FFFFFF"/>
                    </a:solidFill>
                  </a:tcPr>
                </a:tc>
                <a:tc>
                  <a:txBody>
                    <a:bodyPr/>
                    <a:lstStyle/>
                    <a:p>
                      <a:pPr>
                        <a:defRPr sz="1200" b="0">
                          <a:solidFill>
                            <a:srgbClr val="173A49"/>
                          </a:solidFill>
                          <a:latin typeface="맑은 고딕"/>
                        </a:defRPr>
                      </a:pPr>
                      <a:r>
                        <a:t>80.8%</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HistGradientBoosting</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100.0%</a:t>
                      </a:r>
                    </a:p>
                  </a:txBody>
                  <a:tcPr marL="118872" marR="91440" marT="64008" marB="54864" anchor="ctr">
                    <a:solidFill>
                      <a:srgbClr val="E8F3F3"/>
                    </a:solidFill>
                  </a:tcPr>
                </a:tc>
                <a:tc>
                  <a:txBody>
                    <a:bodyPr/>
                    <a:lstStyle/>
                    <a:p>
                      <a:pPr>
                        <a:defRPr sz="1200" b="0">
                          <a:solidFill>
                            <a:srgbClr val="173A49"/>
                          </a:solidFill>
                          <a:latin typeface="맑은 고딕"/>
                        </a:defRPr>
                      </a:pPr>
                      <a:r>
                        <a:t>10.3%</a:t>
                      </a:r>
                    </a:p>
                  </a:txBody>
                  <a:tcPr marL="118872" marR="91440" marT="64008" marB="54864" anchor="ctr">
                    <a:solidFill>
                      <a:srgbClr val="E8F3F3"/>
                    </a:solidFill>
                  </a:tcPr>
                </a:tc>
                <a:tc>
                  <a:txBody>
                    <a:bodyPr/>
                    <a:lstStyle/>
                    <a:p>
                      <a:pPr>
                        <a:defRPr sz="1200" b="0">
                          <a:solidFill>
                            <a:srgbClr val="173A49"/>
                          </a:solidFill>
                          <a:latin typeface="맑은 고딕"/>
                        </a:defRPr>
                      </a:pPr>
                      <a:r>
                        <a:t>79.2%</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LightGBM</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10.7%</a:t>
                      </a:r>
                    </a:p>
                  </a:txBody>
                  <a:tcPr marL="118872" marR="91440" marT="64008" marB="54864" anchor="ctr">
                    <a:solidFill>
                      <a:srgbClr val="FFFFFF"/>
                    </a:solidFill>
                  </a:tcPr>
                </a:tc>
                <a:tc>
                  <a:txBody>
                    <a:bodyPr/>
                    <a:lstStyle/>
                    <a:p>
                      <a:pPr>
                        <a:defRPr sz="1200" b="0">
                          <a:solidFill>
                            <a:srgbClr val="173A49"/>
                          </a:solidFill>
                          <a:latin typeface="맑은 고딕"/>
                        </a:defRPr>
                      </a:pPr>
                      <a:r>
                        <a:t>78.5%</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XGBoost</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100.0%</a:t>
                      </a:r>
                    </a:p>
                  </a:txBody>
                  <a:tcPr marL="118872" marR="91440" marT="64008" marB="54864" anchor="ctr">
                    <a:solidFill>
                      <a:srgbClr val="E8F3F3"/>
                    </a:solidFill>
                  </a:tcPr>
                </a:tc>
                <a:tc>
                  <a:txBody>
                    <a:bodyPr/>
                    <a:lstStyle/>
                    <a:p>
                      <a:pPr>
                        <a:defRPr sz="1200" b="0">
                          <a:solidFill>
                            <a:srgbClr val="173A49"/>
                          </a:solidFill>
                          <a:latin typeface="맑은 고딕"/>
                        </a:defRPr>
                      </a:pPr>
                      <a:r>
                        <a:t>11.2%</a:t>
                      </a:r>
                    </a:p>
                  </a:txBody>
                  <a:tcPr marL="118872" marR="91440" marT="64008" marB="54864" anchor="ctr">
                    <a:solidFill>
                      <a:srgbClr val="E8F3F3"/>
                    </a:solidFill>
                  </a:tcPr>
                </a:tc>
                <a:tc>
                  <a:txBody>
                    <a:bodyPr/>
                    <a:lstStyle/>
                    <a:p>
                      <a:pPr>
                        <a:defRPr sz="1200" b="0">
                          <a:solidFill>
                            <a:srgbClr val="173A49"/>
                          </a:solidFill>
                          <a:latin typeface="맑은 고딕"/>
                        </a:defRPr>
                      </a:pPr>
                      <a:r>
                        <a:t>77.8%</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Random Forest</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13.1%</a:t>
                      </a:r>
                    </a:p>
                  </a:txBody>
                  <a:tcPr marL="118872" marR="91440" marT="64008" marB="54864" anchor="ctr">
                    <a:solidFill>
                      <a:srgbClr val="FFFFFF"/>
                    </a:solidFill>
                  </a:tcPr>
                </a:tc>
                <a:tc>
                  <a:txBody>
                    <a:bodyPr/>
                    <a:lstStyle/>
                    <a:p>
                      <a:pPr>
                        <a:defRPr sz="1200" b="0">
                          <a:solidFill>
                            <a:srgbClr val="173A49"/>
                          </a:solidFill>
                          <a:latin typeface="맑은 고딕"/>
                        </a:defRPr>
                      </a:pPr>
                      <a:r>
                        <a:t>75.0%</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AdaBoost</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97.6%</a:t>
                      </a:r>
                    </a:p>
                  </a:txBody>
                  <a:tcPr marL="118872" marR="91440" marT="64008" marB="54864" anchor="ctr">
                    <a:solidFill>
                      <a:srgbClr val="E8F3F3"/>
                    </a:solidFill>
                  </a:tcPr>
                </a:tc>
                <a:tc>
                  <a:txBody>
                    <a:bodyPr/>
                    <a:lstStyle/>
                    <a:p>
                      <a:pPr>
                        <a:defRPr sz="1200" b="0">
                          <a:solidFill>
                            <a:srgbClr val="173A49"/>
                          </a:solidFill>
                          <a:latin typeface="맑은 고딕"/>
                        </a:defRPr>
                      </a:pPr>
                      <a:r>
                        <a:t>6.1%</a:t>
                      </a:r>
                    </a:p>
                  </a:txBody>
                  <a:tcPr marL="118872" marR="91440" marT="64008" marB="54864" anchor="ctr">
                    <a:solidFill>
                      <a:srgbClr val="E8F3F3"/>
                    </a:solidFill>
                  </a:tcPr>
                </a:tc>
                <a:tc>
                  <a:txBody>
                    <a:bodyPr/>
                    <a:lstStyle/>
                    <a:p>
                      <a:pPr>
                        <a:defRPr sz="1200" b="0">
                          <a:solidFill>
                            <a:srgbClr val="173A49"/>
                          </a:solidFill>
                          <a:latin typeface="맑은 고딕"/>
                        </a:defRPr>
                      </a:pPr>
                      <a:r>
                        <a:t>85.4%</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SVM (RBF)</a:t>
                      </a:r>
                    </a:p>
                  </a:txBody>
                  <a:tcPr marL="118872" marR="91440" marT="64008" marB="54864" anchor="ctr">
                    <a:solidFill>
                      <a:srgbClr val="FFFFFF"/>
                    </a:solidFill>
                  </a:tcPr>
                </a:tc>
                <a:tc>
                  <a:txBody>
                    <a:bodyPr/>
                    <a:lstStyle/>
                    <a:p>
                      <a:pPr>
                        <a:defRPr sz="1200" b="0">
                          <a:solidFill>
                            <a:srgbClr val="173A49"/>
                          </a:solidFill>
                          <a:latin typeface="맑은 고딕"/>
                        </a:defRPr>
                      </a:pPr>
                      <a:r>
                        <a:t>weighted</a:t>
                      </a:r>
                    </a:p>
                  </a:txBody>
                  <a:tcPr marL="118872" marR="91440" marT="64008" marB="54864" anchor="ctr">
                    <a:solidFill>
                      <a:srgbClr val="FFFFFF"/>
                    </a:solidFill>
                  </a:tcPr>
                </a:tc>
                <a:tc>
                  <a:txBody>
                    <a:bodyPr/>
                    <a:lstStyle/>
                    <a:p>
                      <a:pPr>
                        <a:defRPr sz="1200" b="0">
                          <a:solidFill>
                            <a:srgbClr val="173A49"/>
                          </a:solidFill>
                          <a:latin typeface="맑은 고딕"/>
                        </a:defRPr>
                      </a:pPr>
                      <a:r>
                        <a:t>97.6%</a:t>
                      </a:r>
                    </a:p>
                  </a:txBody>
                  <a:tcPr marL="118872" marR="91440" marT="64008" marB="54864" anchor="ctr">
                    <a:solidFill>
                      <a:srgbClr val="FFFFFF"/>
                    </a:solidFill>
                  </a:tcPr>
                </a:tc>
                <a:tc>
                  <a:txBody>
                    <a:bodyPr/>
                    <a:lstStyle/>
                    <a:p>
                      <a:pPr>
                        <a:defRPr sz="1200" b="0">
                          <a:solidFill>
                            <a:srgbClr val="173A49"/>
                          </a:solidFill>
                          <a:latin typeface="맑은 고딕"/>
                        </a:defRPr>
                      </a:pPr>
                      <a:r>
                        <a:t>10.7%</a:t>
                      </a:r>
                    </a:p>
                  </a:txBody>
                  <a:tcPr marL="118872" marR="91440" marT="64008" marB="54864" anchor="ctr">
                    <a:solidFill>
                      <a:srgbClr val="FFFFFF"/>
                    </a:solidFill>
                  </a:tcPr>
                </a:tc>
                <a:tc>
                  <a:txBody>
                    <a:bodyPr/>
                    <a:lstStyle/>
                    <a:p>
                      <a:pPr>
                        <a:defRPr sz="1200" b="0">
                          <a:solidFill>
                            <a:srgbClr val="173A49"/>
                          </a:solidFill>
                          <a:latin typeface="맑은 고딕"/>
                        </a:defRPr>
                      </a:pPr>
                      <a:r>
                        <a:t>77.4%</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Gradient Boosting</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97.6%</a:t>
                      </a:r>
                    </a:p>
                  </a:txBody>
                  <a:tcPr marL="118872" marR="91440" marT="64008" marB="54864" anchor="ctr">
                    <a:solidFill>
                      <a:srgbClr val="E8F3F3"/>
                    </a:solidFill>
                  </a:tcPr>
                </a:tc>
                <a:tc>
                  <a:txBody>
                    <a:bodyPr/>
                    <a:lstStyle/>
                    <a:p>
                      <a:pPr>
                        <a:defRPr sz="1200" b="0">
                          <a:solidFill>
                            <a:srgbClr val="173A49"/>
                          </a:solidFill>
                          <a:latin typeface="맑은 고딕"/>
                        </a:defRPr>
                      </a:pPr>
                      <a:r>
                        <a:t>11.7%</a:t>
                      </a:r>
                    </a:p>
                  </a:txBody>
                  <a:tcPr marL="118872" marR="91440" marT="64008" marB="54864" anchor="ctr">
                    <a:solidFill>
                      <a:srgbClr val="E8F3F3"/>
                    </a:solidFill>
                  </a:tcPr>
                </a:tc>
                <a:tc>
                  <a:txBody>
                    <a:bodyPr/>
                    <a:lstStyle/>
                    <a:p>
                      <a:pPr>
                        <a:defRPr sz="1200" b="0">
                          <a:solidFill>
                            <a:srgbClr val="173A49"/>
                          </a:solidFill>
                          <a:latin typeface="맑은 고딕"/>
                        </a:defRPr>
                      </a:pPr>
                      <a:r>
                        <a:t>75.9%</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MLP / ANN</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97.6%</a:t>
                      </a:r>
                    </a:p>
                  </a:txBody>
                  <a:tcPr marL="118872" marR="91440" marT="64008" marB="54864" anchor="ctr">
                    <a:solidFill>
                      <a:srgbClr val="FFFFFF"/>
                    </a:solidFill>
                  </a:tcPr>
                </a:tc>
                <a:tc>
                  <a:txBody>
                    <a:bodyPr/>
                    <a:lstStyle/>
                    <a:p>
                      <a:pPr>
                        <a:defRPr sz="1200" b="0">
                          <a:solidFill>
                            <a:srgbClr val="173A49"/>
                          </a:solidFill>
                          <a:latin typeface="맑은 고딕"/>
                        </a:defRPr>
                      </a:pPr>
                      <a:r>
                        <a:t>14.5%</a:t>
                      </a:r>
                    </a:p>
                  </a:txBody>
                  <a:tcPr marL="118872" marR="91440" marT="64008" marB="54864" anchor="ctr">
                    <a:solidFill>
                      <a:srgbClr val="FFFFFF"/>
                    </a:solidFill>
                  </a:tcPr>
                </a:tc>
                <a:tc>
                  <a:txBody>
                    <a:bodyPr/>
                    <a:lstStyle/>
                    <a:p>
                      <a:pPr>
                        <a:defRPr sz="1200" b="0">
                          <a:solidFill>
                            <a:srgbClr val="173A49"/>
                          </a:solidFill>
                          <a:latin typeface="맑은 고딕"/>
                        </a:defRPr>
                      </a:pPr>
                      <a:r>
                        <a:t>71.9%</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Decision Tree</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92.9%</a:t>
                      </a:r>
                    </a:p>
                  </a:txBody>
                  <a:tcPr marL="118872" marR="91440" marT="64008" marB="54864" anchor="ctr">
                    <a:solidFill>
                      <a:srgbClr val="E8F3F3"/>
                    </a:solidFill>
                  </a:tcPr>
                </a:tc>
                <a:tc>
                  <a:txBody>
                    <a:bodyPr/>
                    <a:lstStyle/>
                    <a:p>
                      <a:pPr>
                        <a:defRPr sz="1200" b="0">
                          <a:solidFill>
                            <a:srgbClr val="173A49"/>
                          </a:solidFill>
                          <a:latin typeface="맑은 고딕"/>
                        </a:defRPr>
                      </a:pPr>
                      <a:r>
                        <a:t>8.4%</a:t>
                      </a:r>
                    </a:p>
                  </a:txBody>
                  <a:tcPr marL="118872" marR="91440" marT="64008" marB="54864" anchor="ctr">
                    <a:solidFill>
                      <a:srgbClr val="E8F3F3"/>
                    </a:solidFill>
                  </a:tcPr>
                </a:tc>
                <a:tc>
                  <a:txBody>
                    <a:bodyPr/>
                    <a:lstStyle/>
                    <a:p>
                      <a:pPr>
                        <a:defRPr sz="1200" b="0">
                          <a:solidFill>
                            <a:srgbClr val="173A49"/>
                          </a:solidFill>
                          <a:latin typeface="맑은 고딕"/>
                        </a:defRPr>
                      </a:pPr>
                      <a:r>
                        <a:t>78.8%</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KNN</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92.9%</a:t>
                      </a:r>
                    </a:p>
                  </a:txBody>
                  <a:tcPr marL="118872" marR="91440" marT="64008" marB="54864" anchor="ctr">
                    <a:solidFill>
                      <a:srgbClr val="FFFFFF"/>
                    </a:solidFill>
                  </a:tcPr>
                </a:tc>
                <a:tc>
                  <a:txBody>
                    <a:bodyPr/>
                    <a:lstStyle/>
                    <a:p>
                      <a:pPr>
                        <a:defRPr sz="1200" b="0">
                          <a:solidFill>
                            <a:srgbClr val="173A49"/>
                          </a:solidFill>
                          <a:latin typeface="맑은 고딕"/>
                        </a:defRPr>
                      </a:pPr>
                      <a:r>
                        <a:t>11.2%</a:t>
                      </a:r>
                    </a:p>
                  </a:txBody>
                  <a:tcPr marL="118872" marR="91440" marT="64008" marB="54864" anchor="ctr">
                    <a:solidFill>
                      <a:srgbClr val="FFFFFF"/>
                    </a:solidFill>
                  </a:tcPr>
                </a:tc>
                <a:tc>
                  <a:txBody>
                    <a:bodyPr/>
                    <a:lstStyle/>
                    <a:p>
                      <a:pPr>
                        <a:defRPr sz="1200" b="0">
                          <a:solidFill>
                            <a:srgbClr val="173A49"/>
                          </a:solidFill>
                          <a:latin typeface="맑은 고딕"/>
                        </a:defRPr>
                      </a:pPr>
                      <a:r>
                        <a:t>74.3%</a:t>
                      </a:r>
                    </a:p>
                  </a:txBody>
                  <a:tcPr marL="118872" marR="91440" marT="64008" marB="54864" anchor="ctr">
                    <a:solidFill>
                      <a:srgbClr val="FFFFFF"/>
                    </a:solidFill>
                  </a:tcPr>
                </a:tc>
              </a:tr>
              <a:tr h="241967">
                <a:tc>
                  <a:txBody>
                    <a:bodyPr/>
                    <a:lstStyle/>
                    <a:p>
                      <a:pPr>
                        <a:defRPr sz="1200" b="0">
                          <a:solidFill>
                            <a:srgbClr val="173A49"/>
                          </a:solidFill>
                          <a:latin typeface="맑은 고딕"/>
                        </a:defRPr>
                      </a:pPr>
                      <a:r>
                        <a:t>Logistic Regression</a:t>
                      </a:r>
                    </a:p>
                  </a:txBody>
                  <a:tcPr marL="118872" marR="91440" marT="64008" marB="54864" anchor="ctr">
                    <a:solidFill>
                      <a:srgbClr val="E8F3F3"/>
                    </a:solidFill>
                  </a:tcPr>
                </a:tc>
                <a:tc>
                  <a:txBody>
                    <a:bodyPr/>
                    <a:lstStyle/>
                    <a:p>
                      <a:pPr>
                        <a:defRPr sz="1200" b="0">
                          <a:solidFill>
                            <a:srgbClr val="173A49"/>
                          </a:solidFill>
                          <a:latin typeface="맑은 고딕"/>
                        </a:defRPr>
                      </a:pPr>
                      <a:r>
                        <a:t>weighted</a:t>
                      </a:r>
                    </a:p>
                  </a:txBody>
                  <a:tcPr marL="118872" marR="91440" marT="64008" marB="54864" anchor="ctr">
                    <a:solidFill>
                      <a:srgbClr val="E8F3F3"/>
                    </a:solidFill>
                  </a:tcPr>
                </a:tc>
                <a:tc>
                  <a:txBody>
                    <a:bodyPr/>
                    <a:lstStyle/>
                    <a:p>
                      <a:pPr>
                        <a:defRPr sz="1200" b="0">
                          <a:solidFill>
                            <a:srgbClr val="173A49"/>
                          </a:solidFill>
                          <a:latin typeface="맑은 고딕"/>
                        </a:defRPr>
                      </a:pPr>
                      <a:r>
                        <a:t>90.5%</a:t>
                      </a:r>
                    </a:p>
                  </a:txBody>
                  <a:tcPr marL="118872" marR="91440" marT="64008" marB="54864" anchor="ctr">
                    <a:solidFill>
                      <a:srgbClr val="E8F3F3"/>
                    </a:solidFill>
                  </a:tcPr>
                </a:tc>
                <a:tc>
                  <a:txBody>
                    <a:bodyPr/>
                    <a:lstStyle/>
                    <a:p>
                      <a:pPr>
                        <a:defRPr sz="1200" b="0">
                          <a:solidFill>
                            <a:srgbClr val="173A49"/>
                          </a:solidFill>
                          <a:latin typeface="맑은 고딕"/>
                        </a:defRPr>
                      </a:pPr>
                      <a:r>
                        <a:t>18.7%</a:t>
                      </a:r>
                    </a:p>
                  </a:txBody>
                  <a:tcPr marL="118872" marR="91440" marT="64008" marB="54864" anchor="ctr">
                    <a:solidFill>
                      <a:srgbClr val="E8F3F3"/>
                    </a:solidFill>
                  </a:tcPr>
                </a:tc>
                <a:tc>
                  <a:txBody>
                    <a:bodyPr/>
                    <a:lstStyle/>
                    <a:p>
                      <a:pPr>
                        <a:defRPr sz="1200" b="0">
                          <a:solidFill>
                            <a:srgbClr val="173A49"/>
                          </a:solidFill>
                          <a:latin typeface="맑은 고딕"/>
                        </a:defRPr>
                      </a:pPr>
                      <a:r>
                        <a:t>63.3%</a:t>
                      </a:r>
                    </a:p>
                  </a:txBody>
                  <a:tcPr marL="118872" marR="91440" marT="64008" marB="54864" anchor="ctr">
                    <a:solidFill>
                      <a:srgbClr val="E8F3F3"/>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 각 행 안에서만 같은 Test 비교</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데이터를 바꾸면 후보와 결론도 달라집니다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12 / 16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합성 센서·이미지는 실제 공장 데이터가 아닙니다. SECOM은 실제 공개 센서 자료입니다.</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각 데이터의 Test는 서로 다릅니다. 모델의 종합 순위로 해석하지 않습니다.</a:t>
            </a:r>
          </a:p>
        </p:txBody>
      </p:sp>
      <p:graphicFrame>
        <p:nvGraphicFramePr>
          <p:cNvPr id="10" name="Table 9"/>
          <p:cNvGraphicFramePr>
            <a:graphicFrameLocks noGrp="1"/>
          </p:cNvGraphicFramePr>
          <p:nvPr/>
        </p:nvGraphicFramePr>
        <p:xfrm>
          <a:off x="594360" y="2926080"/>
          <a:ext cx="11000232" cy="3145535"/>
        </p:xfrm>
        <a:graphic>
          <a:graphicData uri="http://schemas.openxmlformats.org/drawingml/2006/table">
            <a:tbl>
              <a:tblPr firstRow="1" bandRow="1">
                <a:tableStyleId>{5C22544A-7EE6-4342-B048-85BDC9FD1C3A}</a:tableStyleId>
              </a:tblPr>
              <a:tblGrid>
                <a:gridCol w="2200046"/>
                <a:gridCol w="2200046"/>
                <a:gridCol w="2200046"/>
                <a:gridCol w="2200046"/>
                <a:gridCol w="2200048"/>
              </a:tblGrid>
              <a:tr h="786383">
                <a:tc>
                  <a:txBody>
                    <a:bodyPr/>
                    <a:lstStyle/>
                    <a:p>
                      <a:pPr>
                        <a:defRPr sz="1300" b="1">
                          <a:solidFill>
                            <a:srgbClr val="FFFFFF"/>
                          </a:solidFill>
                          <a:latin typeface="맑은 고딕"/>
                        </a:defRPr>
                      </a:pPr>
                      <a:r>
                        <a:t>데이터</a:t>
                      </a:r>
                    </a:p>
                  </a:txBody>
                  <a:tcPr marL="118872" marR="91440" marT="64008" marB="54864" anchor="ctr">
                    <a:solidFill>
                      <a:srgbClr val="147D82"/>
                    </a:solidFill>
                  </a:tcPr>
                </a:tc>
                <a:tc>
                  <a:txBody>
                    <a:bodyPr/>
                    <a:lstStyle/>
                    <a:p>
                      <a:pPr>
                        <a:defRPr sz="1300" b="1">
                          <a:solidFill>
                            <a:srgbClr val="FFFFFF"/>
                          </a:solidFill>
                          <a:latin typeface="맑은 고딕"/>
                        </a:defRPr>
                      </a:pPr>
                      <a:r>
                        <a:t>기본 / 선택·참고 후보</a:t>
                      </a:r>
                    </a:p>
                  </a:txBody>
                  <a:tcPr marL="118872" marR="91440" marT="64008" marB="54864" anchor="ctr">
                    <a:solidFill>
                      <a:srgbClr val="147D82"/>
                    </a:solidFill>
                  </a:tcPr>
                </a:tc>
                <a:tc>
                  <a:txBody>
                    <a:bodyPr/>
                    <a:lstStyle/>
                    <a:p>
                      <a:pPr>
                        <a:defRPr sz="1300" b="1">
                          <a:solidFill>
                            <a:srgbClr val="FFFFFF"/>
                          </a:solidFill>
                          <a:latin typeface="맑은 고딕"/>
                        </a:defRPr>
                      </a:pPr>
                      <a:r>
                        <a:t>불량 발견</a:t>
                      </a:r>
                    </a:p>
                  </a:txBody>
                  <a:tcPr marL="118872" marR="91440" marT="64008" marB="54864" anchor="ctr">
                    <a:solidFill>
                      <a:srgbClr val="147D82"/>
                    </a:solidFill>
                  </a:tcPr>
                </a:tc>
                <a:tc>
                  <a:txBody>
                    <a:bodyPr/>
                    <a:lstStyle/>
                    <a:p>
                      <a:pPr>
                        <a:defRPr sz="1300" b="1">
                          <a:solidFill>
                            <a:srgbClr val="FFFFFF"/>
                          </a:solidFill>
                          <a:latin typeface="맑은 고딕"/>
                        </a:defRPr>
                      </a:pPr>
                      <a:r>
                        <a:t>정상 오판</a:t>
                      </a:r>
                    </a:p>
                  </a:txBody>
                  <a:tcPr marL="118872" marR="91440" marT="64008" marB="54864" anchor="ctr">
                    <a:solidFill>
                      <a:srgbClr val="147D82"/>
                    </a:solidFill>
                  </a:tcPr>
                </a:tc>
                <a:tc>
                  <a:txBody>
                    <a:bodyPr/>
                    <a:lstStyle/>
                    <a:p>
                      <a:pPr>
                        <a:defRPr sz="1300" b="1">
                          <a:solidFill>
                            <a:srgbClr val="FFFFFF"/>
                          </a:solidFill>
                          <a:latin typeface="맑은 고딕"/>
                        </a:defRPr>
                      </a:pPr>
                      <a:r>
                        <a:t>판단</a:t>
                      </a:r>
                    </a:p>
                  </a:txBody>
                  <a:tcPr marL="118872" marR="91440" marT="64008" marB="54864" anchor="ctr">
                    <a:solidFill>
                      <a:srgbClr val="147D82"/>
                    </a:solidFill>
                  </a:tcPr>
                </a:tc>
              </a:tr>
              <a:tr h="786383">
                <a:tc>
                  <a:txBody>
                    <a:bodyPr/>
                    <a:lstStyle/>
                    <a:p>
                      <a:pPr>
                        <a:defRPr sz="1300" b="0">
                          <a:solidFill>
                            <a:srgbClr val="173A49"/>
                          </a:solidFill>
                          <a:latin typeface="맑은 고딕"/>
                        </a:defRPr>
                      </a:pPr>
                      <a:r>
                        <a:t>합성 센서</a:t>
                      </a:r>
                    </a:p>
                  </a:txBody>
                  <a:tcPr marL="118872" marR="91440" marT="64008" marB="54864" anchor="ctr">
                    <a:solidFill>
                      <a:srgbClr val="FFFFFF"/>
                    </a:solidFill>
                  </a:tcPr>
                </a:tc>
                <a:tc>
                  <a:txBody>
                    <a:bodyPr/>
                    <a:lstStyle/>
                    <a:p>
                      <a:pPr>
                        <a:defRPr sz="1300" b="0">
                          <a:solidFill>
                            <a:srgbClr val="173A49"/>
                          </a:solidFill>
                          <a:latin typeface="맑은 고딕"/>
                        </a:defRPr>
                      </a:pPr>
                      <a:r>
                        <a:t>Logistic / CatBoost</a:t>
                      </a:r>
                    </a:p>
                  </a:txBody>
                  <a:tcPr marL="118872" marR="91440" marT="64008" marB="54864" anchor="ctr">
                    <a:solidFill>
                      <a:srgbClr val="FFFFFF"/>
                    </a:solidFill>
                  </a:tcPr>
                </a:tc>
                <a:tc>
                  <a:txBody>
                    <a:bodyPr/>
                    <a:lstStyle/>
                    <a:p>
                      <a:pPr>
                        <a:defRPr sz="1300" b="0">
                          <a:solidFill>
                            <a:srgbClr val="173A49"/>
                          </a:solidFill>
                          <a:latin typeface="맑은 고딕"/>
                        </a:defRPr>
                      </a:pPr>
                      <a:r>
                        <a:t>20 → 27 / 32</a:t>
                      </a:r>
                    </a:p>
                  </a:txBody>
                  <a:tcPr marL="118872" marR="91440" marT="64008" marB="54864" anchor="ctr">
                    <a:solidFill>
                      <a:srgbClr val="FFFFFF"/>
                    </a:solidFill>
                  </a:tcPr>
                </a:tc>
                <a:tc>
                  <a:txBody>
                    <a:bodyPr/>
                    <a:lstStyle/>
                    <a:p>
                      <a:pPr>
                        <a:defRPr sz="1300" b="0">
                          <a:solidFill>
                            <a:srgbClr val="173A49"/>
                          </a:solidFill>
                          <a:latin typeface="맑은 고딕"/>
                        </a:defRPr>
                      </a:pPr>
                      <a:r>
                        <a:t>1 → 14 / 224</a:t>
                      </a:r>
                    </a:p>
                  </a:txBody>
                  <a:tcPr marL="118872" marR="91440" marT="64008" marB="54864" anchor="ctr">
                    <a:solidFill>
                      <a:srgbClr val="FFFFFF"/>
                    </a:solidFill>
                  </a:tcPr>
                </a:tc>
                <a:tc>
                  <a:txBody>
                    <a:bodyPr/>
                    <a:lstStyle/>
                    <a:p>
                      <a:pPr>
                        <a:defRPr sz="1300" b="0">
                          <a:solidFill>
                            <a:srgbClr val="173A49"/>
                          </a:solidFill>
                          <a:latin typeface="맑은 고딕"/>
                        </a:defRPr>
                      </a:pPr>
                      <a:r>
                        <a:t>추가 실험 필요</a:t>
                      </a:r>
                    </a:p>
                  </a:txBody>
                  <a:tcPr marL="118872" marR="91440" marT="64008" marB="54864" anchor="ctr">
                    <a:solidFill>
                      <a:srgbClr val="FFFFFF"/>
                    </a:solidFill>
                  </a:tcPr>
                </a:tc>
              </a:tr>
              <a:tr h="786383">
                <a:tc>
                  <a:txBody>
                    <a:bodyPr/>
                    <a:lstStyle/>
                    <a:p>
                      <a:pPr>
                        <a:defRPr sz="1300" b="0">
                          <a:solidFill>
                            <a:srgbClr val="173A49"/>
                          </a:solidFill>
                          <a:latin typeface="맑은 고딕"/>
                        </a:defRPr>
                      </a:pPr>
                      <a:r>
                        <a:t>UCI SECOM</a:t>
                      </a:r>
                    </a:p>
                  </a:txBody>
                  <a:tcPr marL="118872" marR="91440" marT="64008" marB="54864" anchor="ctr">
                    <a:solidFill>
                      <a:srgbClr val="E8F3F3"/>
                    </a:solidFill>
                  </a:tcPr>
                </a:tc>
                <a:tc>
                  <a:txBody>
                    <a:bodyPr/>
                    <a:lstStyle/>
                    <a:p>
                      <a:pPr>
                        <a:defRPr sz="1300" b="0">
                          <a:solidFill>
                            <a:srgbClr val="173A49"/>
                          </a:solidFill>
                          <a:latin typeface="맑은 고딕"/>
                        </a:defRPr>
                      </a:pPr>
                      <a:r>
                        <a:t>Logistic / XGBoost</a:t>
                      </a:r>
                    </a:p>
                  </a:txBody>
                  <a:tcPr marL="118872" marR="91440" marT="64008" marB="54864" anchor="ctr">
                    <a:solidFill>
                      <a:srgbClr val="E8F3F3"/>
                    </a:solidFill>
                  </a:tcPr>
                </a:tc>
                <a:tc>
                  <a:txBody>
                    <a:bodyPr/>
                    <a:lstStyle/>
                    <a:p>
                      <a:pPr>
                        <a:defRPr sz="1300" b="0">
                          <a:solidFill>
                            <a:srgbClr val="173A49"/>
                          </a:solidFill>
                          <a:latin typeface="맑은 고딕"/>
                        </a:defRPr>
                      </a:pPr>
                      <a:r>
                        <a:t>0 → 5 / 23</a:t>
                      </a:r>
                    </a:p>
                  </a:txBody>
                  <a:tcPr marL="118872" marR="91440" marT="64008" marB="54864" anchor="ctr">
                    <a:solidFill>
                      <a:srgbClr val="E8F3F3"/>
                    </a:solidFill>
                  </a:tcPr>
                </a:tc>
                <a:tc>
                  <a:txBody>
                    <a:bodyPr/>
                    <a:lstStyle/>
                    <a:p>
                      <a:pPr>
                        <a:defRPr sz="1300" b="0">
                          <a:solidFill>
                            <a:srgbClr val="173A49"/>
                          </a:solidFill>
                          <a:latin typeface="맑은 고딕"/>
                        </a:defRPr>
                      </a:pPr>
                      <a:r>
                        <a:t>17 → 87 / 357</a:t>
                      </a:r>
                    </a:p>
                  </a:txBody>
                  <a:tcPr marL="118872" marR="91440" marT="64008" marB="54864" anchor="ctr">
                    <a:solidFill>
                      <a:srgbClr val="E8F3F3"/>
                    </a:solidFill>
                  </a:tcPr>
                </a:tc>
                <a:tc>
                  <a:txBody>
                    <a:bodyPr/>
                    <a:lstStyle/>
                    <a:p>
                      <a:pPr>
                        <a:defRPr sz="1300" b="0">
                          <a:solidFill>
                            <a:srgbClr val="173A49"/>
                          </a:solidFill>
                          <a:latin typeface="맑은 고딕"/>
                        </a:defRPr>
                      </a:pPr>
                      <a:r>
                        <a:t>목표 충족 후보 없음</a:t>
                      </a:r>
                    </a:p>
                  </a:txBody>
                  <a:tcPr marL="118872" marR="91440" marT="64008" marB="54864" anchor="ctr">
                    <a:solidFill>
                      <a:srgbClr val="E8F3F3"/>
                    </a:solidFill>
                  </a:tcPr>
                </a:tc>
              </a:tr>
              <a:tr h="786386">
                <a:tc>
                  <a:txBody>
                    <a:bodyPr/>
                    <a:lstStyle/>
                    <a:p>
                      <a:pPr>
                        <a:defRPr sz="1300" b="0">
                          <a:solidFill>
                            <a:srgbClr val="173A49"/>
                          </a:solidFill>
                          <a:latin typeface="맑은 고딕"/>
                        </a:defRPr>
                      </a:pPr>
                      <a:r>
                        <a:t>합성 이미지</a:t>
                      </a:r>
                    </a:p>
                  </a:txBody>
                  <a:tcPr marL="118872" marR="91440" marT="64008" marB="54864" anchor="ctr">
                    <a:solidFill>
                      <a:srgbClr val="FFFFFF"/>
                    </a:solidFill>
                  </a:tcPr>
                </a:tc>
                <a:tc>
                  <a:txBody>
                    <a:bodyPr/>
                    <a:lstStyle/>
                    <a:p>
                      <a:pPr>
                        <a:defRPr sz="1300" b="0">
                          <a:solidFill>
                            <a:srgbClr val="173A49"/>
                          </a:solidFill>
                          <a:latin typeface="맑은 고딕"/>
                        </a:defRPr>
                      </a:pPr>
                      <a:r>
                        <a:t>축소 ResNet / Autoencoder</a:t>
                      </a:r>
                    </a:p>
                  </a:txBody>
                  <a:tcPr marL="118872" marR="91440" marT="64008" marB="54864" anchor="ctr">
                    <a:solidFill>
                      <a:srgbClr val="FFFFFF"/>
                    </a:solidFill>
                  </a:tcPr>
                </a:tc>
                <a:tc>
                  <a:txBody>
                    <a:bodyPr/>
                    <a:lstStyle/>
                    <a:p>
                      <a:pPr>
                        <a:defRPr sz="1300" b="0">
                          <a:solidFill>
                            <a:srgbClr val="173A49"/>
                          </a:solidFill>
                          <a:latin typeface="맑은 고딕"/>
                        </a:defRPr>
                      </a:pPr>
                      <a:r>
                        <a:t>15 → 14 / 15</a:t>
                      </a:r>
                    </a:p>
                  </a:txBody>
                  <a:tcPr marL="118872" marR="91440" marT="64008" marB="54864" anchor="ctr">
                    <a:solidFill>
                      <a:srgbClr val="FFFFFF"/>
                    </a:solidFill>
                  </a:tcPr>
                </a:tc>
                <a:tc>
                  <a:txBody>
                    <a:bodyPr/>
                    <a:lstStyle/>
                    <a:p>
                      <a:pPr>
                        <a:defRPr sz="1300" b="0">
                          <a:solidFill>
                            <a:srgbClr val="173A49"/>
                          </a:solidFill>
                          <a:latin typeface="맑은 고딕"/>
                        </a:defRPr>
                      </a:pPr>
                      <a:r>
                        <a:t>32 → 0 / 105</a:t>
                      </a:r>
                    </a:p>
                  </a:txBody>
                  <a:tcPr marL="118872" marR="91440" marT="64008" marB="54864" anchor="ctr">
                    <a:solidFill>
                      <a:srgbClr val="FFFFFF"/>
                    </a:solidFill>
                  </a:tcPr>
                </a:tc>
                <a:tc>
                  <a:txBody>
                    <a:bodyPr/>
                    <a:lstStyle/>
                    <a:p>
                      <a:pPr>
                        <a:defRPr sz="1300" b="0">
                          <a:solidFill>
                            <a:srgbClr val="173A49"/>
                          </a:solidFill>
                          <a:latin typeface="맑은 고딕"/>
                        </a:defRPr>
                      </a:pPr>
                      <a:r>
                        <a:t>불량 표본 보강</a:t>
                      </a:r>
                    </a:p>
                  </a:txBody>
                  <a:tcPr marL="118872" marR="91440" marT="64008" marB="54864"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 검사 목적과 판단 기준</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Recall만 높으면 좋은 모델인가요?</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13 / 16  부록</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Recall: 실제 불량 중 찾아낸 비율 / 정상 오판률: 정상을 불량으로 잘못 본 비율</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전부 불량이라고 판단하면 Recall은 높지만 정상 오판도 커집니다.</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먼저 담당자와 불량 미검출·정상 오판의 허용 범위를 정합니다.</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이번 90%·15%는 교육용 목표이며 회사의 공통 양산 기준이 아닙니다.</a:t>
            </a:r>
          </a:p>
        </p:txBody>
      </p:sp>
      <p:sp>
        <p:nvSpPr>
          <p:cNvPr id="16" name="Rectangle 15"/>
          <p:cNvSpPr/>
          <p:nvPr/>
        </p:nvSpPr>
        <p:spPr>
          <a:xfrm>
            <a:off x="640080" y="508406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08406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Precision·F1도 함께 보고, 작은 불량 표본의 불확실성을 확인합니다.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 데이터 분할과 앙상블</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6:2:2는 사전 고정, 혼합 비율은 별도 실험입니다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14 / 16  부록</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Train: 모델 학습 / Validation: 모델·제품 조합·판정값 선택 / Test: 선택 결과 확인</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합성 센서 768 / 256 / 256 · 후보 A+B+C는 Train 중 544건 학습</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SECOM은 날짜 블록 60/20/20 → 실제 행 수 820 / 367 / 380</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RF·부스팅은 사용 · 서로 다른 모델의 혼합 가중치 탐색은 미구현</a:t>
            </a:r>
          </a:p>
        </p:txBody>
      </p:sp>
      <p:sp>
        <p:nvSpPr>
          <p:cNvPr id="16" name="Rectangle 15"/>
          <p:cNvSpPr/>
          <p:nvPr/>
        </p:nvSpPr>
        <p:spPr>
          <a:xfrm>
            <a:off x="640080" y="508406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08406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확장 시: 사전에 정한 가중치를 Validation으로 고르고 새 Test로 확인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 최종 보고서 기술 대응표</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구현한 기술과 남은 범위를 구분합니다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15 / 16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과제의 기술 목록 전체를 구현했다고 주장하지 않습니다.</a:t>
            </a:r>
          </a:p>
        </p:txBody>
      </p:sp>
      <p:graphicFrame>
        <p:nvGraphicFramePr>
          <p:cNvPr id="9" name="Table 8"/>
          <p:cNvGraphicFramePr>
            <a:graphicFrameLocks noGrp="1"/>
          </p:cNvGraphicFramePr>
          <p:nvPr/>
        </p:nvGraphicFramePr>
        <p:xfrm>
          <a:off x="594360" y="2505456"/>
          <a:ext cx="11000232" cy="3566159"/>
        </p:xfrm>
        <a:graphic>
          <a:graphicData uri="http://schemas.openxmlformats.org/drawingml/2006/table">
            <a:tbl>
              <a:tblPr firstRow="1" bandRow="1">
                <a:tableStyleId>{5C22544A-7EE6-4342-B048-85BDC9FD1C3A}</a:tableStyleId>
              </a:tblPr>
              <a:tblGrid>
                <a:gridCol w="2148840"/>
                <a:gridCol w="4572000"/>
                <a:gridCol w="4279392"/>
              </a:tblGrid>
              <a:tr h="445769">
                <a:tc>
                  <a:txBody>
                    <a:bodyPr/>
                    <a:lstStyle/>
                    <a:p>
                      <a:pPr>
                        <a:defRPr sz="1200" b="1">
                          <a:solidFill>
                            <a:srgbClr val="FFFFFF"/>
                          </a:solidFill>
                          <a:latin typeface="맑은 고딕"/>
                        </a:defRPr>
                      </a:pPr>
                      <a:r>
                        <a:t>요소</a:t>
                      </a:r>
                    </a:p>
                  </a:txBody>
                  <a:tcPr marL="118872" marR="91440" marT="64008" marB="54864" anchor="ctr">
                    <a:solidFill>
                      <a:srgbClr val="147D82"/>
                    </a:solidFill>
                  </a:tcPr>
                </a:tc>
                <a:tc>
                  <a:txBody>
                    <a:bodyPr/>
                    <a:lstStyle/>
                    <a:p>
                      <a:pPr>
                        <a:defRPr sz="1200" b="1">
                          <a:solidFill>
                            <a:srgbClr val="FFFFFF"/>
                          </a:solidFill>
                          <a:latin typeface="맑은 고딕"/>
                        </a:defRPr>
                      </a:pPr>
                      <a:r>
                        <a:t>구현·증빙</a:t>
                      </a:r>
                    </a:p>
                  </a:txBody>
                  <a:tcPr marL="118872" marR="91440" marT="64008" marB="54864" anchor="ctr">
                    <a:solidFill>
                      <a:srgbClr val="147D82"/>
                    </a:solidFill>
                  </a:tcPr>
                </a:tc>
                <a:tc>
                  <a:txBody>
                    <a:bodyPr/>
                    <a:lstStyle/>
                    <a:p>
                      <a:pPr>
                        <a:defRPr sz="1200" b="1">
                          <a:solidFill>
                            <a:srgbClr val="FFFFFF"/>
                          </a:solidFill>
                          <a:latin typeface="맑은 고딕"/>
                        </a:defRPr>
                      </a:pPr>
                      <a:r>
                        <a:t>현재 한계</a:t>
                      </a:r>
                    </a:p>
                  </a:txBody>
                  <a:tcPr marL="118872" marR="91440" marT="64008" marB="54864" anchor="ctr">
                    <a:solidFill>
                      <a:srgbClr val="147D82"/>
                    </a:solidFill>
                  </a:tcPr>
                </a:tc>
              </a:tr>
              <a:tr h="445769">
                <a:tc>
                  <a:txBody>
                    <a:bodyPr/>
                    <a:lstStyle/>
                    <a:p>
                      <a:pPr>
                        <a:defRPr sz="1200" b="0">
                          <a:solidFill>
                            <a:srgbClr val="173A49"/>
                          </a:solidFill>
                          <a:latin typeface="맑은 고딕"/>
                        </a:defRPr>
                      </a:pPr>
                      <a:r>
                        <a:t>Multi-Agent / LangGraph</a:t>
                      </a:r>
                    </a:p>
                  </a:txBody>
                  <a:tcPr marL="118872" marR="91440" marT="64008" marB="54864" anchor="ctr">
                    <a:solidFill>
                      <a:srgbClr val="FFFFFF"/>
                    </a:solidFill>
                  </a:tcPr>
                </a:tc>
                <a:tc>
                  <a:txBody>
                    <a:bodyPr/>
                    <a:lstStyle/>
                    <a:p>
                      <a:pPr>
                        <a:defRPr sz="1200" b="0">
                          <a:solidFill>
                            <a:srgbClr val="173A49"/>
                          </a:solidFill>
                          <a:latin typeface="맑은 고딕"/>
                        </a:defRPr>
                      </a:pPr>
                      <a:r>
                        <a:t>점검·검색·계획·결과 검토 역할</a:t>
                      </a:r>
                    </a:p>
                  </a:txBody>
                  <a:tcPr marL="118872" marR="91440" marT="64008" marB="54864" anchor="ctr">
                    <a:solidFill>
                      <a:srgbClr val="FFFFFF"/>
                    </a:solidFill>
                  </a:tcPr>
                </a:tc>
                <a:tc>
                  <a:txBody>
                    <a:bodyPr/>
                    <a:lstStyle/>
                    <a:p>
                      <a:pPr>
                        <a:defRPr sz="1200" b="0">
                          <a:solidFill>
                            <a:srgbClr val="173A49"/>
                          </a:solidFill>
                          <a:latin typeface="맑은 고딕"/>
                        </a:defRPr>
                      </a:pPr>
                      <a:r>
                        <a:t>고정 그래프 · 자율 Supervisor 미구현</a:t>
                      </a:r>
                    </a:p>
                  </a:txBody>
                  <a:tcPr marL="118872" marR="91440" marT="64008" marB="54864" anchor="ctr">
                    <a:solidFill>
                      <a:srgbClr val="FFFFFF"/>
                    </a:solidFill>
                  </a:tcPr>
                </a:tc>
              </a:tr>
              <a:tr h="445769">
                <a:tc>
                  <a:txBody>
                    <a:bodyPr/>
                    <a:lstStyle/>
                    <a:p>
                      <a:pPr>
                        <a:defRPr sz="1200" b="0">
                          <a:solidFill>
                            <a:srgbClr val="173A49"/>
                          </a:solidFill>
                          <a:latin typeface="맑은 고딕"/>
                        </a:defRPr>
                      </a:pPr>
                      <a:r>
                        <a:t>RAG</a:t>
                      </a:r>
                    </a:p>
                  </a:txBody>
                  <a:tcPr marL="118872" marR="91440" marT="64008" marB="54864" anchor="ctr">
                    <a:solidFill>
                      <a:srgbClr val="E8F3F3"/>
                    </a:solidFill>
                  </a:tcPr>
                </a:tc>
                <a:tc>
                  <a:txBody>
                    <a:bodyPr/>
                    <a:lstStyle/>
                    <a:p>
                      <a:pPr>
                        <a:defRPr sz="1200" b="0">
                          <a:solidFill>
                            <a:srgbClr val="173A49"/>
                          </a:solidFill>
                          <a:latin typeface="맑은 고딕"/>
                        </a:defRPr>
                      </a:pPr>
                      <a:r>
                        <a:t>TF-IDF / 선택적 Qwen 임베딩·cosine</a:t>
                      </a:r>
                    </a:p>
                  </a:txBody>
                  <a:tcPr marL="118872" marR="91440" marT="64008" marB="54864" anchor="ctr">
                    <a:solidFill>
                      <a:srgbClr val="E8F3F3"/>
                    </a:solidFill>
                  </a:tcPr>
                </a:tc>
                <a:tc>
                  <a:txBody>
                    <a:bodyPr/>
                    <a:lstStyle/>
                    <a:p>
                      <a:pPr>
                        <a:defRPr sz="1200" b="0">
                          <a:solidFill>
                            <a:srgbClr val="173A49"/>
                          </a:solidFill>
                          <a:latin typeface="맑은 고딕"/>
                        </a:defRPr>
                      </a:pPr>
                      <a:r>
                        <a:t>별도 Vector DB 미도입 · 14개 소규모 근거</a:t>
                      </a:r>
                    </a:p>
                  </a:txBody>
                  <a:tcPr marL="118872" marR="91440" marT="64008" marB="54864" anchor="ctr">
                    <a:solidFill>
                      <a:srgbClr val="E8F3F3"/>
                    </a:solidFill>
                  </a:tcPr>
                </a:tc>
              </a:tr>
              <a:tr h="445769">
                <a:tc>
                  <a:txBody>
                    <a:bodyPr/>
                    <a:lstStyle/>
                    <a:p>
                      <a:pPr>
                        <a:defRPr sz="1200" b="0">
                          <a:solidFill>
                            <a:srgbClr val="173A49"/>
                          </a:solidFill>
                          <a:latin typeface="맑은 고딕"/>
                        </a:defRPr>
                      </a:pPr>
                      <a:r>
                        <a:t>외부 모델 탐색</a:t>
                      </a:r>
                    </a:p>
                  </a:txBody>
                  <a:tcPr marL="118872" marR="91440" marT="64008" marB="54864" anchor="ctr">
                    <a:solidFill>
                      <a:srgbClr val="FFFFFF"/>
                    </a:solidFill>
                  </a:tcPr>
                </a:tc>
                <a:tc>
                  <a:txBody>
                    <a:bodyPr/>
                    <a:lstStyle/>
                    <a:p>
                      <a:pPr>
                        <a:defRPr sz="1200" b="0">
                          <a:solidFill>
                            <a:srgbClr val="173A49"/>
                          </a:solidFill>
                          <a:latin typeface="맑은 고딕"/>
                        </a:defRPr>
                      </a:pPr>
                      <a:r>
                        <a:t>공식 문서 검색·ExtraTrees/GaussianNB</a:t>
                      </a:r>
                    </a:p>
                  </a:txBody>
                  <a:tcPr marL="118872" marR="91440" marT="64008" marB="54864" anchor="ctr">
                    <a:solidFill>
                      <a:srgbClr val="FFFFFF"/>
                    </a:solidFill>
                  </a:tcPr>
                </a:tc>
                <a:tc>
                  <a:txBody>
                    <a:bodyPr/>
                    <a:lstStyle/>
                    <a:p>
                      <a:pPr>
                        <a:defRPr sz="1200" b="0">
                          <a:solidFill>
                            <a:srgbClr val="173A49"/>
                          </a:solidFill>
                          <a:latin typeface="맑은 고딕"/>
                        </a:defRPr>
                      </a:pPr>
                      <a:r>
                        <a:t>검토된 두 adapter만 지원</a:t>
                      </a:r>
                    </a:p>
                  </a:txBody>
                  <a:tcPr marL="118872" marR="91440" marT="64008" marB="54864" anchor="ctr">
                    <a:solidFill>
                      <a:srgbClr val="FFFFFF"/>
                    </a:solidFill>
                  </a:tcPr>
                </a:tc>
              </a:tr>
              <a:tr h="445769">
                <a:tc>
                  <a:txBody>
                    <a:bodyPr/>
                    <a:lstStyle/>
                    <a:p>
                      <a:pPr>
                        <a:defRPr sz="1200" b="0">
                          <a:solidFill>
                            <a:srgbClr val="173A49"/>
                          </a:solidFill>
                          <a:latin typeface="맑은 고딕"/>
                        </a:defRPr>
                      </a:pPr>
                      <a:r>
                        <a:t>MCP</a:t>
                      </a:r>
                    </a:p>
                  </a:txBody>
                  <a:tcPr marL="118872" marR="91440" marT="64008" marB="54864" anchor="ctr">
                    <a:solidFill>
                      <a:srgbClr val="E8F3F3"/>
                    </a:solidFill>
                  </a:tcPr>
                </a:tc>
                <a:tc>
                  <a:txBody>
                    <a:bodyPr/>
                    <a:lstStyle/>
                    <a:p>
                      <a:pPr>
                        <a:defRPr sz="1200" b="0">
                          <a:solidFill>
                            <a:srgbClr val="173A49"/>
                          </a:solidFill>
                          <a:latin typeface="맑은 고딕"/>
                        </a:defRPr>
                      </a:pPr>
                      <a:r>
                        <a:t>stdio 4도구 + 지식 Resource</a:t>
                      </a:r>
                    </a:p>
                  </a:txBody>
                  <a:tcPr marL="118872" marR="91440" marT="64008" marB="54864" anchor="ctr">
                    <a:solidFill>
                      <a:srgbClr val="E8F3F3"/>
                    </a:solidFill>
                  </a:tcPr>
                </a:tc>
                <a:tc>
                  <a:txBody>
                    <a:bodyPr/>
                    <a:lstStyle/>
                    <a:p>
                      <a:pPr>
                        <a:defRPr sz="1200" b="0">
                          <a:solidFill>
                            <a:srgbClr val="173A49"/>
                          </a:solidFill>
                          <a:latin typeface="맑은 고딕"/>
                        </a:defRPr>
                      </a:pPr>
                      <a:r>
                        <a:t>승인·학습 실행은 API에서만</a:t>
                      </a:r>
                    </a:p>
                  </a:txBody>
                  <a:tcPr marL="118872" marR="91440" marT="64008" marB="54864" anchor="ctr">
                    <a:solidFill>
                      <a:srgbClr val="E8F3F3"/>
                    </a:solidFill>
                  </a:tcPr>
                </a:tc>
              </a:tr>
              <a:tr h="445769">
                <a:tc>
                  <a:txBody>
                    <a:bodyPr/>
                    <a:lstStyle/>
                    <a:p>
                      <a:pPr>
                        <a:defRPr sz="1200" b="0">
                          <a:solidFill>
                            <a:srgbClr val="173A49"/>
                          </a:solidFill>
                          <a:latin typeface="맑은 고딕"/>
                        </a:defRPr>
                      </a:pPr>
                      <a:r>
                        <a:t>코드 품질</a:t>
                      </a:r>
                    </a:p>
                  </a:txBody>
                  <a:tcPr marL="118872" marR="91440" marT="64008" marB="54864" anchor="ctr">
                    <a:solidFill>
                      <a:srgbClr val="FFFFFF"/>
                    </a:solidFill>
                  </a:tcPr>
                </a:tc>
                <a:tc>
                  <a:txBody>
                    <a:bodyPr/>
                    <a:lstStyle/>
                    <a:p>
                      <a:pPr>
                        <a:defRPr sz="1200" b="0">
                          <a:solidFill>
                            <a:srgbClr val="173A49"/>
                          </a:solidFill>
                          <a:latin typeface="맑은 고딕"/>
                        </a:defRPr>
                      </a:pPr>
                      <a:r>
                        <a:t>모듈화·DI·단위/API 테스트</a:t>
                      </a:r>
                    </a:p>
                  </a:txBody>
                  <a:tcPr marL="118872" marR="91440" marT="64008" marB="54864" anchor="ctr">
                    <a:solidFill>
                      <a:srgbClr val="FFFFFF"/>
                    </a:solidFill>
                  </a:tcPr>
                </a:tc>
                <a:tc>
                  <a:txBody>
                    <a:bodyPr/>
                    <a:lstStyle/>
                    <a:p>
                      <a:pPr>
                        <a:defRPr sz="1200" b="0">
                          <a:solidFill>
                            <a:srgbClr val="173A49"/>
                          </a:solidFill>
                          <a:latin typeface="맑은 고딕"/>
                        </a:defRPr>
                      </a:pPr>
                      <a:r>
                        <a:t>배포·동시 다중 사용자 미검증</a:t>
                      </a:r>
                    </a:p>
                  </a:txBody>
                  <a:tcPr marL="118872" marR="91440" marT="64008" marB="54864" anchor="ctr">
                    <a:solidFill>
                      <a:srgbClr val="FFFFFF"/>
                    </a:solidFill>
                  </a:tcPr>
                </a:tc>
              </a:tr>
              <a:tr h="445769">
                <a:tc>
                  <a:txBody>
                    <a:bodyPr/>
                    <a:lstStyle/>
                    <a:p>
                      <a:pPr>
                        <a:defRPr sz="1200" b="0">
                          <a:solidFill>
                            <a:srgbClr val="173A49"/>
                          </a:solidFill>
                          <a:latin typeface="맑은 고딕"/>
                        </a:defRPr>
                      </a:pPr>
                      <a:r>
                        <a:t>LangSmith</a:t>
                      </a:r>
                    </a:p>
                  </a:txBody>
                  <a:tcPr marL="118872" marR="91440" marT="64008" marB="54864" anchor="ctr">
                    <a:solidFill>
                      <a:srgbClr val="E8F3F3"/>
                    </a:solidFill>
                  </a:tcPr>
                </a:tc>
                <a:tc>
                  <a:txBody>
                    <a:bodyPr/>
                    <a:lstStyle/>
                    <a:p>
                      <a:pPr>
                        <a:defRPr sz="1200" b="0">
                          <a:solidFill>
                            <a:srgbClr val="173A49"/>
                          </a:solidFill>
                          <a:latin typeface="맑은 고딕"/>
                        </a:defRPr>
                      </a:pPr>
                      <a:r>
                        <a:t>실제 root/child trace API 재조회</a:t>
                      </a:r>
                    </a:p>
                  </a:txBody>
                  <a:tcPr marL="118872" marR="91440" marT="64008" marB="54864" anchor="ctr">
                    <a:solidFill>
                      <a:srgbClr val="E8F3F3"/>
                    </a:solidFill>
                  </a:tcPr>
                </a:tc>
                <a:tc>
                  <a:txBody>
                    <a:bodyPr/>
                    <a:lstStyle/>
                    <a:p>
                      <a:pPr>
                        <a:defRPr sz="1200" b="0">
                          <a:solidFill>
                            <a:srgbClr val="173A49"/>
                          </a:solidFill>
                          <a:latin typeface="맑은 고딕"/>
                        </a:defRPr>
                      </a:pPr>
                      <a:r>
                        <a:t>LLM 응답 성공과 별도</a:t>
                      </a:r>
                    </a:p>
                  </a:txBody>
                  <a:tcPr marL="118872" marR="91440" marT="64008" marB="54864" anchor="ctr">
                    <a:solidFill>
                      <a:srgbClr val="E8F3F3"/>
                    </a:solidFill>
                  </a:tcPr>
                </a:tc>
              </a:tr>
              <a:tr h="445776">
                <a:tc>
                  <a:txBody>
                    <a:bodyPr/>
                    <a:lstStyle/>
                    <a:p>
                      <a:pPr>
                        <a:defRPr sz="1200" b="0">
                          <a:solidFill>
                            <a:srgbClr val="173A49"/>
                          </a:solidFill>
                          <a:latin typeface="맑은 고딕"/>
                        </a:defRPr>
                      </a:pPr>
                      <a:r>
                        <a:t>LLM-as-a-Judge</a:t>
                      </a:r>
                    </a:p>
                  </a:txBody>
                  <a:tcPr marL="118872" marR="91440" marT="64008" marB="54864" anchor="ctr">
                    <a:solidFill>
                      <a:srgbClr val="FFFFFF"/>
                    </a:solidFill>
                  </a:tcPr>
                </a:tc>
                <a:tc>
                  <a:txBody>
                    <a:bodyPr/>
                    <a:lstStyle/>
                    <a:p>
                      <a:pPr>
                        <a:defRPr sz="1200" b="0">
                          <a:solidFill>
                            <a:srgbClr val="173A49"/>
                          </a:solidFill>
                          <a:latin typeface="맑은 고딕"/>
                        </a:defRPr>
                      </a:pPr>
                      <a:r>
                        <a:t>로컬 Qwen으로 설명과 실제 결과 비교</a:t>
                      </a:r>
                    </a:p>
                  </a:txBody>
                  <a:tcPr marL="118872" marR="91440" marT="64008" marB="54864" anchor="ctr">
                    <a:solidFill>
                      <a:srgbClr val="FFFFFF"/>
                    </a:solidFill>
                  </a:tcPr>
                </a:tc>
                <a:tc>
                  <a:txBody>
                    <a:bodyPr/>
                    <a:lstStyle/>
                    <a:p>
                      <a:pPr>
                        <a:defRPr sz="1200" b="0">
                          <a:solidFill>
                            <a:srgbClr val="173A49"/>
                          </a:solidFill>
                          <a:latin typeface="맑은 고딕"/>
                        </a:defRPr>
                      </a:pPr>
                      <a:r>
                        <a:t>자체 예제 6/8개에서 사전 라벨과 일치 · 독립 평가 아님</a:t>
                      </a:r>
                    </a:p>
                  </a:txBody>
                  <a:tcPr marL="118872" marR="91440" marT="64008" marB="54864"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 질문 대비와 제출 링크</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출처와 재현 자료</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16 / 16  부록</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모델 참고: 스칼라 9주차 수업 + 15주차 반도체 발표자료</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SECOM: McCann &amp; Johnston (2008), UCI · DOI 10.24432/C54305 · CC BY 4.0</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측정 원본: docs/evaluation/ · 고정 seed 45 · 기존 Mac 결과와 Windows 검증 구분</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소스·최종 보고서: github.com/dragonchan95/Semiconductor-AI-Agent</a:t>
            </a:r>
          </a:p>
        </p:txBody>
      </p:sp>
      <p:sp>
        <p:nvSpPr>
          <p:cNvPr id="16" name="Rectangle 15"/>
          <p:cNvSpPr/>
          <p:nvPr/>
        </p:nvSpPr>
        <p:spPr>
          <a:xfrm>
            <a:off x="640080" y="508406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08406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기존 Google Slides 주소는 README에 보존 · 온라인 갱신 여부는 별도 확인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반도체 검사 모델 실험 도우미</dc:title>
  <dc:subject/>
  <dc:creator>SKALA 광주 2반 · G045 김용찬</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