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7568183" cy="1070457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1/8</a:t>
            </a:r>
          </a:p>
          <a:p/>
          <a:p>
            <a:r>
              <a:t>상세 제출용 최종 보고서</a:t>
            </a:r>
          </a:p>
          <a:p>
            <a:r>
              <a:t>5분 발표는 별도의 발표 PPTX·PDF 본문1~10장을 사용합니다. 프로젝트와 실험 결과는 같습니다.</a:t>
            </a:r>
          </a:p>
          <a:p>
            <a:r>
              <a:t>반도체 검사 모델 실험 도우미 — 최종 보고서</a:t>
            </a:r>
          </a:p>
          <a:p>
            <a:r>
              <a:t>1. 표지 및 소속 정보</a:t>
            </a:r>
          </a:p>
          <a:p>
            <a:r>
              <a:t>SKALA 광주 2반 · G045 김용찬 · AI Agent 신규 구현 과제2 · 2026-10-22</a:t>
            </a:r>
          </a:p>
          <a:p>
            <a:r>
              <a:t>검사 데이터를 점검하고, 학습할 제품 묶음과 모델 예측의 혼합 비율을 비교한 뒤 선택 이유와 검증 결과를 보여 주는</a:t>
            </a:r>
          </a:p>
          <a:p>
            <a:r>
              <a:t>Agent입니다.</a:t>
            </a:r>
          </a:p>
          <a:p>
            <a:r>
              <a:t>소스 코드 · 발표 PPTX · 발표 PDF · 5분 대본</a:t>
            </a:r>
          </a:p>
          <a:p>
            <a:r>
              <a:t>이 문서는 최신 공개 보고서입니다. 기존 Google Slides 원본은 최신 PPTX 반영이 아직 필요합니다. 공개 접근 확인</a:t>
            </a:r>
          </a:p>
          <a:p>
            <a:r>
              <a:t>기록을 별도로 보관합니다. 발표는 본문1~10장, 11~14장은 질문용 부록입니다.</a:t>
            </a:r>
          </a:p>
          <a:p>
            <a:r>
              <a:t>2. 문제 개선 및 신규 구현 사항</a:t>
            </a:r>
          </a:p>
          <a:p>
            <a:r>
              <a:t>해결할 문제</a:t>
            </a:r>
          </a:p>
          <a:p>
            <a:r>
              <a:t>이 신규 구현 프로젝트에서 설정한 기존 업무 방식은 엔지니어가 검사 데이터의 학습 제품 범위·모델·혼합 비율을 직</a:t>
            </a:r>
          </a:p>
          <a:p>
            <a:r>
              <a:t>접 비교하고, 선택 근거와 결과를 정리해야 하는 상황입니다. 비교 계획·승인·실행·기록을 연결해 그 선택을 돕는 것을</a:t>
            </a:r>
          </a:p>
          <a:p>
            <a:r>
              <a:t>해결 과제로 정했습니다. 특정 회사의 기존 시스템을 조사하거나 업무시간·기존 성능을 실측한 프로젝트는 아닙니다.</a:t>
            </a:r>
          </a:p>
          <a:p>
            <a:r>
              <a:t>개선 대상</a:t>
            </a:r>
          </a:p>
          <a:p>
            <a:r>
              <a:t>신규 구현</a:t>
            </a:r>
          </a:p>
          <a:p>
            <a:r>
              <a:t>확인 방법</a:t>
            </a:r>
          </a:p>
          <a:p>
            <a:r>
              <a:t>반복적인 데이터·전처리 확인</a:t>
            </a:r>
          </a:p>
          <a:p>
            <a:r>
              <a:t>결측·불균형·생산 묶음 점검과 근거 제시</a:t>
            </a:r>
          </a:p>
          <a:p>
            <a:r>
              <a:t>데이터·계획 화면</a:t>
            </a:r>
          </a:p>
          <a:p>
            <a:r>
              <a:t>학습할 제품 범위 선택</a:t>
            </a:r>
          </a:p>
          <a:p>
            <a:r>
              <a:t>ABCD 하나, ABC와D, AB와CD, 각각4개 등15</a:t>
            </a:r>
          </a:p>
          <a:p>
            <a:r>
              <a:t>개 그룹 구성 비교</a:t>
            </a:r>
          </a:p>
          <a:p>
            <a:r>
              <a:t>같은 Validation의 구성별·제품별 점수</a:t>
            </a:r>
          </a:p>
          <a:p>
            <a:r>
              <a:t>모델 예측을 섞을 비율 선택</a:t>
            </a:r>
          </a:p>
          <a:p>
            <a:r>
              <a:t>단일·균등·5% 간격을 포함한232개 비율 비교</a:t>
            </a:r>
          </a:p>
          <a:p>
            <a:r>
              <a:t>비율별 Recall·F1·정상 오판률과 CSV</a:t>
            </a:r>
          </a:p>
          <a:p>
            <a:r>
              <a:t>근거 없이 학습·선택</a:t>
            </a:r>
          </a:p>
          <a:p>
            <a:r>
              <a:t>계획·데이터 hash를 확인한 단회 승인 후 실</a:t>
            </a:r>
          </a:p>
          <a:p>
            <a:r>
              <a:t>행</a:t>
            </a:r>
          </a:p>
          <a:p>
            <a:r>
              <a:t>미승인·중복 승인 차단</a:t>
            </a:r>
          </a:p>
          <a:p>
            <a:r>
              <a:t>높은 점수만 보고 적용</a:t>
            </a:r>
          </a:p>
          <a:p>
            <a:r>
              <a:t>선택 후 Test 확인 및 목표 미달·표본 부족 시</a:t>
            </a:r>
          </a:p>
          <a:p>
            <a:r>
              <a:t>보류</a:t>
            </a:r>
          </a:p>
          <a:p>
            <a:r>
              <a:t>그룹 실험의 실제 보류 결과</a:t>
            </a:r>
          </a:p>
          <a:p>
            <a:r>
              <a:t>비교 후보를 추가하기 위한 문서 탐색</a:t>
            </a:r>
          </a:p>
          <a:p>
            <a:r>
              <a:t>공식 문서 검색과 근거 연결 RAG</a:t>
            </a:r>
          </a:p>
          <a:p>
            <a:r>
              <a:t>ExtraTrees·GaussianNB 후보·출처 화면</a:t>
            </a:r>
          </a:p>
          <a:p>
            <a:r>
              <a:t>모델·제품 그룹·앙상블 비율을 한 번에 공동 전역 최적화했다고 주장하지 않습니다. 알고리즘을 고정한 제품 그룹 실</a:t>
            </a:r>
          </a:p>
          <a:p>
            <a:r>
              <a:t>험과 학습 제품ABCD를 고정한 앙상블 실험을 각각 수행했습니다.</a:t>
            </a:r>
          </a:p>
          <a:p>
            <a:r>
              <a:t>SKALA G045 · Final Report · 1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2/8</a:t>
            </a:r>
          </a:p>
          <a:p/>
          <a:p>
            <a:r>
              <a:t>3. 적용 기술 요소</a:t>
            </a:r>
          </a:p>
          <a:p>
            <a:r>
              <a:t>요소</a:t>
            </a:r>
          </a:p>
          <a:p>
            <a:r>
              <a:t>실제 구현·증빙</a:t>
            </a:r>
          </a:p>
          <a:p>
            <a:r>
              <a:t>현재 범위</a:t>
            </a:r>
          </a:p>
          <a:p>
            <a:r>
              <a:t>Multi-Agent &amp; LangGraph</a:t>
            </a:r>
          </a:p>
          <a:p>
            <a:r>
              <a:t>planner.py: 점검·검색·계획 역할. advisors.py:</a:t>
            </a:r>
          </a:p>
          <a:p>
            <a:r>
              <a:t>로컬 Qwen 역할별 응답·근거 코드 검사. 결과</a:t>
            </a:r>
          </a:p>
          <a:p>
            <a:r>
              <a:t>검토는 실행 후 호출</a:t>
            </a:r>
          </a:p>
          <a:p>
            <a:r>
              <a:t>고정 역할 그래프. 자율 Supervisor·동적 재계</a:t>
            </a:r>
          </a:p>
          <a:p>
            <a:r>
              <a:t>획은 미구현</a:t>
            </a:r>
          </a:p>
          <a:p>
            <a:r>
              <a:t>MCP</a:t>
            </a:r>
          </a:p>
          <a:p>
            <a:r>
              <a:t>mcp_server.py: list_datasets,</a:t>
            </a:r>
          </a:p>
          <a:p>
            <a:r>
              <a:t>propose_experiment, get_experiment_result,</a:t>
            </a:r>
          </a:p>
          <a:p>
            <a:r>
              <a:t>explain_model_candidates와</a:t>
            </a:r>
          </a:p>
          <a:p>
            <a:r>
              <a:t>semiconductor://knowledge/{topic}</a:t>
            </a:r>
          </a:p>
          <a:p>
            <a:r>
              <a:t>Resource</a:t>
            </a:r>
          </a:p>
          <a:p>
            <a:r>
              <a:t>stdio4도구와 Resource 구현. 별도 MCP</a:t>
            </a:r>
          </a:p>
          <a:p>
            <a:r>
              <a:t>Prompt는 미사용. 승인·학습 실행은 API에서</a:t>
            </a:r>
          </a:p>
          <a:p>
            <a:r>
              <a:t>처리</a:t>
            </a:r>
          </a:p>
          <a:p>
            <a:r>
              <a:t>RAG</a:t>
            </a:r>
          </a:p>
          <a:p>
            <a:r>
              <a:t>5주차 BGE-M3·FAISS 실습 응용. 내부 교육 근</a:t>
            </a:r>
          </a:p>
          <a:p>
            <a:r>
              <a:t>거14개와 공식 모델 문서의 의미 임베딩·검색·</a:t>
            </a:r>
          </a:p>
          <a:p>
            <a:r>
              <a:t>로컬 Qwen 문맥 주입. retrieval.py, 실제 검증</a:t>
            </a:r>
          </a:p>
          <a:p>
            <a:r>
              <a:t>FAISS IndexFlatIP와 출처 JSON을 로컬 저장.</a:t>
            </a:r>
          </a:p>
          <a:p>
            <a:r>
              <a:t>별도 서버형 Vector DB는 아님. 실패 시TF-</a:t>
            </a:r>
          </a:p>
          <a:p>
            <a:r>
              <a:t>IDF 대체 상태 표시</a:t>
            </a:r>
          </a:p>
          <a:p>
            <a:r>
              <a:t>아키텍처·코드 품질</a:t>
            </a:r>
          </a:p>
          <a:p>
            <a:r>
              <a:t>데이터·학습·그룹·앙상블·저장·API 모듈 분리.</a:t>
            </a:r>
          </a:p>
          <a:p>
            <a:r>
              <a:t>Workbench와 Dependencies에</a:t>
            </a:r>
          </a:p>
          <a:p>
            <a:r>
              <a:t>Store·Knowledge·Advisor 주입</a:t>
            </a:r>
          </a:p>
          <a:p>
            <a:r>
              <a:t>단위/API 테스트 51개 통과. 승인·분할·지표·저</a:t>
            </a:r>
          </a:p>
          <a:p>
            <a:r>
              <a:t>장 모델 재현·라우팅 검증 포함</a:t>
            </a:r>
          </a:p>
          <a:p>
            <a:r>
              <a:t>LangSmith</a:t>
            </a:r>
          </a:p>
          <a:p>
            <a:r>
              <a:t>실행 기록: 실제 계획 생성과 하위 실행을</a:t>
            </a:r>
          </a:p>
          <a:p>
            <a:r>
              <a:t>APAC에 전송하고 API 재조회</a:t>
            </a:r>
          </a:p>
          <a:p>
            <a:r>
              <a:t>공개·합성 자료로 검증. 로컬 추론과 외부 추</a:t>
            </a:r>
          </a:p>
          <a:p>
            <a:r>
              <a:t>적은 별개이며 모든 후속 실험을 추적했다고</a:t>
            </a:r>
          </a:p>
          <a:p>
            <a:r>
              <a:t>주장하지 않음</a:t>
            </a:r>
          </a:p>
          <a:p>
            <a:r>
              <a:t>LLM-as-a-Judge</a:t>
            </a:r>
          </a:p>
          <a:p>
            <a:r>
              <a:t>judge.py: 실제 실험 기록과 설명 문장을 로컬</a:t>
            </a:r>
          </a:p>
          <a:p>
            <a:r>
              <a:t>Qwen에 주어 맞는 설명인지 검사</a:t>
            </a:r>
          </a:p>
          <a:p>
            <a:r>
              <a:t>직접 만든 예제 8개 중 6개 올바른 판단, 2개</a:t>
            </a:r>
          </a:p>
          <a:p>
            <a:r>
              <a:t>오판. 보완에 사용한 개발 예제이며 독립 평가</a:t>
            </a:r>
          </a:p>
          <a:p>
            <a:r>
              <a:t>아님</a:t>
            </a:r>
          </a:p>
          <a:p>
            <a:r>
              <a:t>기타 적용</a:t>
            </a:r>
          </a:p>
          <a:p>
            <a:r>
              <a:t>실제 분류 모델·제품별 라우팅·확률 혼합·계획</a:t>
            </a:r>
          </a:p>
          <a:p>
            <a:r>
              <a:t>hash·lot/날짜 분할·실험 CSV·로컬 Qwen2.5</a:t>
            </a:r>
          </a:p>
          <a:p>
            <a:r>
              <a:t>회사 공통 기준·양산 수율 효과·자동 배포는</a:t>
            </a:r>
          </a:p>
          <a:p>
            <a:r>
              <a:t>검증하지 않음</a:t>
            </a:r>
          </a:p>
          <a:p>
            <a:r>
              <a:t>벡터 검색은 수업과 같은 BGE-M3·FAISS 구조로 구현했습니다. 다중 사용자 서버형 Vector DB나 자율 Supervisor까지</a:t>
            </a:r>
          </a:p>
          <a:p>
            <a:r>
              <a:t>구현한 것은 아닙니다. 적용 기술의 실제 범위를 위 표와 같이 구분합니다. 전체 과제 대응표, 평가 방법, RAG 상세</a:t>
            </a:r>
          </a:p>
          <a:p>
            <a:r>
              <a:t>SKALA G045 · Final Report · 2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3/8</a:t>
            </a:r>
          </a:p>
          <a:p/>
          <a:p>
            <a:r>
              <a:t>4. 구현 결과</a:t>
            </a:r>
          </a:p>
          <a:p>
            <a:r>
              <a:t>아키텍처 흐름도</a:t>
            </a:r>
          </a:p>
          <a:p>
            <a:r>
              <a:t>검사 데이터 선택 → 데이터 점검</a:t>
            </a:r>
          </a:p>
          <a:p>
            <a:r>
              <a:t>↓</a:t>
            </a:r>
          </a:p>
          <a:p>
            <a:r>
              <a:t>RAG: BGE-M3 임베딩 → FAISS 근거 검색 → 로컬 Qwen 설명</a:t>
            </a:r>
          </a:p>
          <a:p>
            <a:r>
              <a:t>↓</a:t>
            </a:r>
          </a:p>
          <a:p>
            <a:r>
              <a:t>실험 계획 확인 → 엔지니어 승인 → Train 학습·Validation 비교</a:t>
            </a:r>
          </a:p>
          <a:p>
            <a:r>
              <a:t>↓</a:t>
            </a:r>
          </a:p>
          <a:p>
            <a:r>
              <a:t>실험1: 알고리즘 고정</a:t>
            </a:r>
          </a:p>
          <a:p>
            <a:r>
              <a:t>제품 담당 그룹15개 비교</a:t>
            </a:r>
          </a:p>
          <a:p>
            <a:r>
              <a:t>실험2: 학습 제품ABCD 고정</a:t>
            </a:r>
          </a:p>
          <a:p>
            <a:r>
              <a:t>예측 혼합 비율232개 비교</a:t>
            </a:r>
          </a:p>
          <a:p>
            <a:r>
              <a:t>↓</a:t>
            </a:r>
          </a:p>
          <a:p>
            <a:r>
              <a:t>Validation에서 선택 고정 → 같은 Test 확인 → 결과·실패·보류 기록</a:t>
            </a:r>
          </a:p>
          <a:p>
            <a:r>
              <a:t>MCP: 조회·계획 도구 / Resource · LangSmith: 실행 추적 · LLM 설명 검사 + 코드 수치·승인 검사</a:t>
            </a:r>
          </a:p>
          <a:p>
            <a:r>
              <a:t>승인은 저장된 계획 hash·데이터 버전과 단회 실행 상태로 확인합니다. LangGraph interrupt를 사용한 구현은 아닙니</a:t>
            </a:r>
          </a:p>
          <a:p>
            <a:r>
              <a:t>다. 제품 그룹 실험과 비율 실험은 별도 승인된 비교이며 자동 운영 모델 교체는 수행하지 않습니다.</a:t>
            </a:r>
          </a:p>
          <a:p>
            <a:r>
              <a:t>시연 시나리오와 화면</a:t>
            </a:r>
          </a:p>
          <a:p>
            <a:r>
              <a:t>제품 A–D 합성 센서1,280건(불량201건)을 선택합니다. 생산 묶음을 섞지 않고 Train768 / Validation256 / Test256으</a:t>
            </a:r>
          </a:p>
          <a:p>
            <a:r>
              <a:t>로 나눕니다. 원본 행·라벨·분할을 고정한 뒤 두 실험을 각각 진행합니다.</a:t>
            </a:r>
          </a:p>
          <a:p>
            <a:r>
              <a:t>1. 데이터를 선택하고 점검·근거·비교 계획을 확인합니다.</a:t>
            </a:r>
          </a:p>
          <a:p>
            <a:r>
              <a:t>2. 계획을 승인해 실제 학습합니다. 후속 그룹·비율 계획도 별도로 승인합니다.</a:t>
            </a:r>
          </a:p>
          <a:p>
            <a:r>
              <a:t>3. Validation에서 선택한 구성·비율·판정 기준을 고정합니다.</a:t>
            </a:r>
          </a:p>
          <a:p>
            <a:r>
              <a:t>4. Test에서 목표와 표본을 확인하고, 실패하면 적용 보류를 표시합니다.</a:t>
            </a:r>
          </a:p>
          <a:p>
            <a:r>
              <a:t>5. 전체 후보 점수와 선택 근거를 JSON·CSV로 확인합니다.</a:t>
            </a:r>
          </a:p>
          <a:p>
            <a:r>
              <a:t>SKALA G045 · Final Report · 3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4/8</a:t>
            </a:r>
          </a:p>
          <a:p/>
          <a:p>
            <a:r>
              <a:t>실험1: 어떤 제품을 함께 학습할까요?</a:t>
            </a:r>
          </a:p>
          <a:p>
            <a:r>
              <a:t>CatBoost 알고리즘과 설정을 고정해15개 담당 그룹 구성을 모두 비교합니다. 비어 있지 않은 학습 묶음15개를 한 번</a:t>
            </a:r>
          </a:p>
          <a:p>
            <a:r>
              <a:t>씩 적합해 재사용합니다. 각 구성은 전체 제품을 중복·누락 없이 담당하며 같은 Validation 행에서 비교합니다. 제품별</a:t>
            </a:r>
          </a:p>
          <a:p>
            <a:r>
              <a:t>정상 오판 한도와 검출 목표를 확인한 뒤 전체 Recall·F1, 동률이면 모델 수를 고려합니다.</a:t>
            </a:r>
          </a:p>
          <a:p>
            <a:r>
              <a:t>SKALA G045 · Final Report · 4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5/8</a:t>
            </a:r>
          </a:p>
          <a:p/>
          <a:p>
            <a:r>
              <a:t>구성</a:t>
            </a:r>
          </a:p>
          <a:p>
            <a:r>
              <a:t>모델 수</a:t>
            </a:r>
          </a:p>
          <a:p>
            <a:r>
              <a:t>Validation Recall</a:t>
            </a:r>
          </a:p>
          <a:p>
            <a:r>
              <a:t>Validation F1</a:t>
            </a:r>
          </a:p>
          <a:p>
            <a:r>
              <a:t>Test Recall</a:t>
            </a:r>
          </a:p>
          <a:p>
            <a:r>
              <a:t>Test F1</a:t>
            </a:r>
          </a:p>
          <a:p>
            <a:r>
              <a:t>A+B+C+D</a:t>
            </a:r>
          </a:p>
          <a:p>
            <a:r>
              <a:t>1</a:t>
            </a:r>
          </a:p>
          <a:p>
            <a:r>
              <a:t>100.0%</a:t>
            </a:r>
          </a:p>
          <a:p>
            <a:r>
              <a:t>0.808</a:t>
            </a:r>
          </a:p>
          <a:p>
            <a:r>
              <a:t>93.8%</a:t>
            </a:r>
          </a:p>
          <a:p>
            <a:r>
              <a:t>0.723</a:t>
            </a:r>
          </a:p>
          <a:p>
            <a:r>
              <a:t>A+B+C / D</a:t>
            </a:r>
          </a:p>
          <a:p>
            <a:r>
              <a:t>2</a:t>
            </a:r>
          </a:p>
          <a:p>
            <a:r>
              <a:t>100.0%</a:t>
            </a:r>
          </a:p>
          <a:p>
            <a:r>
              <a:t>0.840</a:t>
            </a:r>
          </a:p>
          <a:p>
            <a:r>
              <a:t>78.1%</a:t>
            </a:r>
          </a:p>
          <a:p>
            <a:r>
              <a:t>0.704</a:t>
            </a:r>
          </a:p>
          <a:p>
            <a:r>
              <a:t>A / B / C / D</a:t>
            </a:r>
          </a:p>
          <a:p>
            <a:r>
              <a:t>4</a:t>
            </a:r>
          </a:p>
          <a:p>
            <a:r>
              <a:t>90.5%</a:t>
            </a:r>
          </a:p>
          <a:p>
            <a:r>
              <a:t>0.731</a:t>
            </a:r>
          </a:p>
          <a:p>
            <a:r>
              <a:t>78.1%</a:t>
            </a:r>
          </a:p>
          <a:p>
            <a:r>
              <a:t>0.725</a:t>
            </a:r>
          </a:p>
          <a:p>
            <a:r>
              <a:t>Validation 선택은 A+B+C / D입니다. 하지만 Test Recall **78.1%**로 목표90% 미달이며 제품별 표본도 작아 적용</a:t>
            </a:r>
          </a:p>
          <a:p>
            <a:r>
              <a:t>보류를 표시했습니다. Test에서 공통 모델 점수가 더 높았다고 선택 구성을 다시 바꾸지 않았습니다. 실패 결과도 보</a:t>
            </a:r>
          </a:p>
          <a:p>
            <a:r>
              <a:t>존했습니다.</a:t>
            </a:r>
          </a:p>
          <a:p>
            <a:r>
              <a:t>전체15개 구성 원본 · 실제 UI·승인·CSV 검증 · 방법과 한계</a:t>
            </a:r>
          </a:p>
          <a:p>
            <a:r>
              <a:t>실험2: 예측을 어떤 비율로 섞을까요?</a:t>
            </a:r>
          </a:p>
          <a:p>
            <a:r>
              <a:t>학습 제품ABCD를 고정하고 CatBoost·HistGradientBoosting·LightGBM을 구성 후보로 사용합니다. 합계100% 비율을</a:t>
            </a:r>
          </a:p>
          <a:p>
            <a:r>
              <a:t>5% 간격으로 모두 비교하고 균등 비율도 포함했습니다. 단일 모델도 포함하며 성능이 같으면 적은 모델을 사용합니</a:t>
            </a:r>
          </a:p>
          <a:p>
            <a:r>
              <a:t>다. 정상 오판 한도 안에서 Recall 최대 → 동률 F1 순서로 비율과 판정 기준을 Validation에서 고릅니다.</a:t>
            </a:r>
          </a:p>
          <a:p>
            <a:r>
              <a:t>Validation 비교</a:t>
            </a:r>
          </a:p>
          <a:p>
            <a:r>
              <a:t>Recall</a:t>
            </a:r>
          </a:p>
          <a:p>
            <a:r>
              <a:t>정상 오판률</a:t>
            </a:r>
          </a:p>
          <a:p>
            <a:r>
              <a:t>F1</a:t>
            </a:r>
          </a:p>
          <a:p>
            <a:r>
              <a:t>최선 단일</a:t>
            </a:r>
          </a:p>
          <a:p>
            <a:r>
              <a:t>100.0%</a:t>
            </a:r>
          </a:p>
          <a:p>
            <a:r>
              <a:t>9.3%</a:t>
            </a:r>
          </a:p>
          <a:p>
            <a:r>
              <a:t>0.808</a:t>
            </a:r>
          </a:p>
          <a:p>
            <a:r>
              <a:t>SKALA G045 · Final Report · 5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6/8</a:t>
            </a:r>
          </a:p>
          <a:p/>
          <a:p>
            <a:r>
              <a:t>Validation 비교</a:t>
            </a:r>
          </a:p>
          <a:p>
            <a:r>
              <a:t>Recall</a:t>
            </a:r>
          </a:p>
          <a:p>
            <a:r>
              <a:t>정상 오판률</a:t>
            </a:r>
          </a:p>
          <a:p>
            <a:r>
              <a:t>F1</a:t>
            </a:r>
          </a:p>
          <a:p>
            <a:r>
              <a:t>균등 혼합</a:t>
            </a:r>
          </a:p>
          <a:p>
            <a:r>
              <a:t>100.0%</a:t>
            </a:r>
          </a:p>
          <a:p>
            <a:r>
              <a:t>10.3%</a:t>
            </a:r>
          </a:p>
          <a:p>
            <a:r>
              <a:t>0.792</a:t>
            </a:r>
          </a:p>
          <a:p>
            <a:r>
              <a:t>선택90:0:10</a:t>
            </a:r>
          </a:p>
          <a:p>
            <a:r>
              <a:t>100.0%</a:t>
            </a:r>
          </a:p>
          <a:p>
            <a:r>
              <a:t>8.9%</a:t>
            </a:r>
          </a:p>
          <a:p>
            <a:r>
              <a:t>0.816</a:t>
            </a:r>
          </a:p>
          <a:p>
            <a:r>
              <a:t>선택 후 같은 Test</a:t>
            </a:r>
          </a:p>
          <a:p>
            <a:r>
              <a:t>최선 단일 CatBoost</a:t>
            </a:r>
          </a:p>
          <a:p>
            <a:r>
              <a:t>선택 CatBoost90%+LightGBM10%</a:t>
            </a:r>
          </a:p>
          <a:p>
            <a:r>
              <a:t>불량 발견</a:t>
            </a:r>
          </a:p>
          <a:p>
            <a:r>
              <a:t>30/32</a:t>
            </a:r>
          </a:p>
          <a:p>
            <a:r>
              <a:t>30/32</a:t>
            </a:r>
          </a:p>
          <a:p>
            <a:r>
              <a:t>정상 오판</a:t>
            </a:r>
          </a:p>
          <a:p>
            <a:r>
              <a:t>21/224</a:t>
            </a:r>
          </a:p>
          <a:p>
            <a:r>
              <a:t>19/224</a:t>
            </a:r>
          </a:p>
          <a:p>
            <a:r>
              <a:t>Recall</a:t>
            </a:r>
          </a:p>
          <a:p>
            <a:r>
              <a:t>93.8%</a:t>
            </a:r>
          </a:p>
          <a:p>
            <a:r>
              <a:t>93.8%</a:t>
            </a:r>
          </a:p>
          <a:p>
            <a:r>
              <a:t>F1</a:t>
            </a:r>
          </a:p>
          <a:p>
            <a:r>
              <a:t>0.723</a:t>
            </a:r>
          </a:p>
          <a:p>
            <a:r>
              <a:t>0.741</a:t>
            </a:r>
          </a:p>
          <a:p>
            <a:r>
              <a:t>선택 비율은 **CatBoost90% + LightGBM10%**이며 HistGradientBoosting은0%입니다. 승인한 후보·간격·Validation</a:t>
            </a:r>
          </a:p>
          <a:p>
            <a:r>
              <a:t>범위 안의 최선입니다. 전체 알고리즘과 모든 연속 비율의 전역 최적을 뜻하지 않습니다.</a:t>
            </a:r>
          </a:p>
          <a:p>
            <a:r>
              <a:t>실제232개 비율 원본 · 실제 UI·승인·CSV 검증 · 앙상블 방법</a:t>
            </a:r>
          </a:p>
          <a:p>
            <a:r>
              <a:t>SKALA G045 · Final Report · 6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7/8</a:t>
            </a:r>
          </a:p>
          <a:p/>
          <a:p>
            <a:r>
              <a:t>근거 검색과 설명 검사</a:t>
            </a:r>
          </a:p>
          <a:p>
            <a:r>
              <a:t>외부 모델 탐색에도 RAG를 사용합니다. 공식 모델 문서 수집 → BGE-M3 의미 임베딩 → FAISS 검색 → 검색 근거를</a:t>
            </a:r>
          </a:p>
          <a:p>
            <a:r>
              <a:t>로컬 Qwen에 전달 → 후보 제안 → 엔지니어 승인 후 비교 순서입니다. 정규화한 벡터는 FAISS IndexFlatIP에, 출처·</a:t>
            </a:r>
          </a:p>
          <a:p>
            <a:r>
              <a:t>문서 내용은 JSON에 저장하고 문서나 설정이 바뀌면 다른 인덱스를 만듭니다. 수업은 SentenceTransformer로 실행</a:t>
            </a:r>
          </a:p>
          <a:p>
            <a:r>
              <a:t>했고 현재 Windows는 같은 BGE-M3 계열을 Ollama로 로컬 실행합니다. 학습 연결은 사전 검토된</a:t>
            </a:r>
          </a:p>
          <a:p>
            <a:r>
              <a:t>ExtraTrees·GaussianNB 두 후보입니다. 문서 검색이 임의 모델의 자동 설치나 성능 우위 확인을 뜻하지는 않습니다.</a:t>
            </a:r>
          </a:p>
          <a:p>
            <a:r>
              <a:t>LLM-as-a-Judge는 실제 결과와 설명을 함께 보고 맞는 설명인지 검사합니다. 이전 실험의 실제27개 발견을30개라고</a:t>
            </a:r>
          </a:p>
          <a:p>
            <a:r>
              <a:t>바꾼 오류를 놓친 사례도 있습니다. 정답 여부8개 중6개 판단 일치는 설명 검사 예제의 결과이며 분류 모델 정확도가</a:t>
            </a:r>
          </a:p>
          <a:p>
            <a:r>
              <a:t>아닙니다. 원래 실패 기록과 기준 실험을 보존합니다. 평가 원본</a:t>
            </a:r>
          </a:p>
          <a:p>
            <a:r>
              <a:t>5. 교훈</a:t>
            </a:r>
          </a:p>
          <a:p>
            <a:r>
              <a:t>한계와 트레이드오프</a:t>
            </a:r>
          </a:p>
          <a:p>
            <a:r>
              <a:t>제품별로 나누면 제품 특성을 반영할 수 있지만 학습 데이터·불량 표본은 줄고 관리할 모델 수는 늘어납니다.</a:t>
            </a:r>
          </a:p>
          <a:p>
            <a:r>
              <a:t>전체 점수로 제품별 실패를 숨기지 않도록 제품별 정상 오판률·검출률·표본을 함께 확인했습니다.</a:t>
            </a:r>
          </a:p>
          <a:p>
            <a:r>
              <a:t>그룹 실험은 Validation에서 좋았지만 Test에서 실패했습니다. 선택 근거와 적용 가능성은 별도로 판단해야 합니</a:t>
            </a:r>
          </a:p>
          <a:p>
            <a:r>
              <a:t>다.</a:t>
            </a:r>
          </a:p>
          <a:p>
            <a:r>
              <a:t>합성 데이터, 단일 seed, 작은 제품별 불량 표본, 같은 Validation의 반복 선택이 한계입니다. 기존 프로젝트에서</a:t>
            </a:r>
          </a:p>
          <a:p>
            <a:r>
              <a:t>이미 확인한 Test를 추가 탐색에 재사용했으므로 독립적인 최종 검증 실적이 아닙니다.</a:t>
            </a:r>
          </a:p>
          <a:p>
            <a:r>
              <a:t>그룹·알고리즘·앙상블 비율의 공동 전역 최적화, 회사 공통 합격 기준, 수율·금액 이익·작업시간 절감·자동 배포는</a:t>
            </a:r>
          </a:p>
          <a:p>
            <a:r>
              <a:t>검증하지 않았습니다.</a:t>
            </a:r>
          </a:p>
          <a:p>
            <a:r>
              <a:t>SKALA G045 · Final Report · 7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상세 최종 보고서 · 제출용 · 8/8</a:t>
            </a:r>
          </a:p>
          <a:p/>
          <a:p>
            <a:r>
              <a:t>LLM 설명 검사도 오판합니다. RAG는 BGE-M3·FAISS 로컬 벡터 저장·검색이며 별도 서버형 DB·자율 Supervisor를</a:t>
            </a:r>
          </a:p>
          <a:p>
            <a:r>
              <a:t>구현했다고 주장하지 않습니다. 작은 고정 검색 질문은 독립적인 일반 검색 평가가 아닙니다.</a:t>
            </a:r>
          </a:p>
          <a:p>
            <a:r>
              <a:t>향후 개선</a:t>
            </a:r>
          </a:p>
          <a:p>
            <a:r>
              <a:t>현장 담당자와 미검출·오판 비용 및 허용 범위를 먼저 합의합니다. 새 독립 기간·생산 묶음으로 검증하고 반복 분할·교</a:t>
            </a:r>
          </a:p>
          <a:p>
            <a:r>
              <a:t>차검증과 제품별 불확실성을 평가합니다. 그 뒤 필요하면 중첩 검증으로 그룹·모델·비율 탐색을 확장하고, 문서 규모</a:t>
            </a:r>
          </a:p>
          <a:p>
            <a:r>
              <a:t>와 동시 사용자가 늘면 서버형 Vector DB를 평가합니다. 실제 엔지니어의 작업시간도 측정합니다.</a:t>
            </a:r>
          </a:p>
          <a:p>
            <a:r>
              <a:t>수행 소감과 배운 점</a:t>
            </a:r>
          </a:p>
          <a:p>
            <a:r>
              <a:t>높은 점수 하나를 보여 주기보다 무엇을 고정하고 무엇을 비교했는지를 명확히 해야 선택을 설명할 수 있었습니다.</a:t>
            </a:r>
          </a:p>
          <a:p>
            <a:r>
              <a:t>제품별 전용 모델과 앙상블이 항상 더 좋은 것은 아니었습니다. LLM의 설명과 코드가 계산한 숫자·승인 권한을 분리</a:t>
            </a:r>
          </a:p>
          <a:p>
            <a:r>
              <a:t>하고, 실패·보류를 기록하는 것이 중요했습니다. 환경 이동 과정에서는 모델·설정·실험 이력의 복원과 Windows</a:t>
            </a:r>
          </a:p>
          <a:p>
            <a:r>
              <a:t>SQLite 연결 종료도 확인해야 했습니다.</a:t>
            </a:r>
          </a:p>
          <a:p>
            <a:r>
              <a:t>참고: 교육자료·모델 출처, 전체 평가 방법, 실험 원본, 데이터 출처 UCI SECOM, soft voting 공식 설명.</a:t>
            </a:r>
          </a:p>
          <a:p>
            <a:r>
              <a:t>SKALA G045 · Final Report · 8 / 8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hyperlink" Target="https://github.com/dragonchan95/Semiconductor-AI-Agent" TargetMode="External"/><Relationship Id="rId5" Type="http://schemas.openxmlformats.org/officeDocument/2006/relationships/hyperlink" Target="https://github.com/dragonchan95/Semiconductor-AI-Agent/blob/main/docs/G045_Semiconductor_Agent.pptx" TargetMode="External"/><Relationship Id="rId6" Type="http://schemas.openxmlformats.org/officeDocument/2006/relationships/hyperlink" Target="https://github.com/dragonchan95/Semiconductor-AI-Agent/blob/main/docs/G045_Semiconductor_Agent.pdf" TargetMode="External"/><Relationship Id="rId7" Type="http://schemas.openxmlformats.org/officeDocument/2006/relationships/hyperlink" Target="https://github.com/dragonchan95/Semiconductor-AI-Agent/blob/main/docs/%EB%B0%9C%ED%91%9C%EB%8C%80%EB%B3%B8_G045.txt" TargetMode="External"/><Relationship Id="rId8" Type="http://schemas.openxmlformats.org/officeDocument/2006/relationships/hyperlink" Target="https://github.com/dragonchan95/Semiconductor-AI-Agent/blob/main/docs/evaluation/public_links.jso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hyperlink" Target="https://github.com/dragonchan95/Semiconductor-AI-Agent/blob/main/app/planner.py" TargetMode="External"/><Relationship Id="rId5" Type="http://schemas.openxmlformats.org/officeDocument/2006/relationships/hyperlink" Target="https://github.com/dragonchan95/Semiconductor-AI-Agent/blob/main/app/advisors.py" TargetMode="External"/><Relationship Id="rId6" Type="http://schemas.openxmlformats.org/officeDocument/2006/relationships/hyperlink" Target="https://github.com/dragonchan95/Semiconductor-AI-Agent/blob/main/mcp_server.py" TargetMode="External"/><Relationship Id="rId7" Type="http://schemas.openxmlformats.org/officeDocument/2006/relationships/hyperlink" Target="https://github.com/dragonchan95/Semiconductor-AI-Agent/blob/main/app/retrieval.py" TargetMode="External"/><Relationship Id="rId8" Type="http://schemas.openxmlformats.org/officeDocument/2006/relationships/hyperlink" Target="https://github.com/dragonchan95/Semiconductor-AI-Agent/blob/main/docs/evaluation/vector_rag.json" TargetMode="External"/><Relationship Id="rId9" Type="http://schemas.openxmlformats.org/officeDocument/2006/relationships/hyperlink" Target="https://github.com/dragonchan95/Semiconductor-AI-Agent/blob/main/docs/evaluation/tests-windows.txt" TargetMode="External"/><Relationship Id="rId10" Type="http://schemas.openxmlformats.org/officeDocument/2006/relationships/hyperlink" Target="https://github.com/dragonchan95/Semiconductor-AI-Agent/blob/main/docs/evaluation/langsmith_check.json" TargetMode="External"/><Relationship Id="rId11" Type="http://schemas.openxmlformats.org/officeDocument/2006/relationships/hyperlink" Target="https://github.com/dragonchan95/Semiconductor-AI-Agent/blob/main/app/judge.py" TargetMode="External"/><Relationship Id="rId12" Type="http://schemas.openxmlformats.org/officeDocument/2006/relationships/hyperlink" Target="https://github.com/dragonchan95/Semiconductor-AI-Agent/blob/main/docs/ASSIGNMENT_CHECKLIST.md" TargetMode="External"/><Relationship Id="rId13" Type="http://schemas.openxmlformats.org/officeDocument/2006/relationships/hyperlink" Target="https://github.com/dragonchan95/Semiconductor-AI-Agent/blob/main/docs/EVALUATION.md" TargetMode="External"/><Relationship Id="rId14" Type="http://schemas.openxmlformats.org/officeDocument/2006/relationships/hyperlink" Target="https://github.com/dragonchan95/Semiconductor-AI-Agent/blob/main/docs/RAG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Relationship Id="rId4" Type="http://schemas.openxmlformats.org/officeDocument/2006/relationships/hyperlink" Target="https://github.com/dragonchan95/Semiconductor-AI-Agent/blob/main/docs/evaluation/product_partitions.json" TargetMode="External"/><Relationship Id="rId5" Type="http://schemas.openxmlformats.org/officeDocument/2006/relationships/hyperlink" Target="https://github.com/dragonchan95/Semiconductor-AI-Agent/blob/main/docs/evaluation/grouping_browser.json" TargetMode="External"/><Relationship Id="rId6" Type="http://schemas.openxmlformats.org/officeDocument/2006/relationships/hyperlink" Target="https://github.com/dragonchan95/Semiconductor-AI-Agent/blob/main/docs/PRODUCT_GROUPING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Relationship Id="rId4" Type="http://schemas.openxmlformats.org/officeDocument/2006/relationships/hyperlink" Target="https://github.com/dragonchan95/Semiconductor-AI-Agent/blob/main/docs/evaluation/weighted_ensemble.json" TargetMode="External"/><Relationship Id="rId5" Type="http://schemas.openxmlformats.org/officeDocument/2006/relationships/hyperlink" Target="https://github.com/dragonchan95/Semiconductor-AI-Agent/blob/main/docs/evaluation/ensemble_browser.json" TargetMode="External"/><Relationship Id="rId6" Type="http://schemas.openxmlformats.org/officeDocument/2006/relationships/hyperlink" Target="https://github.com/dragonchan95/Semiconductor-AI-Agent/blob/main/docs/ENSEMBL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hyperlink" Target="https://github.com/dragonchan95/Semiconductor-AI-Agent/blob/main/docs/evaluation/llm_judge.js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Relationship Id="rId4" Type="http://schemas.openxmlformats.org/officeDocument/2006/relationships/hyperlink" Target="https://github.com/dragonchan95/Semiconductor-AI-Agent/blob/main/docs/CURRICULUM_MODELS.md" TargetMode="External"/><Relationship Id="rId5" Type="http://schemas.openxmlformats.org/officeDocument/2006/relationships/hyperlink" Target="https://github.com/dragonchan95/Semiconductor-AI-Agent/blob/main/docs/EVALUATION.md" TargetMode="External"/><Relationship Id="rId6" Type="http://schemas.openxmlformats.org/officeDocument/2006/relationships/hyperlink" Target="https://github.com/dragonchan95/Semiconductor-AI-Agent/blob/main/docs/evaluation/" TargetMode="External"/><Relationship Id="rId7" Type="http://schemas.openxmlformats.org/officeDocument/2006/relationships/hyperlink" Target="https://archive.ics.uci.edu/dataset/179/secom" TargetMode="External"/><Relationship Id="rId8" Type="http://schemas.openxmlformats.org/officeDocument/2006/relationships/hyperlink" Target="https://scikit-learn.org/stable/modules/ensemble.html#voting-classifier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  <p:sp>
        <p:nvSpPr>
          <p:cNvPr id="3" name="TextBox 2">
            <a:hlinkClick r:id="rId4"/>
          </p:cNvPr>
          <p:cNvSpPr txBox="1"/>
          <p:nvPr/>
        </p:nvSpPr>
        <p:spPr>
          <a:xfrm>
            <a:off x="476250" y="3409950"/>
            <a:ext cx="55245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>
            <a:hlinkClick r:id="rId5"/>
          </p:cNvPr>
          <p:cNvSpPr txBox="1"/>
          <p:nvPr/>
        </p:nvSpPr>
        <p:spPr>
          <a:xfrm>
            <a:off x="1143000" y="3409950"/>
            <a:ext cx="59055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>
            <a:hlinkClick r:id="rId6"/>
          </p:cNvPr>
          <p:cNvSpPr txBox="1"/>
          <p:nvPr/>
        </p:nvSpPr>
        <p:spPr>
          <a:xfrm>
            <a:off x="1847850" y="3409950"/>
            <a:ext cx="523874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6" name="TextBox 5">
            <a:hlinkClick r:id="rId7"/>
          </p:cNvPr>
          <p:cNvSpPr txBox="1"/>
          <p:nvPr/>
        </p:nvSpPr>
        <p:spPr>
          <a:xfrm>
            <a:off x="2495550" y="3409950"/>
            <a:ext cx="495299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7" name="TextBox 6">
            <a:hlinkClick r:id="rId8"/>
          </p:cNvPr>
          <p:cNvSpPr txBox="1"/>
          <p:nvPr/>
        </p:nvSpPr>
        <p:spPr>
          <a:xfrm>
            <a:off x="6124575" y="3705224"/>
            <a:ext cx="85725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TextBox 7">
            <a:hlinkClick r:id="rId8"/>
          </p:cNvPr>
          <p:cNvSpPr txBox="1"/>
          <p:nvPr/>
        </p:nvSpPr>
        <p:spPr>
          <a:xfrm>
            <a:off x="476250" y="3914775"/>
            <a:ext cx="25717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  <p:sp>
        <p:nvSpPr>
          <p:cNvPr id="3" name="TextBox 2">
            <a:hlinkClick r:id="rId4"/>
          </p:cNvPr>
          <p:cNvSpPr txBox="1"/>
          <p:nvPr/>
        </p:nvSpPr>
        <p:spPr>
          <a:xfrm>
            <a:off x="2762250" y="1400175"/>
            <a:ext cx="466724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>
            <a:hlinkClick r:id="rId5"/>
          </p:cNvPr>
          <p:cNvSpPr txBox="1"/>
          <p:nvPr/>
        </p:nvSpPr>
        <p:spPr>
          <a:xfrm>
            <a:off x="4238625" y="1400175"/>
            <a:ext cx="504825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>
            <a:hlinkClick r:id="rId6"/>
          </p:cNvPr>
          <p:cNvSpPr txBox="1"/>
          <p:nvPr/>
        </p:nvSpPr>
        <p:spPr>
          <a:xfrm>
            <a:off x="2762250" y="2009774"/>
            <a:ext cx="638175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6" name="TextBox 5">
            <a:hlinkClick r:id="rId7"/>
          </p:cNvPr>
          <p:cNvSpPr txBox="1"/>
          <p:nvPr/>
        </p:nvSpPr>
        <p:spPr>
          <a:xfrm>
            <a:off x="3800475" y="3257550"/>
            <a:ext cx="495299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7" name="TextBox 6">
            <a:hlinkClick r:id="rId8"/>
          </p:cNvPr>
          <p:cNvSpPr txBox="1"/>
          <p:nvPr/>
        </p:nvSpPr>
        <p:spPr>
          <a:xfrm>
            <a:off x="4352925" y="3257550"/>
            <a:ext cx="438150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TextBox 7">
            <a:hlinkClick r:id="rId9"/>
          </p:cNvPr>
          <p:cNvSpPr txBox="1"/>
          <p:nvPr/>
        </p:nvSpPr>
        <p:spPr>
          <a:xfrm>
            <a:off x="4962525" y="3552825"/>
            <a:ext cx="742950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9" name="TextBox 8">
            <a:hlinkClick r:id="rId10"/>
          </p:cNvPr>
          <p:cNvSpPr txBox="1"/>
          <p:nvPr/>
        </p:nvSpPr>
        <p:spPr>
          <a:xfrm>
            <a:off x="2762250" y="4171950"/>
            <a:ext cx="438150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0" name="TextBox 9">
            <a:hlinkClick r:id="rId11"/>
          </p:cNvPr>
          <p:cNvSpPr txBox="1"/>
          <p:nvPr/>
        </p:nvSpPr>
        <p:spPr>
          <a:xfrm>
            <a:off x="2762250" y="4791075"/>
            <a:ext cx="390525" cy="142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1" name="TextBox 10">
            <a:hlinkClick r:id="rId12"/>
          </p:cNvPr>
          <p:cNvSpPr txBox="1"/>
          <p:nvPr/>
        </p:nvSpPr>
        <p:spPr>
          <a:xfrm>
            <a:off x="4705350" y="6124575"/>
            <a:ext cx="98107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2" name="TextBox 11">
            <a:hlinkClick r:id="rId13"/>
          </p:cNvPr>
          <p:cNvSpPr txBox="1"/>
          <p:nvPr/>
        </p:nvSpPr>
        <p:spPr>
          <a:xfrm>
            <a:off x="5753100" y="6124575"/>
            <a:ext cx="55245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3" name="TextBox 12">
            <a:hlinkClick r:id="rId14"/>
          </p:cNvPr>
          <p:cNvSpPr txBox="1"/>
          <p:nvPr/>
        </p:nvSpPr>
        <p:spPr>
          <a:xfrm>
            <a:off x="6381750" y="6124575"/>
            <a:ext cx="54292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  <p:sp>
        <p:nvSpPr>
          <p:cNvPr id="3" name="TextBox 2">
            <a:hlinkClick r:id="rId4"/>
          </p:cNvPr>
          <p:cNvSpPr txBox="1"/>
          <p:nvPr/>
        </p:nvSpPr>
        <p:spPr>
          <a:xfrm>
            <a:off x="476250" y="7905750"/>
            <a:ext cx="111442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>
            <a:hlinkClick r:id="rId5"/>
          </p:cNvPr>
          <p:cNvSpPr txBox="1"/>
          <p:nvPr/>
        </p:nvSpPr>
        <p:spPr>
          <a:xfrm>
            <a:off x="1714500" y="7905750"/>
            <a:ext cx="12573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>
            <a:hlinkClick r:id="rId6"/>
          </p:cNvPr>
          <p:cNvSpPr txBox="1"/>
          <p:nvPr/>
        </p:nvSpPr>
        <p:spPr>
          <a:xfrm>
            <a:off x="3086100" y="7905750"/>
            <a:ext cx="6858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  <p:sp>
        <p:nvSpPr>
          <p:cNvPr id="3" name="TextBox 2">
            <a:hlinkClick r:id="rId4"/>
          </p:cNvPr>
          <p:cNvSpPr txBox="1"/>
          <p:nvPr/>
        </p:nvSpPr>
        <p:spPr>
          <a:xfrm>
            <a:off x="476250" y="9763125"/>
            <a:ext cx="119062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>
            <a:hlinkClick r:id="rId5"/>
          </p:cNvPr>
          <p:cNvSpPr txBox="1"/>
          <p:nvPr/>
        </p:nvSpPr>
        <p:spPr>
          <a:xfrm>
            <a:off x="1781175" y="9763125"/>
            <a:ext cx="12573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>
            <a:hlinkClick r:id="rId6"/>
          </p:cNvPr>
          <p:cNvSpPr txBox="1"/>
          <p:nvPr/>
        </p:nvSpPr>
        <p:spPr>
          <a:xfrm>
            <a:off x="3162300" y="9763125"/>
            <a:ext cx="67627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  <p:sp>
        <p:nvSpPr>
          <p:cNvPr id="3" name="TextBox 2">
            <a:hlinkClick r:id="rId4"/>
          </p:cNvPr>
          <p:cNvSpPr txBox="1"/>
          <p:nvPr/>
        </p:nvSpPr>
        <p:spPr>
          <a:xfrm>
            <a:off x="3514725" y="6724650"/>
            <a:ext cx="55245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8183" cy="10704576"/>
          </a:xfrm>
          <a:prstGeom prst="rect">
            <a:avLst/>
          </a:prstGeom>
        </p:spPr>
      </p:pic>
      <p:sp>
        <p:nvSpPr>
          <p:cNvPr id="3" name="TextBox 2">
            <a:hlinkClick r:id="rId4"/>
          </p:cNvPr>
          <p:cNvSpPr txBox="1"/>
          <p:nvPr/>
        </p:nvSpPr>
        <p:spPr>
          <a:xfrm>
            <a:off x="800100" y="3752850"/>
            <a:ext cx="109537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>
            <a:hlinkClick r:id="rId5"/>
          </p:cNvPr>
          <p:cNvSpPr txBox="1"/>
          <p:nvPr/>
        </p:nvSpPr>
        <p:spPr>
          <a:xfrm>
            <a:off x="1962150" y="3752850"/>
            <a:ext cx="84772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>
            <a:hlinkClick r:id="rId6"/>
          </p:cNvPr>
          <p:cNvSpPr txBox="1"/>
          <p:nvPr/>
        </p:nvSpPr>
        <p:spPr>
          <a:xfrm>
            <a:off x="2886075" y="3752850"/>
            <a:ext cx="55245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6" name="TextBox 5">
            <a:hlinkClick r:id="rId7"/>
          </p:cNvPr>
          <p:cNvSpPr txBox="1"/>
          <p:nvPr/>
        </p:nvSpPr>
        <p:spPr>
          <a:xfrm>
            <a:off x="3514725" y="3752850"/>
            <a:ext cx="1400175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7" name="TextBox 6">
            <a:hlinkClick r:id="rId8"/>
          </p:cNvPr>
          <p:cNvSpPr txBox="1"/>
          <p:nvPr/>
        </p:nvSpPr>
        <p:spPr>
          <a:xfrm>
            <a:off x="4981575" y="3752850"/>
            <a:ext cx="12192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반도체 검사 모델 실험 도우미 — 최종 보고서</dc:title>
  <dc:subject>교수님 제출용 상세 최종 보고서 / Google Slides 업로드용</dc:subject>
  <dc:creator>SKALA 광주2반 G045 김용찬</dc:creator>
  <cp:keywords/>
  <dc:description>각 슬라이드는 상세 보고서 PDF의 해당 쪽입니다. 본문 편집은 REPORT.md에서 하고 재생성합니다.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